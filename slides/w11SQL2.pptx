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417" r:id="rId3"/>
    <p:sldId id="418" r:id="rId4"/>
    <p:sldId id="419" r:id="rId5"/>
    <p:sldId id="420" r:id="rId6"/>
    <p:sldId id="273" r:id="rId7"/>
    <p:sldId id="274" r:id="rId8"/>
    <p:sldId id="275" r:id="rId9"/>
    <p:sldId id="297" r:id="rId10"/>
    <p:sldId id="298" r:id="rId11"/>
    <p:sldId id="299" r:id="rId12"/>
    <p:sldId id="300" r:id="rId13"/>
    <p:sldId id="301" r:id="rId14"/>
    <p:sldId id="309" r:id="rId15"/>
    <p:sldId id="302" r:id="rId16"/>
    <p:sldId id="303" r:id="rId17"/>
    <p:sldId id="352" r:id="rId18"/>
    <p:sldId id="353" r:id="rId19"/>
    <p:sldId id="401" r:id="rId20"/>
    <p:sldId id="416" r:id="rId21"/>
    <p:sldId id="402" r:id="rId22"/>
    <p:sldId id="403" r:id="rId23"/>
    <p:sldId id="404" r:id="rId24"/>
    <p:sldId id="405" r:id="rId25"/>
    <p:sldId id="406" r:id="rId26"/>
    <p:sldId id="413" r:id="rId27"/>
    <p:sldId id="407" r:id="rId28"/>
    <p:sldId id="414" r:id="rId29"/>
    <p:sldId id="356" r:id="rId30"/>
    <p:sldId id="357" r:id="rId31"/>
    <p:sldId id="358" r:id="rId32"/>
    <p:sldId id="359" r:id="rId33"/>
    <p:sldId id="360" r:id="rId34"/>
    <p:sldId id="362" r:id="rId35"/>
    <p:sldId id="365" r:id="rId36"/>
    <p:sldId id="366" r:id="rId3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E4F4"/>
    <a:srgbClr val="CC66FF"/>
    <a:srgbClr val="FFFFFF"/>
    <a:srgbClr val="ED7D31"/>
    <a:srgbClr val="FFC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3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9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B71D3-40D9-42E2-ACB6-343F49B0AE8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A3B8B-4215-40F2-BE6B-D9DD5E7BB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89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9BBDF-AEB3-431C-AB2E-DC46CA9DE60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391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Jenny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su</a:t>
            </a:r>
            <a:r>
              <a:rPr kumimoji="1" lang="zh-TW" altLang="en-US" dirty="0"/>
              <a:t>的介紹人為</a:t>
            </a:r>
            <a:r>
              <a:rPr kumimoji="1" lang="en-US" altLang="zh-TW" dirty="0"/>
              <a:t>Jennifer(b0905555)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49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1B49C-9AFC-42D6-B6BD-5354E8D1C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C61E61-7733-4362-A6D1-7306FD1B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65C67E-7D32-450E-9818-CB16519F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B3AE-770F-421E-95BA-FEC8AE524A0B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88F9F6-59A9-4D45-9E1D-9BC18B12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429A41-175B-4137-8C07-82522B69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5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054F6-5F85-4482-96BA-044CCB82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02838"/>
          </a:xfrm>
        </p:spPr>
        <p:txBody>
          <a:bodyPr/>
          <a:lstStyle>
            <a:lvl1pPr>
              <a:defRPr sz="4000" b="1" baseline="0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A84A4-09BB-43DB-9AA6-FD2E7211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9301"/>
            <a:ext cx="10515600" cy="5227662"/>
          </a:xfrm>
        </p:spPr>
        <p:txBody>
          <a:bodyPr>
            <a:normAutofit/>
          </a:bodyPr>
          <a:lstStyle>
            <a:lvl1pPr>
              <a:defRPr sz="2400" b="1" baseline="0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defRPr>
            </a:lvl1pPr>
            <a:lvl2pPr>
              <a:defRPr sz="2000" b="1" baseline="0">
                <a:latin typeface="Comic Sans MS" panose="030F0702030302020204" pitchFamily="66" charset="0"/>
                <a:ea typeface="微軟正黑體" panose="020B0604030504040204" pitchFamily="34" charset="-120"/>
              </a:defRPr>
            </a:lvl2pPr>
            <a:lvl3pPr>
              <a:defRPr sz="1800" b="1" baseline="0">
                <a:latin typeface="Comic Sans MS" panose="030F0702030302020204" pitchFamily="66" charset="0"/>
                <a:ea typeface="微軟正黑體" panose="020B0604030504040204" pitchFamily="34" charset="-120"/>
              </a:defRPr>
            </a:lvl3pPr>
            <a:lvl4pPr>
              <a:defRPr sz="1600" b="1" baseline="0">
                <a:latin typeface="Comic Sans MS" panose="030F0702030302020204" pitchFamily="66" charset="0"/>
                <a:ea typeface="微軟正黑體" panose="020B0604030504040204" pitchFamily="34" charset="-120"/>
              </a:defRPr>
            </a:lvl4pPr>
            <a:lvl5pPr>
              <a:defRPr sz="1600" b="1" baseline="0">
                <a:latin typeface="Comic Sans MS" panose="030F0702030302020204" pitchFamily="66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257A48-1E67-4128-BDAB-988840D9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02BE-207E-4FC4-992B-BD2E527BA0ED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FF718C-AFD2-4AFB-8CA9-01F5202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77A9E0-91ED-468D-B38C-C29AF575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54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750A0A-A80F-4F95-9EDC-E981EEEA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1662A6-0271-436A-BFD9-E0823695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068F83-8D55-48B3-87A0-F00C0A6C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BC54-D50A-4F87-BAE0-8D2274A4D58D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BD6F24-A455-4531-98AB-EB95B077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BE9A15-DF94-4D48-8F4E-CA27D510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77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993FC8-CF37-4100-8069-BDB01A9B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88972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44CF55-D7AC-4BDA-8B5E-45E531923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04884"/>
            <a:ext cx="5181600" cy="5072079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4FAFDF-2216-4544-A7AA-EDE002C08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04884"/>
            <a:ext cx="5181600" cy="5072079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AC25BD-95BD-45E6-94F1-2F12D7DF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74FC-0F68-45AE-A07B-3AD948764C9A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44F284-056E-49A6-923F-33F54A29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87135D-30C8-4305-8AD3-8E1ACEEF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49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80555-335A-4615-9E9F-931A54B3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53812B-B085-4BAF-A3FD-1D306776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868614-2CEC-425A-A28E-F2671584E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B45AF8-B7EE-4E81-9A6F-1BBADD003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21EB85-C5CD-40FA-89FE-1A9BC7DD3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6FA5F7E-33B5-4247-9FBB-240546DA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7EA4-9CAB-46F5-B1A6-D49BD0D2BA5C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95359AA-2F40-4B63-9A0A-C34F895F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EE8308-9FE8-49F1-B8FF-49B83EA8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07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DDB3E-83B9-491F-B60E-7E507845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57" y="122968"/>
            <a:ext cx="11633886" cy="817733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6D056A-E920-4E12-8655-020EB889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3DE3-0190-49AA-8C27-51AA9D47D94B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5ABF3-7675-461E-B105-B999C9EA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89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11F9A-ABAA-4B5C-92A3-49BF7432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A7D3-FF32-435B-B909-3DDA0FCC81DF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EC6BED-F789-4339-AB09-2D89F070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F89574-7404-4286-9062-080E0838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63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17EE9-F229-4681-94B3-D090B3DE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51FD9F-E5CF-4F12-8AD0-B648E8F9B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00C986-EB8F-44D3-81C8-34409E98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C36430-5BD7-45EA-8D2F-9D0F5385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BBAD-2FEC-4983-AA66-838C5A82C4F5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DA5608-753D-46F8-B164-3271F54F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7947B7-C5AC-4D1D-9A78-C00F02BC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65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AEC27A-9DFE-495D-822C-38F4469F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D031D1-7869-44CA-8AA6-4FC113C70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0A9AB04-CBF0-445D-BF4D-0E0027F4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BDB392-34E0-43F8-98C1-F400AD7D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1316-FB2A-44D6-882D-2BD9A664EA71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7CBAC3-CCDE-4622-841A-B116784D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440676-43F4-4B35-BA1C-B1417077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33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A876C-2221-4C47-AF4B-6A630C72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A1341C-0839-4192-9C4F-2DE6A5A70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BAF735-EAA1-4772-9562-4E21194C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3D92-04D0-4DD3-ADA9-C2C8817FCB0C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74CF90-365C-4D99-AFA7-5E55C5B7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FA543A-8367-4902-A055-76B8030C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9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F34658-7ACA-4069-B4C4-EB109334C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11C1E9-9D20-4A3A-9A97-47FCA675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7520A9-807B-47D1-82FF-C44718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71F8-4364-4FFA-9875-44C2CE59D830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0BC911-6BA9-40F6-A2C2-DA0ABBF9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54B4B4-8FD9-45F0-B21E-D8ECD3C8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18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63CA4-3479-4E5D-85DE-7F001914F5CF}" type="datetime1">
              <a:rPr lang="zh-TW" altLang="en-US" smtClean="0"/>
              <a:t>2025/11/17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  <a:endParaRPr lang="zh-TW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7-</a:t>
            </a:r>
            <a:fld id="{6F9AF5D2-8020-45D2-91F8-02639B63DA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407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B74D973-E134-4C66-8DB9-193682EC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C5FCA9-7C1E-48AC-8A1F-6956B3CE5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B3DA75-169F-4FBB-B054-8AA9AAAD3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0FEFB-9B7D-4BCF-9ACE-FE1459E91677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79DF9F-7B35-42B9-ACB0-86BFF457A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Copyright </a:t>
            </a:r>
            <a:r>
              <a:rPr lang="zh-TW" altLang="en-US"/>
              <a:t>黃三益</a:t>
            </a:r>
            <a:r>
              <a:rPr lang="en-US" altLang="zh-TW"/>
              <a:t>2023 </a:t>
            </a:r>
            <a:r>
              <a:rPr lang="zh-TW" altLang="en-US"/>
              <a:t>資料庫的核心理論與實務第八版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7CED60-C5B6-4A76-8944-D46D90C22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0D0B5-4931-42FF-A0DA-66EF8CB45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23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browser.org/%E3%80%8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DCC0936-A0A1-4DD1-844E-C8AC98E6B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C00000"/>
                </a:solidFill>
              </a:rPr>
              <a:t>SQL</a:t>
            </a:r>
            <a:r>
              <a:rPr lang="zh-TW" altLang="en-US" b="1">
                <a:solidFill>
                  <a:srgbClr val="C00000"/>
                </a:solidFill>
              </a:rPr>
              <a:t>資料查詢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zh-TW" altLang="en-US"/>
              <a:t>鍾健雄</a:t>
            </a:r>
            <a:endParaRPr lang="en-US" altLang="zh-TW"/>
          </a:p>
          <a:p>
            <a:pPr>
              <a:lnSpc>
                <a:spcPct val="200000"/>
              </a:lnSpc>
            </a:pPr>
            <a:r>
              <a:rPr lang="zh-TW" altLang="en-US"/>
              <a:t>投影片內容參考黃三益教授教科書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89557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4AA84-A587-4461-B4E7-025B7E32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DB Browser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070476-4742-4C2E-BA52-0597345D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0">
                <a:effectLst/>
                <a:latin typeface="fkGroteskNeue"/>
              </a:rPr>
              <a:t>DB Browser</a:t>
            </a:r>
            <a:r>
              <a:rPr lang="zh-TW" altLang="en-US" i="0">
                <a:effectLst/>
                <a:latin typeface="fkGroteskNeue"/>
              </a:rPr>
              <a:t>是一款</a:t>
            </a:r>
            <a:r>
              <a:rPr lang="zh-TW" altLang="en-US" i="0" u="sng">
                <a:effectLst/>
                <a:latin typeface="fkGroteskNeue"/>
              </a:rPr>
              <a:t>免費且開源的視覺化工具</a:t>
            </a:r>
            <a:r>
              <a:rPr lang="zh-TW" altLang="en-US" i="0">
                <a:effectLst/>
                <a:latin typeface="fkGroteskNeue"/>
              </a:rPr>
              <a:t>，專門用於設計、建立、搜尋和編輯</a:t>
            </a:r>
            <a:r>
              <a:rPr lang="en-US" altLang="zh-TW" i="0">
                <a:effectLst/>
                <a:latin typeface="fkGroteskNeue"/>
              </a:rPr>
              <a:t>SQLite</a:t>
            </a:r>
            <a:r>
              <a:rPr lang="zh-TW" altLang="en-US" i="0">
                <a:effectLst/>
                <a:latin typeface="fkGroteskNeue"/>
              </a:rPr>
              <a:t>資料庫檔案。</a:t>
            </a:r>
            <a:endParaRPr lang="en-US" altLang="zh-TW" i="0">
              <a:effectLst/>
              <a:latin typeface="fkGroteskNeue"/>
            </a:endParaRPr>
          </a:p>
          <a:p>
            <a:r>
              <a:rPr lang="zh-TW" altLang="en-US" i="0">
                <a:effectLst/>
                <a:latin typeface="fkGroteskNeue"/>
              </a:rPr>
              <a:t>方便用戶</a:t>
            </a:r>
            <a:r>
              <a:rPr lang="zh-TW" altLang="en-US" i="0" u="sng">
                <a:effectLst/>
                <a:latin typeface="fkGroteskNeue"/>
              </a:rPr>
              <a:t>瀏覽和操作資料庫中的資料</a:t>
            </a:r>
            <a:r>
              <a:rPr lang="zh-TW" altLang="en-US" i="0">
                <a:effectLst/>
                <a:latin typeface="fkGroteskNeue"/>
              </a:rPr>
              <a:t>，並且</a:t>
            </a:r>
            <a:r>
              <a:rPr lang="zh-TW" altLang="en-US" i="0" u="sng">
                <a:effectLst/>
                <a:latin typeface="fkGroteskNeue"/>
              </a:rPr>
              <a:t>支援完整的</a:t>
            </a:r>
            <a:r>
              <a:rPr lang="en-US" altLang="zh-TW" i="0" u="sng">
                <a:effectLst/>
                <a:latin typeface="fkGroteskNeue"/>
              </a:rPr>
              <a:t>SQL</a:t>
            </a:r>
            <a:r>
              <a:rPr lang="zh-TW" altLang="en-US" i="0" u="sng">
                <a:effectLst/>
                <a:latin typeface="fkGroteskNeue"/>
              </a:rPr>
              <a:t>查詢功能</a:t>
            </a:r>
            <a:r>
              <a:rPr lang="zh-TW" altLang="en-US" i="0">
                <a:effectLst/>
                <a:latin typeface="fkGroteskNeue"/>
              </a:rPr>
              <a:t>。</a:t>
            </a:r>
            <a:endParaRPr lang="en-US" altLang="zh-TW" i="0">
              <a:effectLst/>
              <a:latin typeface="fkGroteskNeue"/>
            </a:endParaRPr>
          </a:p>
          <a:p>
            <a:r>
              <a:rPr lang="zh-TW" altLang="en-US" i="0">
                <a:effectLst/>
                <a:latin typeface="fkGroteskNeue"/>
              </a:rPr>
              <a:t>使用者可以透過</a:t>
            </a:r>
            <a:r>
              <a:rPr lang="en-US" altLang="zh-TW" i="0">
                <a:effectLst/>
                <a:latin typeface="fkGroteskNeue"/>
              </a:rPr>
              <a:t>DB Browser</a:t>
            </a:r>
            <a:r>
              <a:rPr lang="zh-TW" altLang="en-US" i="0">
                <a:effectLst/>
                <a:latin typeface="fkGroteskNeue"/>
              </a:rPr>
              <a:t>建立和修改資料表、索引，瀏覽、編輯、增加及刪除記錄，也能匯入匯出資料，並查看執行過的</a:t>
            </a:r>
            <a:r>
              <a:rPr lang="en-US" altLang="zh-TW" i="0">
                <a:effectLst/>
                <a:latin typeface="fkGroteskNeue"/>
              </a:rPr>
              <a:t>SQL</a:t>
            </a:r>
            <a:r>
              <a:rPr lang="zh-TW" altLang="en-US" i="0">
                <a:effectLst/>
                <a:latin typeface="fkGroteskNeue"/>
              </a:rPr>
              <a:t>指令紀錄。</a:t>
            </a:r>
            <a:endParaRPr lang="en-US" altLang="zh-TW" i="0">
              <a:effectLst/>
              <a:latin typeface="fkGroteskNeue"/>
            </a:endParaRPr>
          </a:p>
          <a:p>
            <a:r>
              <a:rPr lang="zh-TW" altLang="en-US" i="0">
                <a:effectLst/>
                <a:latin typeface="fkGroteskNeue"/>
              </a:rPr>
              <a:t>適合開發者或需要以視覺化方式管理</a:t>
            </a:r>
            <a:r>
              <a:rPr lang="en-US" altLang="zh-TW" i="0">
                <a:effectLst/>
                <a:latin typeface="fkGroteskNeue"/>
              </a:rPr>
              <a:t>SQLite</a:t>
            </a:r>
            <a:r>
              <a:rPr lang="zh-TW" altLang="en-US" i="0">
                <a:effectLst/>
                <a:latin typeface="fkGroteskNeue"/>
              </a:rPr>
              <a:t>資料庫的人士使用。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B59F62-9DF6-48E5-BFEA-CFC0D6BA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8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2B576F-E3BA-4C1C-A8E1-7A9AE6B3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>
                <a:effectLst/>
              </a:rPr>
              <a:t>如何在 </a:t>
            </a:r>
            <a:r>
              <a:rPr lang="en-US" altLang="zh-TW">
                <a:effectLst/>
              </a:rPr>
              <a:t>Windows </a:t>
            </a:r>
            <a:r>
              <a:rPr lang="zh-TW" altLang="en-US">
                <a:effectLst/>
              </a:rPr>
              <a:t>安裝 </a:t>
            </a:r>
            <a:r>
              <a:rPr lang="en-US" altLang="zh-TW">
                <a:effectLst/>
              </a:rPr>
              <a:t>DB Browser for SQLite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A016EC-70F1-4B86-A4F8-39A6A7AAA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TW" altLang="en-US" i="0">
                <a:effectLst/>
                <a:latin typeface="fkGroteskNeue"/>
              </a:rPr>
              <a:t>開啟網頁瀏覽器，前往 </a:t>
            </a:r>
            <a:r>
              <a:rPr lang="en-US" altLang="zh-TW" i="0">
                <a:effectLst/>
                <a:latin typeface="fkGroteskNeue"/>
              </a:rPr>
              <a:t>DB Browser for SQLite </a:t>
            </a:r>
            <a:r>
              <a:rPr lang="zh-TW" altLang="en-US" i="0">
                <a:effectLst/>
                <a:latin typeface="fkGroteskNeue"/>
              </a:rPr>
              <a:t>官方網站 </a:t>
            </a:r>
            <a:r>
              <a:rPr lang="en-US" altLang="zh-TW" i="0">
                <a:effectLst/>
                <a:latin typeface="unset"/>
                <a:hlinkClick r:id="rId2"/>
              </a:rPr>
              <a:t>https://sqlitebrowser.org/</a:t>
            </a:r>
            <a:r>
              <a:rPr lang="zh-TW" altLang="en-US" i="0">
                <a:effectLst/>
                <a:latin typeface="unset"/>
                <a:hlinkClick r:id="rId2"/>
              </a:rPr>
              <a:t>。</a:t>
            </a:r>
            <a:endParaRPr lang="zh-TW" altLang="en-US" i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zh-TW" altLang="en-US" i="0">
                <a:effectLst/>
                <a:latin typeface="fkGroteskNeue"/>
              </a:rPr>
              <a:t>在下載頁面中選擇「</a:t>
            </a:r>
            <a:r>
              <a:rPr lang="en-US" altLang="zh-TW" i="0">
                <a:effectLst/>
                <a:latin typeface="fkGroteskNeue"/>
              </a:rPr>
              <a:t>Standard installer for 64-bit Windows</a:t>
            </a:r>
            <a:r>
              <a:rPr lang="zh-TW" altLang="en-US" i="0">
                <a:effectLst/>
                <a:latin typeface="fkGroteskNeue"/>
              </a:rPr>
              <a:t>」或相應的 </a:t>
            </a:r>
            <a:r>
              <a:rPr lang="en-US" altLang="zh-TW" i="0">
                <a:effectLst/>
                <a:latin typeface="fkGroteskNeue"/>
              </a:rPr>
              <a:t>Windows </a:t>
            </a:r>
            <a:r>
              <a:rPr lang="zh-TW" altLang="en-US" i="0">
                <a:effectLst/>
                <a:latin typeface="fkGroteskNeue"/>
              </a:rPr>
              <a:t>版本下載執行檔 </a:t>
            </a:r>
            <a:r>
              <a:rPr lang="en-US" altLang="zh-TW" i="0">
                <a:effectLst/>
                <a:latin typeface="fkGroteskNeue"/>
              </a:rPr>
              <a:t>(.exe)</a:t>
            </a:r>
            <a:r>
              <a:rPr lang="zh-TW" altLang="en-US" i="0">
                <a:effectLst/>
                <a:latin typeface="fkGroteskNeue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TW" altLang="en-US" i="0">
                <a:effectLst/>
                <a:latin typeface="fkGroteskNeue"/>
              </a:rPr>
              <a:t>下載完成後，雙擊該 </a:t>
            </a:r>
            <a:r>
              <a:rPr lang="en-US" altLang="zh-TW" i="0">
                <a:effectLst/>
                <a:latin typeface="fkGroteskNeue"/>
              </a:rPr>
              <a:t>.exe </a:t>
            </a:r>
            <a:r>
              <a:rPr lang="zh-TW" altLang="en-US" i="0">
                <a:effectLst/>
                <a:latin typeface="fkGroteskNeue"/>
              </a:rPr>
              <a:t>安裝檔。</a:t>
            </a:r>
          </a:p>
          <a:p>
            <a:pPr algn="l">
              <a:buFont typeface="+mj-lt"/>
              <a:buAutoNum type="arabicPeriod"/>
            </a:pPr>
            <a:r>
              <a:rPr lang="zh-TW" altLang="en-US" i="0">
                <a:effectLst/>
                <a:latin typeface="fkGroteskNeue"/>
              </a:rPr>
              <a:t>按照安裝精靈指示操作，點擊「</a:t>
            </a:r>
            <a:r>
              <a:rPr lang="en-US" altLang="zh-TW" i="0">
                <a:effectLst/>
                <a:latin typeface="fkGroteskNeue"/>
              </a:rPr>
              <a:t>Next</a:t>
            </a:r>
            <a:r>
              <a:rPr lang="zh-TW" altLang="en-US" i="0">
                <a:effectLst/>
                <a:latin typeface="fkGroteskNeue"/>
              </a:rPr>
              <a:t>」、「</a:t>
            </a:r>
            <a:r>
              <a:rPr lang="en-US" altLang="zh-TW" i="0">
                <a:effectLst/>
                <a:latin typeface="fkGroteskNeue"/>
              </a:rPr>
              <a:t>I Agree</a:t>
            </a:r>
            <a:r>
              <a:rPr lang="zh-TW" altLang="en-US" i="0">
                <a:effectLst/>
                <a:latin typeface="fkGroteskNeue"/>
              </a:rPr>
              <a:t>」、「</a:t>
            </a:r>
            <a:r>
              <a:rPr lang="en-US" altLang="zh-TW" i="0">
                <a:effectLst/>
                <a:latin typeface="fkGroteskNeue"/>
              </a:rPr>
              <a:t>Install</a:t>
            </a:r>
            <a:r>
              <a:rPr lang="zh-TW" altLang="en-US" i="0">
                <a:effectLst/>
                <a:latin typeface="fkGroteskNeue"/>
              </a:rPr>
              <a:t>」等選項即可完成安裝，預設安裝路徑通常適用。</a:t>
            </a:r>
          </a:p>
          <a:p>
            <a:pPr algn="l">
              <a:buFont typeface="+mj-lt"/>
              <a:buAutoNum type="arabicPeriod"/>
            </a:pPr>
            <a:r>
              <a:rPr lang="zh-TW" altLang="en-US" i="0">
                <a:effectLst/>
                <a:latin typeface="fkGroteskNeue"/>
              </a:rPr>
              <a:t>安裝結束後，可從「開始」選單找到並啟動 </a:t>
            </a:r>
            <a:r>
              <a:rPr lang="en-US" altLang="zh-TW" i="0">
                <a:effectLst/>
                <a:latin typeface="fkGroteskNeue"/>
              </a:rPr>
              <a:t>DB Browser for SQLite </a:t>
            </a:r>
            <a:r>
              <a:rPr lang="zh-TW" altLang="en-US" i="0">
                <a:effectLst/>
                <a:latin typeface="fkGroteskNeue"/>
              </a:rPr>
              <a:t>使用。</a:t>
            </a:r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53BD8F-D2AE-4F77-80E7-39DB7334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46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44908-EE65-4547-B7A8-AB5265FF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i="0">
                <a:effectLst/>
                <a:latin typeface="fkGroteskNeue"/>
              </a:rPr>
              <a:t>使用 </a:t>
            </a:r>
            <a:r>
              <a:rPr lang="en-US" altLang="zh-TW" i="0">
                <a:effectLst/>
                <a:latin typeface="fkGroteskNeue"/>
              </a:rPr>
              <a:t>DB Browser for SQLite </a:t>
            </a:r>
            <a:r>
              <a:rPr lang="zh-TW" altLang="en-US" i="0">
                <a:effectLst/>
                <a:latin typeface="fkGroteskNeue"/>
              </a:rPr>
              <a:t>學習 </a:t>
            </a:r>
            <a:r>
              <a:rPr lang="en-US" altLang="zh-TW" i="0">
                <a:effectLst/>
                <a:latin typeface="fkGroteskNeue"/>
              </a:rPr>
              <a:t>SQL </a:t>
            </a:r>
            <a:r>
              <a:rPr lang="zh-TW" altLang="en-US" i="0">
                <a:effectLst/>
                <a:latin typeface="fkGroteskNeue"/>
              </a:rPr>
              <a:t>優點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448D1C-603F-40B8-94E9-F1B8834D5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簡單易用的視覺化介面，使初學者無需記憶複雜語法便能操作資料庫。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允許直接撰寫和執行 </a:t>
            </a:r>
            <a:r>
              <a:rPr lang="en-US" altLang="zh-TW" i="0">
                <a:effectLst/>
                <a:latin typeface="fkGroteskNeue"/>
              </a:rPr>
              <a:t>SQL </a:t>
            </a:r>
            <a:r>
              <a:rPr lang="zh-TW" altLang="en-US" i="0">
                <a:effectLst/>
                <a:latin typeface="fkGroteskNeue"/>
              </a:rPr>
              <a:t>查詢，立刻看到執行結果，加速理解 </a:t>
            </a:r>
            <a:r>
              <a:rPr lang="en-US" altLang="zh-TW" i="0">
                <a:effectLst/>
                <a:latin typeface="fkGroteskNeue"/>
              </a:rPr>
              <a:t>SQL </a:t>
            </a:r>
            <a:r>
              <a:rPr lang="zh-TW" altLang="en-US" i="0">
                <a:effectLst/>
                <a:latin typeface="fkGroteskNeue"/>
              </a:rPr>
              <a:t>語法和資料操作。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可視覺化查看資料庫結構與資料，幫助用戶理解資料表關聯及資料組織方式。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支援儲存和組織 </a:t>
            </a:r>
            <a:r>
              <a:rPr lang="en-US" altLang="zh-TW" i="0">
                <a:effectLst/>
                <a:latin typeface="fkGroteskNeue"/>
              </a:rPr>
              <a:t>SQL </a:t>
            </a:r>
            <a:r>
              <a:rPr lang="zh-TW" altLang="en-US" i="0">
                <a:effectLst/>
                <a:latin typeface="fkGroteskNeue"/>
              </a:rPr>
              <a:t>查詢，方便持續練習與管理學習筆記。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除了查詢，還能建立、修改資料表和索引，透過操作數據庫實務增強學習效果。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i="0">
                <a:effectLst/>
                <a:latin typeface="fkGroteskNeue"/>
              </a:rPr>
              <a:t>免費且開源，使用者可全面控制與學習資料庫管理。</a:t>
            </a:r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7922FB-29F9-4364-A053-00BF067A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39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2">
            <a:extLst>
              <a:ext uri="{FF2B5EF4-FFF2-40B4-BE49-F238E27FC236}">
                <a16:creationId xmlns:a16="http://schemas.microsoft.com/office/drawing/2014/main" id="{7114E231-1AFF-4E9C-A7C4-F60A3BF6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DB BROWSER </a:t>
            </a:r>
            <a:r>
              <a:rPr lang="zh-TW" altLang="en-US"/>
              <a:t>操作介面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8082C6-5472-42DF-AABF-3645DA7F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0ABBDB6-4D5B-45F2-87A4-80CFFCC8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995" y="1243857"/>
            <a:ext cx="6349564" cy="437028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6F6BC8-FEBD-4321-9A50-4CE3DC1F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66" y="2837130"/>
            <a:ext cx="2057687" cy="9431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D232797-4DA8-44C2-AE6E-DE5DCA70BECD}"/>
              </a:ext>
            </a:extLst>
          </p:cNvPr>
          <p:cNvSpPr/>
          <p:nvPr/>
        </p:nvSpPr>
        <p:spPr>
          <a:xfrm>
            <a:off x="830179" y="3428999"/>
            <a:ext cx="1684421" cy="4090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C520C7B5-7536-4159-A15E-B81895BCC53E}"/>
              </a:ext>
            </a:extLst>
          </p:cNvPr>
          <p:cNvSpPr/>
          <p:nvPr/>
        </p:nvSpPr>
        <p:spPr>
          <a:xfrm>
            <a:off x="3477126" y="3428999"/>
            <a:ext cx="378995" cy="35123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90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56899FC-8427-4EFE-B10B-9F992737C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F2DD82D0-AC17-44D4-9ACA-EF9447D62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94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5AEB0-A7C0-4079-A480-C0395960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的查詢句基本格式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68A88-1574-4A81-BF63-73177BFA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3211" y="1365336"/>
            <a:ext cx="3297314" cy="141776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	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限制條件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84E97-AF6F-4B7B-8336-6AF662A58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419846"/>
            <a:ext cx="9087339" cy="2924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實例</a:t>
            </a:r>
            <a:r>
              <a:rPr lang="en-US" altLang="zh-TW" dirty="0">
                <a:latin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找出所有定價超過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的商品之編號、名稱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和定價</a:t>
            </a:r>
            <a:r>
              <a:rPr lang="zh-TW" altLang="en-US">
                <a:latin typeface="微軟正黑體" panose="020B0604030504040204" pitchFamily="34" charset="-120"/>
              </a:rPr>
              <a:t>關聯</a:t>
            </a:r>
            <a:r>
              <a:rPr lang="zh-TW" altLang="en-US" dirty="0">
                <a:latin typeface="微軟正黑體" panose="020B0604030504040204" pitchFamily="34" charset="-120"/>
              </a:rPr>
              <a:t>代數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&gt; 500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Product)</a:t>
            </a:r>
          </a:p>
          <a:p>
            <a:pPr marL="0" indent="0">
              <a:buNone/>
            </a:pPr>
            <a:r>
              <a:rPr lang="en-US" altLang="zh-TW" dirty="0"/>
              <a:t>SQL</a:t>
            </a:r>
            <a:r>
              <a:rPr lang="zh-TW" altLang="en-US" dirty="0"/>
              <a:t>指令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SELECT</a:t>
            </a:r>
            <a:r>
              <a:rPr lang="en-US" altLang="zh-TW" dirty="0"/>
              <a:t> </a:t>
            </a:r>
            <a:r>
              <a:rPr lang="en-US" altLang="zh-TW" dirty="0" err="1"/>
              <a:t>pNo</a:t>
            </a:r>
            <a:r>
              <a:rPr lang="en-US" altLang="zh-TW" dirty="0"/>
              <a:t>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FROM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/>
              <a:t>product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WHERE</a:t>
            </a:r>
            <a:r>
              <a:rPr lang="en-US" altLang="zh-TW" dirty="0"/>
              <a:t> </a:t>
            </a:r>
            <a:r>
              <a:rPr lang="en-US" altLang="zh-TW" dirty="0" err="1"/>
              <a:t>uniprice</a:t>
            </a:r>
            <a:r>
              <a:rPr lang="en-US" altLang="zh-TW" dirty="0"/>
              <a:t> &gt; 500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C11F7E-F7B3-46AA-8552-D3F7C056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3E47-130E-4001-B40F-31F6E60D87B3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337FEB-7D8A-4D03-97BD-D33BBF91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67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CC1E78-F64B-4FB9-A2E7-2154F402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/>
              <a:t>實例</a:t>
            </a:r>
            <a:r>
              <a:rPr lang="en-US" altLang="zh-TW"/>
              <a:t>:</a:t>
            </a:r>
            <a:r>
              <a:rPr lang="zh-TW" altLang="en-US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D9C5B-5F41-4C37-A52F-5404C3E3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關聯資料表</a:t>
            </a:r>
            <a:endParaRPr lang="en-US" altLang="zh-TW"/>
          </a:p>
          <a:p>
            <a:pPr lvl="1"/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 (</a:t>
            </a:r>
            <a:r>
              <a:rPr lang="zh-TW" altLang="en-US" sz="16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16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pName, 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unitPrice, 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pNo, 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創作者名稱</a:t>
            </a:r>
            <a:r>
              <a:rPr lang="en-US" altLang="zh-TW" sz="2000" u="sng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/>
              <a:t>關聯運算子</a:t>
            </a:r>
            <a:endParaRPr lang="en-US" altLang="zh-TW"/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pName=‘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/>
          </a:p>
          <a:p>
            <a:r>
              <a:rPr lang="en-US" altLang="zh-TW">
                <a:latin typeface="Calibri" panose="020F0502020204030204" pitchFamily="34" charset="0"/>
              </a:rPr>
              <a:t>SQL</a:t>
            </a:r>
            <a:r>
              <a:rPr lang="zh-TW" altLang="en-US">
                <a:latin typeface="Calibri" panose="020F0502020204030204" pitchFamily="34" charset="0"/>
              </a:rPr>
              <a:t>指令</a:t>
            </a:r>
            <a:endParaRPr lang="en-US" altLang="zh-TW"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Calibri" panose="020F0502020204030204" pitchFamily="34" charset="0"/>
              </a:rPr>
              <a:t>SELECT</a:t>
            </a:r>
            <a:r>
              <a:rPr lang="en-US" altLang="zh-TW">
                <a:latin typeface="Calibri" panose="020F0502020204030204" pitchFamily="34" charset="0"/>
              </a:rPr>
              <a:t> name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Calibri" panose="020F0502020204030204" pitchFamily="34" charset="0"/>
              </a:rPr>
              <a:t>FROM</a:t>
            </a:r>
            <a:r>
              <a:rPr lang="en-US" altLang="zh-TW">
                <a:latin typeface="Calibri" panose="020F0502020204030204" pitchFamily="34" charset="0"/>
              </a:rPr>
              <a:t> Product, 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Calibri" panose="020F0502020204030204" pitchFamily="34" charset="0"/>
              </a:rPr>
              <a:t>WHERE</a:t>
            </a:r>
            <a:r>
              <a:rPr lang="en-US" altLang="zh-TW">
                <a:latin typeface="Calibri" panose="020F0502020204030204" pitchFamily="34" charset="0"/>
              </a:rPr>
              <a:t> pName = ‘</a:t>
            </a:r>
            <a:r>
              <a:rPr lang="zh-TW" altLang="en-US" b="1">
                <a:solidFill>
                  <a:srgbClr val="7030A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>
                <a:solidFill>
                  <a:srgbClr val="FF5050"/>
                </a:solidFill>
                <a:latin typeface="Calibri" panose="020F0502020204030204" pitchFamily="34" charset="0"/>
                <a:ea typeface="微軟正黑體" panose="020B0604030504040204" pitchFamily="34" charset="-120"/>
              </a:rPr>
              <a:t>’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Calibri" panose="020F0502020204030204" pitchFamily="34" charset="0"/>
              </a:rPr>
              <a:t>AND</a:t>
            </a:r>
            <a:r>
              <a:rPr lang="en-US" altLang="zh-TW">
                <a:solidFill>
                  <a:srgbClr val="FF5050"/>
                </a:solidFill>
                <a:latin typeface="Calibri" panose="020F0502020204030204" pitchFamily="34" charset="0"/>
              </a:rPr>
              <a:t> </a:t>
            </a:r>
            <a:r>
              <a:rPr lang="en-US" altLang="zh-TW" b="1">
                <a:solidFill>
                  <a:srgbClr val="C00000"/>
                </a:solidFill>
                <a:latin typeface="Calibri" panose="020F0502020204030204" pitchFamily="34" charset="0"/>
              </a:rPr>
              <a:t>Product.pNo = Author.pNo;</a:t>
            </a:r>
            <a:endParaRPr lang="zh-TW" altLang="en-US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49EBD8-6330-4580-98B1-966E9DCC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99E71-6C12-4200-9E5D-68825A016E57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C6FA1E-91EF-4EA6-88E5-A78839A9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82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86E3F-709A-4BBB-91E9-2872EDD2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1204003"/>
          </a:xfrm>
        </p:spPr>
        <p:txBody>
          <a:bodyPr>
            <a:norm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</a:t>
            </a:r>
            <a:r>
              <a:rPr lang="zh-TW" altLang="en-US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」的會員之</a:t>
            </a:r>
            <a:r>
              <a:rPr lang="zh-TW" altLang="en-US" b="1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1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D16EFE-9D66-40EB-A144-4E7FE40C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TW" altLang="en-US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b="1" dirty="0" err="1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CA5854-B353-4B95-BF6E-E89A97B99220}"/>
              </a:ext>
            </a:extLst>
          </p:cNvPr>
          <p:cNvSpPr txBox="1"/>
          <p:nvPr/>
        </p:nvSpPr>
        <p:spPr>
          <a:xfrm>
            <a:off x="1367161" y="4058050"/>
            <a:ext cx="9481352" cy="211891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Product, Record, Transaction, Member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Product.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BA1E6-AE88-49B9-A33B-C6DA9501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2745-7265-44AB-8935-C7143949DBA4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48434A-C6F6-4DAB-879A-7BAF0685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5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B1729-12AB-4EDC-9964-DE512386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使用資料表名稱的縮寫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82CB8-95A8-4B45-AC3C-C65A53D9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sz="2000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Record </a:t>
            </a:r>
            <a:r>
              <a:rPr lang="en-US" altLang="zh-TW" sz="2000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Transaction </a:t>
            </a:r>
            <a:r>
              <a:rPr lang="en-US" altLang="zh-TW" sz="2000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='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P.pNo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R.pNo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R.tNo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T.tNo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0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</a:p>
          <a:p>
            <a:endParaRPr lang="zh-TW" alt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9CD422-30EB-4458-B5CA-42E66B90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4786-7A90-4A2A-9D8E-ACA072684821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1807C3-CED7-4142-83B9-11444AFF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95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37A08-BBD0-41FF-80F2-330CF2BA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1070229"/>
          </a:xfrm>
        </p:spPr>
        <p:txBody>
          <a:bodyPr>
            <a:normAutofit fontScale="90000"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對於會員編號為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'b0905555'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的會員，列出其姓名以及所（直接） 介紹的會員之會員編號和姓名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6EB89-6264-4C33-8CC0-6B8434C80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6754"/>
            <a:ext cx="10515600" cy="5227662"/>
          </a:xfrm>
        </p:spPr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F186D7-8EA1-4EAE-AB56-018A76AD8924}"/>
              </a:ext>
            </a:extLst>
          </p:cNvPr>
          <p:cNvSpPr txBox="1"/>
          <p:nvPr/>
        </p:nvSpPr>
        <p:spPr>
          <a:xfrm>
            <a:off x="2337847" y="3750402"/>
            <a:ext cx="7498362" cy="15536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I.name,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M.name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'b0905555'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M.introducer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C1167-7C0A-4B47-BF2A-BCE8F22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F5BA-D75E-4675-98EF-B61D13813C20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73119-DD83-49B5-B060-EEB8851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11</a:t>
            </a:fld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4A6F89A-5871-9C98-4B65-C1B11C6AEF3F}"/>
              </a:ext>
            </a:extLst>
          </p:cNvPr>
          <p:cNvCxnSpPr/>
          <p:nvPr/>
        </p:nvCxnSpPr>
        <p:spPr>
          <a:xfrm>
            <a:off x="3551420" y="1942900"/>
            <a:ext cx="0" cy="2548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C389BF3-7EB1-72FE-8265-A225042219CB}"/>
              </a:ext>
            </a:extLst>
          </p:cNvPr>
          <p:cNvCxnSpPr/>
          <p:nvPr/>
        </p:nvCxnSpPr>
        <p:spPr>
          <a:xfrm>
            <a:off x="8771477" y="2147231"/>
            <a:ext cx="0" cy="2398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6040CBE-C857-C478-D789-2AE230C8A29C}"/>
              </a:ext>
            </a:extLst>
          </p:cNvPr>
          <p:cNvCxnSpPr/>
          <p:nvPr/>
        </p:nvCxnSpPr>
        <p:spPr>
          <a:xfrm>
            <a:off x="3563644" y="2147231"/>
            <a:ext cx="51928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E099783-603F-181F-F982-61FCE2D07F88}"/>
              </a:ext>
            </a:extLst>
          </p:cNvPr>
          <p:cNvSpPr txBox="1"/>
          <p:nvPr/>
        </p:nvSpPr>
        <p:spPr>
          <a:xfrm>
            <a:off x="2209800" y="5499892"/>
            <a:ext cx="844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</a:rPr>
              <a:t>** </a:t>
            </a:r>
            <a:r>
              <a:rPr lang="zh-TW" altLang="en-US" dirty="0">
                <a:latin typeface="微軟正黑體" panose="020B0604030504040204" pitchFamily="34" charset="-120"/>
              </a:rPr>
              <a:t>找出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‘b0905555’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的會員，列出其姓名及介紹者的會員編號和姓名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35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8C3D0-5884-41C8-9A89-FCAFAD36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>
                <a:effectLst/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75415-513C-4FE5-A84A-EA210911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星號（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：取出資料表的所有屬性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FROM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：沒有條件設限 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(project operator)</a:t>
            </a:r>
            <a:endParaRPr lang="en-US" altLang="zh-TW" sz="2000" b="1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 FROM Member;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重複的記錄只保留一筆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 FROM Member;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欄位值的比較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&lt;&gt;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 NULL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是否空值 </a:t>
            </a: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區間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* FROM Product  WHERE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100 </a:t>
            </a:r>
            <a:r>
              <a:rPr lang="en-US" altLang="zh-TW" sz="2000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999;</a:t>
            </a:r>
          </a:p>
          <a:p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比較子：比較文字欄位的部分字串值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任意字串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任意字元  </a:t>
            </a:r>
          </a:p>
          <a:p>
            <a:pPr lvl="2">
              <a:lnSpc>
                <a:spcPct val="110000"/>
              </a:lnSpc>
              <a:buNone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48618-C894-4F0B-B3D5-82B0732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4706-3A7A-4CD1-A3CD-24DDBAA502B3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E2F7A01-04CA-4433-90B3-DAD012D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6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72B9AA-B07F-4602-A614-06EE40E6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8BDD8B-54BC-4B7E-9A8E-378758CB42E4}"/>
              </a:ext>
            </a:extLst>
          </p:cNvPr>
          <p:cNvSpPr txBox="1"/>
          <p:nvPr/>
        </p:nvSpPr>
        <p:spPr>
          <a:xfrm>
            <a:off x="0" y="1319753"/>
            <a:ext cx="70135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address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高雄市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</a:t>
            </a:r>
          </a:p>
          <a:p>
            <a:pPr lvl="1">
              <a:buNone/>
            </a:pPr>
            <a:endPara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 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B5971B-505E-4EE9-A499-86E16BEE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C222-F712-4717-AF57-50FFA77A47E5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F11600-8DBA-44D4-8322-6353FB12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7499A6-EB27-41AA-A7A6-B2F38918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1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E4EE3-5E87-4574-B26D-53090533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Date&amp;Time</a:t>
            </a:r>
            <a:r>
              <a:rPr lang="zh-TW" altLang="en-US"/>
              <a:t>表示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69AA9-210D-4114-857D-3B10EE28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利用字串表示日期與時間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YYYY-MM-DD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時間</a:t>
            </a:r>
            <a:r>
              <a:rPr lang="en-US" altLang="zh-TW" b="1" dirty="0"/>
              <a:t>: HH:MM:SS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日期時間</a:t>
            </a:r>
            <a:r>
              <a:rPr lang="en-US" altLang="zh-TW" b="1" dirty="0"/>
              <a:t>: YYYYMMDD</a:t>
            </a:r>
            <a:r>
              <a:rPr lang="zh-TW" altLang="en-US" b="1" dirty="0"/>
              <a:t> </a:t>
            </a:r>
            <a:r>
              <a:rPr lang="en-US" altLang="zh-TW" b="1" dirty="0"/>
              <a:t>HH:MM:SS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日期與時間函數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date(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date(‘2024-08-09’)</a:t>
            </a:r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time(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time(‘12:23:08’)</a:t>
            </a:r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datetime(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</a:t>
            </a:r>
            <a:r>
              <a:rPr lang="en-US" altLang="zh-TW" b="1" dirty="0" err="1"/>
              <a:t>datatime</a:t>
            </a:r>
            <a:r>
              <a:rPr lang="en-US" altLang="zh-TW" b="1" dirty="0"/>
              <a:t>(‘2024-11-11 11:11:11’)</a:t>
            </a:r>
          </a:p>
          <a:p>
            <a:pPr lvl="1">
              <a:lnSpc>
                <a:spcPct val="150000"/>
              </a:lnSpc>
            </a:pPr>
            <a:r>
              <a:rPr lang="en-US" altLang="zh-TW" b="1" err="1">
                <a:solidFill>
                  <a:srgbClr val="0000FF"/>
                </a:solidFill>
              </a:rPr>
              <a:t>strftime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ref https://</a:t>
            </a:r>
            <a:r>
              <a:rPr lang="en-US" altLang="zh-TW" b="1" dirty="0" err="1"/>
              <a:t>sqlite.org</a:t>
            </a:r>
            <a:r>
              <a:rPr lang="en-US" altLang="zh-TW" b="1" dirty="0"/>
              <a:t>/</a:t>
            </a:r>
            <a:r>
              <a:rPr lang="en-US" altLang="zh-TW" b="1" dirty="0" err="1"/>
              <a:t>lang_datefunc.html</a:t>
            </a:r>
            <a:endParaRPr lang="en-US" altLang="zh-TW" b="1" dirty="0"/>
          </a:p>
          <a:p>
            <a:pPr lvl="1">
              <a:lnSpc>
                <a:spcPct val="150000"/>
              </a:lnSpc>
            </a:pPr>
            <a:r>
              <a:rPr lang="en-US" altLang="zh-TW" b="1" err="1">
                <a:solidFill>
                  <a:srgbClr val="0000FF"/>
                </a:solidFill>
              </a:rPr>
              <a:t>timediff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</a:t>
            </a:r>
            <a:r>
              <a:rPr lang="en-US" altLang="zh-TW" b="1" dirty="0" err="1"/>
              <a:t>timediff</a:t>
            </a:r>
            <a:r>
              <a:rPr lang="en-US" altLang="zh-TW" b="1" dirty="0"/>
              <a:t>(date1, date2)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38AE8C-955A-4FBE-BB64-A2ADF936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BB29-2BDD-4F14-B667-D7D7049A8BE0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212D83-616B-4B0F-B0A1-34E83E05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874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830106F-B96A-402C-8E0B-5CBEEF2D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</a:t>
            </a: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A60D65-3FDE-4647-8098-E3449946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的型態值不易直接表達，傳統作法是將之轉成字串，或將字串轉</a:t>
            </a:r>
            <a:r>
              <a:rPr lang="zh-TW" altLang="en-US">
                <a:latin typeface="微軟正黑體" panose="020B0604030504040204" pitchFamily="34" charset="-120"/>
              </a:rPr>
              <a:t>換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日期時間型態，再做比較 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b="1">
                <a:latin typeface="微軟正黑體" panose="020B0604030504040204" pitchFamily="34" charset="-120"/>
              </a:rPr>
              <a:t>日期字串格式</a:t>
            </a:r>
            <a:r>
              <a:rPr lang="en-US" altLang="zh-TW" b="1">
                <a:latin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</a:rPr>
              <a:t>yyyy-mm-dd</a:t>
            </a:r>
          </a:p>
          <a:p>
            <a:pPr lvl="1"/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Date(birthday) &gt; date(‘1975-01-01’)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現在大部分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都允許將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型態的欄位與字串直接比較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05C063-A2D0-4C25-8538-E203186B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AF82F-45BF-44AC-B740-D65F2262FB9A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44317-19CD-473F-8233-EAC0116E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828B0-D5F9-4924-9F72-C4163E4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記錄排序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049156-D24C-4230-8F81-1266D56E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 BY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：設定查詢結果資料表裡記錄的排列次序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代表由大到小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代表由小到大（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預設）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80000"/>
              </a:lnSpc>
            </a:pP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練習範例</a:t>
            </a:r>
            <a:endParaRPr lang="zh-TW" alt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zh-TW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 </a:t>
            </a:r>
            <a:r>
              <a:rPr lang="en-US" altLang="zh-TW" b="1">
                <a:solidFill>
                  <a:srgbClr val="C00000"/>
                </a:solidFill>
              </a:rPr>
              <a:t>DESC</a:t>
            </a:r>
            <a:r>
              <a:rPr lang="en-US" altLang="zh-TW">
                <a:solidFill>
                  <a:schemeClr val="tx1"/>
                </a:solidFill>
              </a:rPr>
              <a:t>;</a:t>
            </a:r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9B7B2C-5930-47F2-9389-3E3C651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CA3D-231E-4B55-A009-A40ACB289466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6EFEB-9652-4833-ACAA-6455366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319D37-4A64-4F26-A39E-BE9E925F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4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cs typeface="+mn-cs"/>
              </a:rPr>
              <a:t>集合運算式 </a:t>
            </a:r>
          </a:p>
        </p:txBody>
      </p:sp>
      <p:sp>
        <p:nvSpPr>
          <p:cNvPr id="410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914401"/>
            <a:ext cx="10515600" cy="539491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相乘</a:t>
            </a:r>
            <a:r>
              <a:rPr lang="en-US" altLang="zh-TW" dirty="0">
                <a:latin typeface="微軟正黑體" panose="020B0604030504040204" pitchFamily="34" charset="-120"/>
              </a:rPr>
              <a:t> (Cartesian product)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</a:rPr>
              <a:t>   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mId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,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pNo</a:t>
            </a:r>
            <a:endParaRPr lang="en-US" altLang="zh-TW" sz="1900" dirty="0">
              <a:solidFill>
                <a:schemeClr val="tx1"/>
              </a:solidFill>
              <a:latin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FROM Member, Product;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dirty="0">
              <a:latin typeface="微軟正黑體" panose="020B0604030504040204" pitchFamily="34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交集、聯集、差集等運算子則分別用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</a:t>
            </a:r>
            <a:endParaRPr lang="en-US" altLang="zh-TW" sz="1800" dirty="0">
              <a:latin typeface="微軟正黑體" panose="020B0604030504040204" pitchFamily="34" charset="-120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TW" altLang="en-US" sz="2200" b="1" dirty="0">
                <a:latin typeface="微軟正黑體" panose="020B0604030504040204" pitchFamily="34" charset="-120"/>
              </a:rPr>
              <a:t>實例</a:t>
            </a:r>
            <a:r>
              <a:rPr lang="en-US" altLang="zh-TW" sz="2200" b="1" dirty="0">
                <a:latin typeface="微軟正黑體" panose="020B0604030504040204" pitchFamily="34" charset="-120"/>
              </a:rPr>
              <a:t>: </a:t>
            </a:r>
            <a:r>
              <a:rPr lang="zh-TW" altLang="en-US" sz="2200" b="1" dirty="0">
                <a:latin typeface="微軟正黑體" panose="020B0604030504040204" pitchFamily="34" charset="-120"/>
              </a:rPr>
              <a:t>找出所有瀏覽過或購買過「系統分析理論與實務」的會員之會員編號和會員姓名。</a:t>
            </a:r>
            <a:endParaRPr lang="zh-TW" altLang="en-US" sz="1900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</a:t>
            </a:r>
            <a:r>
              <a:rPr lang="en-US" altLang="zh-TW" sz="1900" dirty="0">
                <a:latin typeface="微軟正黑體" panose="020B0604030504040204" pitchFamily="34" charset="-120"/>
              </a:rPr>
              <a:t> P, Browse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B, Member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 </a:t>
            </a:r>
            <a:r>
              <a:rPr lang="en-US" altLang="zh-TW" sz="1900" dirty="0">
                <a:latin typeface="微軟正黑體" panose="020B0604030504040204" pitchFamily="34" charset="-120"/>
              </a:rPr>
              <a:t>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solidFill>
                  <a:srgbClr val="0000FF"/>
                </a:solidFill>
                <a:latin typeface="微軟正黑體" panose="020B0604030504040204" pitchFamily="34" charset="-120"/>
              </a:rPr>
              <a:t>UNION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P, Record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R, `Transaction`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T, Member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R.tNo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T.transMid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400" dirty="0"/>
          </a:p>
        </p:txBody>
      </p: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1524001" y="20489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1524001" y="15203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5" name="Oval 12"/>
          <p:cNvSpPr>
            <a:spLocks noChangeArrowheads="1"/>
          </p:cNvSpPr>
          <p:nvPr/>
        </p:nvSpPr>
        <p:spPr bwMode="auto">
          <a:xfrm>
            <a:off x="1298261" y="4323856"/>
            <a:ext cx="1008509" cy="345608"/>
          </a:xfrm>
          <a:prstGeom prst="ellipse">
            <a:avLst/>
          </a:prstGeom>
          <a:noFill/>
          <a:ln>
            <a:solidFill>
              <a:srgbClr val="C0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233F89-401E-44A4-91B8-F714CE8D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76BC8-A5D7-4B9B-B560-EE91EBB79359}" type="datetime1">
              <a:rPr lang="zh-TW" altLang="en-US" smtClean="0"/>
              <a:t>2025/11/17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40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512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包括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</a:t>
            </a:r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：結合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的所有記錄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不去除重複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K1&gt;K2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−K2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Arial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Min(K1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, K2)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</a:p>
          <a:p>
            <a:pPr eaLnBrk="1" hangingPunct="1">
              <a:lnSpc>
                <a:spcPct val="150000"/>
              </a:lnSpc>
            </a:pPr>
            <a:endParaRPr lang="zh-TW" altLang="en-US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B1F261-9584-45E9-9F50-20C6501D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3E22B-D871-4C17-83B8-4F46E9B205AA}" type="datetime1">
              <a:rPr lang="zh-TW" altLang="en-US" smtClean="0"/>
              <a:t>2025/11/17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6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graphicFrame>
        <p:nvGraphicFramePr>
          <p:cNvPr id="7" name="Group 553"/>
          <p:cNvGraphicFramePr>
            <a:graphicFrameLocks noGrp="1"/>
          </p:cNvGraphicFramePr>
          <p:nvPr/>
        </p:nvGraphicFramePr>
        <p:xfrm>
          <a:off x="2627041" y="1556792"/>
          <a:ext cx="1919287" cy="27432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554"/>
          <p:cNvGraphicFramePr>
            <a:graphicFrameLocks noGrp="1"/>
          </p:cNvGraphicFramePr>
          <p:nvPr/>
        </p:nvGraphicFramePr>
        <p:xfrm>
          <a:off x="5303912" y="1412776"/>
          <a:ext cx="3198812" cy="54864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Line 546"/>
          <p:cNvSpPr>
            <a:spLocks noChangeShapeType="1"/>
          </p:cNvSpPr>
          <p:nvPr/>
        </p:nvSpPr>
        <p:spPr bwMode="auto">
          <a:xfrm flipV="1">
            <a:off x="4859688" y="5056318"/>
            <a:ext cx="431800" cy="90825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547"/>
          <p:cNvSpPr>
            <a:spLocks noChangeShapeType="1"/>
          </p:cNvSpPr>
          <p:nvPr/>
        </p:nvSpPr>
        <p:spPr bwMode="auto">
          <a:xfrm flipH="1" flipV="1">
            <a:off x="6960096" y="2492896"/>
            <a:ext cx="648792" cy="388074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548"/>
          <p:cNvSpPr>
            <a:spLocks noChangeShapeType="1"/>
          </p:cNvSpPr>
          <p:nvPr/>
        </p:nvSpPr>
        <p:spPr bwMode="auto">
          <a:xfrm flipH="1" flipV="1">
            <a:off x="8184231" y="3356993"/>
            <a:ext cx="1440161" cy="107627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2670347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R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58945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S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416267" y="5964568"/>
            <a:ext cx="1709858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UNION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4" name="圓角矩形 23"/>
          <p:cNvSpPr/>
          <p:nvPr/>
        </p:nvSpPr>
        <p:spPr>
          <a:xfrm>
            <a:off x="6703698" y="5964568"/>
            <a:ext cx="181038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EXCEPT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5" name="圓角矩形 24"/>
          <p:cNvSpPr/>
          <p:nvPr/>
        </p:nvSpPr>
        <p:spPr>
          <a:xfrm>
            <a:off x="8459146" y="4479246"/>
            <a:ext cx="218053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INTERSECT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972092-11C3-4FC5-BFA1-2F6FD7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16BBE-1EC4-471C-B254-F710B263C560}" type="datetime1">
              <a:rPr lang="zh-TW" altLang="en-US" smtClean="0"/>
              <a:t>2025/11/17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51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52915-C7E7-4DF3-91BC-C1B092CB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巢狀查詢句</a:t>
            </a:r>
            <a:r>
              <a:rPr lang="en-US" altLang="zh-TW" sz="2800">
                <a:latin typeface="微軟正黑體" panose="020B0604030504040204" pitchFamily="34" charset="-120"/>
              </a:rPr>
              <a:t>(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子句或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子句裡容納另一個查詢子句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C7F5-92B1-4AA3-AB35-DF9AB080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6136"/>
            <a:ext cx="10856495" cy="5130827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endParaRPr lang="en-US" altLang="zh-TW" b="1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(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pName 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 AS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P.pNo = Author.pNo;</a:t>
            </a:r>
          </a:p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SELECT</a:t>
            </a:r>
            <a:r>
              <a:rPr lang="en-US" altLang="zh-TW" sz="2100" b="1">
                <a:latin typeface="微軟正黑體" panose="020B0604030504040204" pitchFamily="34" charset="-120"/>
              </a:rPr>
              <a:t> mId, name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FROM</a:t>
            </a:r>
            <a:r>
              <a:rPr lang="en-US" altLang="zh-TW" sz="2100" b="1">
                <a:latin typeface="微軟正黑體" panose="020B0604030504040204" pitchFamily="34" charset="-120"/>
              </a:rPr>
              <a:t> Member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WHERE</a:t>
            </a:r>
            <a:r>
              <a:rPr lang="en-US" altLang="zh-TW" sz="2100" b="1">
                <a:latin typeface="微軟正黑體" panose="020B0604030504040204" pitchFamily="34" charset="-120"/>
              </a:rPr>
              <a:t> mId </a:t>
            </a:r>
            <a:r>
              <a:rPr lang="en-US" altLang="zh-TW" sz="2100" b="1">
                <a:solidFill>
                  <a:srgbClr val="C00000"/>
                </a:solidFill>
                <a:latin typeface="微軟正黑體" panose="020B0604030504040204" pitchFamily="34" charset="-120"/>
              </a:rPr>
              <a:t>IN 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(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SELECT transMid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</a:t>
            </a: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FROM Product AS P, Record AS R, Transaction AS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r>
              <a:rPr lang="en-US" altLang="zh-TW" sz="2100" b="1">
                <a:latin typeface="微軟正黑體" panose="020B0604030504040204" pitchFamily="34" charset="-120"/>
              </a:rPr>
              <a:t>T</a:t>
            </a:r>
          </a:p>
          <a:p>
            <a:pPr marL="457200" lvl="1" indent="0">
              <a:buNone/>
              <a:defRPr/>
            </a:pP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 WHERE pName= '</a:t>
            </a:r>
            <a:r>
              <a:rPr lang="zh-TW" altLang="en-US" sz="2100" b="1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2100" b="1">
                <a:latin typeface="微軟正黑體" panose="020B0604030504040204" pitchFamily="34" charset="-120"/>
              </a:rPr>
              <a:t>'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endParaRPr lang="en-US" altLang="zh-TW" sz="2100" b="1">
              <a:latin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 AND  P.pNo = R.pNo AND R.tNo = T.tNo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);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4E7A9F-5260-42DE-8216-10741104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A3A-B3B2-4411-A558-650F6728A8E1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5FA25B-8355-49D1-9276-9E7C74D1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0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A2C72-4F66-4E75-8EF6-CA1BC746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spc="600">
                <a:latin typeface="微軟正黑體" pitchFamily="34" charset="-120"/>
                <a:ea typeface="微軟正黑體" pitchFamily="34" charset="-120"/>
                <a:cs typeface="+mn-cs"/>
              </a:rPr>
              <a:t>集合運算式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A17ACE-053B-4EBE-9AFF-A4D83CBA8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pc="600">
                <a:latin typeface="微軟正黑體" pitchFamily="34" charset="-120"/>
              </a:rPr>
              <a:t>卡迪森乘積</a:t>
            </a:r>
            <a:r>
              <a:rPr lang="en-US" altLang="zh-TW" spc="600">
                <a:latin typeface="微軟正黑體" pitchFamily="34" charset="-120"/>
              </a:rPr>
              <a:t>(</a:t>
            </a:r>
            <a:r>
              <a:rPr lang="en-US" altLang="zh-TW">
                <a:latin typeface="微軟正黑體" panose="020B0604030504040204" pitchFamily="34" charset="-120"/>
              </a:rPr>
              <a:t>Cartesian Product)</a:t>
            </a:r>
          </a:p>
          <a:p>
            <a:r>
              <a:rPr lang="zh-TW" altLang="en-US"/>
              <a:t>聯集</a:t>
            </a:r>
            <a:endParaRPr lang="en-US" altLang="zh-TW"/>
          </a:p>
          <a:p>
            <a:r>
              <a:rPr lang="zh-TW" altLang="en-US"/>
              <a:t>交集</a:t>
            </a:r>
            <a:endParaRPr lang="en-US" altLang="zh-TW"/>
          </a:p>
          <a:p>
            <a:r>
              <a:rPr lang="zh-TW" altLang="en-US"/>
              <a:t>差集</a:t>
            </a:r>
            <a:endParaRPr lang="en-US" altLang="zh-TW"/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895438-186B-4E26-8FF7-AF635787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923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9E8ED-E0F5-42FF-9CF0-88F6D7AB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>
                <a:latin typeface="微軟正黑體" pitchFamily="34" charset="-120"/>
              </a:rPr>
              <a:t>卡迪森乘積</a:t>
            </a:r>
            <a:r>
              <a:rPr lang="en-US" altLang="zh-TW" spc="600">
                <a:latin typeface="微軟正黑體" pitchFamily="34" charset="-120"/>
              </a:rPr>
              <a:t>(</a:t>
            </a:r>
            <a:r>
              <a:rPr lang="en-US" altLang="zh-TW">
                <a:latin typeface="微軟正黑體" panose="020B0604030504040204" pitchFamily="34" charset="-120"/>
              </a:rPr>
              <a:t>Cartesian Product)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EF48B-AE05-4234-89BF-6D80DBF6A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</a:rPr>
              <a:t>兩個集合相乘， </a:t>
            </a:r>
            <a:r>
              <a:rPr lang="en-US" altLang="zh-TW">
                <a:latin typeface="微軟正黑體" panose="020B0604030504040204" pitchFamily="34" charset="-120"/>
              </a:rPr>
              <a:t>Result = R</a:t>
            </a:r>
            <a:r>
              <a:rPr lang="en-US" altLang="zh-TW">
                <a:solidFill>
                  <a:srgbClr val="C00000"/>
                </a:solidFill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>
                <a:latin typeface="微軟正黑體" panose="020B0604030504040204" pitchFamily="34" charset="-120"/>
              </a:rPr>
              <a:t>S</a:t>
            </a:r>
          </a:p>
          <a:p>
            <a:r>
              <a:rPr lang="zh-TW" altLang="en-US">
                <a:latin typeface="微軟正黑體" panose="020B0604030504040204" pitchFamily="34" charset="-120"/>
              </a:rPr>
              <a:t>關聯相乘後的序列值數目常常很龐大，假設</a:t>
            </a:r>
            <a:r>
              <a:rPr lang="en-US" altLang="zh-TW">
                <a:latin typeface="微軟正黑體" panose="020B0604030504040204" pitchFamily="34" charset="-120"/>
              </a:rPr>
              <a:t>R</a:t>
            </a:r>
            <a:r>
              <a:rPr lang="zh-TW" altLang="en-US">
                <a:latin typeface="微軟正黑體" panose="020B0604030504040204" pitchFamily="34" charset="-120"/>
              </a:rPr>
              <a:t>有</a:t>
            </a:r>
            <a:r>
              <a:rPr lang="en-US" altLang="zh-TW">
                <a:latin typeface="微軟正黑體" panose="020B0604030504040204" pitchFamily="34" charset="-120"/>
              </a:rPr>
              <a:t>p</a:t>
            </a:r>
            <a:r>
              <a:rPr lang="zh-TW" altLang="en-US">
                <a:latin typeface="微軟正黑體" panose="020B0604030504040204" pitchFamily="34" charset="-120"/>
              </a:rPr>
              <a:t>個屬性和</a:t>
            </a:r>
            <a:r>
              <a:rPr lang="en-US" altLang="zh-TW">
                <a:latin typeface="微軟正黑體" panose="020B0604030504040204" pitchFamily="34" charset="-120"/>
              </a:rPr>
              <a:t>n</a:t>
            </a:r>
            <a:r>
              <a:rPr lang="zh-TW" altLang="en-US">
                <a:latin typeface="微軟正黑體" panose="020B0604030504040204" pitchFamily="34" charset="-120"/>
              </a:rPr>
              <a:t>筆序列值，</a:t>
            </a:r>
            <a:r>
              <a:rPr lang="en-US" altLang="zh-TW">
                <a:latin typeface="微軟正黑體" panose="020B0604030504040204" pitchFamily="34" charset="-120"/>
              </a:rPr>
              <a:t>S</a:t>
            </a:r>
            <a:r>
              <a:rPr lang="zh-TW" altLang="en-US">
                <a:latin typeface="微軟正黑體" panose="020B0604030504040204" pitchFamily="34" charset="-120"/>
              </a:rPr>
              <a:t>有</a:t>
            </a:r>
            <a:r>
              <a:rPr lang="en-US" altLang="zh-TW">
                <a:latin typeface="微軟正黑體" panose="020B0604030504040204" pitchFamily="34" charset="-120"/>
              </a:rPr>
              <a:t>t</a:t>
            </a:r>
            <a:r>
              <a:rPr lang="zh-TW" altLang="en-US">
                <a:latin typeface="微軟正黑體" panose="020B0604030504040204" pitchFamily="34" charset="-120"/>
              </a:rPr>
              <a:t>個屬性和</a:t>
            </a:r>
            <a:r>
              <a:rPr lang="en-US" altLang="zh-TW">
                <a:latin typeface="微軟正黑體" panose="020B0604030504040204" pitchFamily="34" charset="-120"/>
              </a:rPr>
              <a:t>m</a:t>
            </a:r>
            <a:r>
              <a:rPr lang="zh-TW" altLang="en-US">
                <a:latin typeface="微軟正黑體" panose="020B0604030504040204" pitchFamily="34" charset="-120"/>
              </a:rPr>
              <a:t>筆序列值。則</a:t>
            </a:r>
            <a:r>
              <a:rPr lang="en-US" altLang="zh-TW">
                <a:latin typeface="微軟正黑體" panose="020B0604030504040204" pitchFamily="34" charset="-120"/>
              </a:rPr>
              <a:t>R</a:t>
            </a:r>
            <a:r>
              <a:rPr lang="en-US" altLang="zh-TW"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>
                <a:latin typeface="微軟正黑體" panose="020B0604030504040204" pitchFamily="34" charset="-120"/>
              </a:rPr>
              <a:t>S</a:t>
            </a:r>
            <a:r>
              <a:rPr lang="zh-TW" altLang="en-US">
                <a:latin typeface="微軟正黑體" panose="020B0604030504040204" pitchFamily="34" charset="-120"/>
              </a:rPr>
              <a:t>會有</a:t>
            </a:r>
            <a:r>
              <a:rPr lang="en-US" altLang="zh-TW">
                <a:latin typeface="微軟正黑體" panose="020B0604030504040204" pitchFamily="34" charset="-120"/>
              </a:rPr>
              <a:t>p+t</a:t>
            </a:r>
            <a:r>
              <a:rPr lang="zh-TW" altLang="en-US">
                <a:latin typeface="微軟正黑體" panose="020B0604030504040204" pitchFamily="34" charset="-120"/>
              </a:rPr>
              <a:t>個屬性和</a:t>
            </a:r>
            <a:r>
              <a:rPr lang="en-US" altLang="zh-TW">
                <a:latin typeface="微軟正黑體" panose="020B0604030504040204" pitchFamily="34" charset="-120"/>
              </a:rPr>
              <a:t>m</a:t>
            </a:r>
            <a:r>
              <a:rPr lang="en-US" altLang="zh-TW"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>
                <a:latin typeface="微軟正黑體" panose="020B0604030504040204" pitchFamily="34" charset="-120"/>
              </a:rPr>
              <a:t>n</a:t>
            </a:r>
            <a:r>
              <a:rPr lang="zh-TW" altLang="en-US">
                <a:latin typeface="微軟正黑體" panose="020B0604030504040204" pitchFamily="34" charset="-120"/>
              </a:rPr>
              <a:t>筆序列值</a:t>
            </a:r>
            <a:endParaRPr lang="en-US" altLang="zh-TW">
              <a:latin typeface="微軟正黑體" panose="020B0604030504040204" pitchFamily="34" charset="-120"/>
            </a:endParaRPr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229A91-F6DB-4CEE-A68B-37313269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9A121F-86A5-4492-AB50-E3592CB09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11" y="2291475"/>
            <a:ext cx="6477904" cy="392484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349FCE6-755B-4BFF-B630-53E6901C8BE8}"/>
              </a:ext>
            </a:extLst>
          </p:cNvPr>
          <p:cNvSpPr txBox="1"/>
          <p:nvPr/>
        </p:nvSpPr>
        <p:spPr>
          <a:xfrm>
            <a:off x="8407012" y="2514507"/>
            <a:ext cx="35848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0070C0"/>
                </a:solidFill>
              </a:rPr>
              <a:t>create table if not exists student( 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  sid char(5), 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  sName text)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create table if not exists assistant( 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  aid char(5), 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  aName text);</a:t>
            </a:r>
          </a:p>
          <a:p>
            <a:endParaRPr lang="en-US" altLang="zh-TW" b="1">
              <a:solidFill>
                <a:srgbClr val="0070C0"/>
              </a:solidFill>
            </a:endParaRPr>
          </a:p>
          <a:p>
            <a:r>
              <a:rPr lang="en-US" altLang="zh-TW" b="1">
                <a:solidFill>
                  <a:srgbClr val="C00000"/>
                </a:solidFill>
              </a:rPr>
              <a:t>select * </a:t>
            </a:r>
          </a:p>
          <a:p>
            <a:r>
              <a:rPr lang="en-US" altLang="zh-TW" b="1">
                <a:solidFill>
                  <a:srgbClr val="C00000"/>
                </a:solidFill>
              </a:rPr>
              <a:t>from student, assistant;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52E6B6-B4B5-4F6C-9E61-D9FE6511BBAE}"/>
              </a:ext>
            </a:extLst>
          </p:cNvPr>
          <p:cNvSpPr txBox="1"/>
          <p:nvPr/>
        </p:nvSpPr>
        <p:spPr>
          <a:xfrm>
            <a:off x="9248702" y="52322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R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DF6E3A2-23D6-4D98-96FC-A73C04B38283}"/>
              </a:ext>
            </a:extLst>
          </p:cNvPr>
          <p:cNvSpPr txBox="1"/>
          <p:nvPr/>
        </p:nvSpPr>
        <p:spPr>
          <a:xfrm>
            <a:off x="10065279" y="523225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S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30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A0324-0B9B-4E2F-A9A2-1CCF40747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35461"/>
          </a:xfrm>
        </p:spPr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F750AA-7C1A-4B14-BAE3-844A4E61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6FE4E7-75D8-440A-8C5F-92F48038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96" y="1206529"/>
            <a:ext cx="3796872" cy="23004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62E6EAF-DD15-42FD-8DF1-FA84F40E7526}"/>
              </a:ext>
            </a:extLst>
          </p:cNvPr>
          <p:cNvSpPr/>
          <p:nvPr/>
        </p:nvSpPr>
        <p:spPr>
          <a:xfrm>
            <a:off x="1012122" y="1919542"/>
            <a:ext cx="1598455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13F739-BE7F-4A80-81DB-A96B7A762624}"/>
              </a:ext>
            </a:extLst>
          </p:cNvPr>
          <p:cNvSpPr/>
          <p:nvPr/>
        </p:nvSpPr>
        <p:spPr>
          <a:xfrm>
            <a:off x="1012122" y="2684181"/>
            <a:ext cx="1598455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2A31C0-9482-4B0D-9650-BBE38BBC119C}"/>
              </a:ext>
            </a:extLst>
          </p:cNvPr>
          <p:cNvSpPr/>
          <p:nvPr/>
        </p:nvSpPr>
        <p:spPr>
          <a:xfrm>
            <a:off x="1017942" y="3262364"/>
            <a:ext cx="1598455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E9A392-A04F-4309-AD84-07C7FF3D2984}"/>
              </a:ext>
            </a:extLst>
          </p:cNvPr>
          <p:cNvSpPr/>
          <p:nvPr/>
        </p:nvSpPr>
        <p:spPr>
          <a:xfrm>
            <a:off x="2923520" y="2684181"/>
            <a:ext cx="1725262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A50D34-35DD-4C25-8711-4A59FA6844A3}"/>
              </a:ext>
            </a:extLst>
          </p:cNvPr>
          <p:cNvSpPr/>
          <p:nvPr/>
        </p:nvSpPr>
        <p:spPr>
          <a:xfrm>
            <a:off x="2923520" y="2307898"/>
            <a:ext cx="1725262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4EC31C-67EE-4FA2-802D-23465FF803B7}"/>
              </a:ext>
            </a:extLst>
          </p:cNvPr>
          <p:cNvSpPr/>
          <p:nvPr/>
        </p:nvSpPr>
        <p:spPr>
          <a:xfrm>
            <a:off x="2922360" y="2124603"/>
            <a:ext cx="1725262" cy="181484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C5760C1-6F2F-4D64-A1BE-CE01FA7AA601}"/>
              </a:ext>
            </a:extLst>
          </p:cNvPr>
          <p:cNvSpPr/>
          <p:nvPr/>
        </p:nvSpPr>
        <p:spPr>
          <a:xfrm>
            <a:off x="1917216" y="3741859"/>
            <a:ext cx="1081923" cy="956281"/>
          </a:xfrm>
          <a:prstGeom prst="ellipse">
            <a:avLst/>
          </a:prstGeom>
          <a:solidFill>
            <a:srgbClr val="FFC000">
              <a:alpha val="25882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DF54C3F6-EED9-41CD-9711-9213AC8EA65E}"/>
              </a:ext>
            </a:extLst>
          </p:cNvPr>
          <p:cNvSpPr/>
          <p:nvPr/>
        </p:nvSpPr>
        <p:spPr>
          <a:xfrm>
            <a:off x="2610577" y="3741859"/>
            <a:ext cx="1081923" cy="956281"/>
          </a:xfrm>
          <a:prstGeom prst="ellipse">
            <a:avLst/>
          </a:prstGeom>
          <a:solidFill>
            <a:srgbClr val="5B9BD5">
              <a:alpha val="27059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204443-12E9-4CF9-BC23-AF0C4840FEF8}"/>
              </a:ext>
            </a:extLst>
          </p:cNvPr>
          <p:cNvSpPr txBox="1"/>
          <p:nvPr/>
        </p:nvSpPr>
        <p:spPr>
          <a:xfrm>
            <a:off x="5432178" y="506173"/>
            <a:ext cx="6134647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TW" sz="1600">
                <a:highlight>
                  <a:srgbClr val="FFFF00"/>
                </a:highlight>
              </a:rPr>
              <a:t>sqlite&gt; .mode csv</a:t>
            </a:r>
          </a:p>
          <a:p>
            <a:r>
              <a:rPr lang="en-US" altLang="zh-TW" sz="1600">
                <a:highlight>
                  <a:srgbClr val="FFFF00"/>
                </a:highlight>
              </a:rPr>
              <a:t>sqlite&gt; .import e:/teaching/database/slides/sqldb/student.csv student</a:t>
            </a:r>
          </a:p>
          <a:p>
            <a:r>
              <a:rPr lang="en-US" altLang="zh-TW" sz="1600">
                <a:highlight>
                  <a:srgbClr val="FFFF00"/>
                </a:highlight>
              </a:rPr>
              <a:t>sqlite&gt; .import e:/teaching/database/slides/sqldb/assistant.csv assistant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sqlite&gt; select * from student </a:t>
            </a:r>
            <a:r>
              <a:rPr lang="en-US" altLang="zh-TW" sz="1600">
                <a:solidFill>
                  <a:srgbClr val="00B0F0"/>
                </a:solidFill>
              </a:rPr>
              <a:t>limit 2</a:t>
            </a:r>
            <a:r>
              <a:rPr lang="en-US" altLang="zh-TW" sz="1600">
                <a:solidFill>
                  <a:schemeClr val="bg1"/>
                </a:solidFill>
              </a:rPr>
              <a:t>;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sid,sName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89666," Jack"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91888," Jim"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sqlite&gt; select * from assistant;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aid,aName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89333," Eva"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89666," Jack"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90111," Jennifer"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90100," Jenny"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91123," Tony"</a:t>
            </a:r>
          </a:p>
          <a:p>
            <a:r>
              <a:rPr lang="en-US" altLang="zh-TW" sz="1600">
                <a:highlight>
                  <a:srgbClr val="FFFF00"/>
                </a:highlight>
              </a:rPr>
              <a:t>sqlite&gt; select * from student</a:t>
            </a:r>
          </a:p>
          <a:p>
            <a:r>
              <a:rPr lang="en-US" altLang="zh-TW" sz="1600">
                <a:highlight>
                  <a:srgbClr val="FFFF00"/>
                </a:highlight>
              </a:rPr>
              <a:t>   ...&gt; intersect</a:t>
            </a:r>
          </a:p>
          <a:p>
            <a:r>
              <a:rPr lang="en-US" altLang="zh-TW" sz="1600">
                <a:highlight>
                  <a:srgbClr val="FFFF00"/>
                </a:highlight>
              </a:rPr>
              <a:t>   ...&gt; select * from assistant;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sid,sName</a:t>
            </a:r>
          </a:p>
          <a:p>
            <a:r>
              <a:rPr lang="en-US" altLang="zh-TW" sz="1600">
                <a:solidFill>
                  <a:schemeClr val="bg1"/>
                </a:solidFill>
                <a:highlight>
                  <a:srgbClr val="FFC000"/>
                </a:highlight>
              </a:rPr>
              <a:t>89666," Jack"</a:t>
            </a:r>
          </a:p>
          <a:p>
            <a:r>
              <a:rPr lang="en-US" altLang="zh-TW" sz="1600">
                <a:solidFill>
                  <a:schemeClr val="bg1"/>
                </a:solidFill>
                <a:highlight>
                  <a:srgbClr val="FFC000"/>
                </a:highlight>
              </a:rPr>
              <a:t>90111," Jennifer"</a:t>
            </a:r>
          </a:p>
          <a:p>
            <a:r>
              <a:rPr lang="en-US" altLang="zh-TW" sz="1600">
                <a:solidFill>
                  <a:schemeClr val="bg1"/>
                </a:solidFill>
                <a:highlight>
                  <a:srgbClr val="FFC000"/>
                </a:highlight>
              </a:rPr>
              <a:t>91123," Tony"</a:t>
            </a:r>
          </a:p>
          <a:p>
            <a:r>
              <a:rPr lang="en-US" altLang="zh-TW" sz="1600">
                <a:solidFill>
                  <a:schemeClr val="bg1"/>
                </a:solidFill>
              </a:rPr>
              <a:t>sqlite&gt;</a:t>
            </a:r>
            <a:endParaRPr lang="zh-TW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66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1D376-7EE5-4E7B-8B92-052326C1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39" y="136525"/>
            <a:ext cx="10515600" cy="695858"/>
          </a:xfrm>
        </p:spPr>
        <p:txBody>
          <a:bodyPr/>
          <a:lstStyle/>
          <a:p>
            <a:r>
              <a:rPr lang="zh-TW" altLang="en-US"/>
              <a:t>聯集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02E2BB-1C3F-4E35-B507-BAEE02DF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E517966-53C7-4962-8357-443FD41E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96" y="1206529"/>
            <a:ext cx="3796872" cy="23004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79925CC-9A44-4766-A565-9B61974B36C0}"/>
              </a:ext>
            </a:extLst>
          </p:cNvPr>
          <p:cNvSpPr/>
          <p:nvPr/>
        </p:nvSpPr>
        <p:spPr>
          <a:xfrm>
            <a:off x="1026082" y="1933502"/>
            <a:ext cx="1577515" cy="1502478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871348-63C7-439E-855F-C8D0F7AD62A7}"/>
              </a:ext>
            </a:extLst>
          </p:cNvPr>
          <p:cNvSpPr/>
          <p:nvPr/>
        </p:nvSpPr>
        <p:spPr>
          <a:xfrm>
            <a:off x="2917704" y="1933502"/>
            <a:ext cx="1717117" cy="174504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251B5A-8B2D-4C91-B354-30F079079B08}"/>
              </a:ext>
            </a:extLst>
          </p:cNvPr>
          <p:cNvSpPr/>
          <p:nvPr/>
        </p:nvSpPr>
        <p:spPr>
          <a:xfrm>
            <a:off x="2917704" y="2503257"/>
            <a:ext cx="1717117" cy="174504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4F0AE1C-9D41-4B5F-9543-3C028247C7BB}"/>
              </a:ext>
            </a:extLst>
          </p:cNvPr>
          <p:cNvSpPr/>
          <p:nvPr/>
        </p:nvSpPr>
        <p:spPr>
          <a:xfrm>
            <a:off x="2610577" y="3741859"/>
            <a:ext cx="1081923" cy="956281"/>
          </a:xfrm>
          <a:prstGeom prst="ellipse">
            <a:avLst/>
          </a:prstGeom>
          <a:solidFill>
            <a:srgbClr val="5B9BD5">
              <a:alpha val="27059"/>
            </a:srgbClr>
          </a:solidFill>
          <a:ln>
            <a:solidFill>
              <a:srgbClr val="D3E4F4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333629F-E971-4277-9AA2-D4081C08E7BD}"/>
              </a:ext>
            </a:extLst>
          </p:cNvPr>
          <p:cNvSpPr/>
          <p:nvPr/>
        </p:nvSpPr>
        <p:spPr>
          <a:xfrm>
            <a:off x="1917216" y="3741859"/>
            <a:ext cx="1081923" cy="956281"/>
          </a:xfrm>
          <a:prstGeom prst="ellipse">
            <a:avLst/>
          </a:prstGeom>
          <a:solidFill>
            <a:srgbClr val="D3E4F4"/>
          </a:solidFill>
          <a:ln>
            <a:solidFill>
              <a:srgbClr val="D3E4F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C724E3F-90E0-4995-873D-8B82A473DBAC}"/>
              </a:ext>
            </a:extLst>
          </p:cNvPr>
          <p:cNvSpPr txBox="1"/>
          <p:nvPr/>
        </p:nvSpPr>
        <p:spPr>
          <a:xfrm>
            <a:off x="5450921" y="1404154"/>
            <a:ext cx="39862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highlight>
                  <a:srgbClr val="FFFF00"/>
                </a:highlight>
              </a:rPr>
              <a:t>sqlite&gt; select * from student</a:t>
            </a:r>
          </a:p>
          <a:p>
            <a:r>
              <a:rPr lang="en-US" altLang="zh-TW">
                <a:highlight>
                  <a:srgbClr val="FFFF00"/>
                </a:highlight>
              </a:rPr>
              <a:t>   ...&gt; union</a:t>
            </a:r>
          </a:p>
          <a:p>
            <a:r>
              <a:rPr lang="en-US" altLang="zh-TW">
                <a:highlight>
                  <a:srgbClr val="FFFF00"/>
                </a:highlight>
              </a:rPr>
              <a:t>   ...&gt; select * from assistant;</a:t>
            </a:r>
          </a:p>
          <a:p>
            <a:r>
              <a:rPr lang="en-US" altLang="zh-TW"/>
              <a:t>sid,sName</a:t>
            </a:r>
          </a:p>
          <a:p>
            <a:r>
              <a:rPr lang="en-US" altLang="zh-TW"/>
              <a:t>89333," Eva"</a:t>
            </a:r>
          </a:p>
          <a:p>
            <a:r>
              <a:rPr lang="en-US" altLang="zh-TW"/>
              <a:t>89666," Jack"</a:t>
            </a:r>
          </a:p>
          <a:p>
            <a:r>
              <a:rPr lang="en-US" altLang="zh-TW"/>
              <a:t>90100," Jenny"</a:t>
            </a:r>
          </a:p>
          <a:p>
            <a:r>
              <a:rPr lang="en-US" altLang="zh-TW"/>
              <a:t>90111," Jennifer"</a:t>
            </a:r>
          </a:p>
          <a:p>
            <a:r>
              <a:rPr lang="en-US" altLang="zh-TW"/>
              <a:t>90222," Amy"</a:t>
            </a:r>
          </a:p>
          <a:p>
            <a:r>
              <a:rPr lang="en-US" altLang="zh-TW"/>
              <a:t>90555," Eric"</a:t>
            </a:r>
          </a:p>
          <a:p>
            <a:r>
              <a:rPr lang="en-US" altLang="zh-TW"/>
              <a:t>90777," David"</a:t>
            </a:r>
          </a:p>
          <a:p>
            <a:r>
              <a:rPr lang="en-US" altLang="zh-TW"/>
              <a:t>91123," Tony"</a:t>
            </a:r>
          </a:p>
          <a:p>
            <a:r>
              <a:rPr lang="en-US" altLang="zh-TW"/>
              <a:t>91333," Lucy"</a:t>
            </a:r>
          </a:p>
          <a:p>
            <a:r>
              <a:rPr lang="en-US" altLang="zh-TW"/>
              <a:t>91888," Jim"</a:t>
            </a:r>
          </a:p>
          <a:p>
            <a:r>
              <a:rPr lang="en-US" altLang="zh-TW"/>
              <a:t>sqlite&gt;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20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35ACB1-2057-40E5-BB7B-81A00C14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61637"/>
          </a:xfrm>
        </p:spPr>
        <p:txBody>
          <a:bodyPr/>
          <a:lstStyle/>
          <a:p>
            <a:r>
              <a:rPr lang="zh-TW" altLang="en-US"/>
              <a:t>差集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B6002AC-6442-4FAA-81F7-98E32138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51DB50-9623-49F9-9E74-483A9C3F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96" y="1206529"/>
            <a:ext cx="3796872" cy="23004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F62F059-89C3-48CF-84AA-778BC40DE841}"/>
              </a:ext>
            </a:extLst>
          </p:cNvPr>
          <p:cNvSpPr/>
          <p:nvPr/>
        </p:nvSpPr>
        <p:spPr>
          <a:xfrm>
            <a:off x="1017942" y="2875823"/>
            <a:ext cx="1598455" cy="386545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12DAC1C-3101-4D5E-9B3F-B2D5F18D7F96}"/>
              </a:ext>
            </a:extLst>
          </p:cNvPr>
          <p:cNvSpPr/>
          <p:nvPr/>
        </p:nvSpPr>
        <p:spPr>
          <a:xfrm>
            <a:off x="1917216" y="3741859"/>
            <a:ext cx="1081923" cy="956281"/>
          </a:xfrm>
          <a:prstGeom prst="ellipse">
            <a:avLst/>
          </a:prstGeom>
          <a:pattFill prst="wdUpDiag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083448D-3C74-499D-9A84-419BE1A29F7F}"/>
              </a:ext>
            </a:extLst>
          </p:cNvPr>
          <p:cNvSpPr/>
          <p:nvPr/>
        </p:nvSpPr>
        <p:spPr>
          <a:xfrm>
            <a:off x="2610577" y="3741859"/>
            <a:ext cx="1081923" cy="956281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AA8195E-524D-415A-8C62-2A442B9CCEE1}"/>
              </a:ext>
            </a:extLst>
          </p:cNvPr>
          <p:cNvSpPr txBox="1"/>
          <p:nvPr/>
        </p:nvSpPr>
        <p:spPr>
          <a:xfrm>
            <a:off x="5742921" y="1259688"/>
            <a:ext cx="60971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highlight>
                  <a:srgbClr val="FFFF00"/>
                </a:highlight>
              </a:rPr>
              <a:t>sqlite&gt; select * from student</a:t>
            </a:r>
          </a:p>
          <a:p>
            <a:r>
              <a:rPr lang="en-US" altLang="zh-TW">
                <a:highlight>
                  <a:srgbClr val="FFFF00"/>
                </a:highlight>
              </a:rPr>
              <a:t>   ...&gt; except</a:t>
            </a:r>
          </a:p>
          <a:p>
            <a:r>
              <a:rPr lang="en-US" altLang="zh-TW">
                <a:highlight>
                  <a:srgbClr val="FFFF00"/>
                </a:highlight>
              </a:rPr>
              <a:t>   ...&gt; select * from assistant;</a:t>
            </a:r>
          </a:p>
          <a:p>
            <a:r>
              <a:rPr lang="en-US" altLang="zh-TW"/>
              <a:t>sid,sName</a:t>
            </a:r>
          </a:p>
          <a:p>
            <a:r>
              <a:rPr lang="en-US" altLang="zh-TW"/>
              <a:t>90222," Amy"</a:t>
            </a:r>
          </a:p>
          <a:p>
            <a:r>
              <a:rPr lang="en-US" altLang="zh-TW"/>
              <a:t>90555," Eric"</a:t>
            </a:r>
          </a:p>
          <a:p>
            <a:r>
              <a:rPr lang="en-US" altLang="zh-TW"/>
              <a:t>90777," David"</a:t>
            </a:r>
          </a:p>
          <a:p>
            <a:r>
              <a:rPr lang="en-US" altLang="zh-TW"/>
              <a:t>91333," Lucy"</a:t>
            </a:r>
          </a:p>
          <a:p>
            <a:r>
              <a:rPr lang="en-US" altLang="zh-TW"/>
              <a:t>91888," Jim"</a:t>
            </a:r>
          </a:p>
          <a:p>
            <a:r>
              <a:rPr lang="en-US" altLang="zh-TW"/>
              <a:t>sqlite&gt;</a:t>
            </a: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E91FF8-00F1-49AD-99DE-3B8D6EB534AC}"/>
              </a:ext>
            </a:extLst>
          </p:cNvPr>
          <p:cNvSpPr/>
          <p:nvPr/>
        </p:nvSpPr>
        <p:spPr>
          <a:xfrm>
            <a:off x="1012122" y="2113823"/>
            <a:ext cx="1598455" cy="567593"/>
          </a:xfrm>
          <a:prstGeom prst="rect">
            <a:avLst/>
          </a:prstGeom>
          <a:solidFill>
            <a:srgbClr val="ED7D31">
              <a:alpha val="23137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3DBD961-9D01-4843-A6FA-C4F7E804BA18}"/>
              </a:ext>
            </a:extLst>
          </p:cNvPr>
          <p:cNvSpPr txBox="1"/>
          <p:nvPr/>
        </p:nvSpPr>
        <p:spPr>
          <a:xfrm>
            <a:off x="5257800" y="4567535"/>
            <a:ext cx="6096000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TW"/>
              <a:t>SQLite EXCEPT </a:t>
            </a:r>
            <a:r>
              <a:rPr lang="zh-TW" altLang="en-US"/>
              <a:t>運算子結合二個查詢結果</a:t>
            </a:r>
            <a:r>
              <a:rPr lang="en-US" altLang="zh-TW"/>
              <a:t>(R1</a:t>
            </a:r>
            <a:r>
              <a:rPr lang="zh-TW" altLang="en-US"/>
              <a:t> </a:t>
            </a:r>
            <a:r>
              <a:rPr lang="en-US" altLang="zh-TW"/>
              <a:t>EXCEPT</a:t>
            </a:r>
            <a:r>
              <a:rPr lang="zh-TW" altLang="en-US"/>
              <a:t> </a:t>
            </a:r>
            <a:r>
              <a:rPr lang="en-US" altLang="zh-TW"/>
              <a:t>R2)</a:t>
            </a:r>
            <a:r>
              <a:rPr lang="zh-TW" altLang="en-US"/>
              <a:t>，傳回存在</a:t>
            </a:r>
            <a:r>
              <a:rPr lang="en-US" altLang="zh-TW"/>
              <a:t>R1</a:t>
            </a:r>
            <a:r>
              <a:rPr lang="zh-TW" altLang="en-US"/>
              <a:t>但不在</a:t>
            </a:r>
            <a:r>
              <a:rPr lang="en-US" altLang="zh-TW"/>
              <a:t>R2</a:t>
            </a:r>
            <a:r>
              <a:rPr lang="zh-TW" altLang="en-US"/>
              <a:t>的資料</a:t>
            </a:r>
          </a:p>
        </p:txBody>
      </p:sp>
    </p:spTree>
    <p:extLst>
      <p:ext uri="{BB962C8B-B14F-4D97-AF65-F5344CB8AC3E}">
        <p14:creationId xmlns:p14="http://schemas.microsoft.com/office/powerpoint/2010/main" val="1353390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0587FDE-05B2-4BF1-AD35-C710456D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9770FD-FBF1-4057-8B4D-7A21593C6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7" y="284205"/>
            <a:ext cx="11661775" cy="633502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6474A71-117E-4E20-8693-0C1B13EB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51" y="486129"/>
            <a:ext cx="6499654" cy="817733"/>
          </a:xfrm>
        </p:spPr>
        <p:txBody>
          <a:bodyPr/>
          <a:lstStyle/>
          <a:p>
            <a:r>
              <a:rPr lang="en-US" altLang="zh-TW"/>
              <a:t>Bookcase ERD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1412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38BD04C-02F6-459E-B386-E3B279AE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86" y="136524"/>
            <a:ext cx="11510272" cy="988025"/>
          </a:xfrm>
        </p:spPr>
        <p:txBody>
          <a:bodyPr>
            <a:noAutofit/>
          </a:bodyPr>
          <a:lstStyle/>
          <a:p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Q: 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找出所有瀏覽過或購買過「系統分析理論與實務」的會員之會員編號和會員姓名</a:t>
            </a:r>
            <a:endParaRPr lang="zh-TW" altLang="en-US" sz="32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59CFAE-2CB1-4B43-B77C-F356109B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19AF0F-828E-423A-936E-0798D657378B}"/>
              </a:ext>
            </a:extLst>
          </p:cNvPr>
          <p:cNvSpPr txBox="1"/>
          <p:nvPr/>
        </p:nvSpPr>
        <p:spPr>
          <a:xfrm>
            <a:off x="521767" y="1493882"/>
            <a:ext cx="60971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SELECT M.mId, M.name</a:t>
            </a:r>
          </a:p>
          <a:p>
            <a:r>
              <a:rPr lang="en-US" altLang="zh-TW"/>
              <a:t>FROM Product AS P, Browse AS B, Member AS M</a:t>
            </a:r>
          </a:p>
          <a:p>
            <a:r>
              <a:rPr lang="en-US" altLang="zh-TW"/>
              <a:t>WHERE pName = '</a:t>
            </a:r>
            <a:r>
              <a:rPr lang="zh-TW" altLang="en-US"/>
              <a:t>系統分析理論與實務</a:t>
            </a:r>
            <a:r>
              <a:rPr lang="en-US" altLang="zh-TW"/>
              <a:t>'  AND P.pNo = B.pNo AND B.mId = M.mId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F67D5ED-769D-4E4F-BB10-FF11ACA8AD55}"/>
              </a:ext>
            </a:extLst>
          </p:cNvPr>
          <p:cNvSpPr txBox="1"/>
          <p:nvPr/>
        </p:nvSpPr>
        <p:spPr>
          <a:xfrm>
            <a:off x="521767" y="3450071"/>
            <a:ext cx="647932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SELECT M.mId, M.name</a:t>
            </a:r>
          </a:p>
          <a:p>
            <a:r>
              <a:rPr lang="en-US" altLang="zh-TW"/>
              <a:t>FROM Product AS P, Record AS R, `Transaction` AS T, Member AS M</a:t>
            </a:r>
          </a:p>
          <a:p>
            <a:r>
              <a:rPr lang="en-US" altLang="zh-TW"/>
              <a:t>WHERE pName = '</a:t>
            </a:r>
            <a:r>
              <a:rPr lang="zh-TW" altLang="en-US"/>
              <a:t>系統分析理論與實務</a:t>
            </a:r>
            <a:r>
              <a:rPr lang="en-US" altLang="zh-TW"/>
              <a:t>' AND P.pNo = R.pNo AND R.tNo = T.tNo AND T.transMid = M.mId;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1C2065-7252-4A49-A9A2-46C4476D6403}"/>
              </a:ext>
            </a:extLst>
          </p:cNvPr>
          <p:cNvSpPr txBox="1"/>
          <p:nvPr/>
        </p:nvSpPr>
        <p:spPr>
          <a:xfrm>
            <a:off x="7222712" y="3865569"/>
            <a:ext cx="187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a0910001|Jenny</a:t>
            </a:r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AD5F318-6DDC-4EA3-A263-121F66A61912}"/>
              </a:ext>
            </a:extLst>
          </p:cNvPr>
          <p:cNvSpPr txBox="1"/>
          <p:nvPr/>
        </p:nvSpPr>
        <p:spPr>
          <a:xfrm>
            <a:off x="7734253" y="288627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>
                <a:solidFill>
                  <a:srgbClr val="C00000"/>
                </a:solidFill>
              </a:rPr>
              <a:t>UNION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52C43828-7352-4280-BDAB-EFFFBDDAB266}"/>
              </a:ext>
            </a:extLst>
          </p:cNvPr>
          <p:cNvSpPr/>
          <p:nvPr/>
        </p:nvSpPr>
        <p:spPr>
          <a:xfrm>
            <a:off x="7957374" y="2477954"/>
            <a:ext cx="453710" cy="4083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1658E8A4-ECF9-4C77-9147-E712906E9312}"/>
              </a:ext>
            </a:extLst>
          </p:cNvPr>
          <p:cNvSpPr/>
          <p:nvPr/>
        </p:nvSpPr>
        <p:spPr>
          <a:xfrm flipV="1">
            <a:off x="7957374" y="3344834"/>
            <a:ext cx="453710" cy="4083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95EBFE4-4EDE-4804-8AEB-558CC2864369}"/>
              </a:ext>
            </a:extLst>
          </p:cNvPr>
          <p:cNvSpPr txBox="1"/>
          <p:nvPr/>
        </p:nvSpPr>
        <p:spPr>
          <a:xfrm>
            <a:off x="7365806" y="1765376"/>
            <a:ext cx="2090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a0910001,Jenny</a:t>
            </a:r>
          </a:p>
          <a:p>
            <a:r>
              <a:rPr lang="en-US" altLang="zh-TW"/>
              <a:t>b0922468,Jackson</a:t>
            </a:r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11337FA-AABC-496F-90F0-B3DDA0AAA0B1}"/>
              </a:ext>
            </a:extLst>
          </p:cNvPr>
          <p:cNvSpPr txBox="1"/>
          <p:nvPr/>
        </p:nvSpPr>
        <p:spPr>
          <a:xfrm>
            <a:off x="9456361" y="2698503"/>
            <a:ext cx="213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a0910001,Jenny</a:t>
            </a:r>
          </a:p>
          <a:p>
            <a:r>
              <a:rPr lang="en-US" altLang="zh-TW"/>
              <a:t>b0922468,Jackson</a:t>
            </a:r>
            <a:endParaRPr lang="zh-TW" altLang="en-US"/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502CF2BB-CE5A-4BB3-BDF0-7C7462C63F44}"/>
              </a:ext>
            </a:extLst>
          </p:cNvPr>
          <p:cNvSpPr/>
          <p:nvPr/>
        </p:nvSpPr>
        <p:spPr>
          <a:xfrm rot="16200000">
            <a:off x="8886361" y="2866781"/>
            <a:ext cx="453710" cy="4083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51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0CF285-4551-4CFC-AA26-029A6CCC0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800" spc="600">
                <a:latin typeface="微軟正黑體" pitchFamily="34" charset="-120"/>
                <a:ea typeface="微軟正黑體" pitchFamily="34" charset="-120"/>
                <a:cs typeface="+mn-cs"/>
              </a:rPr>
              <a:t>巢狀查詢句</a:t>
            </a:r>
            <a:r>
              <a:rPr lang="en-US" altLang="zh-TW" sz="4800" spc="600">
                <a:latin typeface="微軟正黑體" pitchFamily="34" charset="-120"/>
                <a:ea typeface="微軟正黑體" pitchFamily="34" charset="-120"/>
                <a:cs typeface="+mn-cs"/>
              </a:rPr>
              <a:t>(nested query)</a:t>
            </a:r>
            <a:r>
              <a:rPr lang="zh-TW" altLang="en-US" sz="4800" spc="600"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endParaRPr lang="zh-TW" altLang="en-US" sz="480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B3849BC-EBB8-4317-9B71-A89E5BF08A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D1DF51F-20B6-4B30-BD0D-53751CD1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D0B5-4931-42FF-A0DA-66EF8CB45BC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904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巢狀</a:t>
            </a:r>
            <a:r>
              <a:rPr lang="zh-TW" altLang="en-US" sz="3200" spc="600">
                <a:latin typeface="微軟正黑體" pitchFamily="34" charset="-120"/>
                <a:ea typeface="微軟正黑體" pitchFamily="34" charset="-120"/>
                <a:cs typeface="+mn-cs"/>
              </a:rPr>
              <a:t>查詢句</a:t>
            </a:r>
            <a:r>
              <a:rPr lang="en-US" altLang="zh-TW" sz="3200" spc="600">
                <a:latin typeface="微軟正黑體" pitchFamily="34" charset="-120"/>
                <a:ea typeface="微軟正黑體" pitchFamily="34" charset="-120"/>
                <a:cs typeface="+mn-cs"/>
              </a:rPr>
              <a:t>(nested query)</a:t>
            </a:r>
            <a:r>
              <a:rPr lang="zh-TW" altLang="en-US" sz="3200" spc="600"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endParaRPr lang="zh-TW" altLang="en-US" sz="3200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19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巢狀查詢句：在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子句或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子句裡容納另一個查詢子句。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</a:p>
          <a:p>
            <a:pPr lvl="1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作者姓名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endParaRPr lang="en-US" altLang="zh-TW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(SELECT *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</a:rPr>
              <a:t>              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 Product 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</a:rPr>
              <a:t>              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 </a:t>
            </a:r>
            <a:r>
              <a:rPr lang="en-US" altLang="zh-TW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en-US" altLang="zh-TW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ED7D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Author</a:t>
            </a:r>
          </a:p>
          <a:p>
            <a:pPr lvl="2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rgbClr val="ED7D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.pNo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Author.</a:t>
            </a:r>
            <a:r>
              <a:rPr lang="en-US" altLang="zh-TW" dirty="0" err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29</a:t>
            </a:fld>
            <a:endParaRPr kumimoji="0"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C70D68-B343-4B90-98BA-3CC875514E23}"/>
              </a:ext>
            </a:extLst>
          </p:cNvPr>
          <p:cNvSpPr/>
          <p:nvPr/>
        </p:nvSpPr>
        <p:spPr>
          <a:xfrm>
            <a:off x="2619632" y="2801643"/>
            <a:ext cx="4368114" cy="92057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067573B3-A1D9-4828-AC69-EC510B6DF4B2}"/>
              </a:ext>
            </a:extLst>
          </p:cNvPr>
          <p:cNvSpPr/>
          <p:nvPr/>
        </p:nvSpPr>
        <p:spPr>
          <a:xfrm>
            <a:off x="7847690" y="2098805"/>
            <a:ext cx="3893385" cy="702838"/>
          </a:xfrm>
          <a:prstGeom prst="wedgeRoundRectCallout">
            <a:avLst>
              <a:gd name="adj1" fmla="val -71113"/>
              <a:gd name="adj2" fmla="val 98257"/>
              <a:gd name="adj3" fmla="val 16667"/>
            </a:avLst>
          </a:prstGeom>
          <a:solidFill>
            <a:srgbClr val="D3E4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TW" sz="1600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b40555|</a:t>
            </a:r>
            <a:r>
              <a:rPr lang="zh-TW" altLang="en-US" sz="1600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1600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|550|Book</a:t>
            </a:r>
            <a:endParaRPr lang="zh-TW" altLang="en-US" sz="1600" b="1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7241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巢狀查詢句</a:t>
            </a:r>
            <a:r>
              <a:rPr lang="en-US" altLang="zh-TW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(IN)</a:t>
            </a:r>
            <a:endParaRPr lang="zh-TW" altLang="en-US" sz="3200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922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14689" y="983251"/>
            <a:ext cx="10515600" cy="5227662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很強的表達能力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和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EXISTS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（用來表達邏輯計算式裡的限制子</a:t>
            </a:r>
            <a:r>
              <a:rPr lang="zh-TW" altLang="en-US" dirty="0">
                <a:sym typeface="Symbol" pitchFamily="18" charset="2"/>
              </a:rPr>
              <a:t>）</a:t>
            </a:r>
            <a:endParaRPr lang="zh-TW" altLang="en-US" sz="2800" dirty="0">
              <a:sym typeface="Symbol" pitchFamily="18" charset="2"/>
            </a:endParaRPr>
          </a:p>
          <a:p>
            <a:pPr>
              <a:lnSpc>
                <a:spcPct val="80000"/>
              </a:lnSpc>
              <a:defRPr/>
            </a:pP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</a:p>
          <a:p>
            <a:pPr marL="1371600" lvl="2" indent="-457200">
              <a:lnSpc>
                <a:spcPct val="80000"/>
              </a:lnSpc>
              <a:buNone/>
              <a:defRPr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dirty="0" err="1">
                <a:solidFill>
                  <a:srgbClr val="ED7D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endParaRPr lang="en-US" altLang="zh-TW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SELECT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P, Record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R, Transaction</a:t>
            </a:r>
            <a:r>
              <a:rPr lang="en-US" altLang="zh-TW" dirty="0">
                <a:latin typeface="微軟正黑體" panose="020B0604030504040204" pitchFamily="34" charset="-120"/>
              </a:rPr>
              <a:t>s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T.tNo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79500" lvl="2" indent="-373063">
              <a:lnSpc>
                <a:spcPct val="80000"/>
              </a:lnSpc>
              <a:buNone/>
              <a:defRPr/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);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30</a:t>
            </a:fld>
            <a:endParaRPr kumimoji="0"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F0F19BE-00D2-4EBC-87B7-7A0ABE3BF1B7}"/>
              </a:ext>
            </a:extLst>
          </p:cNvPr>
          <p:cNvSpPr txBox="1"/>
          <p:nvPr/>
        </p:nvSpPr>
        <p:spPr>
          <a:xfrm>
            <a:off x="7213658" y="3719006"/>
            <a:ext cx="4531865" cy="1384995"/>
          </a:xfrm>
          <a:custGeom>
            <a:avLst/>
            <a:gdLst>
              <a:gd name="connsiteX0" fmla="*/ 0 w 4531865"/>
              <a:gd name="connsiteY0" fmla="*/ 0 h 1384995"/>
              <a:gd name="connsiteX1" fmla="*/ 692728 w 4531865"/>
              <a:gd name="connsiteY1" fmla="*/ 0 h 1384995"/>
              <a:gd name="connsiteX2" fmla="*/ 1385456 w 4531865"/>
              <a:gd name="connsiteY2" fmla="*/ 0 h 1384995"/>
              <a:gd name="connsiteX3" fmla="*/ 1896909 w 4531865"/>
              <a:gd name="connsiteY3" fmla="*/ 0 h 1384995"/>
              <a:gd name="connsiteX4" fmla="*/ 2634956 w 4531865"/>
              <a:gd name="connsiteY4" fmla="*/ 0 h 1384995"/>
              <a:gd name="connsiteX5" fmla="*/ 3327684 w 4531865"/>
              <a:gd name="connsiteY5" fmla="*/ 0 h 1384995"/>
              <a:gd name="connsiteX6" fmla="*/ 3884456 w 4531865"/>
              <a:gd name="connsiteY6" fmla="*/ 0 h 1384995"/>
              <a:gd name="connsiteX7" fmla="*/ 4531865 w 4531865"/>
              <a:gd name="connsiteY7" fmla="*/ 0 h 1384995"/>
              <a:gd name="connsiteX8" fmla="*/ 4531865 w 4531865"/>
              <a:gd name="connsiteY8" fmla="*/ 678648 h 1384995"/>
              <a:gd name="connsiteX9" fmla="*/ 4531865 w 4531865"/>
              <a:gd name="connsiteY9" fmla="*/ 1384995 h 1384995"/>
              <a:gd name="connsiteX10" fmla="*/ 3929774 w 4531865"/>
              <a:gd name="connsiteY10" fmla="*/ 1384995 h 1384995"/>
              <a:gd name="connsiteX11" fmla="*/ 3418321 w 4531865"/>
              <a:gd name="connsiteY11" fmla="*/ 1384995 h 1384995"/>
              <a:gd name="connsiteX12" fmla="*/ 2680274 w 4531865"/>
              <a:gd name="connsiteY12" fmla="*/ 1384995 h 1384995"/>
              <a:gd name="connsiteX13" fmla="*/ 2168821 w 4531865"/>
              <a:gd name="connsiteY13" fmla="*/ 1384995 h 1384995"/>
              <a:gd name="connsiteX14" fmla="*/ 1521412 w 4531865"/>
              <a:gd name="connsiteY14" fmla="*/ 1384995 h 1384995"/>
              <a:gd name="connsiteX15" fmla="*/ 1009958 w 4531865"/>
              <a:gd name="connsiteY15" fmla="*/ 1384995 h 1384995"/>
              <a:gd name="connsiteX16" fmla="*/ 0 w 4531865"/>
              <a:gd name="connsiteY16" fmla="*/ 1384995 h 1384995"/>
              <a:gd name="connsiteX17" fmla="*/ 0 w 4531865"/>
              <a:gd name="connsiteY17" fmla="*/ 664798 h 1384995"/>
              <a:gd name="connsiteX18" fmla="*/ 0 w 4531865"/>
              <a:gd name="connsiteY18" fmla="*/ 0 h 138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31865" h="1384995" extrusionOk="0">
                <a:moveTo>
                  <a:pt x="0" y="0"/>
                </a:moveTo>
                <a:cubicBezTo>
                  <a:pt x="232999" y="-25885"/>
                  <a:pt x="359935" y="-15584"/>
                  <a:pt x="692728" y="0"/>
                </a:cubicBezTo>
                <a:cubicBezTo>
                  <a:pt x="1025521" y="15584"/>
                  <a:pt x="1069699" y="-242"/>
                  <a:pt x="1385456" y="0"/>
                </a:cubicBezTo>
                <a:cubicBezTo>
                  <a:pt x="1701213" y="242"/>
                  <a:pt x="1682597" y="-12195"/>
                  <a:pt x="1896909" y="0"/>
                </a:cubicBezTo>
                <a:cubicBezTo>
                  <a:pt x="2111221" y="12195"/>
                  <a:pt x="2445704" y="712"/>
                  <a:pt x="2634956" y="0"/>
                </a:cubicBezTo>
                <a:cubicBezTo>
                  <a:pt x="2824208" y="-712"/>
                  <a:pt x="3073097" y="2451"/>
                  <a:pt x="3327684" y="0"/>
                </a:cubicBezTo>
                <a:cubicBezTo>
                  <a:pt x="3582271" y="-2451"/>
                  <a:pt x="3704127" y="26612"/>
                  <a:pt x="3884456" y="0"/>
                </a:cubicBezTo>
                <a:cubicBezTo>
                  <a:pt x="4064785" y="-26612"/>
                  <a:pt x="4295525" y="-13736"/>
                  <a:pt x="4531865" y="0"/>
                </a:cubicBezTo>
                <a:cubicBezTo>
                  <a:pt x="4498361" y="212496"/>
                  <a:pt x="4517292" y="471841"/>
                  <a:pt x="4531865" y="678648"/>
                </a:cubicBezTo>
                <a:cubicBezTo>
                  <a:pt x="4546438" y="885455"/>
                  <a:pt x="4527037" y="1049721"/>
                  <a:pt x="4531865" y="1384995"/>
                </a:cubicBezTo>
                <a:cubicBezTo>
                  <a:pt x="4360566" y="1380096"/>
                  <a:pt x="4079956" y="1368793"/>
                  <a:pt x="3929774" y="1384995"/>
                </a:cubicBezTo>
                <a:cubicBezTo>
                  <a:pt x="3779592" y="1401197"/>
                  <a:pt x="3619383" y="1405832"/>
                  <a:pt x="3418321" y="1384995"/>
                </a:cubicBezTo>
                <a:cubicBezTo>
                  <a:pt x="3217259" y="1364158"/>
                  <a:pt x="2862716" y="1353512"/>
                  <a:pt x="2680274" y="1384995"/>
                </a:cubicBezTo>
                <a:cubicBezTo>
                  <a:pt x="2497832" y="1416478"/>
                  <a:pt x="2371999" y="1393826"/>
                  <a:pt x="2168821" y="1384995"/>
                </a:cubicBezTo>
                <a:cubicBezTo>
                  <a:pt x="1965643" y="1376164"/>
                  <a:pt x="1823701" y="1410051"/>
                  <a:pt x="1521412" y="1384995"/>
                </a:cubicBezTo>
                <a:cubicBezTo>
                  <a:pt x="1219123" y="1359939"/>
                  <a:pt x="1236163" y="1367389"/>
                  <a:pt x="1009958" y="1384995"/>
                </a:cubicBezTo>
                <a:cubicBezTo>
                  <a:pt x="783753" y="1402601"/>
                  <a:pt x="370771" y="1412980"/>
                  <a:pt x="0" y="1384995"/>
                </a:cubicBezTo>
                <a:cubicBezTo>
                  <a:pt x="-25660" y="1114530"/>
                  <a:pt x="20555" y="884768"/>
                  <a:pt x="0" y="664798"/>
                </a:cubicBezTo>
                <a:cubicBezTo>
                  <a:pt x="-20555" y="444828"/>
                  <a:pt x="-19974" y="21296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altLang="zh-TW" sz="1400" dirty="0" err="1"/>
              <a:t>sqlite</a:t>
            </a:r>
            <a:r>
              <a:rPr lang="en-US" altLang="zh-TW" sz="1400" dirty="0"/>
              <a:t>&gt; SELECT </a:t>
            </a:r>
            <a:r>
              <a:rPr lang="en-US" altLang="zh-TW" sz="1400" dirty="0" err="1"/>
              <a:t>transMid</a:t>
            </a:r>
            <a:endParaRPr lang="en-US" altLang="zh-TW" sz="1400" dirty="0"/>
          </a:p>
          <a:p>
            <a:r>
              <a:rPr lang="en-US" altLang="zh-TW" sz="1400" dirty="0"/>
              <a:t>   ...&gt;     FROM Product AS P, Record AS R, `Transaction` AS T</a:t>
            </a:r>
          </a:p>
          <a:p>
            <a:r>
              <a:rPr lang="en-US" altLang="zh-TW" sz="1400" dirty="0"/>
              <a:t>   ...&gt;     WHERE </a:t>
            </a:r>
            <a:r>
              <a:rPr lang="en-US" altLang="zh-TW" sz="1400" dirty="0" err="1"/>
              <a:t>pName</a:t>
            </a:r>
            <a:r>
              <a:rPr lang="en-US" altLang="zh-TW" sz="1400" dirty="0"/>
              <a:t>= '</a:t>
            </a:r>
            <a:r>
              <a:rPr lang="zh-TW" altLang="en-US" sz="1400" dirty="0"/>
              <a:t>系統分析理論與實務</a:t>
            </a:r>
            <a:r>
              <a:rPr lang="en-US" altLang="zh-TW" sz="1400" dirty="0"/>
              <a:t>'</a:t>
            </a:r>
          </a:p>
          <a:p>
            <a:r>
              <a:rPr lang="en-US" altLang="zh-TW" sz="1400" dirty="0"/>
              <a:t>   ...&gt;     AND  </a:t>
            </a:r>
            <a:r>
              <a:rPr lang="en-US" altLang="zh-TW" sz="1400" dirty="0" err="1"/>
              <a:t>P.pNo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R.pNo</a:t>
            </a:r>
            <a:r>
              <a:rPr lang="en-US" altLang="zh-TW" sz="1400" dirty="0"/>
              <a:t> AND </a:t>
            </a:r>
            <a:r>
              <a:rPr lang="en-US" altLang="zh-TW" sz="1400" dirty="0" err="1"/>
              <a:t>R.tNo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T.tNo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 err="1"/>
              <a:t>transMid</a:t>
            </a:r>
            <a:endParaRPr lang="en-US" altLang="zh-TW" sz="1400" dirty="0"/>
          </a:p>
          <a:p>
            <a:r>
              <a:rPr lang="en-US" altLang="zh-TW" sz="1400" dirty="0">
                <a:highlight>
                  <a:srgbClr val="FFFF00"/>
                </a:highlight>
              </a:rPr>
              <a:t>a0910001</a:t>
            </a:r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B7B49F-7E84-465A-993B-30B6C4023792}"/>
              </a:ext>
            </a:extLst>
          </p:cNvPr>
          <p:cNvSpPr txBox="1"/>
          <p:nvPr/>
        </p:nvSpPr>
        <p:spPr>
          <a:xfrm>
            <a:off x="6780702" y="5247889"/>
            <a:ext cx="4964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0070C0"/>
                </a:solidFill>
              </a:rPr>
              <a:t>產生購買過「系統分析</a:t>
            </a:r>
            <a:r>
              <a:rPr lang="en-US" altLang="zh-TW" b="1">
                <a:solidFill>
                  <a:srgbClr val="0070C0"/>
                </a:solidFill>
              </a:rPr>
              <a:t>…</a:t>
            </a:r>
            <a:r>
              <a:rPr lang="zh-TW" altLang="en-US" b="1">
                <a:solidFill>
                  <a:srgbClr val="0070C0"/>
                </a:solidFill>
              </a:rPr>
              <a:t>」書的會員資編號料表</a:t>
            </a:r>
            <a:endParaRPr lang="en-US" altLang="zh-TW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62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136525"/>
            <a:ext cx="10515600" cy="104463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Q: 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找出所有瀏覽過</a:t>
            </a:r>
            <a:r>
              <a:rPr lang="zh-TW" altLang="en-US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購買過「系統分析理論與實務」的會員之會員編號和會員姓名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4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/>
            <a:endParaRPr lang="en-US" altLang="zh-TW" sz="1600" dirty="0"/>
          </a:p>
          <a:p>
            <a:pPr eaLnBrk="1" hangingPunct="1"/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31</a:t>
            </a:fld>
            <a:endParaRPr kumimoji="0"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C2C9322-46CC-4BC6-86A9-65E94717F6C4}"/>
              </a:ext>
            </a:extLst>
          </p:cNvPr>
          <p:cNvSpPr txBox="1"/>
          <p:nvPr/>
        </p:nvSpPr>
        <p:spPr>
          <a:xfrm>
            <a:off x="1020556" y="1181161"/>
            <a:ext cx="100150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SELECT mId, name</a:t>
            </a:r>
          </a:p>
          <a:p>
            <a:r>
              <a:rPr lang="en-US" altLang="zh-TW"/>
              <a:t>FROM Member</a:t>
            </a:r>
          </a:p>
          <a:p>
            <a:r>
              <a:rPr lang="en-US" altLang="zh-TW"/>
              <a:t>WHERE </a:t>
            </a:r>
          </a:p>
          <a:p>
            <a:r>
              <a:rPr lang="en-US" altLang="zh-TW"/>
              <a:t>(mId </a:t>
            </a:r>
            <a:r>
              <a:rPr lang="en-US" altLang="zh-TW" b="1">
                <a:solidFill>
                  <a:srgbClr val="C00000"/>
                </a:solidFill>
              </a:rPr>
              <a:t>IN</a:t>
            </a:r>
            <a:r>
              <a:rPr lang="en-US" altLang="zh-TW"/>
              <a:t> (</a:t>
            </a:r>
            <a:r>
              <a:rPr lang="en-US" altLang="zh-TW" b="1"/>
              <a:t>SELECT mId </a:t>
            </a:r>
          </a:p>
          <a:p>
            <a:r>
              <a:rPr lang="en-US" altLang="zh-TW" b="1"/>
              <a:t>                FROM Browse AS B, Product AS P </a:t>
            </a:r>
          </a:p>
          <a:p>
            <a:r>
              <a:rPr lang="en-US" altLang="zh-TW" b="1"/>
              <a:t>	    	WHERE pName = '</a:t>
            </a:r>
            <a:r>
              <a:rPr lang="zh-TW" altLang="en-US" b="1"/>
              <a:t>系統分析理論與實務</a:t>
            </a:r>
            <a:r>
              <a:rPr lang="en-US" altLang="zh-TW" b="1"/>
              <a:t>' AND  P.pNo = B.pNo</a:t>
            </a:r>
            <a:r>
              <a:rPr lang="en-US" altLang="zh-TW"/>
              <a:t>)) </a:t>
            </a:r>
          </a:p>
          <a:p>
            <a:r>
              <a:rPr lang="en-US" altLang="zh-TW" b="1">
                <a:solidFill>
                  <a:srgbClr val="0070C0"/>
                </a:solidFill>
              </a:rPr>
              <a:t>OR</a:t>
            </a:r>
          </a:p>
          <a:p>
            <a:r>
              <a:rPr lang="en-US" altLang="zh-TW"/>
              <a:t>(mId </a:t>
            </a:r>
            <a:r>
              <a:rPr lang="en-US" altLang="zh-TW" b="1">
                <a:solidFill>
                  <a:srgbClr val="C00000"/>
                </a:solidFill>
              </a:rPr>
              <a:t>IN</a:t>
            </a:r>
            <a:r>
              <a:rPr lang="en-US" altLang="zh-TW"/>
              <a:t> (</a:t>
            </a:r>
            <a:r>
              <a:rPr lang="en-US" altLang="zh-TW" b="1"/>
              <a:t>SELECT transMid </a:t>
            </a:r>
          </a:p>
          <a:p>
            <a:r>
              <a:rPr lang="en-US" altLang="zh-TW" b="1"/>
              <a:t>           	 FROM Product AS P, Record AS R, Transactions AS T</a:t>
            </a:r>
          </a:p>
          <a:p>
            <a:r>
              <a:rPr lang="en-US" altLang="zh-TW" b="1"/>
              <a:t>           	 WHERE pName = '</a:t>
            </a:r>
            <a:r>
              <a:rPr lang="zh-TW" altLang="en-US" b="1"/>
              <a:t>系統分析理論與實務</a:t>
            </a:r>
            <a:r>
              <a:rPr lang="en-US" altLang="zh-TW" b="1"/>
              <a:t>' AND P.pNo = R.pNo  AND R.tNo = T.tNo</a:t>
            </a:r>
            <a:r>
              <a:rPr lang="en-US" altLang="zh-TW"/>
              <a:t>))</a:t>
            </a:r>
          </a:p>
          <a:p>
            <a:r>
              <a:rPr lang="en-US" altLang="zh-TW"/>
              <a:t>;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1A9410-F23A-47FC-A42D-776C6525A763}"/>
              </a:ext>
            </a:extLst>
          </p:cNvPr>
          <p:cNvSpPr txBox="1"/>
          <p:nvPr/>
        </p:nvSpPr>
        <p:spPr>
          <a:xfrm>
            <a:off x="5928806" y="1944816"/>
            <a:ext cx="334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0070C0"/>
                </a:solidFill>
              </a:rPr>
              <a:t>瀏覽過「系統</a:t>
            </a:r>
            <a:r>
              <a:rPr lang="en-US" altLang="zh-TW" b="1">
                <a:solidFill>
                  <a:srgbClr val="0070C0"/>
                </a:solidFill>
              </a:rPr>
              <a:t>…</a:t>
            </a:r>
            <a:r>
              <a:rPr lang="zh-TW" altLang="en-US" b="1">
                <a:solidFill>
                  <a:srgbClr val="0070C0"/>
                </a:solidFill>
              </a:rPr>
              <a:t>」書的會員編號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9F7355C-989B-4505-B091-380264FCE812}"/>
              </a:ext>
            </a:extLst>
          </p:cNvPr>
          <p:cNvSpPr txBox="1"/>
          <p:nvPr/>
        </p:nvSpPr>
        <p:spPr>
          <a:xfrm>
            <a:off x="6028088" y="4225510"/>
            <a:ext cx="334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0070C0"/>
                </a:solidFill>
              </a:rPr>
              <a:t>購買過「系統</a:t>
            </a:r>
            <a:r>
              <a:rPr lang="en-US" altLang="zh-TW" b="1">
                <a:solidFill>
                  <a:srgbClr val="0070C0"/>
                </a:solidFill>
              </a:rPr>
              <a:t>…</a:t>
            </a:r>
            <a:r>
              <a:rPr lang="zh-TW" altLang="en-US" b="1">
                <a:solidFill>
                  <a:srgbClr val="0070C0"/>
                </a:solidFill>
              </a:rPr>
              <a:t>」書的會員編號</a:t>
            </a:r>
          </a:p>
        </p:txBody>
      </p:sp>
    </p:spTree>
    <p:extLst>
      <p:ext uri="{BB962C8B-B14F-4D97-AF65-F5344CB8AC3E}">
        <p14:creationId xmlns:p14="http://schemas.microsoft.com/office/powerpoint/2010/main" val="3444488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129981"/>
            <a:ext cx="10515600" cy="993062"/>
          </a:xfrm>
        </p:spPr>
        <p:txBody>
          <a:bodyPr>
            <a:normAutofit/>
          </a:bodyPr>
          <a:lstStyle/>
          <a:p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Q: 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找出含有「系統分析理論與實務」的購物車之交易編號</a:t>
            </a:r>
            <a:endParaRPr lang="zh-TW" altLang="en-US" sz="4400" b="1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32</a:t>
            </a:fld>
            <a:endParaRPr kumimoji="0"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DAA517-2687-456A-9636-A2991C65C823}"/>
              </a:ext>
            </a:extLst>
          </p:cNvPr>
          <p:cNvSpPr txBox="1"/>
          <p:nvPr/>
        </p:nvSpPr>
        <p:spPr>
          <a:xfrm>
            <a:off x="1104029" y="1123043"/>
            <a:ext cx="750657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>
                <a:ea typeface="微軟正黑體" panose="020B0604030504040204" pitchFamily="34" charset="-120"/>
              </a:rPr>
              <a:t>SELECT tNo</a:t>
            </a:r>
          </a:p>
          <a:p>
            <a:r>
              <a:rPr lang="en-US" altLang="zh-TW">
                <a:ea typeface="微軟正黑體" panose="020B0604030504040204" pitchFamily="34" charset="-120"/>
              </a:rPr>
              <a:t>FROM Cart</a:t>
            </a:r>
          </a:p>
          <a:p>
            <a:r>
              <a:rPr lang="en-US" altLang="zh-TW">
                <a:ea typeface="微軟正黑體" panose="020B0604030504040204" pitchFamily="34" charset="-120"/>
              </a:rPr>
              <a:t>WHERE (</a:t>
            </a:r>
            <a:r>
              <a:rPr lang="en-US" altLang="zh-TW" b="1">
                <a:solidFill>
                  <a:srgbClr val="ED7D31"/>
                </a:solidFill>
                <a:ea typeface="微軟正黑體" panose="020B0604030504040204" pitchFamily="34" charset="-120"/>
              </a:rPr>
              <a:t>mId</a:t>
            </a:r>
            <a:r>
              <a:rPr lang="en-US" altLang="zh-TW">
                <a:ea typeface="微軟正黑體" panose="020B0604030504040204" pitchFamily="34" charset="-120"/>
              </a:rPr>
              <a:t>, </a:t>
            </a:r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cartTime</a:t>
            </a:r>
            <a:r>
              <a:rPr lang="en-US" altLang="zh-TW">
                <a:ea typeface="微軟正黑體" panose="020B0604030504040204" pitchFamily="34" charset="-120"/>
              </a:rPr>
              <a:t>) IN </a:t>
            </a:r>
          </a:p>
          <a:p>
            <a:r>
              <a:rPr lang="en-US" altLang="zh-TW">
                <a:ea typeface="微軟正黑體" panose="020B0604030504040204" pitchFamily="34" charset="-120"/>
              </a:rPr>
              <a:t>         (SELECT mId, cartTime</a:t>
            </a:r>
          </a:p>
          <a:p>
            <a:r>
              <a:rPr lang="en-US" altLang="zh-TW">
                <a:ea typeface="微軟正黑體" panose="020B0604030504040204" pitchFamily="34" charset="-120"/>
              </a:rPr>
              <a:t>          FROM `Order`, Product</a:t>
            </a:r>
          </a:p>
          <a:p>
            <a:r>
              <a:rPr lang="en-US" altLang="zh-TW">
                <a:ea typeface="微軟正黑體" panose="020B0604030504040204" pitchFamily="34" charset="-120"/>
              </a:rPr>
              <a:t>          WHERE Order.pNo=Product.pNo AND </a:t>
            </a:r>
            <a:r>
              <a:rPr lang="en-US" altLang="zh-TW" b="1">
                <a:solidFill>
                  <a:srgbClr val="7030A0"/>
                </a:solidFill>
                <a:ea typeface="微軟正黑體" panose="020B0604030504040204" pitchFamily="34" charset="-120"/>
              </a:rPr>
              <a:t>pName</a:t>
            </a:r>
            <a:r>
              <a:rPr lang="en-US" altLang="zh-TW">
                <a:ea typeface="微軟正黑體" panose="020B0604030504040204" pitchFamily="34" charset="-120"/>
              </a:rPr>
              <a:t>= '</a:t>
            </a:r>
            <a:r>
              <a:rPr lang="zh-TW" altLang="en-US">
                <a:ea typeface="微軟正黑體" panose="020B0604030504040204" pitchFamily="34" charset="-120"/>
              </a:rPr>
              <a:t>系統分析理論與實務</a:t>
            </a:r>
            <a:r>
              <a:rPr lang="en-US" altLang="zh-TW">
                <a:ea typeface="微軟正黑體" panose="020B0604030504040204" pitchFamily="34" charset="-120"/>
              </a:rPr>
              <a:t>');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D4F134-9888-4194-B909-54D203E046A6}"/>
              </a:ext>
            </a:extLst>
          </p:cNvPr>
          <p:cNvSpPr txBox="1"/>
          <p:nvPr/>
        </p:nvSpPr>
        <p:spPr>
          <a:xfrm>
            <a:off x="1104029" y="3555583"/>
            <a:ext cx="750657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C00000"/>
                </a:solidFill>
                <a:ea typeface="微軟正黑體" panose="020B0604030504040204" pitchFamily="34" charset="-120"/>
              </a:rPr>
              <a:t>SELECT tNo</a:t>
            </a:r>
          </a:p>
          <a:p>
            <a:r>
              <a:rPr lang="en-US" altLang="zh-TW" b="1">
                <a:solidFill>
                  <a:srgbClr val="C00000"/>
                </a:solidFill>
                <a:ea typeface="微軟正黑體" panose="020B0604030504040204" pitchFamily="34" charset="-120"/>
              </a:rPr>
              <a:t>FROM Cart</a:t>
            </a:r>
          </a:p>
          <a:p>
            <a:r>
              <a:rPr lang="en-US" altLang="zh-TW" b="1">
                <a:solidFill>
                  <a:srgbClr val="C00000"/>
                </a:solidFill>
                <a:ea typeface="微軟正黑體" panose="020B0604030504040204" pitchFamily="34" charset="-120"/>
              </a:rPr>
              <a:t>WHERE (mId, cartTime) </a:t>
            </a:r>
            <a:r>
              <a:rPr lang="en-US" altLang="zh-TW" b="1">
                <a:ea typeface="微軟正黑體" panose="020B0604030504040204" pitchFamily="34" charset="-120"/>
              </a:rPr>
              <a:t>IN</a:t>
            </a:r>
            <a:r>
              <a:rPr lang="en-US" altLang="zh-TW" b="1">
                <a:solidFill>
                  <a:srgbClr val="C00000"/>
                </a:solidFill>
                <a:ea typeface="微軟正黑體" panose="020B0604030504040204" pitchFamily="34" charset="-120"/>
              </a:rPr>
              <a:t> </a:t>
            </a:r>
          </a:p>
          <a:p>
            <a:r>
              <a:rPr lang="en-US" altLang="zh-TW" b="1">
                <a:ea typeface="微軟正黑體" panose="020B0604030504040204" pitchFamily="34" charset="-120"/>
              </a:rPr>
              <a:t>     </a:t>
            </a:r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(SELECT mId, cartTime</a:t>
            </a:r>
          </a:p>
          <a:p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      FROM `Order`</a:t>
            </a:r>
          </a:p>
          <a:p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      WHERE pNo </a:t>
            </a:r>
            <a:r>
              <a:rPr lang="en-US" altLang="zh-TW" b="1">
                <a:ea typeface="微軟正黑體" panose="020B0604030504040204" pitchFamily="34" charset="-120"/>
              </a:rPr>
              <a:t>IN</a:t>
            </a:r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 </a:t>
            </a:r>
            <a:endParaRPr lang="en-US" altLang="zh-TW" b="1">
              <a:solidFill>
                <a:schemeClr val="bg1">
                  <a:lumMod val="65000"/>
                </a:schemeClr>
              </a:solidFill>
              <a:ea typeface="微軟正黑體" panose="020B0604030504040204" pitchFamily="34" charset="-120"/>
            </a:endParaRPr>
          </a:p>
          <a:p>
            <a:r>
              <a:rPr lang="en-US" altLang="zh-TW" b="1">
                <a:ea typeface="微軟正黑體" panose="020B0604030504040204" pitchFamily="34" charset="-120"/>
              </a:rPr>
              <a:t>          </a:t>
            </a:r>
            <a:r>
              <a:rPr lang="en-US" altLang="zh-TW" b="1">
                <a:solidFill>
                  <a:srgbClr val="ED7D31"/>
                </a:solidFill>
                <a:ea typeface="微軟正黑體" panose="020B0604030504040204" pitchFamily="34" charset="-120"/>
              </a:rPr>
              <a:t>(SELECT pNo</a:t>
            </a:r>
          </a:p>
          <a:p>
            <a:r>
              <a:rPr lang="en-US" altLang="zh-TW" b="1">
                <a:solidFill>
                  <a:srgbClr val="ED7D31"/>
                </a:solidFill>
                <a:ea typeface="微軟正黑體" panose="020B0604030504040204" pitchFamily="34" charset="-120"/>
              </a:rPr>
              <a:t>           FROM Product</a:t>
            </a:r>
          </a:p>
          <a:p>
            <a:r>
              <a:rPr lang="en-US" altLang="zh-TW" b="1">
                <a:solidFill>
                  <a:srgbClr val="ED7D31"/>
                </a:solidFill>
                <a:ea typeface="微軟正黑體" panose="020B0604030504040204" pitchFamily="34" charset="-120"/>
              </a:rPr>
              <a:t>           WHERE pName = '</a:t>
            </a:r>
            <a:r>
              <a:rPr lang="zh-TW" altLang="en-US" b="1">
                <a:solidFill>
                  <a:srgbClr val="ED7D31"/>
                </a:solidFill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>
                <a:solidFill>
                  <a:srgbClr val="ED7D31"/>
                </a:solidFill>
                <a:ea typeface="微軟正黑體" panose="020B0604030504040204" pitchFamily="34" charset="-120"/>
              </a:rPr>
              <a:t>’)</a:t>
            </a:r>
          </a:p>
          <a:p>
            <a:r>
              <a:rPr lang="en-US" altLang="zh-TW" b="1">
                <a:ea typeface="微軟正黑體" panose="020B0604030504040204" pitchFamily="34" charset="-120"/>
              </a:rPr>
              <a:t>     </a:t>
            </a:r>
            <a:r>
              <a:rPr lang="en-US" altLang="zh-TW" b="1">
                <a:solidFill>
                  <a:srgbClr val="00B0F0"/>
                </a:solidFill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b="1"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DF185A-6A0A-4C71-9523-F7B5E12DFB0C}"/>
              </a:ext>
            </a:extLst>
          </p:cNvPr>
          <p:cNvSpPr txBox="1"/>
          <p:nvPr/>
        </p:nvSpPr>
        <p:spPr>
          <a:xfrm>
            <a:off x="2287745" y="3057634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C00000"/>
                </a:solidFill>
                <a:ea typeface="微軟正黑體" panose="020B0604030504040204" pitchFamily="34" charset="-120"/>
              </a:rPr>
              <a:t>IN </a:t>
            </a:r>
            <a:r>
              <a:rPr lang="zh-TW" altLang="en-US" b="1">
                <a:solidFill>
                  <a:srgbClr val="C00000"/>
                </a:solidFill>
                <a:ea typeface="微軟正黑體" panose="020B0604030504040204" pitchFamily="34" charset="-120"/>
              </a:rPr>
              <a:t>左邊的記錄也可包含兩個或兩個以上的屬性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47ED9BD-6D03-4B21-985C-7DE9FF7BA2F9}"/>
              </a:ext>
            </a:extLst>
          </p:cNvPr>
          <p:cNvSpPr txBox="1"/>
          <p:nvPr/>
        </p:nvSpPr>
        <p:spPr>
          <a:xfrm>
            <a:off x="9440054" y="1123043"/>
            <a:ext cx="2085240" cy="28007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TW" sz="1600"/>
              <a:t>Order:</a:t>
            </a:r>
          </a:p>
          <a:p>
            <a:pPr lvl="1"/>
            <a:r>
              <a:rPr lang="en-US" altLang="zh-TW" sz="1600"/>
              <a:t>'</a:t>
            </a:r>
            <a:r>
              <a:rPr lang="en-US" altLang="zh-TW" sz="1600" b="1"/>
              <a:t>pNo</a:t>
            </a:r>
            <a:r>
              <a:rPr lang="en-US" altLang="zh-TW" sz="1600"/>
              <a:t>’  CHAR(6)</a:t>
            </a:r>
          </a:p>
          <a:p>
            <a:pPr lvl="1"/>
            <a:r>
              <a:rPr lang="en-US" altLang="zh-TW" sz="1600"/>
              <a:t>'</a:t>
            </a:r>
            <a:r>
              <a:rPr lang="en-US" altLang="zh-TW" sz="1600" b="1">
                <a:solidFill>
                  <a:srgbClr val="ED7D31"/>
                </a:solidFill>
              </a:rPr>
              <a:t>mId</a:t>
            </a:r>
            <a:r>
              <a:rPr lang="en-US" altLang="zh-TW" sz="1600"/>
              <a:t>'  </a:t>
            </a:r>
          </a:p>
          <a:p>
            <a:pPr lvl="1"/>
            <a:r>
              <a:rPr lang="en-US" altLang="zh-TW" sz="1600"/>
              <a:t>'</a:t>
            </a:r>
            <a:r>
              <a:rPr lang="en-US" altLang="zh-TW" sz="1600" b="1">
                <a:solidFill>
                  <a:srgbClr val="00B0F0"/>
                </a:solidFill>
              </a:rPr>
              <a:t>cartTime</a:t>
            </a:r>
            <a:r>
              <a:rPr lang="en-US" altLang="zh-TW" sz="1600"/>
              <a:t>'</a:t>
            </a:r>
          </a:p>
          <a:p>
            <a:pPr lvl="1"/>
            <a:r>
              <a:rPr lang="en-US" altLang="zh-TW" sz="1600"/>
              <a:t>'amount’</a:t>
            </a:r>
          </a:p>
          <a:p>
            <a:r>
              <a:rPr lang="en-US" altLang="zh-TW" sz="1600"/>
              <a:t>Product:</a:t>
            </a:r>
          </a:p>
          <a:p>
            <a:pPr lvl="1"/>
            <a:r>
              <a:rPr lang="en-US" altLang="zh-TW" sz="1600" b="1"/>
              <a:t>'pNo</a:t>
            </a:r>
            <a:r>
              <a:rPr lang="en-US" altLang="zh-TW" sz="1600"/>
              <a:t>’ CHAR(6) </a:t>
            </a:r>
          </a:p>
          <a:p>
            <a:pPr lvl="1"/>
            <a:r>
              <a:rPr lang="en-US" altLang="zh-TW" sz="1600"/>
              <a:t>'</a:t>
            </a:r>
            <a:r>
              <a:rPr lang="en-US" altLang="zh-TW" sz="1600">
                <a:solidFill>
                  <a:srgbClr val="7030A0"/>
                </a:solidFill>
              </a:rPr>
              <a:t>pName</a:t>
            </a:r>
            <a:r>
              <a:rPr lang="en-US" altLang="zh-TW" sz="1600"/>
              <a:t>'</a:t>
            </a:r>
          </a:p>
          <a:p>
            <a:pPr lvl="1"/>
            <a:r>
              <a:rPr lang="en-US" altLang="zh-TW" sz="1600"/>
              <a:t>'unitPrice’ </a:t>
            </a:r>
          </a:p>
          <a:p>
            <a:pPr lvl="1"/>
            <a:r>
              <a:rPr lang="en-US" altLang="zh-TW" sz="1600"/>
              <a:t>'category'</a:t>
            </a:r>
          </a:p>
          <a:p>
            <a:endParaRPr lang="en-US" altLang="zh-TW" sz="1600"/>
          </a:p>
        </p:txBody>
      </p:sp>
    </p:spTree>
    <p:extLst>
      <p:ext uri="{BB962C8B-B14F-4D97-AF65-F5344CB8AC3E}">
        <p14:creationId xmlns:p14="http://schemas.microsoft.com/office/powerpoint/2010/main" val="2520399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Q: 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找出沒有創作者的商品編號和商品名稱</a:t>
            </a:r>
            <a:endParaRPr lang="zh-TW" altLang="en-US" sz="4400" b="1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2293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前可以加上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b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否定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NOT IN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	(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Author</a:t>
            </a:r>
            <a:r>
              <a:rPr lang="en-US" altLang="zh-TW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b="1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FF0000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pNo </a:t>
            </a:r>
            <a:r>
              <a:rPr lang="en-US" altLang="zh-TW" b="1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>
                <a:solidFill>
                  <a:schemeClr val="tx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Author	</a:t>
            </a:r>
            <a:endParaRPr lang="en-US" altLang="zh-TW" dirty="0">
              <a:highlight>
                <a:srgbClr val="FFFFFF"/>
              </a:highlight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33</a:t>
            </a:fld>
            <a:endParaRPr kumimoji="0"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E8EE46-E1E7-4C78-8DBE-18BDD82DE7A3}"/>
              </a:ext>
            </a:extLst>
          </p:cNvPr>
          <p:cNvSpPr/>
          <p:nvPr/>
        </p:nvSpPr>
        <p:spPr>
          <a:xfrm>
            <a:off x="1669774" y="3210339"/>
            <a:ext cx="4840356" cy="566531"/>
          </a:xfrm>
          <a:custGeom>
            <a:avLst/>
            <a:gdLst>
              <a:gd name="connsiteX0" fmla="*/ 0 w 4840356"/>
              <a:gd name="connsiteY0" fmla="*/ 0 h 566531"/>
              <a:gd name="connsiteX1" fmla="*/ 634624 w 4840356"/>
              <a:gd name="connsiteY1" fmla="*/ 0 h 566531"/>
              <a:gd name="connsiteX2" fmla="*/ 1075635 w 4840356"/>
              <a:gd name="connsiteY2" fmla="*/ 0 h 566531"/>
              <a:gd name="connsiteX3" fmla="*/ 1613452 w 4840356"/>
              <a:gd name="connsiteY3" fmla="*/ 0 h 566531"/>
              <a:gd name="connsiteX4" fmla="*/ 2006059 w 4840356"/>
              <a:gd name="connsiteY4" fmla="*/ 0 h 566531"/>
              <a:gd name="connsiteX5" fmla="*/ 2495472 w 4840356"/>
              <a:gd name="connsiteY5" fmla="*/ 0 h 566531"/>
              <a:gd name="connsiteX6" fmla="*/ 2888079 w 4840356"/>
              <a:gd name="connsiteY6" fmla="*/ 0 h 566531"/>
              <a:gd name="connsiteX7" fmla="*/ 3280686 w 4840356"/>
              <a:gd name="connsiteY7" fmla="*/ 0 h 566531"/>
              <a:gd name="connsiteX8" fmla="*/ 3818503 w 4840356"/>
              <a:gd name="connsiteY8" fmla="*/ 0 h 566531"/>
              <a:gd name="connsiteX9" fmla="*/ 4356320 w 4840356"/>
              <a:gd name="connsiteY9" fmla="*/ 0 h 566531"/>
              <a:gd name="connsiteX10" fmla="*/ 4840356 w 4840356"/>
              <a:gd name="connsiteY10" fmla="*/ 0 h 566531"/>
              <a:gd name="connsiteX11" fmla="*/ 4840356 w 4840356"/>
              <a:gd name="connsiteY11" fmla="*/ 566531 h 566531"/>
              <a:gd name="connsiteX12" fmla="*/ 4254135 w 4840356"/>
              <a:gd name="connsiteY12" fmla="*/ 566531 h 566531"/>
              <a:gd name="connsiteX13" fmla="*/ 3861528 w 4840356"/>
              <a:gd name="connsiteY13" fmla="*/ 566531 h 566531"/>
              <a:gd name="connsiteX14" fmla="*/ 3226904 w 4840356"/>
              <a:gd name="connsiteY14" fmla="*/ 566531 h 566531"/>
              <a:gd name="connsiteX15" fmla="*/ 2592280 w 4840356"/>
              <a:gd name="connsiteY15" fmla="*/ 566531 h 566531"/>
              <a:gd name="connsiteX16" fmla="*/ 2054462 w 4840356"/>
              <a:gd name="connsiteY16" fmla="*/ 566531 h 566531"/>
              <a:gd name="connsiteX17" fmla="*/ 1419838 w 4840356"/>
              <a:gd name="connsiteY17" fmla="*/ 566531 h 566531"/>
              <a:gd name="connsiteX18" fmla="*/ 1027231 w 4840356"/>
              <a:gd name="connsiteY18" fmla="*/ 566531 h 566531"/>
              <a:gd name="connsiteX19" fmla="*/ 0 w 4840356"/>
              <a:gd name="connsiteY19" fmla="*/ 566531 h 566531"/>
              <a:gd name="connsiteX20" fmla="*/ 0 w 4840356"/>
              <a:gd name="connsiteY20" fmla="*/ 0 h 56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40356" h="566531" extrusionOk="0">
                <a:moveTo>
                  <a:pt x="0" y="0"/>
                </a:moveTo>
                <a:cubicBezTo>
                  <a:pt x="264959" y="-68373"/>
                  <a:pt x="427784" y="25266"/>
                  <a:pt x="634624" y="0"/>
                </a:cubicBezTo>
                <a:cubicBezTo>
                  <a:pt x="841464" y="-25266"/>
                  <a:pt x="906346" y="43989"/>
                  <a:pt x="1075635" y="0"/>
                </a:cubicBezTo>
                <a:cubicBezTo>
                  <a:pt x="1244924" y="-43989"/>
                  <a:pt x="1457728" y="59294"/>
                  <a:pt x="1613452" y="0"/>
                </a:cubicBezTo>
                <a:cubicBezTo>
                  <a:pt x="1769176" y="-59294"/>
                  <a:pt x="1817786" y="5577"/>
                  <a:pt x="2006059" y="0"/>
                </a:cubicBezTo>
                <a:cubicBezTo>
                  <a:pt x="2194332" y="-5577"/>
                  <a:pt x="2386778" y="12708"/>
                  <a:pt x="2495472" y="0"/>
                </a:cubicBezTo>
                <a:cubicBezTo>
                  <a:pt x="2604166" y="-12708"/>
                  <a:pt x="2747578" y="1140"/>
                  <a:pt x="2888079" y="0"/>
                </a:cubicBezTo>
                <a:cubicBezTo>
                  <a:pt x="3028580" y="-1140"/>
                  <a:pt x="3183902" y="29269"/>
                  <a:pt x="3280686" y="0"/>
                </a:cubicBezTo>
                <a:cubicBezTo>
                  <a:pt x="3377470" y="-29269"/>
                  <a:pt x="3704296" y="6895"/>
                  <a:pt x="3818503" y="0"/>
                </a:cubicBezTo>
                <a:cubicBezTo>
                  <a:pt x="3932710" y="-6895"/>
                  <a:pt x="4167394" y="33270"/>
                  <a:pt x="4356320" y="0"/>
                </a:cubicBezTo>
                <a:cubicBezTo>
                  <a:pt x="4545246" y="-33270"/>
                  <a:pt x="4600186" y="4558"/>
                  <a:pt x="4840356" y="0"/>
                </a:cubicBezTo>
                <a:cubicBezTo>
                  <a:pt x="4848234" y="243625"/>
                  <a:pt x="4805644" y="307525"/>
                  <a:pt x="4840356" y="566531"/>
                </a:cubicBezTo>
                <a:cubicBezTo>
                  <a:pt x="4651425" y="619480"/>
                  <a:pt x="4389118" y="531795"/>
                  <a:pt x="4254135" y="566531"/>
                </a:cubicBezTo>
                <a:cubicBezTo>
                  <a:pt x="4119152" y="601267"/>
                  <a:pt x="4043052" y="530269"/>
                  <a:pt x="3861528" y="566531"/>
                </a:cubicBezTo>
                <a:cubicBezTo>
                  <a:pt x="3680004" y="602793"/>
                  <a:pt x="3484121" y="519390"/>
                  <a:pt x="3226904" y="566531"/>
                </a:cubicBezTo>
                <a:cubicBezTo>
                  <a:pt x="2969687" y="613672"/>
                  <a:pt x="2791953" y="565555"/>
                  <a:pt x="2592280" y="566531"/>
                </a:cubicBezTo>
                <a:cubicBezTo>
                  <a:pt x="2392607" y="567507"/>
                  <a:pt x="2176226" y="553671"/>
                  <a:pt x="2054462" y="566531"/>
                </a:cubicBezTo>
                <a:cubicBezTo>
                  <a:pt x="1932698" y="579391"/>
                  <a:pt x="1631394" y="508694"/>
                  <a:pt x="1419838" y="566531"/>
                </a:cubicBezTo>
                <a:cubicBezTo>
                  <a:pt x="1208282" y="624368"/>
                  <a:pt x="1175425" y="528619"/>
                  <a:pt x="1027231" y="566531"/>
                </a:cubicBezTo>
                <a:cubicBezTo>
                  <a:pt x="879037" y="604443"/>
                  <a:pt x="447530" y="508458"/>
                  <a:pt x="0" y="566531"/>
                </a:cubicBezTo>
                <a:cubicBezTo>
                  <a:pt x="-41028" y="350646"/>
                  <a:pt x="41914" y="184342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4578012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898EC42-0F8F-4D07-8492-228311A0CF40}"/>
              </a:ext>
            </a:extLst>
          </p:cNvPr>
          <p:cNvSpPr txBox="1"/>
          <p:nvPr/>
        </p:nvSpPr>
        <p:spPr>
          <a:xfrm>
            <a:off x="2011680" y="3991087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修飾字來消除重複項目</a:t>
            </a:r>
          </a:p>
        </p:txBody>
      </p:sp>
    </p:spTree>
    <p:extLst>
      <p:ext uri="{BB962C8B-B14F-4D97-AF65-F5344CB8AC3E}">
        <p14:creationId xmlns:p14="http://schemas.microsoft.com/office/powerpoint/2010/main" val="3125083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90600" lvl="1" indent="-533400"/>
            <a:r>
              <a:rPr lang="en-US" altLang="zh-TW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Q: </a:t>
            </a:r>
            <a:r>
              <a:rPr lang="zh-TW" altLang="en-US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找出「</a:t>
            </a:r>
            <a:r>
              <a:rPr lang="en-US" altLang="zh-TW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</a:t>
            </a:r>
            <a:r>
              <a:rPr lang="zh-TW" altLang="en-US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」所瀏覽過的商品裡，哪些有真正被他購買。</a:t>
            </a:r>
            <a:endParaRPr lang="en-US" altLang="zh-TW" sz="2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4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子查詢句也可以參考到上層查詢句的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pNo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 Browse AS B, Member AS M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 name = ‘Su’              -- ('Jacson’ ,'Jennifer’, 'Su', 'Tony','Jenny’)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AND B.mId = M.mId 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AND pNo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en-US" altLang="zh-TW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pNo </a:t>
            </a:r>
          </a:p>
          <a:p>
            <a:pPr marL="457200" lvl="1" indent="0">
              <a:buNone/>
            </a:pPr>
            <a:r>
              <a:rPr lang="en-US" altLang="zh-TW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FROM Record AS R, Transactions AS T</a:t>
            </a:r>
          </a:p>
          <a:p>
            <a:pPr marL="457200" lvl="1" indent="0">
              <a:buNone/>
            </a:pPr>
            <a:r>
              <a:rPr lang="en-US" altLang="zh-TW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	WHERE transMid=M.mId</a:t>
            </a:r>
          </a:p>
          <a:p>
            <a:pPr marL="457200" lvl="1" indent="0">
              <a:buNone/>
            </a:pPr>
            <a:r>
              <a:rPr lang="en-US" altLang="zh-TW" b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	AND T.tNo=R.tNo</a:t>
            </a:r>
          </a:p>
          <a:p>
            <a:pPr marL="457200" lvl="1" indent="0"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92138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巢狀查詢句</a:t>
            </a:r>
            <a:r>
              <a:rPr lang="en-US" altLang="zh-TW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(EXISTS)</a:t>
            </a:r>
            <a:endParaRPr lang="zh-TW" altLang="en-US" sz="3200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7413" name="Rectangle 3"/>
          <p:cNvSpPr>
            <a:spLocks noGrp="1" noRot="1" noChangeArrowheads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sz="2400" b="0" i="0">
                <a:solidFill>
                  <a:srgbClr val="555555"/>
                </a:solidFill>
                <a:effectLst/>
                <a:latin typeface="-apple-system"/>
              </a:rPr>
              <a:t>EXISTS </a:t>
            </a:r>
            <a:r>
              <a:rPr lang="zh-TW" altLang="en-US" sz="2400" b="0" i="0">
                <a:solidFill>
                  <a:srgbClr val="555555"/>
                </a:solidFill>
                <a:effectLst/>
                <a:latin typeface="-apple-system"/>
              </a:rPr>
              <a:t>運算子可以連接子查詢，用來判斷子查詢是否有返回的結果，如果有結果返回則為真、否則為假。若 </a:t>
            </a:r>
            <a:r>
              <a:rPr lang="en-US" altLang="zh-TW" sz="2400" b="0" i="0">
                <a:solidFill>
                  <a:srgbClr val="555555"/>
                </a:solidFill>
                <a:effectLst/>
                <a:latin typeface="-apple-system"/>
              </a:rPr>
              <a:t>EXISTS </a:t>
            </a:r>
            <a:r>
              <a:rPr lang="zh-TW" altLang="en-US" sz="2400" b="0" i="0">
                <a:solidFill>
                  <a:srgbClr val="555555"/>
                </a:solidFill>
                <a:effectLst/>
                <a:latin typeface="-apple-system"/>
              </a:rPr>
              <a:t>為真，就會繼續執行外查詢中的 </a:t>
            </a:r>
            <a:r>
              <a:rPr lang="en-US" altLang="zh-TW" sz="2400" b="0" i="0">
                <a:solidFill>
                  <a:srgbClr val="555555"/>
                </a:solidFill>
                <a:effectLst/>
                <a:latin typeface="-apple-system"/>
              </a:rPr>
              <a:t>SQL</a:t>
            </a:r>
            <a:r>
              <a:rPr lang="zh-TW" altLang="en-US" sz="2400" b="0" i="0">
                <a:solidFill>
                  <a:srgbClr val="555555"/>
                </a:solidFill>
                <a:effectLst/>
                <a:latin typeface="-apple-system"/>
              </a:rPr>
              <a:t>；若 </a:t>
            </a:r>
            <a:r>
              <a:rPr lang="en-US" altLang="zh-TW" sz="2400" b="0" i="0">
                <a:solidFill>
                  <a:srgbClr val="555555"/>
                </a:solidFill>
                <a:effectLst/>
                <a:latin typeface="-apple-system"/>
              </a:rPr>
              <a:t>EXISTS </a:t>
            </a:r>
            <a:r>
              <a:rPr lang="zh-TW" altLang="en-US" sz="2400" b="0" i="0">
                <a:solidFill>
                  <a:srgbClr val="555555"/>
                </a:solidFill>
                <a:effectLst/>
                <a:latin typeface="-apple-system"/>
              </a:rPr>
              <a:t>為假，則整個 </a:t>
            </a:r>
            <a:r>
              <a:rPr lang="en-US" altLang="zh-TW" sz="2400" b="0" i="0">
                <a:solidFill>
                  <a:srgbClr val="555555"/>
                </a:solidFill>
                <a:effectLst/>
                <a:latin typeface="-apple-system"/>
              </a:rPr>
              <a:t>SQL </a:t>
            </a:r>
            <a:r>
              <a:rPr lang="zh-TW" altLang="en-US" sz="2400" b="0" i="0">
                <a:solidFill>
                  <a:srgbClr val="555555"/>
                </a:solidFill>
                <a:effectLst/>
                <a:latin typeface="-apple-system"/>
              </a:rPr>
              <a:t>查詢就不會返回任何結果</a:t>
            </a:r>
            <a:endParaRPr lang="zh-TW" altLang="en-US" sz="240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C75E5F-C0FA-4249-943C-E6DA7D9D03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</a:p>
          <a:p>
            <a:pPr marL="457200" lvl="1" indent="0">
              <a:buNone/>
            </a:pPr>
            <a:endParaRPr lang="en-US" altLang="zh-TW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SELECT mId, name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FROM Member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altLang="zh-TW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EXISTS</a:t>
            </a: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SELECT *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FROM Product, Record, Transactions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WHERE pName=‘</a:t>
            </a:r>
            <a:r>
              <a:rPr lang="zh-TW" altLang="en-US" b="1">
                <a:latin typeface="Calibri" panose="020F0502020204030204" pitchFamily="34" charset="0"/>
                <a:cs typeface="Calibri" panose="020F0502020204030204" pitchFamily="34" charset="0"/>
              </a:rPr>
              <a:t>系統分析理論與實務</a:t>
            </a: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AND Product.pNo = Record.pNo 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AND Record.tNo = Transactions.tNo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   AND mId = transMid</a:t>
            </a:r>
          </a:p>
          <a:p>
            <a:pPr marL="457200" lvl="1" indent="0">
              <a:buNone/>
            </a:pPr>
            <a:r>
              <a:rPr lang="en-US" altLang="zh-TW" b="1"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35</a:t>
            </a:fld>
            <a:endParaRPr kumimoji="0"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73CEFA-87B4-4023-B949-40F72B917672}"/>
              </a:ext>
            </a:extLst>
          </p:cNvPr>
          <p:cNvSpPr txBox="1"/>
          <p:nvPr/>
        </p:nvSpPr>
        <p:spPr>
          <a:xfrm>
            <a:off x="7199972" y="2206306"/>
            <a:ext cx="44617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15849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巢狀查詢句</a:t>
            </a:r>
            <a:r>
              <a:rPr lang="en-US" altLang="zh-TW" sz="3200" spc="600" dirty="0">
                <a:latin typeface="微軟正黑體" pitchFamily="34" charset="-120"/>
                <a:ea typeface="微軟正黑體" pitchFamily="34" charset="-120"/>
                <a:cs typeface="+mn-cs"/>
              </a:rPr>
              <a:t>(EXISTS)-(cont.)</a:t>
            </a:r>
            <a:endParaRPr lang="zh-TW" altLang="en-US" sz="3200" spc="600" dirty="0"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8437" name="Rectangle 3"/>
          <p:cNvSpPr>
            <a:spLocks noGrp="1" noRot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EXISTS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前可以加上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表示否定，</a:t>
            </a:r>
            <a:r>
              <a:rPr lang="en-US" altLang="zh-TW" sz="2400"/>
              <a:t>NOT EXISTS </a:t>
            </a:r>
            <a:r>
              <a:rPr lang="zh-TW" altLang="en-US" sz="2400"/>
              <a:t>則是相對於 </a:t>
            </a:r>
            <a:r>
              <a:rPr lang="en-US" altLang="zh-TW" sz="2400"/>
              <a:t>EXISTS</a:t>
            </a:r>
            <a:r>
              <a:rPr lang="zh-TW" altLang="en-US" sz="2400"/>
              <a:t>，判斷為假才會繼續執行外查詢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1C4743-D6C3-4106-B986-DBC9DCB4DC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：找出所有非由購物車而來的交易的交易編號和會員編號。</a:t>
            </a:r>
          </a:p>
          <a:p>
            <a:pPr marL="0" indent="0">
              <a:buNone/>
            </a:pPr>
            <a:endParaRPr lang="en-US" altLang="zh-TW" sz="2400" b="1"/>
          </a:p>
          <a:p>
            <a:pPr marL="0" indent="0">
              <a:buNone/>
            </a:pPr>
            <a:r>
              <a:rPr lang="en-US" altLang="zh-TW" sz="2400" b="1"/>
              <a:t>SELECT tNo, transMid</a:t>
            </a:r>
          </a:p>
          <a:p>
            <a:pPr marL="0" indent="0">
              <a:buNone/>
            </a:pPr>
            <a:r>
              <a:rPr lang="en-US" altLang="zh-TW" sz="2400" b="1"/>
              <a:t>FROM Transactions AS T</a:t>
            </a:r>
          </a:p>
          <a:p>
            <a:pPr marL="0" indent="0">
              <a:buNone/>
            </a:pPr>
            <a:r>
              <a:rPr lang="en-US" altLang="zh-TW" sz="2400" b="1"/>
              <a:t>WHERE NOT EXISTS </a:t>
            </a:r>
          </a:p>
          <a:p>
            <a:pPr marL="0" indent="0">
              <a:buNone/>
            </a:pPr>
            <a:r>
              <a:rPr lang="en-US" altLang="zh-TW" sz="2400" b="1"/>
              <a:t>( </a:t>
            </a:r>
            <a:r>
              <a:rPr lang="zh-TW" altLang="en-US" sz="2400" b="1"/>
              <a:t> </a:t>
            </a:r>
            <a:r>
              <a:rPr lang="en-US" altLang="zh-TW" sz="2400" b="1"/>
              <a:t>SELECT *</a:t>
            </a:r>
          </a:p>
          <a:p>
            <a:pPr marL="0" indent="0">
              <a:buNone/>
            </a:pPr>
            <a:r>
              <a:rPr lang="en-US" altLang="zh-TW" sz="2400" b="1"/>
              <a:t>  </a:t>
            </a:r>
            <a:r>
              <a:rPr lang="zh-TW" altLang="en-US" sz="2400" b="1"/>
              <a:t>  </a:t>
            </a:r>
            <a:r>
              <a:rPr lang="en-US" altLang="zh-TW" sz="2400" b="1"/>
              <a:t>FROM Cart</a:t>
            </a:r>
          </a:p>
          <a:p>
            <a:pPr marL="0" indent="0">
              <a:buNone/>
            </a:pPr>
            <a:r>
              <a:rPr lang="en-US" altLang="zh-TW" sz="2400" b="1"/>
              <a:t>   </a:t>
            </a:r>
            <a:r>
              <a:rPr lang="zh-TW" altLang="en-US" sz="2400" b="1"/>
              <a:t> </a:t>
            </a:r>
            <a:r>
              <a:rPr lang="en-US" altLang="zh-TW" sz="2400" b="1"/>
              <a:t>WHERE tNo = T.tNo</a:t>
            </a:r>
          </a:p>
          <a:p>
            <a:pPr marL="0" indent="0">
              <a:buNone/>
            </a:pPr>
            <a:r>
              <a:rPr lang="en-US" altLang="zh-TW" sz="2400" b="1"/>
              <a:t>);</a:t>
            </a:r>
          </a:p>
          <a:p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6919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3102</Words>
  <Application>Microsoft Office PowerPoint</Application>
  <PresentationFormat>寬螢幕</PresentationFormat>
  <Paragraphs>457</Paragraphs>
  <Slides>36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7" baseType="lpstr">
      <vt:lpstr>-apple-system</vt:lpstr>
      <vt:lpstr>fkGroteskNeue</vt:lpstr>
      <vt:lpstr>unset</vt:lpstr>
      <vt:lpstr>微軟正黑體</vt:lpstr>
      <vt:lpstr>Arial</vt:lpstr>
      <vt:lpstr>Calibri</vt:lpstr>
      <vt:lpstr>Comic Sans MS</vt:lpstr>
      <vt:lpstr>Times New Roman</vt:lpstr>
      <vt:lpstr>Wingdings</vt:lpstr>
      <vt:lpstr>Wingdings 2</vt:lpstr>
      <vt:lpstr>Office 佈景主題</vt:lpstr>
      <vt:lpstr>SQL資料查詢</vt:lpstr>
      <vt:lpstr>DB Browser</vt:lpstr>
      <vt:lpstr>如何在 Windows 安裝 DB Browser for SQLite</vt:lpstr>
      <vt:lpstr>使用 DB Browser for SQLite 學習 SQL 優點</vt:lpstr>
      <vt:lpstr>DB BROWSER 操作介面</vt:lpstr>
      <vt:lpstr>基本的SQL查詢語法</vt:lpstr>
      <vt:lpstr>SQL的查詢句基本格式</vt:lpstr>
      <vt:lpstr>實例:列出「系統分析理論與實務」的作者姓名</vt:lpstr>
      <vt:lpstr>列出所有購買過「系統分析理論與實務」的會員之會員編號和會員姓名</vt:lpstr>
      <vt:lpstr>使用資料表名稱的縮寫</vt:lpstr>
      <vt:lpstr>對於會員編號為'b0905555'的會員，列出其姓名以及所（直接） 介紹的會員之會員編號和姓名</vt:lpstr>
      <vt:lpstr>SQL查詢語法</vt:lpstr>
      <vt:lpstr>PowerPoint 簡報</vt:lpstr>
      <vt:lpstr>Date&amp;Time表示</vt:lpstr>
      <vt:lpstr>Date和Time的型態值</vt:lpstr>
      <vt:lpstr>記錄排序</vt:lpstr>
      <vt:lpstr>集合運算式 </vt:lpstr>
      <vt:lpstr>Bag運算式</vt:lpstr>
      <vt:lpstr>Bag運算式</vt:lpstr>
      <vt:lpstr>巢狀查詢句(在FROM子句或WHERE子句裡容納另一個查詢子句)</vt:lpstr>
      <vt:lpstr>集合運算式</vt:lpstr>
      <vt:lpstr>卡迪森乘積(Cartesian Product)</vt:lpstr>
      <vt:lpstr>交集</vt:lpstr>
      <vt:lpstr>聯集</vt:lpstr>
      <vt:lpstr>差集</vt:lpstr>
      <vt:lpstr>Bookcase ERD</vt:lpstr>
      <vt:lpstr>Q: 找出所有瀏覽過或購買過「系統分析理論與實務」的會員之會員編號和會員姓名</vt:lpstr>
      <vt:lpstr>巢狀查詢句(nested query) </vt:lpstr>
      <vt:lpstr>巢狀查詢句(nested query) </vt:lpstr>
      <vt:lpstr>巢狀查詢句(IN)</vt:lpstr>
      <vt:lpstr>Q: 找出所有瀏覽過或購買過「系統分析理論與實務」的會員之會員編號和會員姓名</vt:lpstr>
      <vt:lpstr>Q: 找出含有「系統分析理論與實務」的購物車之交易編號</vt:lpstr>
      <vt:lpstr>Q: 找出沒有創作者的商品編號和商品名稱</vt:lpstr>
      <vt:lpstr>Q: 找出「Su」所瀏覽過的商品裡，哪些有真正被他購買。</vt:lpstr>
      <vt:lpstr>巢狀查詢句(EXISTS)</vt:lpstr>
      <vt:lpstr>巢狀查詢句(EXISTS)-(cont.)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SQL進階</dc:title>
  <dc:creator>鍾定揚 12376046 Daniel</dc:creator>
  <cp:lastModifiedBy>鍾定揚 12376046 Daniel</cp:lastModifiedBy>
  <cp:revision>63</cp:revision>
  <dcterms:created xsi:type="dcterms:W3CDTF">2024-11-29T07:29:17Z</dcterms:created>
  <dcterms:modified xsi:type="dcterms:W3CDTF">2025-11-17T10:21:55Z</dcterms:modified>
</cp:coreProperties>
</file>