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sldIdLst>
    <p:sldId id="315" r:id="rId2"/>
    <p:sldId id="288" r:id="rId3"/>
    <p:sldId id="289" r:id="rId4"/>
    <p:sldId id="292" r:id="rId5"/>
    <p:sldId id="261" r:id="rId6"/>
    <p:sldId id="262" r:id="rId7"/>
    <p:sldId id="263" r:id="rId8"/>
    <p:sldId id="264" r:id="rId9"/>
    <p:sldId id="408" r:id="rId10"/>
    <p:sldId id="403" r:id="rId11"/>
    <p:sldId id="265" r:id="rId12"/>
    <p:sldId id="266" r:id="rId13"/>
    <p:sldId id="405" r:id="rId14"/>
    <p:sldId id="308" r:id="rId15"/>
    <p:sldId id="269" r:id="rId16"/>
    <p:sldId id="270" r:id="rId17"/>
    <p:sldId id="293" r:id="rId18"/>
    <p:sldId id="295" r:id="rId19"/>
    <p:sldId id="409" r:id="rId20"/>
    <p:sldId id="410" r:id="rId21"/>
    <p:sldId id="411" r:id="rId22"/>
    <p:sldId id="283" r:id="rId23"/>
    <p:sldId id="412" r:id="rId24"/>
    <p:sldId id="413" r:id="rId25"/>
    <p:sldId id="414" r:id="rId26"/>
    <p:sldId id="415" r:id="rId27"/>
    <p:sldId id="307" r:id="rId28"/>
    <p:sldId id="311" r:id="rId29"/>
    <p:sldId id="271" r:id="rId30"/>
    <p:sldId id="407" r:id="rId31"/>
    <p:sldId id="312" r:id="rId32"/>
    <p:sldId id="276" r:id="rId33"/>
    <p:sldId id="277" r:id="rId34"/>
    <p:sldId id="290" r:id="rId35"/>
    <p:sldId id="296" r:id="rId36"/>
    <p:sldId id="286" r:id="rId37"/>
    <p:sldId id="313" r:id="rId38"/>
    <p:sldId id="278" r:id="rId39"/>
    <p:sldId id="279" r:id="rId40"/>
    <p:sldId id="310" r:id="rId41"/>
    <p:sldId id="316" r:id="rId42"/>
    <p:sldId id="314" r:id="rId43"/>
    <p:sldId id="294" r:id="rId44"/>
    <p:sldId id="416" r:id="rId45"/>
    <p:sldId id="304" r:id="rId46"/>
    <p:sldId id="305" r:id="rId47"/>
    <p:sldId id="306" r:id="rId48"/>
    <p:sldId id="285" r:id="rId49"/>
    <p:sldId id="309" r:id="rId50"/>
    <p:sldId id="404" r:id="rId5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7" autoAdjust="0"/>
    <p:restoredTop sz="77787" autoAdjust="0"/>
  </p:normalViewPr>
  <p:slideViewPr>
    <p:cSldViewPr snapToGrid="0">
      <p:cViewPr varScale="1">
        <p:scale>
          <a:sx n="122" d="100"/>
          <a:sy n="122" d="100"/>
        </p:scale>
        <p:origin x="186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0" d="100"/>
        <a:sy n="130" d="100"/>
      </p:scale>
      <p:origin x="0" y="-10050"/>
    </p:cViewPr>
  </p:sorterViewPr>
  <p:notesViewPr>
    <p:cSldViewPr snapToGrid="0">
      <p:cViewPr varScale="1">
        <p:scale>
          <a:sx n="81" d="100"/>
          <a:sy n="81" d="100"/>
        </p:scale>
        <p:origin x="184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8B2E93-DED8-4568-AC93-E1B7FFDDE1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3095D66E-AC8D-4446-9662-EB5BDB2F0CE9}">
      <dgm:prSet phldrT="[文字]" custT="1"/>
      <dgm:spPr>
        <a:solidFill>
          <a:srgbClr val="C00000"/>
        </a:solidFill>
      </dgm:spPr>
      <dgm:t>
        <a:bodyPr/>
        <a:lstStyle/>
        <a:p>
          <a:r>
            <a: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RESTRICT </a:t>
          </a:r>
          <a:r>
            <a:rPr lang="zh-TW" altLang="en-US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dirty="0"/>
        </a:p>
      </dgm:t>
    </dgm:pt>
    <dgm:pt modelId="{BE0EAC5E-CBAB-4267-9A11-5986D99EF96B}" type="parTrans" cxnId="{85983AB7-7BA2-43A7-909C-E9FB55B7AA7A}">
      <dgm:prSet/>
      <dgm:spPr/>
      <dgm:t>
        <a:bodyPr/>
        <a:lstStyle/>
        <a:p>
          <a:endParaRPr lang="zh-TW" altLang="en-US" sz="3200" b="1"/>
        </a:p>
      </dgm:t>
    </dgm:pt>
    <dgm:pt modelId="{5264CCC8-5945-4051-951C-8083A359C961}" type="sibTrans" cxnId="{85983AB7-7BA2-43A7-909C-E9FB55B7AA7A}">
      <dgm:prSet/>
      <dgm:spPr/>
      <dgm:t>
        <a:bodyPr/>
        <a:lstStyle/>
        <a:p>
          <a:endParaRPr lang="zh-TW" altLang="en-US" sz="3200" b="1"/>
        </a:p>
      </dgm:t>
    </dgm:pt>
    <dgm:pt modelId="{86867B40-0E25-47D6-ACC1-B142F1E02924}">
      <dgm:prSet phldrT="[文字]" custT="1"/>
      <dgm:spPr>
        <a:solidFill>
          <a:srgbClr val="C00000"/>
        </a:solidFill>
      </dgm:spPr>
      <dgm:t>
        <a:bodyPr/>
        <a:lstStyle/>
        <a:p>
          <a:r>
            <a: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NULL</a:t>
          </a:r>
          <a:endParaRPr lang="zh-TW" altLang="en-US" sz="2000" b="1" dirty="0"/>
        </a:p>
      </dgm:t>
    </dgm:pt>
    <dgm:pt modelId="{1C650760-5988-44F6-AE63-46E55DA2D58A}" type="parTrans" cxnId="{7F43F5D7-D577-47B0-9CB9-6FADB7AB3E6B}">
      <dgm:prSet/>
      <dgm:spPr/>
      <dgm:t>
        <a:bodyPr/>
        <a:lstStyle/>
        <a:p>
          <a:endParaRPr lang="zh-TW" altLang="en-US" sz="3200" b="1"/>
        </a:p>
      </dgm:t>
    </dgm:pt>
    <dgm:pt modelId="{F24F8D7B-ED0D-4077-8212-136FA25CCC6D}" type="sibTrans" cxnId="{7F43F5D7-D577-47B0-9CB9-6FADB7AB3E6B}">
      <dgm:prSet/>
      <dgm:spPr/>
      <dgm:t>
        <a:bodyPr/>
        <a:lstStyle/>
        <a:p>
          <a:endParaRPr lang="zh-TW" altLang="en-US" sz="3200" b="1"/>
        </a:p>
      </dgm:t>
    </dgm:pt>
    <dgm:pt modelId="{C272A2C9-07AB-49CA-B1BC-F23588CB8399}">
      <dgm:prSet phldrT="[文字]" custT="1"/>
      <dgm:spPr>
        <a:solidFill>
          <a:srgbClr val="C00000"/>
        </a:solidFill>
      </dgm:spPr>
      <dgm:t>
        <a:bodyPr/>
        <a:lstStyle/>
        <a:p>
          <a:r>
            <a: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DEFAULT</a:t>
          </a:r>
          <a:endParaRPr lang="zh-TW" altLang="en-US" sz="2000" b="1" dirty="0"/>
        </a:p>
      </dgm:t>
    </dgm:pt>
    <dgm:pt modelId="{FF461AB0-B521-40A8-96F2-FBA7F88D57D2}" type="parTrans" cxnId="{B1C56268-C149-47F2-B70F-20E534875751}">
      <dgm:prSet/>
      <dgm:spPr/>
      <dgm:t>
        <a:bodyPr/>
        <a:lstStyle/>
        <a:p>
          <a:endParaRPr lang="zh-TW" altLang="en-US" sz="3200" b="1"/>
        </a:p>
      </dgm:t>
    </dgm:pt>
    <dgm:pt modelId="{F6E35AB2-D27D-4B03-80E1-8DE0D0D4376D}" type="sibTrans" cxnId="{B1C56268-C149-47F2-B70F-20E534875751}">
      <dgm:prSet/>
      <dgm:spPr/>
      <dgm:t>
        <a:bodyPr/>
        <a:lstStyle/>
        <a:p>
          <a:endParaRPr lang="zh-TW" altLang="en-US" sz="3200" b="1"/>
        </a:p>
      </dgm:t>
    </dgm:pt>
    <dgm:pt modelId="{35F724A0-A988-4FCA-922D-F01F69B1EB30}">
      <dgm:prSet custT="1"/>
      <dgm:spPr>
        <a:solidFill>
          <a:srgbClr val="C00000"/>
        </a:solidFill>
      </dgm:spPr>
      <dgm:t>
        <a:bodyPr/>
        <a:lstStyle/>
        <a:p>
          <a:r>
            <a:rPr lang="en-US" altLang="zh-TW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ON DELETE CASCADE</a:t>
          </a:r>
          <a:endParaRPr lang="en-US" altLang="zh-TW" sz="20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CECB305A-50E0-4708-B8E1-2569A70D7EBB}" type="parTrans" cxnId="{4721FB41-8E43-4428-BCED-3EE69D290117}">
      <dgm:prSet/>
      <dgm:spPr/>
      <dgm:t>
        <a:bodyPr/>
        <a:lstStyle/>
        <a:p>
          <a:endParaRPr lang="zh-TW" altLang="en-US" sz="3200" b="1"/>
        </a:p>
      </dgm:t>
    </dgm:pt>
    <dgm:pt modelId="{DBD8CBEA-8FDC-49B0-B2AF-87F376829FAB}" type="sibTrans" cxnId="{4721FB41-8E43-4428-BCED-3EE69D290117}">
      <dgm:prSet/>
      <dgm:spPr/>
      <dgm:t>
        <a:bodyPr/>
        <a:lstStyle/>
        <a:p>
          <a:endParaRPr lang="zh-TW" altLang="en-US" sz="3200" b="1"/>
        </a:p>
      </dgm:t>
    </dgm:pt>
    <dgm:pt modelId="{8EC7ECAB-BA3E-41C9-BDDE-EC4FA95AF4AB}">
      <dgm:prSet custT="1"/>
      <dgm:spPr>
        <a:solidFill>
          <a:srgbClr val="C00000"/>
        </a:solidFill>
      </dgm:spPr>
      <dgm:t>
        <a:bodyPr/>
        <a:lstStyle/>
        <a:p>
          <a:r>
            <a:rPr lang="en-US" altLang="zh-TW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ON UPDATE RESTRICT </a:t>
          </a:r>
          <a:r>
            <a:rPr lang="zh-TW" altLang="en-US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492B9E55-D211-40F8-9EBA-F145B420491A}" type="parTrans" cxnId="{6570A805-D896-4954-B072-C67515651F06}">
      <dgm:prSet/>
      <dgm:spPr/>
      <dgm:t>
        <a:bodyPr/>
        <a:lstStyle/>
        <a:p>
          <a:endParaRPr lang="zh-TW" altLang="en-US" sz="3200" b="1"/>
        </a:p>
      </dgm:t>
    </dgm:pt>
    <dgm:pt modelId="{92F0B18C-9526-45BD-9E3C-B75C0859834D}" type="sibTrans" cxnId="{6570A805-D896-4954-B072-C67515651F06}">
      <dgm:prSet/>
      <dgm:spPr/>
      <dgm:t>
        <a:bodyPr/>
        <a:lstStyle/>
        <a:p>
          <a:endParaRPr lang="zh-TW" altLang="en-US" sz="3200" b="1"/>
        </a:p>
      </dgm:t>
    </dgm:pt>
    <dgm:pt modelId="{473F853C-80C8-47FD-BB32-8DFDF3C432F0}">
      <dgm:prSet custT="1"/>
      <dgm:spPr>
        <a:solidFill>
          <a:srgbClr val="C00000"/>
        </a:solidFill>
      </dgm:spPr>
      <dgm:t>
        <a:bodyPr/>
        <a:lstStyle/>
        <a:p>
          <a:r>
            <a:rPr lang="en-US" altLang="zh-TW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ON UPDATE CASCADE</a:t>
          </a:r>
          <a:endParaRPr lang="en-US" altLang="zh-TW" sz="20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0F720A59-84A1-4532-ABBA-16EE3FDCFF51}" type="parTrans" cxnId="{095EFF49-34DC-4717-ADB3-67A415FC83A5}">
      <dgm:prSet/>
      <dgm:spPr/>
      <dgm:t>
        <a:bodyPr/>
        <a:lstStyle/>
        <a:p>
          <a:endParaRPr lang="zh-TW" altLang="en-US" sz="3200" b="1"/>
        </a:p>
      </dgm:t>
    </dgm:pt>
    <dgm:pt modelId="{AB05BC4A-CF73-4E40-899A-E3B87A303E21}" type="sibTrans" cxnId="{095EFF49-34DC-4717-ADB3-67A415FC83A5}">
      <dgm:prSet/>
      <dgm:spPr/>
      <dgm:t>
        <a:bodyPr/>
        <a:lstStyle/>
        <a:p>
          <a:endParaRPr lang="zh-TW" altLang="en-US" sz="3200" b="1"/>
        </a:p>
      </dgm:t>
    </dgm:pt>
    <dgm:pt modelId="{5AAF0C6A-7E70-4B17-A85E-74A9494CC8D3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一筆記錄只有沒被參考時才可被刪除</a:t>
          </a:r>
          <a:endParaRPr lang="zh-TW" altLang="en-US" sz="2400" b="1" dirty="0"/>
        </a:p>
      </dgm:t>
    </dgm:pt>
    <dgm:pt modelId="{F8F05ED9-A85B-4871-84BB-F1355EC519D8}" type="parTrans" cxnId="{E73C26D7-CF27-40D8-87B5-DEA69CFA8DBF}">
      <dgm:prSet/>
      <dgm:spPr/>
      <dgm:t>
        <a:bodyPr/>
        <a:lstStyle/>
        <a:p>
          <a:endParaRPr lang="zh-TW" altLang="en-US" sz="3200" b="1"/>
        </a:p>
      </dgm:t>
    </dgm:pt>
    <dgm:pt modelId="{D381E449-F83E-4B38-BC03-F00949844A84}" type="sibTrans" cxnId="{E73C26D7-CF27-40D8-87B5-DEA69CFA8DBF}">
      <dgm:prSet/>
      <dgm:spPr/>
      <dgm:t>
        <a:bodyPr/>
        <a:lstStyle/>
        <a:p>
          <a:endParaRPr lang="zh-TW" altLang="en-US" sz="3200" b="1"/>
        </a:p>
      </dgm:t>
    </dgm:pt>
    <dgm:pt modelId="{920487A9-6512-4113-97F9-C1E56C4EB5FF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一筆記錄被刪除時，所有參考它的外部鍵值全部變成空值</a:t>
          </a:r>
        </a:p>
      </dgm:t>
    </dgm:pt>
    <dgm:pt modelId="{76739D5A-458D-4F9F-B76B-59CDF46BA723}" type="parTrans" cxnId="{20B4B9C9-8EB7-41D8-9814-BCC064F51BB7}">
      <dgm:prSet/>
      <dgm:spPr/>
      <dgm:t>
        <a:bodyPr/>
        <a:lstStyle/>
        <a:p>
          <a:endParaRPr lang="zh-TW" altLang="en-US" sz="3200" b="1"/>
        </a:p>
      </dgm:t>
    </dgm:pt>
    <dgm:pt modelId="{B43A9892-A9DD-46EC-97E6-1813D8C9D6F8}" type="sibTrans" cxnId="{20B4B9C9-8EB7-41D8-9814-BCC064F51BB7}">
      <dgm:prSet/>
      <dgm:spPr/>
      <dgm:t>
        <a:bodyPr/>
        <a:lstStyle/>
        <a:p>
          <a:endParaRPr lang="zh-TW" altLang="en-US" sz="3200" b="1"/>
        </a:p>
      </dgm:t>
    </dgm:pt>
    <dgm:pt modelId="{AABB7B56-69DC-47AD-B081-6B3B9C623264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一筆記錄被刪除時，所有參考它的外部鍵值全部變成預設值</a:t>
          </a:r>
        </a:p>
      </dgm:t>
    </dgm:pt>
    <dgm:pt modelId="{CABB2DA4-D76B-4232-BEA6-477EA7ACE0F5}" type="parTrans" cxnId="{5B11FE25-30E8-44B5-8093-C2E486939DB6}">
      <dgm:prSet/>
      <dgm:spPr/>
      <dgm:t>
        <a:bodyPr/>
        <a:lstStyle/>
        <a:p>
          <a:endParaRPr lang="zh-TW" altLang="en-US" sz="3200" b="1"/>
        </a:p>
      </dgm:t>
    </dgm:pt>
    <dgm:pt modelId="{1EAA7D7F-C808-4BD3-9EDF-441042E54534}" type="sibTrans" cxnId="{5B11FE25-30E8-44B5-8093-C2E486939DB6}">
      <dgm:prSet/>
      <dgm:spPr/>
      <dgm:t>
        <a:bodyPr/>
        <a:lstStyle/>
        <a:p>
          <a:endParaRPr lang="zh-TW" altLang="en-US" sz="3200" b="1"/>
        </a:p>
      </dgm:t>
    </dgm:pt>
    <dgm:pt modelId="{AB5973DC-8174-4516-9D01-B8BD10277204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一筆記錄被刪除時，所有參考它的記錄全部跟著被刪除</a:t>
          </a:r>
        </a:p>
      </dgm:t>
    </dgm:pt>
    <dgm:pt modelId="{35DEB661-2F8F-49EC-A5DA-3D038470144D}" type="parTrans" cxnId="{D5983CD3-E171-4FC4-9C99-125F58FD77ED}">
      <dgm:prSet/>
      <dgm:spPr/>
      <dgm:t>
        <a:bodyPr/>
        <a:lstStyle/>
        <a:p>
          <a:endParaRPr lang="zh-TW" altLang="en-US" sz="3200" b="1"/>
        </a:p>
      </dgm:t>
    </dgm:pt>
    <dgm:pt modelId="{76855C3A-93A9-4096-B779-A7573D62F365}" type="sibTrans" cxnId="{D5983CD3-E171-4FC4-9C99-125F58FD77ED}">
      <dgm:prSet/>
      <dgm:spPr/>
      <dgm:t>
        <a:bodyPr/>
        <a:lstStyle/>
        <a:p>
          <a:endParaRPr lang="zh-TW" altLang="en-US" sz="3200" b="1"/>
        </a:p>
      </dgm:t>
    </dgm:pt>
    <dgm:pt modelId="{6C5C7C1D-F02B-4F84-8C2E-3638E2997836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一筆記錄的主鍵值只有沒被參考時才可被修改</a:t>
          </a:r>
        </a:p>
      </dgm:t>
    </dgm:pt>
    <dgm:pt modelId="{283D4555-4D12-444D-86EC-B01DFAE4FF9B}" type="parTrans" cxnId="{D73B9A96-1CA6-4192-A824-6910382E3A67}">
      <dgm:prSet/>
      <dgm:spPr/>
      <dgm:t>
        <a:bodyPr/>
        <a:lstStyle/>
        <a:p>
          <a:endParaRPr lang="zh-TW" altLang="en-US" sz="3200" b="1"/>
        </a:p>
      </dgm:t>
    </dgm:pt>
    <dgm:pt modelId="{2BE46BEC-F004-47EE-A861-6967FFD71A96}" type="sibTrans" cxnId="{D73B9A96-1CA6-4192-A824-6910382E3A67}">
      <dgm:prSet/>
      <dgm:spPr/>
      <dgm:t>
        <a:bodyPr/>
        <a:lstStyle/>
        <a:p>
          <a:endParaRPr lang="zh-TW" altLang="en-US" sz="3200" b="1"/>
        </a:p>
      </dgm:t>
    </dgm:pt>
    <dgm:pt modelId="{26253829-850B-4A0B-93CA-7EDA9AB09EBE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一筆記錄的主鍵值被修改時，所有參考它的外部鍵值全部跟著修改</a:t>
          </a:r>
        </a:p>
      </dgm:t>
    </dgm:pt>
    <dgm:pt modelId="{8FBA7CEF-38A9-4BB6-9946-47DBA7DCA967}" type="parTrans" cxnId="{9615482A-2CD5-4763-8944-7EA8AE5F4CFF}">
      <dgm:prSet/>
      <dgm:spPr/>
      <dgm:t>
        <a:bodyPr/>
        <a:lstStyle/>
        <a:p>
          <a:endParaRPr lang="zh-TW" altLang="en-US" sz="3200" b="1"/>
        </a:p>
      </dgm:t>
    </dgm:pt>
    <dgm:pt modelId="{F387FF21-07AE-45D8-AA8E-54F204556746}" type="sibTrans" cxnId="{9615482A-2CD5-4763-8944-7EA8AE5F4CFF}">
      <dgm:prSet/>
      <dgm:spPr/>
      <dgm:t>
        <a:bodyPr/>
        <a:lstStyle/>
        <a:p>
          <a:endParaRPr lang="zh-TW" altLang="en-US" sz="3200" b="1"/>
        </a:p>
      </dgm:t>
    </dgm:pt>
    <dgm:pt modelId="{093A6613-F039-4145-BFED-377B264194C7}" type="pres">
      <dgm:prSet presAssocID="{4D8B2E93-DED8-4568-AC93-E1B7FFDDE1B8}" presName="linear" presStyleCnt="0">
        <dgm:presLayoutVars>
          <dgm:animLvl val="lvl"/>
          <dgm:resizeHandles val="exact"/>
        </dgm:presLayoutVars>
      </dgm:prSet>
      <dgm:spPr/>
    </dgm:pt>
    <dgm:pt modelId="{4BA05816-B8A5-445C-9E3F-79CD3FBC2293}" type="pres">
      <dgm:prSet presAssocID="{3095D66E-AC8D-4446-9662-EB5BDB2F0CE9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F0C1FFBB-2254-4C18-87B0-8408FBFB934E}" type="pres">
      <dgm:prSet presAssocID="{3095D66E-AC8D-4446-9662-EB5BDB2F0CE9}" presName="childText" presStyleLbl="revTx" presStyleIdx="0" presStyleCnt="6">
        <dgm:presLayoutVars>
          <dgm:bulletEnabled val="1"/>
        </dgm:presLayoutVars>
      </dgm:prSet>
      <dgm:spPr/>
    </dgm:pt>
    <dgm:pt modelId="{F9A8CBA1-92DD-435E-8557-1B58045EE494}" type="pres">
      <dgm:prSet presAssocID="{86867B40-0E25-47D6-ACC1-B142F1E02924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B2AA7C9-C237-4C8D-82E4-E35FA15ABF76}" type="pres">
      <dgm:prSet presAssocID="{86867B40-0E25-47D6-ACC1-B142F1E02924}" presName="childText" presStyleLbl="revTx" presStyleIdx="1" presStyleCnt="6">
        <dgm:presLayoutVars>
          <dgm:bulletEnabled val="1"/>
        </dgm:presLayoutVars>
      </dgm:prSet>
      <dgm:spPr/>
    </dgm:pt>
    <dgm:pt modelId="{70ECCB4C-566B-497C-8E54-E673FC3DA9FB}" type="pres">
      <dgm:prSet presAssocID="{C272A2C9-07AB-49CA-B1BC-F23588CB839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2FD07959-5F3D-4ABC-B27A-8814101C84F0}" type="pres">
      <dgm:prSet presAssocID="{C272A2C9-07AB-49CA-B1BC-F23588CB8399}" presName="childText" presStyleLbl="revTx" presStyleIdx="2" presStyleCnt="6">
        <dgm:presLayoutVars>
          <dgm:bulletEnabled val="1"/>
        </dgm:presLayoutVars>
      </dgm:prSet>
      <dgm:spPr/>
    </dgm:pt>
    <dgm:pt modelId="{D843F524-6D7B-45E7-9E40-E015988C8236}" type="pres">
      <dgm:prSet presAssocID="{35F724A0-A988-4FCA-922D-F01F69B1EB30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3351FB4B-47AD-4B78-B839-8924BEC4B72F}" type="pres">
      <dgm:prSet presAssocID="{35F724A0-A988-4FCA-922D-F01F69B1EB30}" presName="childText" presStyleLbl="revTx" presStyleIdx="3" presStyleCnt="6">
        <dgm:presLayoutVars>
          <dgm:bulletEnabled val="1"/>
        </dgm:presLayoutVars>
      </dgm:prSet>
      <dgm:spPr/>
    </dgm:pt>
    <dgm:pt modelId="{15CC1361-5B2C-473B-8092-769C61FD8882}" type="pres">
      <dgm:prSet presAssocID="{8EC7ECAB-BA3E-41C9-BDDE-EC4FA95AF4AB}" presName="parentText" presStyleLbl="node1" presStyleIdx="4" presStyleCnt="6" custLinFactNeighborX="-467" custLinFactNeighborY="22390">
        <dgm:presLayoutVars>
          <dgm:chMax val="0"/>
          <dgm:bulletEnabled val="1"/>
        </dgm:presLayoutVars>
      </dgm:prSet>
      <dgm:spPr/>
    </dgm:pt>
    <dgm:pt modelId="{E3554C6D-6D5B-4B34-BB52-F2095C855554}" type="pres">
      <dgm:prSet presAssocID="{8EC7ECAB-BA3E-41C9-BDDE-EC4FA95AF4AB}" presName="childText" presStyleLbl="revTx" presStyleIdx="4" presStyleCnt="6">
        <dgm:presLayoutVars>
          <dgm:bulletEnabled val="1"/>
        </dgm:presLayoutVars>
      </dgm:prSet>
      <dgm:spPr/>
    </dgm:pt>
    <dgm:pt modelId="{4439FC13-B58E-45C3-A9D5-155BCFC75FD8}" type="pres">
      <dgm:prSet presAssocID="{473F853C-80C8-47FD-BB32-8DFDF3C432F0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58B6247F-A8C4-40AE-8189-6301C43CA780}" type="pres">
      <dgm:prSet presAssocID="{473F853C-80C8-47FD-BB32-8DFDF3C432F0}" presName="childText" presStyleLbl="revTx" presStyleIdx="5" presStyleCnt="6">
        <dgm:presLayoutVars>
          <dgm:bulletEnabled val="1"/>
        </dgm:presLayoutVars>
      </dgm:prSet>
      <dgm:spPr/>
    </dgm:pt>
  </dgm:ptLst>
  <dgm:cxnLst>
    <dgm:cxn modelId="{6570A805-D896-4954-B072-C67515651F06}" srcId="{4D8B2E93-DED8-4568-AC93-E1B7FFDDE1B8}" destId="{8EC7ECAB-BA3E-41C9-BDDE-EC4FA95AF4AB}" srcOrd="4" destOrd="0" parTransId="{492B9E55-D211-40F8-9EBA-F145B420491A}" sibTransId="{92F0B18C-9526-45BD-9E3C-B75C0859834D}"/>
    <dgm:cxn modelId="{82CA3F13-B8E0-4487-AE99-9343F1AFE352}" type="presOf" srcId="{26253829-850B-4A0B-93CA-7EDA9AB09EBE}" destId="{58B6247F-A8C4-40AE-8189-6301C43CA780}" srcOrd="0" destOrd="0" presId="urn:microsoft.com/office/officeart/2005/8/layout/vList2"/>
    <dgm:cxn modelId="{8C530D19-CCB1-4106-9E5D-BBD341082225}" type="presOf" srcId="{4D8B2E93-DED8-4568-AC93-E1B7FFDDE1B8}" destId="{093A6613-F039-4145-BFED-377B264194C7}" srcOrd="0" destOrd="0" presId="urn:microsoft.com/office/officeart/2005/8/layout/vList2"/>
    <dgm:cxn modelId="{5B11FE25-30E8-44B5-8093-C2E486939DB6}" srcId="{C272A2C9-07AB-49CA-B1BC-F23588CB8399}" destId="{AABB7B56-69DC-47AD-B081-6B3B9C623264}" srcOrd="0" destOrd="0" parTransId="{CABB2DA4-D76B-4232-BEA6-477EA7ACE0F5}" sibTransId="{1EAA7D7F-C808-4BD3-9EDF-441042E54534}"/>
    <dgm:cxn modelId="{6AE94128-F7A6-481C-8DFB-8FFBA27F88AD}" type="presOf" srcId="{AB5973DC-8174-4516-9D01-B8BD10277204}" destId="{3351FB4B-47AD-4B78-B839-8924BEC4B72F}" srcOrd="0" destOrd="0" presId="urn:microsoft.com/office/officeart/2005/8/layout/vList2"/>
    <dgm:cxn modelId="{9615482A-2CD5-4763-8944-7EA8AE5F4CFF}" srcId="{473F853C-80C8-47FD-BB32-8DFDF3C432F0}" destId="{26253829-850B-4A0B-93CA-7EDA9AB09EBE}" srcOrd="0" destOrd="0" parTransId="{8FBA7CEF-38A9-4BB6-9946-47DBA7DCA967}" sibTransId="{F387FF21-07AE-45D8-AA8E-54F204556746}"/>
    <dgm:cxn modelId="{4721FB41-8E43-4428-BCED-3EE69D290117}" srcId="{4D8B2E93-DED8-4568-AC93-E1B7FFDDE1B8}" destId="{35F724A0-A988-4FCA-922D-F01F69B1EB30}" srcOrd="3" destOrd="0" parTransId="{CECB305A-50E0-4708-B8E1-2569A70D7EBB}" sibTransId="{DBD8CBEA-8FDC-49B0-B2AF-87F376829FAB}"/>
    <dgm:cxn modelId="{B1C56268-C149-47F2-B70F-20E534875751}" srcId="{4D8B2E93-DED8-4568-AC93-E1B7FFDDE1B8}" destId="{C272A2C9-07AB-49CA-B1BC-F23588CB8399}" srcOrd="2" destOrd="0" parTransId="{FF461AB0-B521-40A8-96F2-FBA7F88D57D2}" sibTransId="{F6E35AB2-D27D-4B03-80E1-8DE0D0D4376D}"/>
    <dgm:cxn modelId="{095EFF49-34DC-4717-ADB3-67A415FC83A5}" srcId="{4D8B2E93-DED8-4568-AC93-E1B7FFDDE1B8}" destId="{473F853C-80C8-47FD-BB32-8DFDF3C432F0}" srcOrd="5" destOrd="0" parTransId="{0F720A59-84A1-4532-ABBA-16EE3FDCFF51}" sibTransId="{AB05BC4A-CF73-4E40-899A-E3B87A303E21}"/>
    <dgm:cxn modelId="{E83C204B-6180-4CF2-AF30-E7A9793442C0}" type="presOf" srcId="{920487A9-6512-4113-97F9-C1E56C4EB5FF}" destId="{0B2AA7C9-C237-4C8D-82E4-E35FA15ABF76}" srcOrd="0" destOrd="0" presId="urn:microsoft.com/office/officeart/2005/8/layout/vList2"/>
    <dgm:cxn modelId="{B037DF86-2CEE-412D-9456-F9931E110338}" type="presOf" srcId="{C272A2C9-07AB-49CA-B1BC-F23588CB8399}" destId="{70ECCB4C-566B-497C-8E54-E673FC3DA9FB}" srcOrd="0" destOrd="0" presId="urn:microsoft.com/office/officeart/2005/8/layout/vList2"/>
    <dgm:cxn modelId="{D73B9A96-1CA6-4192-A824-6910382E3A67}" srcId="{8EC7ECAB-BA3E-41C9-BDDE-EC4FA95AF4AB}" destId="{6C5C7C1D-F02B-4F84-8C2E-3638E2997836}" srcOrd="0" destOrd="0" parTransId="{283D4555-4D12-444D-86EC-B01DFAE4FF9B}" sibTransId="{2BE46BEC-F004-47EE-A861-6967FFD71A96}"/>
    <dgm:cxn modelId="{8E0BB897-A05E-4EE7-A1F6-C06D7E802B81}" type="presOf" srcId="{AABB7B56-69DC-47AD-B081-6B3B9C623264}" destId="{2FD07959-5F3D-4ABC-B27A-8814101C84F0}" srcOrd="0" destOrd="0" presId="urn:microsoft.com/office/officeart/2005/8/layout/vList2"/>
    <dgm:cxn modelId="{E6B1A8A7-0AC6-439B-8D00-72C8EE503E9F}" type="presOf" srcId="{35F724A0-A988-4FCA-922D-F01F69B1EB30}" destId="{D843F524-6D7B-45E7-9E40-E015988C8236}" srcOrd="0" destOrd="0" presId="urn:microsoft.com/office/officeart/2005/8/layout/vList2"/>
    <dgm:cxn modelId="{811556AD-7BCA-449B-9B6E-DBDF7566316C}" type="presOf" srcId="{8EC7ECAB-BA3E-41C9-BDDE-EC4FA95AF4AB}" destId="{15CC1361-5B2C-473B-8092-769C61FD8882}" srcOrd="0" destOrd="0" presId="urn:microsoft.com/office/officeart/2005/8/layout/vList2"/>
    <dgm:cxn modelId="{2EB493AD-DD73-4C3F-9C19-01623CC7B16E}" type="presOf" srcId="{473F853C-80C8-47FD-BB32-8DFDF3C432F0}" destId="{4439FC13-B58E-45C3-A9D5-155BCFC75FD8}" srcOrd="0" destOrd="0" presId="urn:microsoft.com/office/officeart/2005/8/layout/vList2"/>
    <dgm:cxn modelId="{85983AB7-7BA2-43A7-909C-E9FB55B7AA7A}" srcId="{4D8B2E93-DED8-4568-AC93-E1B7FFDDE1B8}" destId="{3095D66E-AC8D-4446-9662-EB5BDB2F0CE9}" srcOrd="0" destOrd="0" parTransId="{BE0EAC5E-CBAB-4267-9A11-5986D99EF96B}" sibTransId="{5264CCC8-5945-4051-951C-8083A359C961}"/>
    <dgm:cxn modelId="{3965FAC3-9722-4FC7-8331-B6FA3D058EF4}" type="presOf" srcId="{6C5C7C1D-F02B-4F84-8C2E-3638E2997836}" destId="{E3554C6D-6D5B-4B34-BB52-F2095C855554}" srcOrd="0" destOrd="0" presId="urn:microsoft.com/office/officeart/2005/8/layout/vList2"/>
    <dgm:cxn modelId="{20B4B9C9-8EB7-41D8-9814-BCC064F51BB7}" srcId="{86867B40-0E25-47D6-ACC1-B142F1E02924}" destId="{920487A9-6512-4113-97F9-C1E56C4EB5FF}" srcOrd="0" destOrd="0" parTransId="{76739D5A-458D-4F9F-B76B-59CDF46BA723}" sibTransId="{B43A9892-A9DD-46EC-97E6-1813D8C9D6F8}"/>
    <dgm:cxn modelId="{D5983CD3-E171-4FC4-9C99-125F58FD77ED}" srcId="{35F724A0-A988-4FCA-922D-F01F69B1EB30}" destId="{AB5973DC-8174-4516-9D01-B8BD10277204}" srcOrd="0" destOrd="0" parTransId="{35DEB661-2F8F-49EC-A5DA-3D038470144D}" sibTransId="{76855C3A-93A9-4096-B779-A7573D62F365}"/>
    <dgm:cxn modelId="{E73C26D7-CF27-40D8-87B5-DEA69CFA8DBF}" srcId="{3095D66E-AC8D-4446-9662-EB5BDB2F0CE9}" destId="{5AAF0C6A-7E70-4B17-A85E-74A9494CC8D3}" srcOrd="0" destOrd="0" parTransId="{F8F05ED9-A85B-4871-84BB-F1355EC519D8}" sibTransId="{D381E449-F83E-4B38-BC03-F00949844A84}"/>
    <dgm:cxn modelId="{7F43F5D7-D577-47B0-9CB9-6FADB7AB3E6B}" srcId="{4D8B2E93-DED8-4568-AC93-E1B7FFDDE1B8}" destId="{86867B40-0E25-47D6-ACC1-B142F1E02924}" srcOrd="1" destOrd="0" parTransId="{1C650760-5988-44F6-AE63-46E55DA2D58A}" sibTransId="{F24F8D7B-ED0D-4077-8212-136FA25CCC6D}"/>
    <dgm:cxn modelId="{745BA2E6-BD40-430F-9DCD-92FB9D2D6225}" type="presOf" srcId="{86867B40-0E25-47D6-ACC1-B142F1E02924}" destId="{F9A8CBA1-92DD-435E-8557-1B58045EE494}" srcOrd="0" destOrd="0" presId="urn:microsoft.com/office/officeart/2005/8/layout/vList2"/>
    <dgm:cxn modelId="{BB75E6ED-D75B-4A96-BBB4-B07AEEA3E856}" type="presOf" srcId="{5AAF0C6A-7E70-4B17-A85E-74A9494CC8D3}" destId="{F0C1FFBB-2254-4C18-87B0-8408FBFB934E}" srcOrd="0" destOrd="0" presId="urn:microsoft.com/office/officeart/2005/8/layout/vList2"/>
    <dgm:cxn modelId="{76A20BF3-8A04-4C2D-AA80-1B9B4D7C95A5}" type="presOf" srcId="{3095D66E-AC8D-4446-9662-EB5BDB2F0CE9}" destId="{4BA05816-B8A5-445C-9E3F-79CD3FBC2293}" srcOrd="0" destOrd="0" presId="urn:microsoft.com/office/officeart/2005/8/layout/vList2"/>
    <dgm:cxn modelId="{D1FE402B-F423-40F5-9CAB-CA716C93AC2B}" type="presParOf" srcId="{093A6613-F039-4145-BFED-377B264194C7}" destId="{4BA05816-B8A5-445C-9E3F-79CD3FBC2293}" srcOrd="0" destOrd="0" presId="urn:microsoft.com/office/officeart/2005/8/layout/vList2"/>
    <dgm:cxn modelId="{7DFC52CF-D69D-43F8-A5DA-41683B6299A8}" type="presParOf" srcId="{093A6613-F039-4145-BFED-377B264194C7}" destId="{F0C1FFBB-2254-4C18-87B0-8408FBFB934E}" srcOrd="1" destOrd="0" presId="urn:microsoft.com/office/officeart/2005/8/layout/vList2"/>
    <dgm:cxn modelId="{86ED4238-D47F-4821-9218-34AEC5AE84B8}" type="presParOf" srcId="{093A6613-F039-4145-BFED-377B264194C7}" destId="{F9A8CBA1-92DD-435E-8557-1B58045EE494}" srcOrd="2" destOrd="0" presId="urn:microsoft.com/office/officeart/2005/8/layout/vList2"/>
    <dgm:cxn modelId="{0E2A23F1-3AFF-470C-9811-3C50BBBD637E}" type="presParOf" srcId="{093A6613-F039-4145-BFED-377B264194C7}" destId="{0B2AA7C9-C237-4C8D-82E4-E35FA15ABF76}" srcOrd="3" destOrd="0" presId="urn:microsoft.com/office/officeart/2005/8/layout/vList2"/>
    <dgm:cxn modelId="{A5F695C4-E352-4C4E-9A53-228DF2ADAE4B}" type="presParOf" srcId="{093A6613-F039-4145-BFED-377B264194C7}" destId="{70ECCB4C-566B-497C-8E54-E673FC3DA9FB}" srcOrd="4" destOrd="0" presId="urn:microsoft.com/office/officeart/2005/8/layout/vList2"/>
    <dgm:cxn modelId="{3D96E2A7-1B4C-4CE9-ABAB-313F22AD65D4}" type="presParOf" srcId="{093A6613-F039-4145-BFED-377B264194C7}" destId="{2FD07959-5F3D-4ABC-B27A-8814101C84F0}" srcOrd="5" destOrd="0" presId="urn:microsoft.com/office/officeart/2005/8/layout/vList2"/>
    <dgm:cxn modelId="{79198BF1-F1F1-4C49-B345-C2B1D8602646}" type="presParOf" srcId="{093A6613-F039-4145-BFED-377B264194C7}" destId="{D843F524-6D7B-45E7-9E40-E015988C8236}" srcOrd="6" destOrd="0" presId="urn:microsoft.com/office/officeart/2005/8/layout/vList2"/>
    <dgm:cxn modelId="{D4CF96FB-67DA-4833-BAD5-2D154613501B}" type="presParOf" srcId="{093A6613-F039-4145-BFED-377B264194C7}" destId="{3351FB4B-47AD-4B78-B839-8924BEC4B72F}" srcOrd="7" destOrd="0" presId="urn:microsoft.com/office/officeart/2005/8/layout/vList2"/>
    <dgm:cxn modelId="{10E1DFDE-C5A5-43E2-97FA-969A53AC8EDD}" type="presParOf" srcId="{093A6613-F039-4145-BFED-377B264194C7}" destId="{15CC1361-5B2C-473B-8092-769C61FD8882}" srcOrd="8" destOrd="0" presId="urn:microsoft.com/office/officeart/2005/8/layout/vList2"/>
    <dgm:cxn modelId="{80267EF7-0DE7-4AC6-A31A-987F2269FABA}" type="presParOf" srcId="{093A6613-F039-4145-BFED-377B264194C7}" destId="{E3554C6D-6D5B-4B34-BB52-F2095C855554}" srcOrd="9" destOrd="0" presId="urn:microsoft.com/office/officeart/2005/8/layout/vList2"/>
    <dgm:cxn modelId="{07AB624F-8341-4253-9486-A7A19B7AE40E}" type="presParOf" srcId="{093A6613-F039-4145-BFED-377B264194C7}" destId="{4439FC13-B58E-45C3-A9D5-155BCFC75FD8}" srcOrd="10" destOrd="0" presId="urn:microsoft.com/office/officeart/2005/8/layout/vList2"/>
    <dgm:cxn modelId="{E7644756-A9A1-4A84-BFC7-AE3B95133BAA}" type="presParOf" srcId="{093A6613-F039-4145-BFED-377B264194C7}" destId="{58B6247F-A8C4-40AE-8189-6301C43CA780}" srcOrd="1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A05816-B8A5-445C-9E3F-79CD3FBC2293}">
      <dsp:nvSpPr>
        <dsp:cNvPr id="0" name=""/>
        <dsp:cNvSpPr/>
      </dsp:nvSpPr>
      <dsp:spPr>
        <a:xfrm>
          <a:off x="0" y="90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RESTRICT </a:t>
          </a:r>
          <a:r>
            <a:rPr lang="zh-TW" altLang="en-US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kern="1200" dirty="0"/>
        </a:p>
      </dsp:txBody>
      <dsp:txXfrm>
        <a:off x="22762" y="23670"/>
        <a:ext cx="10470076" cy="420762"/>
      </dsp:txXfrm>
    </dsp:sp>
    <dsp:sp modelId="{F0C1FFBB-2254-4C18-87B0-8408FBFB934E}">
      <dsp:nvSpPr>
        <dsp:cNvPr id="0" name=""/>
        <dsp:cNvSpPr/>
      </dsp:nvSpPr>
      <dsp:spPr>
        <a:xfrm>
          <a:off x="0" y="46719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一筆記錄只有沒被參考時才可被刪除</a:t>
          </a:r>
          <a:endParaRPr lang="zh-TW" altLang="en-US" sz="2400" b="1" kern="1200" dirty="0"/>
        </a:p>
      </dsp:txBody>
      <dsp:txXfrm>
        <a:off x="0" y="467194"/>
        <a:ext cx="10515600" cy="412483"/>
      </dsp:txXfrm>
    </dsp:sp>
    <dsp:sp modelId="{F9A8CBA1-92DD-435E-8557-1B58045EE494}">
      <dsp:nvSpPr>
        <dsp:cNvPr id="0" name=""/>
        <dsp:cNvSpPr/>
      </dsp:nvSpPr>
      <dsp:spPr>
        <a:xfrm>
          <a:off x="0" y="87967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NULL</a:t>
          </a:r>
          <a:endParaRPr lang="zh-TW" altLang="en-US" sz="2000" b="1" kern="1200" dirty="0"/>
        </a:p>
      </dsp:txBody>
      <dsp:txXfrm>
        <a:off x="22762" y="902440"/>
        <a:ext cx="10470076" cy="420762"/>
      </dsp:txXfrm>
    </dsp:sp>
    <dsp:sp modelId="{0B2AA7C9-C237-4C8D-82E4-E35FA15ABF76}">
      <dsp:nvSpPr>
        <dsp:cNvPr id="0" name=""/>
        <dsp:cNvSpPr/>
      </dsp:nvSpPr>
      <dsp:spPr>
        <a:xfrm>
          <a:off x="0" y="134596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一筆記錄被刪除時，所有參考它的外部鍵值全部變成空值</a:t>
          </a:r>
        </a:p>
      </dsp:txBody>
      <dsp:txXfrm>
        <a:off x="0" y="1345964"/>
        <a:ext cx="10515600" cy="412483"/>
      </dsp:txXfrm>
    </dsp:sp>
    <dsp:sp modelId="{70ECCB4C-566B-497C-8E54-E673FC3DA9FB}">
      <dsp:nvSpPr>
        <dsp:cNvPr id="0" name=""/>
        <dsp:cNvSpPr/>
      </dsp:nvSpPr>
      <dsp:spPr>
        <a:xfrm>
          <a:off x="0" y="175844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DEFAULT</a:t>
          </a:r>
          <a:endParaRPr lang="zh-TW" altLang="en-US" sz="2000" b="1" kern="1200" dirty="0"/>
        </a:p>
      </dsp:txBody>
      <dsp:txXfrm>
        <a:off x="22762" y="1781210"/>
        <a:ext cx="10470076" cy="420762"/>
      </dsp:txXfrm>
    </dsp:sp>
    <dsp:sp modelId="{2FD07959-5F3D-4ABC-B27A-8814101C84F0}">
      <dsp:nvSpPr>
        <dsp:cNvPr id="0" name=""/>
        <dsp:cNvSpPr/>
      </dsp:nvSpPr>
      <dsp:spPr>
        <a:xfrm>
          <a:off x="0" y="222473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一筆記錄被刪除時，所有參考它的外部鍵值全部變成預設值</a:t>
          </a:r>
        </a:p>
      </dsp:txBody>
      <dsp:txXfrm>
        <a:off x="0" y="2224734"/>
        <a:ext cx="10515600" cy="412483"/>
      </dsp:txXfrm>
    </dsp:sp>
    <dsp:sp modelId="{D843F524-6D7B-45E7-9E40-E015988C8236}">
      <dsp:nvSpPr>
        <dsp:cNvPr id="0" name=""/>
        <dsp:cNvSpPr/>
      </dsp:nvSpPr>
      <dsp:spPr>
        <a:xfrm>
          <a:off x="0" y="263721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DELETE CASCADE</a:t>
          </a:r>
          <a:endParaRPr lang="en-US" altLang="zh-TW" sz="20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2762" y="2659980"/>
        <a:ext cx="10470076" cy="420762"/>
      </dsp:txXfrm>
    </dsp:sp>
    <dsp:sp modelId="{3351FB4B-47AD-4B78-B839-8924BEC4B72F}">
      <dsp:nvSpPr>
        <dsp:cNvPr id="0" name=""/>
        <dsp:cNvSpPr/>
      </dsp:nvSpPr>
      <dsp:spPr>
        <a:xfrm>
          <a:off x="0" y="310350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一筆記錄被刪除時，所有參考它的記錄全部跟著被刪除</a:t>
          </a:r>
        </a:p>
      </dsp:txBody>
      <dsp:txXfrm>
        <a:off x="0" y="3103504"/>
        <a:ext cx="10515600" cy="412483"/>
      </dsp:txXfrm>
    </dsp:sp>
    <dsp:sp modelId="{15CC1361-5B2C-473B-8092-769C61FD8882}">
      <dsp:nvSpPr>
        <dsp:cNvPr id="0" name=""/>
        <dsp:cNvSpPr/>
      </dsp:nvSpPr>
      <dsp:spPr>
        <a:xfrm>
          <a:off x="0" y="3608343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UPDATE RESTRICT </a:t>
          </a:r>
          <a:r>
            <a:rPr lang="zh-TW" altLang="en-US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2762" y="3631105"/>
        <a:ext cx="10470076" cy="420762"/>
      </dsp:txXfrm>
    </dsp:sp>
    <dsp:sp modelId="{E3554C6D-6D5B-4B34-BB52-F2095C855554}">
      <dsp:nvSpPr>
        <dsp:cNvPr id="0" name=""/>
        <dsp:cNvSpPr/>
      </dsp:nvSpPr>
      <dsp:spPr>
        <a:xfrm>
          <a:off x="0" y="398227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一筆記錄的主鍵值只有沒被參考時才可被修改</a:t>
          </a:r>
        </a:p>
      </dsp:txBody>
      <dsp:txXfrm>
        <a:off x="0" y="3982274"/>
        <a:ext cx="10515600" cy="412483"/>
      </dsp:txXfrm>
    </dsp:sp>
    <dsp:sp modelId="{4439FC13-B58E-45C3-A9D5-155BCFC75FD8}">
      <dsp:nvSpPr>
        <dsp:cNvPr id="0" name=""/>
        <dsp:cNvSpPr/>
      </dsp:nvSpPr>
      <dsp:spPr>
        <a:xfrm>
          <a:off x="0" y="439475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UPDATE CASCADE</a:t>
          </a:r>
          <a:endParaRPr lang="en-US" altLang="zh-TW" sz="20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2762" y="4417520"/>
        <a:ext cx="10470076" cy="420762"/>
      </dsp:txXfrm>
    </dsp:sp>
    <dsp:sp modelId="{58B6247F-A8C4-40AE-8189-6301C43CA780}">
      <dsp:nvSpPr>
        <dsp:cNvPr id="0" name=""/>
        <dsp:cNvSpPr/>
      </dsp:nvSpPr>
      <dsp:spPr>
        <a:xfrm>
          <a:off x="0" y="486104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一筆記錄的主鍵值被修改時，所有參考它的外部鍵值全部跟著修改</a:t>
          </a:r>
        </a:p>
      </dsp:txBody>
      <dsp:txXfrm>
        <a:off x="0" y="4861044"/>
        <a:ext cx="10515600" cy="4124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B9D7D9-9BFB-4C98-AB72-5D51E3AE2BDC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FE9762-296E-4738-BA39-AEDA9F187EE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950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E9762-296E-4738-BA39-AEDA9F187EE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295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E9762-296E-4738-BA39-AEDA9F187EE2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4459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60E99-F636-4B8D-B23A-DE8714AC7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471E4B9-F08D-4CCD-9796-78A00230B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E1FB47-CFFA-4BE4-BC50-E71BB4CBC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73650-32AC-4133-85D1-09DDD21B2E17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7C0584-DFB6-4EF1-9862-D427D688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6E575E-C930-4ED9-90E5-0649D5FBC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6868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233C9C-2804-4145-95A5-157578F47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081"/>
            <a:ext cx="10515600" cy="9144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FEEE65-D6B3-4B64-A874-BFA7A5985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136"/>
            <a:ext cx="10515600" cy="5130827"/>
          </a:xfrm>
        </p:spPr>
        <p:txBody>
          <a:bodyPr/>
          <a:lstStyle>
            <a:lvl1pPr>
              <a:lnSpc>
                <a:spcPct val="100000"/>
              </a:lnSpc>
              <a:defRPr baseline="0"/>
            </a:lvl1pPr>
            <a:lvl2pPr>
              <a:lnSpc>
                <a:spcPct val="100000"/>
              </a:lnSpc>
              <a:defRPr baseline="0"/>
            </a:lvl2pPr>
            <a:lvl3pPr>
              <a:lnSpc>
                <a:spcPct val="100000"/>
              </a:lnSpc>
              <a:defRPr baseline="0"/>
            </a:lvl3pPr>
            <a:lvl4pPr>
              <a:lnSpc>
                <a:spcPct val="100000"/>
              </a:lnSpc>
              <a:defRPr baseline="0"/>
            </a:lvl4pPr>
            <a:lvl5pPr>
              <a:lnSpc>
                <a:spcPct val="100000"/>
              </a:lnSpc>
              <a:defRPr baseline="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31541F-D331-4149-9758-041AB9B9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F586178-C3E8-4EC9-A6A5-17B855638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5E38CDA-334B-4ACE-8CF8-EA4E3B2F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4511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4634C4-E159-46A5-84B4-C42B4C5D8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343444-11ED-4E58-B3DD-246ADE226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F232F6-C5D0-46B5-AAD1-80987945E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50A14-D69C-47E4-B73A-BEC882B1760A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186851C-70B0-4F65-818A-AA8B6E81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B07B39-C0B6-4C5B-BA1D-5D3C168E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1227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F4C27F-86D8-44F2-9BC6-CDC21D39F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68763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D15951-85BA-42D1-8D3C-328CADC9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003550"/>
            <a:ext cx="5181600" cy="53528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F791F0-4010-418F-AB26-84FC02D9F5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003550"/>
            <a:ext cx="5181600" cy="53528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76F2858-538E-4A5D-89B3-BEFD1601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58618"/>
            <a:ext cx="2743200" cy="365125"/>
          </a:xfrm>
        </p:spPr>
        <p:txBody>
          <a:bodyPr/>
          <a:lstStyle/>
          <a:p>
            <a:fld id="{2492E4CA-C6AA-407C-8BE4-A34E16100C1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F700E37-E0DA-4F1D-9E82-2072F0B62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C703FA4-A36E-43A4-BE74-902F978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64634"/>
            <a:ext cx="2743200" cy="365125"/>
          </a:xfrm>
        </p:spPr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376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34CAB4-5B47-4A57-96AC-CC34F02E6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EC0670F-60B3-4F77-AF15-C9016E8C3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C5EF30-052B-438D-A9E0-3A232CC69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124C846-F581-4615-A4DF-985F301D2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CEF1B83-57B4-426B-8B39-B052ECCA75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D63B95B-4659-4A0F-82A0-D4FC5DB86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4201-AFA4-4FE2-BC67-1039693B83B3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521BD43-9E5F-47B3-8108-B7925D8B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CE17822-21A4-4100-B6AB-20CFB4DF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9280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523E95-FF34-452F-9CC2-09C082011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208"/>
            <a:ext cx="10515600" cy="84465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989F5E7-0879-4C80-9B08-B8EF2551C4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2743200" cy="365125"/>
          </a:xfrm>
        </p:spPr>
        <p:txBody>
          <a:bodyPr/>
          <a:lstStyle/>
          <a:p>
            <a:fld id="{D44D3740-1BAC-4936-BF05-C28C4848A4F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75E3F82-AC35-4E7A-9CDE-B88465309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051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D51C26D-924A-46AF-A8A8-88EA624D7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65229"/>
            <a:ext cx="2743200" cy="365125"/>
          </a:xfrm>
        </p:spPr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6895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A796BF4-430B-41E5-9747-D857A0E3A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1C8E-B24F-4E09-8F79-6AE4C5F0052F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53282C9-D368-44F3-B422-31FADBAEE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4C9F7A-137C-42EB-96BA-006211BAF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173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B17A34-43B3-45C0-A595-5897F4B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13AA89D-B05C-4BDD-8C63-D9F54FF14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288964-646B-4D88-85BC-DD8D192A9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A144084-47BB-4B47-89BB-83444D9A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4DBCD-B891-4A8C-B67B-857A7CA53762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3BE5378-0C97-48E3-A70E-3C6FBC9F9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ADEBA1-EADA-4501-A251-D5A33462E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00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F5D635-221D-440A-B46A-A1588E12E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E9543E8-A7E8-4169-A053-FD7F1107F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ED52AE8-AA6E-4423-8DFC-3C0B43E400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93BB883-9B74-4A05-8E27-550CA2290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5F2C5-13F4-47DE-9D26-0568F5CCF51A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8B3F472-BAA4-4B3D-BD72-14CB8CD95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34DF0DF-EA2C-4907-A4BB-1EB288E12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7380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994255-9076-405E-B897-E74EE43AB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A0AA030-43F2-49A7-BBD5-66A3A2C8E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07DAE0-77A3-4383-B45A-00EE4FD30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4256D-0514-45B4-88E2-75739B324D8B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0859E8E-F1C3-4050-9058-1C2874775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E6B9DB-D331-41C7-9C6E-47098F92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266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A309FDD-EA37-4D2B-9080-4D8DF6F11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DA8F67-F16F-4BAE-B250-AC4192AF6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181416A-707D-4E1B-9C2E-27A4C1019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54C7-2AC2-44BD-B6C0-5D2C3C79E527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201C8A-F8DF-4CB3-92F4-E2227BA9C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2CD7E1-D4A1-42F8-A36D-3F103095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8951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30002CF-A5CF-4332-9B3E-FCD506D80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89C90EC-E1A2-4EA4-962F-FF96CCEDA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C92E7D-B3E4-4591-8F41-A165523BC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502239-B765-4314-A16E-8CF68DDCE72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05A8D7-D550-46A2-8E78-8597A3D6D8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A07FDB-D9E9-4FDB-A984-82AEF2CEF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274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0070C0"/>
          </a:solidFill>
          <a:latin typeface="Comic Sans MS" panose="030F0702030302020204" pitchFamily="66" charset="0"/>
          <a:ea typeface="微軟正黑體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 baseline="0">
          <a:solidFill>
            <a:srgbClr val="C00000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sqlite.org/download.html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69B0CBD-7773-4F16-AA4E-8BCCCFA5A9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/>
              <a:t>SQL</a:t>
            </a:r>
            <a:r>
              <a:rPr lang="zh-TW" altLang="en-US"/>
              <a:t> </a:t>
            </a:r>
            <a:r>
              <a:rPr lang="zh-TW" altLang="en-US">
                <a:ea typeface="清松手寫體3" panose="00000500000000000000" pitchFamily="2" charset="-120"/>
              </a:rPr>
              <a:t>結構查詢語言</a:t>
            </a:r>
            <a:br>
              <a:rPr lang="en-US" altLang="zh-TW"/>
            </a:br>
            <a:r>
              <a:rPr lang="en-US" altLang="zh-TW" sz="4000"/>
              <a:t>Structure Query Language</a:t>
            </a:r>
            <a:endParaRPr lang="zh-TW" altLang="en-US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161EE96F-7C90-4CDF-86B9-DFCA4BF706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lang="zh-TW" altLang="en-US"/>
              <a:t>鍾健雄</a:t>
            </a:r>
          </a:p>
        </p:txBody>
      </p:sp>
    </p:spTree>
    <p:extLst>
      <p:ext uri="{BB962C8B-B14F-4D97-AF65-F5344CB8AC3E}">
        <p14:creationId xmlns:p14="http://schemas.microsoft.com/office/powerpoint/2010/main" val="336675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4EAFE-D6BE-45B3-BBB0-7D25FB2B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關聯式資料庫</a:t>
            </a:r>
            <a:r>
              <a:rPr lang="en-US" altLang="zh-TW"/>
              <a:t>(Relational Database)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558108-500E-4871-8329-C0168553D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/>
              <a:t>關聯式資料庫以資料表</a:t>
            </a:r>
            <a:r>
              <a:rPr lang="en-US" altLang="zh-TW"/>
              <a:t>(tables)</a:t>
            </a:r>
            <a:r>
              <a:rPr lang="zh-TW" altLang="en-US"/>
              <a:t>形式儲存資料</a:t>
            </a:r>
            <a:endParaRPr lang="en-US" altLang="zh-TW"/>
          </a:p>
          <a:p>
            <a:pPr lvl="1"/>
            <a:r>
              <a:rPr lang="en-US" altLang="zh-TW" b="1">
                <a:latin typeface="Google Sans Text"/>
              </a:rPr>
              <a:t>Column</a:t>
            </a:r>
            <a:r>
              <a:rPr lang="zh-TW" altLang="en-US" b="1">
                <a:latin typeface="Google Sans Text"/>
              </a:rPr>
              <a:t>「行」代表屬性</a:t>
            </a:r>
            <a:endParaRPr lang="en-US" altLang="zh-TW" b="1">
              <a:latin typeface="Google Sans Text"/>
            </a:endParaRPr>
          </a:p>
          <a:p>
            <a:pPr lvl="1"/>
            <a:r>
              <a:rPr lang="en-US" altLang="zh-TW" b="1">
                <a:latin typeface="Google Sans Text"/>
              </a:rPr>
              <a:t>Row</a:t>
            </a:r>
            <a:r>
              <a:rPr lang="zh-TW" altLang="en-US" b="1">
                <a:latin typeface="Google Sans Text"/>
              </a:rPr>
              <a:t>「列」代表紀錄</a:t>
            </a:r>
            <a:endParaRPr lang="en-US" altLang="zh-TW" b="1">
              <a:latin typeface="Google Sans Text"/>
            </a:endParaRPr>
          </a:p>
          <a:p>
            <a:r>
              <a:rPr lang="zh-TW" altLang="en-US"/>
              <a:t>關聯式資料庫利用資料表連結</a:t>
            </a:r>
            <a:r>
              <a:rPr lang="en-US" altLang="zh-TW"/>
              <a:t>(link)</a:t>
            </a:r>
            <a:r>
              <a:rPr lang="zh-TW" altLang="en-US"/>
              <a:t>建立資料表之間的關聯</a:t>
            </a:r>
            <a:endParaRPr lang="en-US" altLang="zh-TW"/>
          </a:p>
          <a:p>
            <a:r>
              <a:rPr lang="zh-TW" altLang="en-US"/>
              <a:t>資料庫由資料表組成，資料表的一個欄位稱為「主鍵」</a:t>
            </a:r>
            <a:r>
              <a:rPr lang="en-US" altLang="zh-TW"/>
              <a:t>(primary key)</a:t>
            </a:r>
            <a:r>
              <a:rPr lang="zh-TW" altLang="en-US"/>
              <a:t>，可以「唯一鑑別一筆資料」，另「外部鍵」</a:t>
            </a:r>
            <a:r>
              <a:rPr lang="en-US" altLang="zh-TW"/>
              <a:t>(foreign key)</a:t>
            </a:r>
            <a:r>
              <a:rPr lang="zh-TW" altLang="en-US"/>
              <a:t>，可以參考到另一資料表的主鍵</a:t>
            </a:r>
            <a:endParaRPr lang="en-US" altLang="zh-TW"/>
          </a:p>
          <a:p>
            <a:r>
              <a:rPr lang="zh-TW" altLang="en-US"/>
              <a:t>關聯式資料庫的好處「彈性」、「</a:t>
            </a:r>
            <a:r>
              <a:rPr lang="en-US" altLang="zh-TW"/>
              <a:t>ACID</a:t>
            </a:r>
            <a:r>
              <a:rPr lang="zh-TW" altLang="en-US"/>
              <a:t>合規」、「協作」、「內建安全」、「資料庫正規化」</a:t>
            </a:r>
            <a:endParaRPr lang="en-US" altLang="zh-TW"/>
          </a:p>
          <a:p>
            <a:pPr lvl="1"/>
            <a:r>
              <a:rPr lang="zh-TW" altLang="en-US" b="1"/>
              <a:t>資料與程式分離</a:t>
            </a:r>
            <a:endParaRPr lang="en-US" altLang="zh-TW" b="1"/>
          </a:p>
          <a:p>
            <a:pPr lvl="1"/>
            <a:r>
              <a:rPr lang="en-US" altLang="zh-TW" b="1" i="0">
                <a:effectLst/>
                <a:latin typeface="Google Sans Text"/>
              </a:rPr>
              <a:t>ACID</a:t>
            </a:r>
            <a:r>
              <a:rPr lang="zh-TW" altLang="en-US" b="1" i="0">
                <a:effectLst/>
                <a:latin typeface="Google Sans Text"/>
              </a:rPr>
              <a:t>確保資料正確性</a:t>
            </a:r>
            <a:r>
              <a:rPr lang="en-US" altLang="zh-TW" b="1" i="0">
                <a:effectLst/>
                <a:latin typeface="Google Sans Text"/>
              </a:rPr>
              <a:t>(</a:t>
            </a:r>
            <a:r>
              <a:rPr lang="zh-TW" altLang="en-US" b="1" i="0">
                <a:effectLst/>
                <a:latin typeface="Arial" panose="020B0604020202020204" pitchFamily="34" charset="0"/>
              </a:rPr>
              <a:t>原子性、一致姓、隔離性、持久性</a:t>
            </a:r>
            <a:r>
              <a:rPr lang="en-US" altLang="zh-TW" b="1" i="0">
                <a:effectLst/>
                <a:latin typeface="Google Sans Text"/>
              </a:rPr>
              <a:t>)</a:t>
            </a:r>
          </a:p>
          <a:p>
            <a:pPr lvl="1"/>
            <a:r>
              <a:rPr lang="zh-TW" altLang="en-US" b="1">
                <a:latin typeface="Google Sans Text"/>
              </a:rPr>
              <a:t>易用、多人共用</a:t>
            </a:r>
            <a:endParaRPr lang="en-US" altLang="zh-TW" b="1">
              <a:latin typeface="Google Sans Text"/>
            </a:endParaRPr>
          </a:p>
          <a:p>
            <a:pPr lvl="1"/>
            <a:r>
              <a:rPr lang="zh-TW" altLang="en-US" b="1">
                <a:latin typeface="Google Sans Text"/>
              </a:rPr>
              <a:t>依角色存取資料安全性</a:t>
            </a:r>
            <a:endParaRPr lang="en-US" altLang="zh-TW" b="1">
              <a:latin typeface="Google Sans Text"/>
            </a:endParaRPr>
          </a:p>
          <a:p>
            <a:pPr lvl="1"/>
            <a:r>
              <a:rPr lang="zh-TW" altLang="en-US" b="1"/>
              <a:t>資料正規化防止資料重覆及完整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C3C073-677F-4A99-A0CD-DF3886E7A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5C4C4-6B9A-44B5-A6D6-4715BEBBBFAD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AB17C0D-D36F-498A-BC32-C1BDFF0B5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9157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DC5F95-2733-47C3-9320-7C4D99B5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常見的</a:t>
            </a:r>
            <a:r>
              <a:rPr lang="zh-TW" altLang="en-US">
                <a:latin typeface="Arial" panose="020B0604020202020204" pitchFamily="34" charset="0"/>
              </a:rPr>
              <a:t>關連式資料庫管理系統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2FD705-6095-4037-959B-8810406D06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/>
              <a:t>SQLite</a:t>
            </a:r>
          </a:p>
          <a:p>
            <a:pPr lvl="1"/>
            <a:r>
              <a:rPr lang="en-US" altLang="zh-TW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SQLite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遵守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ACID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，實現大多數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SQL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標準，作為嵌入式資料庫，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應用程式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，如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網頁瀏覽器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，在本地</a:t>
            </a:r>
            <a:r>
              <a:rPr lang="en-US" altLang="zh-TW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客戶端儲存資料的常見選擇</a:t>
            </a:r>
            <a:endParaRPr lang="en-US" altLang="zh-TW" b="1"/>
          </a:p>
          <a:p>
            <a:r>
              <a:rPr lang="en-US" altLang="zh-TW"/>
              <a:t>mySQL</a:t>
            </a:r>
          </a:p>
          <a:p>
            <a:pPr lvl="1"/>
            <a:r>
              <a:rPr lang="en-US" altLang="zh-TW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過去由於效能高、成本低、可靠性好，成為最流行的開源資料庫，被廣泛地應用在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Internet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上的中小型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網站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中。</a:t>
            </a:r>
            <a:endParaRPr lang="en-US" altLang="zh-TW" b="1"/>
          </a:p>
          <a:p>
            <a:r>
              <a:rPr lang="en-US" altLang="zh-TW"/>
              <a:t>PostgreSQL</a:t>
            </a:r>
          </a:p>
          <a:p>
            <a:pPr lvl="1"/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功能</a:t>
            </a:r>
            <a:r>
              <a:rPr lang="zh-TW" altLang="en-US" b="1">
                <a:solidFill>
                  <a:srgbClr val="202122"/>
                </a:solidFill>
                <a:latin typeface="Arial" panose="020B0604020202020204" pitchFamily="34" charset="0"/>
              </a:rPr>
              <a:t>完整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且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開源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關連式資料庫管理系統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，卓越的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擴充能力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和對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SQL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標準的嚴格遵循廣受讚譽。應用範圍極廣泛，無論是單機、或應用於大規模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資料倉儲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，還是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資料湖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、並行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Web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服務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等</a:t>
            </a:r>
            <a:endParaRPr lang="en-US" altLang="zh-TW" b="1"/>
          </a:p>
          <a:p>
            <a:r>
              <a:rPr lang="en-US" altLang="zh-TW"/>
              <a:t>SQL server (</a:t>
            </a:r>
            <a:r>
              <a:rPr lang="zh-TW" altLang="en-US"/>
              <a:t>微軟</a:t>
            </a:r>
            <a:r>
              <a:rPr lang="en-US" altLang="zh-TW"/>
              <a:t>)</a:t>
            </a:r>
          </a:p>
          <a:p>
            <a:pPr lvl="1"/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由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美國微軟公司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所推出的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關聯式資料庫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解決方案</a:t>
            </a:r>
            <a:endParaRPr lang="en-US" altLang="zh-TW" b="1"/>
          </a:p>
          <a:p>
            <a:r>
              <a:rPr lang="en-US" altLang="zh-TW"/>
              <a:t>Oracle</a:t>
            </a:r>
          </a:p>
          <a:p>
            <a:pPr lvl="1"/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甲骨文公司開發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的一款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關聯式資料庫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管理系統。在資料庫市場有主要市佔率</a:t>
            </a:r>
            <a:endParaRPr lang="zh-TW" altLang="en-US" b="1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C07766-5E8F-46CD-8592-EA397547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8C31F2-FF44-456F-AEDD-D4886B230DB6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1B3AAD8-46F8-44FC-8201-D81EE56CA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00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4D167B4-509B-4D7B-AD2E-B9FC94CD9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資料庫管理系統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5EEC0D6-4B4C-4EE4-9592-56770B096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/>
              <a:t>無伺服器：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dirty="0">
                <a:solidFill>
                  <a:schemeClr val="tx1"/>
                </a:solidFill>
              </a:rPr>
              <a:t>是一個「伺服器無須運行」的資料庫，這表示</a:t>
            </a:r>
            <a:r>
              <a:rPr lang="zh-TW" altLang="en-US" u="sng" dirty="0">
                <a:solidFill>
                  <a:schemeClr val="tx1"/>
                </a:solidFill>
              </a:rPr>
              <a:t>不需要安裝額外的伺服器軟體或配置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dirty="0">
                <a:solidFill>
                  <a:schemeClr val="tx1"/>
                </a:solidFill>
              </a:rPr>
              <a:t>整個資料庫可以嵌入到應用程式中，以一個檔案的形式運行。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跨平台兼容：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u="sng" dirty="0">
                <a:solidFill>
                  <a:schemeClr val="tx1"/>
                </a:solidFill>
              </a:rPr>
              <a:t>支援多種操作系統</a:t>
            </a:r>
            <a:r>
              <a:rPr lang="zh-TW" altLang="en-US" dirty="0">
                <a:solidFill>
                  <a:schemeClr val="tx1"/>
                </a:solidFill>
              </a:rPr>
              <a:t>和語言並支援 </a:t>
            </a:r>
            <a:r>
              <a:rPr lang="en-US" altLang="zh-TW" dirty="0">
                <a:solidFill>
                  <a:schemeClr val="tx1"/>
                </a:solidFill>
              </a:rPr>
              <a:t>C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C++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Python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Java </a:t>
            </a:r>
            <a:r>
              <a:rPr lang="zh-TW" altLang="en-US" dirty="0">
                <a:solidFill>
                  <a:schemeClr val="tx1"/>
                </a:solidFill>
              </a:rPr>
              <a:t>等主流語言，使得它在多種平台上應用非常廣泛。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小巧高效：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u="sng" dirty="0">
                <a:solidFill>
                  <a:schemeClr val="tx1"/>
                </a:solidFill>
              </a:rPr>
              <a:t>佔用資源非常少</a:t>
            </a:r>
            <a:r>
              <a:rPr lang="zh-TW" altLang="en-US" dirty="0">
                <a:solidFill>
                  <a:schemeClr val="tx1"/>
                </a:solidFill>
              </a:rPr>
              <a:t>，因此非常適合資源有限的裝置。此外，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dirty="0">
                <a:solidFill>
                  <a:schemeClr val="tx1"/>
                </a:solidFill>
              </a:rPr>
              <a:t>的</a:t>
            </a:r>
            <a:r>
              <a:rPr lang="zh-TW" altLang="en-US" u="sng" dirty="0">
                <a:solidFill>
                  <a:schemeClr val="tx1"/>
                </a:solidFill>
              </a:rPr>
              <a:t>查詢速度快</a:t>
            </a:r>
            <a:r>
              <a:rPr lang="zh-TW" altLang="en-US" dirty="0">
                <a:solidFill>
                  <a:schemeClr val="tx1"/>
                </a:solidFill>
              </a:rPr>
              <a:t>，特別是針對小型或中型資料集，性能表現極佳。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支援標準 </a:t>
            </a:r>
            <a:r>
              <a:rPr lang="en-US" altLang="zh-TW" dirty="0"/>
              <a:t>SQL</a:t>
            </a:r>
            <a:r>
              <a:rPr lang="zh-TW" altLang="en-US" dirty="0"/>
              <a:t>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u="sng" dirty="0">
                <a:solidFill>
                  <a:schemeClr val="tx1"/>
                </a:solidFill>
              </a:rPr>
              <a:t>支援 </a:t>
            </a:r>
            <a:r>
              <a:rPr lang="en-US" altLang="zh-TW" u="sng" dirty="0">
                <a:solidFill>
                  <a:schemeClr val="tx1"/>
                </a:solidFill>
              </a:rPr>
              <a:t>SQL-92 </a:t>
            </a:r>
            <a:r>
              <a:rPr lang="zh-TW" altLang="en-US" u="sng" dirty="0">
                <a:solidFill>
                  <a:schemeClr val="tx1"/>
                </a:solidFill>
              </a:rPr>
              <a:t>標準</a:t>
            </a:r>
            <a:r>
              <a:rPr lang="zh-TW" altLang="en-US" dirty="0">
                <a:solidFill>
                  <a:schemeClr val="tx1"/>
                </a:solidFill>
              </a:rPr>
              <a:t>，並提供基本的 </a:t>
            </a:r>
            <a:r>
              <a:rPr lang="en-US" altLang="zh-TW" dirty="0">
                <a:solidFill>
                  <a:schemeClr val="tx1"/>
                </a:solidFill>
              </a:rPr>
              <a:t>SQL </a:t>
            </a:r>
            <a:r>
              <a:rPr lang="zh-TW" altLang="en-US" dirty="0">
                <a:solidFill>
                  <a:schemeClr val="tx1"/>
                </a:solidFill>
              </a:rPr>
              <a:t>功能如 </a:t>
            </a:r>
            <a:r>
              <a:rPr lang="en-US" altLang="zh-TW" dirty="0">
                <a:solidFill>
                  <a:schemeClr val="tx1"/>
                </a:solidFill>
              </a:rPr>
              <a:t>CREATE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INSERT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SELECT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UPDATE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DELETE </a:t>
            </a:r>
            <a:r>
              <a:rPr lang="zh-TW" altLang="en-US" dirty="0">
                <a:solidFill>
                  <a:schemeClr val="tx1"/>
                </a:solidFill>
              </a:rPr>
              <a:t>等，適合用來學習 </a:t>
            </a:r>
            <a:r>
              <a:rPr lang="en-US" altLang="zh-TW" dirty="0">
                <a:solidFill>
                  <a:schemeClr val="tx1"/>
                </a:solidFill>
              </a:rPr>
              <a:t>SQL </a:t>
            </a:r>
            <a:r>
              <a:rPr lang="zh-TW" altLang="en-US" dirty="0">
                <a:solidFill>
                  <a:schemeClr val="tx1"/>
                </a:solidFill>
              </a:rPr>
              <a:t>和進行簡單資料操作。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59ABADA-536D-4D0C-BB0E-58AFDCD01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AF8F2-56AC-48F9-A3B9-CBCABE210C91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2AFF79B-8FA5-489C-959B-0A35A7555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83A235-71CB-BBE1-79CD-67A3A019BF27}"/>
              </a:ext>
            </a:extLst>
          </p:cNvPr>
          <p:cNvSpPr txBox="1"/>
          <p:nvPr/>
        </p:nvSpPr>
        <p:spPr>
          <a:xfrm>
            <a:off x="4294394" y="6284996"/>
            <a:ext cx="40783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From </a:t>
            </a:r>
            <a:r>
              <a:rPr lang="en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DigNo</a:t>
            </a:r>
            <a:r>
              <a:rPr lang="en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 Ape </a:t>
            </a:r>
            <a:r>
              <a:rPr lang="zh-TW" altLang="en-US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數遊原人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@https://</a:t>
            </a:r>
            <a:r>
              <a:rPr lang="en-US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vocus.cc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/salon/</a:t>
            </a:r>
            <a:r>
              <a:rPr lang="en-US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DigNoApe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/about</a:t>
            </a:r>
            <a:endParaRPr lang="zh-TW" altLang="en-US" sz="1050" b="1" i="0" u="none" strike="noStrike" dirty="0">
              <a:solidFill>
                <a:schemeClr val="bg1">
                  <a:lumMod val="65000"/>
                </a:schemeClr>
              </a:solidFill>
              <a:effectLst/>
              <a:latin typeface="Noto Sans TC"/>
            </a:endParaRPr>
          </a:p>
        </p:txBody>
      </p:sp>
    </p:spTree>
    <p:extLst>
      <p:ext uri="{BB962C8B-B14F-4D97-AF65-F5344CB8AC3E}">
        <p14:creationId xmlns:p14="http://schemas.microsoft.com/office/powerpoint/2010/main" val="2224854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56575-4629-4C1E-821C-BC6A5B92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Structured Query Language (SQL)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4F1E56-AB76-4809-8B8A-C7FCBDEA3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IBM SYSTEM R (DB2)</a:t>
            </a:r>
            <a:r>
              <a:rPr lang="zh-TW" altLang="en-US" sz="2000" b="1" dirty="0">
                <a:ea typeface="微軟正黑體" panose="020B0604030504040204" pitchFamily="34" charset="-120"/>
              </a:rPr>
              <a:t>在</a:t>
            </a:r>
            <a:r>
              <a:rPr lang="en-US" altLang="zh-TW" sz="2000" b="1" dirty="0">
                <a:ea typeface="微軟正黑體" panose="020B0604030504040204" pitchFamily="34" charset="-120"/>
              </a:rPr>
              <a:t>1970</a:t>
            </a:r>
            <a:r>
              <a:rPr lang="zh-TW" altLang="en-US" sz="2000" b="1" dirty="0">
                <a:ea typeface="微軟正黑體" panose="020B0604030504040204" pitchFamily="34" charset="-120"/>
              </a:rPr>
              <a:t>年代根據關聯模式、關聯代數和關聯邏輯計算法提出 </a:t>
            </a:r>
            <a:r>
              <a:rPr lang="en-US" altLang="zh-TW" sz="2000" b="1" dirty="0">
                <a:ea typeface="微軟正黑體" panose="020B0604030504040204" pitchFamily="34" charset="-120"/>
              </a:rPr>
              <a:t>SEQUEL</a:t>
            </a:r>
            <a:r>
              <a:rPr lang="zh-TW" altLang="en-US" sz="2000" b="1" dirty="0">
                <a:ea typeface="微軟正黑體" panose="020B0604030504040204" pitchFamily="34" charset="-120"/>
              </a:rPr>
              <a:t>語言，後改名</a:t>
            </a: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  <a:r>
              <a:rPr lang="zh-TW" altLang="en-US" sz="2000" b="1" dirty="0">
                <a:ea typeface="微軟正黑體" panose="020B0604030504040204" pitchFamily="34" charset="-120"/>
              </a:rPr>
              <a:t>已成為目前資料庫管理系統之標準語言，但各家</a:t>
            </a:r>
            <a:r>
              <a:rPr lang="en-US" altLang="zh-TW" sz="2000" b="1" dirty="0">
                <a:ea typeface="微軟正黑體" panose="020B0604030504040204" pitchFamily="34" charset="-120"/>
              </a:rPr>
              <a:t>DBMS</a:t>
            </a:r>
            <a:r>
              <a:rPr lang="zh-TW" altLang="en-US" sz="2000" b="1" dirty="0">
                <a:ea typeface="微軟正黑體" panose="020B0604030504040204" pitchFamily="34" charset="-120"/>
              </a:rPr>
              <a:t>的</a:t>
            </a: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  <a:r>
              <a:rPr lang="zh-TW" altLang="en-US" sz="2000" b="1" dirty="0">
                <a:ea typeface="微軟正黑體" panose="020B0604030504040204" pitchFamily="34" charset="-120"/>
              </a:rPr>
              <a:t>語法有小差異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ANSI</a:t>
            </a:r>
            <a:r>
              <a:rPr lang="zh-TW" altLang="en-US" sz="2000" b="1" dirty="0">
                <a:ea typeface="微軟正黑體" panose="020B0604030504040204" pitchFamily="34" charset="-120"/>
              </a:rPr>
              <a:t>和</a:t>
            </a:r>
            <a:r>
              <a:rPr lang="en-US" altLang="zh-TW" sz="2000" b="1" dirty="0">
                <a:ea typeface="微軟正黑體" panose="020B0604030504040204" pitchFamily="34" charset="-120"/>
              </a:rPr>
              <a:t>ISO</a:t>
            </a:r>
            <a:r>
              <a:rPr lang="zh-TW" altLang="en-US" sz="2000" b="1" dirty="0">
                <a:ea typeface="微軟正黑體" panose="020B0604030504040204" pitchFamily="34" charset="-120"/>
              </a:rPr>
              <a:t>共同制訂資料庫電腦語言的標準， 依</a:t>
            </a:r>
            <a:r>
              <a:rPr lang="en-US" altLang="zh-TW" sz="2000" b="1" dirty="0">
                <a:ea typeface="微軟正黑體" panose="020B0604030504040204" pitchFamily="34" charset="-120"/>
              </a:rPr>
              <a:t>SEQUEL</a:t>
            </a:r>
            <a:r>
              <a:rPr lang="zh-TW" altLang="en-US" sz="2000" b="1" dirty="0">
                <a:ea typeface="微軟正黑體" panose="020B0604030504040204" pitchFamily="34" charset="-120"/>
              </a:rPr>
              <a:t>為藍本，命名為</a:t>
            </a: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SQL/86, SQL/89, SQL/92, SQL/99, SQL2003, SQL2008</a:t>
            </a: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SQL/89: </a:t>
            </a:r>
            <a:r>
              <a:rPr lang="zh-TW" altLang="en-US" b="1" dirty="0">
                <a:ea typeface="微軟正黑體" panose="020B0604030504040204" pitchFamily="34" charset="-120"/>
              </a:rPr>
              <a:t>完整限制語法</a:t>
            </a: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SQL/92: entry level</a:t>
            </a:r>
            <a:r>
              <a:rPr lang="zh-TW" altLang="en-US" b="1" dirty="0"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ea typeface="微軟正黑體" panose="020B0604030504040204" pitchFamily="34" charset="-120"/>
              </a:rPr>
              <a:t>transitional level</a:t>
            </a:r>
            <a:r>
              <a:rPr lang="zh-TW" altLang="en-US" b="1" dirty="0"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ea typeface="微軟正黑體" panose="020B0604030504040204" pitchFamily="34" charset="-120"/>
              </a:rPr>
              <a:t>intermediate level</a:t>
            </a:r>
            <a:r>
              <a:rPr lang="zh-TW" altLang="en-US" b="1" dirty="0">
                <a:ea typeface="微軟正黑體" panose="020B0604030504040204" pitchFamily="34" charset="-120"/>
              </a:rPr>
              <a:t>、和</a:t>
            </a:r>
            <a:r>
              <a:rPr lang="en-US" altLang="zh-TW" b="1" dirty="0">
                <a:ea typeface="微軟正黑體" panose="020B0604030504040204" pitchFamily="34" charset="-120"/>
              </a:rPr>
              <a:t>full level </a:t>
            </a: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SQL/99:</a:t>
            </a:r>
            <a:r>
              <a:rPr lang="zh-TW" altLang="en-US" b="1" dirty="0">
                <a:ea typeface="微軟正黑體" panose="020B0604030504040204" pitchFamily="34" charset="-120"/>
              </a:rPr>
              <a:t>物件導向、</a:t>
            </a:r>
            <a:r>
              <a:rPr lang="en-US" altLang="zh-TW" b="1" dirty="0">
                <a:ea typeface="微軟正黑體" panose="020B0604030504040204" pitchFamily="34" charset="-120"/>
              </a:rPr>
              <a:t>Trigger</a:t>
            </a:r>
            <a:r>
              <a:rPr lang="zh-TW" altLang="en-US" b="1" dirty="0">
                <a:ea typeface="微軟正黑體" panose="020B0604030504040204" pitchFamily="34" charset="-120"/>
              </a:rPr>
              <a:t>、遞迴查詢句</a:t>
            </a:r>
            <a:endParaRPr lang="en-US" altLang="zh-TW" b="1" dirty="0">
              <a:ea typeface="微軟正黑體" panose="020B0604030504040204" pitchFamily="34" charset="-120"/>
            </a:endParaRP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SQL2003: XML</a:t>
            </a:r>
          </a:p>
          <a:p>
            <a:pPr>
              <a:lnSpc>
                <a:spcPct val="130000"/>
              </a:lnSpc>
            </a:pPr>
            <a:r>
              <a:rPr lang="en-US" altLang="zh-TW" sz="2000" dirty="0"/>
              <a:t>SQL</a:t>
            </a:r>
            <a:r>
              <a:rPr lang="zh-TW" altLang="en-US" sz="2000" dirty="0"/>
              <a:t>指令的最後須加「</a:t>
            </a:r>
            <a:r>
              <a:rPr lang="en-US" altLang="zh-TW" sz="2800" dirty="0">
                <a:solidFill>
                  <a:srgbClr val="0000FF"/>
                </a:solidFill>
              </a:rPr>
              <a:t>;</a:t>
            </a:r>
            <a:r>
              <a:rPr lang="zh-TW" altLang="en-US" sz="2000" dirty="0"/>
              <a:t>」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1F176A-FF6D-453D-81A7-0DC266C6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BBE6-29EB-477F-A1B0-931972C287C5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EE96B4B-E987-4878-8B53-EA11BB84D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9337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120367-B8CD-4237-840A-54DB032EA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</a:t>
            </a:r>
            <a:r>
              <a:rPr lang="zh-TW" altLang="en-US"/>
              <a:t>的資料模式與關連模式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7E5183-AAE2-4457-B6F7-35FEB4BA3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93"/>
            <a:ext cx="10515600" cy="5130827"/>
          </a:xfrm>
        </p:spPr>
        <p:txBody>
          <a:bodyPr/>
          <a:lstStyle/>
          <a:p>
            <a:pPr marL="381000" indent="-3810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關聯（</a:t>
            </a:r>
            <a:r>
              <a:rPr lang="en-US" altLang="zh-TW" dirty="0">
                <a:ea typeface="微軟正黑體" panose="020B0604030504040204" pitchFamily="34" charset="-120"/>
              </a:rPr>
              <a:t>Relation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  <a:r>
              <a:rPr lang="en-US" altLang="zh-TW" dirty="0"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ea typeface="微軟正黑體" panose="020B0604030504040204" pitchFamily="34" charset="-120"/>
              </a:rPr>
              <a:t>資料表</a:t>
            </a:r>
            <a:r>
              <a:rPr lang="zh-TW" altLang="en-US" dirty="0"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ea typeface="微軟正黑體" panose="020B0604030504040204" pitchFamily="34" charset="-120"/>
              </a:rPr>
              <a:t>Table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</a:p>
          <a:p>
            <a:pPr marL="381000" indent="-3810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序列值（</a:t>
            </a:r>
            <a:r>
              <a:rPr lang="en-US" altLang="zh-TW" dirty="0">
                <a:ea typeface="微軟正黑體" panose="020B0604030504040204" pitchFamily="34" charset="-120"/>
              </a:rPr>
              <a:t>Tuple</a:t>
            </a:r>
            <a:r>
              <a:rPr lang="zh-TW" altLang="en-US" dirty="0">
                <a:ea typeface="微軟正黑體" panose="020B0604030504040204" pitchFamily="34" charset="-120"/>
              </a:rPr>
              <a:t>）  </a:t>
            </a:r>
            <a:r>
              <a:rPr lang="en-US" altLang="zh-TW" dirty="0"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ea typeface="微軟正黑體" panose="020B0604030504040204" pitchFamily="34" charset="-120"/>
              </a:rPr>
              <a:t>記錄</a:t>
            </a:r>
            <a:r>
              <a:rPr lang="zh-TW" altLang="en-US" dirty="0"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ea typeface="微軟正黑體" panose="020B0604030504040204" pitchFamily="34" charset="-120"/>
              </a:rPr>
              <a:t>Record</a:t>
            </a:r>
            <a:r>
              <a:rPr lang="zh-TW" altLang="en-US" dirty="0">
                <a:ea typeface="微軟正黑體" panose="020B0604030504040204" pitchFamily="34" charset="-120"/>
              </a:rPr>
              <a:t>）或列（</a:t>
            </a:r>
            <a:r>
              <a:rPr lang="en-US" altLang="zh-TW" dirty="0">
                <a:ea typeface="微軟正黑體" panose="020B0604030504040204" pitchFamily="34" charset="-120"/>
              </a:rPr>
              <a:t>Row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</a:p>
          <a:p>
            <a:pPr marL="381000" indent="-3810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屬性（</a:t>
            </a:r>
            <a:r>
              <a:rPr lang="en-US" altLang="zh-TW" dirty="0">
                <a:ea typeface="微軟正黑體" panose="020B0604030504040204" pitchFamily="34" charset="-120"/>
              </a:rPr>
              <a:t>Attribute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  <a:r>
              <a:rPr lang="en-US" altLang="zh-TW" dirty="0"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ea typeface="微軟正黑體" panose="020B0604030504040204" pitchFamily="34" charset="-120"/>
              </a:rPr>
              <a:t>欄位</a:t>
            </a:r>
            <a:r>
              <a:rPr lang="zh-TW" altLang="en-US" dirty="0"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ea typeface="微軟正黑體" panose="020B0604030504040204" pitchFamily="34" charset="-120"/>
              </a:rPr>
              <a:t>Field</a:t>
            </a:r>
            <a:r>
              <a:rPr lang="zh-TW" altLang="en-US" dirty="0">
                <a:ea typeface="微軟正黑體" panose="020B0604030504040204" pitchFamily="34" charset="-120"/>
              </a:rPr>
              <a:t>）或行（</a:t>
            </a:r>
            <a:r>
              <a:rPr lang="en-US" altLang="zh-TW" dirty="0">
                <a:ea typeface="微軟正黑體" panose="020B0604030504040204" pitchFamily="34" charset="-120"/>
              </a:rPr>
              <a:t>Column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  <a:r>
              <a:rPr lang="zh-TW" altLang="en-US" sz="2400" dirty="0">
                <a:ea typeface="微軟正黑體" panose="020B0604030504040204" pitchFamily="34" charset="-120"/>
              </a:rPr>
              <a:t> </a:t>
            </a:r>
            <a:endParaRPr lang="zh-TW" altLang="en-US" dirty="0"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</a:pPr>
            <a:r>
              <a:rPr lang="en-US" altLang="zh-TW">
                <a:ea typeface="微軟正黑體" panose="020B0604030504040204" pitchFamily="34" charset="-120"/>
              </a:rPr>
              <a:t>SQL</a:t>
            </a:r>
            <a:r>
              <a:rPr lang="zh-TW" altLang="en-US">
                <a:ea typeface="微軟正黑體" panose="020B0604030504040204" pitchFamily="34" charset="-120"/>
              </a:rPr>
              <a:t> 的</a:t>
            </a:r>
            <a:r>
              <a:rPr lang="zh-TW" altLang="en-US" dirty="0">
                <a:ea typeface="微軟正黑體" panose="020B0604030504040204" pitchFamily="34" charset="-120"/>
              </a:rPr>
              <a:t>資料表</a:t>
            </a:r>
            <a:r>
              <a:rPr lang="zh-TW" altLang="en-US">
                <a:ea typeface="微軟正黑體" panose="020B0604030504040204" pitchFamily="34" charset="-120"/>
              </a:rPr>
              <a:t>可以不定義</a:t>
            </a:r>
            <a:r>
              <a:rPr lang="zh-TW" altLang="en-US" dirty="0">
                <a:ea typeface="微軟正黑體" panose="020B0604030504040204" pitchFamily="34" charset="-120"/>
              </a:rPr>
              <a:t>主鍵</a:t>
            </a:r>
          </a:p>
          <a:p>
            <a:pPr marL="457200" indent="-457200">
              <a:lnSpc>
                <a:spcPct val="150000"/>
              </a:lnSpc>
            </a:pPr>
            <a:r>
              <a:rPr lang="en-US" altLang="zh-TW">
                <a:ea typeface="微軟正黑體" panose="020B0604030504040204" pitchFamily="34" charset="-120"/>
              </a:rPr>
              <a:t>SQL</a:t>
            </a:r>
            <a:r>
              <a:rPr lang="zh-TW" altLang="en-US">
                <a:ea typeface="微軟正黑體" panose="020B0604030504040204" pitchFamily="34" charset="-120"/>
              </a:rPr>
              <a:t> 的</a:t>
            </a:r>
            <a:r>
              <a:rPr lang="zh-TW" altLang="en-US" dirty="0">
                <a:ea typeface="微軟正黑體" panose="020B0604030504040204" pitchFamily="34" charset="-120"/>
              </a:rPr>
              <a:t>資料表中可以有兩筆記錄是一模一樣的 </a:t>
            </a:r>
          </a:p>
          <a:p>
            <a:pPr marL="457200" indent="-4572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資料表中的記錄是有次序的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F343B8A-4E25-4245-B7C5-989F943B3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75C7-C591-410D-A632-577BC297F26A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7063447-3A86-408A-96FC-F02347A6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6450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5C7FD-8389-4DFE-AD01-F81E81C7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4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r>
              <a:rPr lang="zh-TW" altLang="en-US" sz="4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三種</a:t>
            </a:r>
            <a:r>
              <a:rPr lang="zh-TW" altLang="en-US" sz="4400">
                <a:latin typeface="微軟正黑體" panose="020B0604030504040204" pitchFamily="34" charset="-120"/>
              </a:rPr>
              <a:t>指令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1F16D0-DA60-40E9-9A43-1BB2D277A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資料定義語言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anose="020B0604020202020204" pitchFamily="2" charset="0"/>
              </a:rPr>
              <a:t>Data Definition Language, </a:t>
            </a:r>
            <a:r>
              <a:rPr lang="en-US" altLang="zh-TW" sz="2800" dirty="0"/>
              <a:t>DDL)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指令用於定義資料庫綱要</a:t>
            </a:r>
            <a:r>
              <a:rPr lang="en-US" altLang="zh-TW" sz="2400" b="1" dirty="0"/>
              <a:t>(schema)</a:t>
            </a:r>
            <a:r>
              <a:rPr lang="zh-TW" altLang="en-US" sz="2400" b="1" dirty="0"/>
              <a:t>，建立及修改資料的結構</a:t>
            </a:r>
            <a:endParaRPr lang="en-US" altLang="zh-TW" sz="2400" b="1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資料處理語言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itchFamily="2" charset="0"/>
              </a:rPr>
              <a:t>Data Manipulation Language, </a:t>
            </a:r>
            <a:r>
              <a:rPr lang="en-US" altLang="zh-TW" sz="2800" dirty="0"/>
              <a:t>DML)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指令用於資料庫中資料的操作</a:t>
            </a:r>
            <a:endParaRPr lang="en-US" altLang="zh-TW" sz="2400" b="1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資料控制語言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itchFamily="2" charset="0"/>
              </a:rPr>
              <a:t>Data Control Language, </a:t>
            </a:r>
            <a:r>
              <a:rPr lang="en-US" altLang="zh-TW" sz="2800" dirty="0"/>
              <a:t>DCL)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指令用於控制資料庫的權限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A28638-4ED3-4837-8480-280E213E3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1B98-77B3-4F17-A3F5-3E827CA3148A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B6583EC-3970-4EE1-9F28-A8718E084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2781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3D4A42-ED1A-4AC2-A0AB-268961EC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DDL</a:t>
            </a:r>
            <a:r>
              <a:rPr lang="zh-TW" altLang="en-US"/>
              <a:t>常用語法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161F6E-F5A1-410A-BBE9-A987AC2B3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CREATE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：創建</a:t>
            </a:r>
            <a:r>
              <a:rPr lang="zh-TW" altLang="en-US" sz="2800" i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數據庫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2400" b="1" i="0" dirty="0">
                <a:solidFill>
                  <a:srgbClr val="0070C0"/>
                </a:solidFill>
                <a:effectLst/>
                <a:latin typeface="Lato" panose="020F0502020204030203" pitchFamily="34" charset="0"/>
              </a:rPr>
              <a:t>CREATE DATABASE </a:t>
            </a:r>
            <a:r>
              <a:rPr lang="en-US" altLang="zh-TW" sz="2400" b="1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test;</a:t>
            </a:r>
            <a:r>
              <a:rPr lang="zh-TW" altLang="en-US" sz="2400" b="1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 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(</a:t>
            </a:r>
            <a:r>
              <a:rPr lang="zh-TW" altLang="en-US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在</a:t>
            </a:r>
            <a:r>
              <a:rPr lang="en-US" altLang="zh-TW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sqlite3</a:t>
            </a:r>
            <a:r>
              <a:rPr lang="zh-TW" altLang="en-US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中沒有</a:t>
            </a:r>
            <a:r>
              <a:rPr lang="en-US" altLang="zh-TW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create database</a:t>
            </a:r>
            <a:r>
              <a:rPr lang="zh-TW" altLang="en-US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指令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>
                <a:solidFill>
                  <a:srgbClr val="0070C0"/>
                </a:solidFill>
                <a:latin typeface="Lato" panose="020F0502020204030203" pitchFamily="34" charset="0"/>
              </a:rPr>
              <a:t>CREATE DATABASE </a:t>
            </a:r>
            <a:r>
              <a:rPr lang="en-US" altLang="zh-TW" sz="2400" b="1" dirty="0">
                <a:solidFill>
                  <a:srgbClr val="00B050"/>
                </a:solidFill>
                <a:latin typeface="Lato" panose="020F0502020204030203" pitchFamily="34" charset="0"/>
              </a:rPr>
              <a:t>IF NOT EXISTS </a:t>
            </a:r>
            <a:r>
              <a:rPr lang="en-US" altLang="zh-TW" sz="2400" b="1" dirty="0">
                <a:solidFill>
                  <a:srgbClr val="303233"/>
                </a:solidFill>
                <a:latin typeface="Lato" panose="020F0502020204030203" pitchFamily="34" charset="0"/>
              </a:rPr>
              <a:t>test;</a:t>
            </a:r>
            <a:endParaRPr lang="en-US" altLang="zh-TW" sz="2400" b="1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>
              <a:lnSpc>
                <a:spcPct val="150000"/>
              </a:lnSpc>
            </a:pPr>
            <a:endParaRPr lang="zh-TW" altLang="en-US" b="1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2EFBDD-FDFB-488E-9666-9B6E87A8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2208F-ED65-406C-8117-591A42561856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FC7D437-404D-4220-9A87-4CD161792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7EA457-8CDB-4E84-92CA-F53A782B9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創建資料表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4D0C611-2413-4B37-956A-62F9CB77F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8D6074-F3FB-4FA1-9033-B9E32AB82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5F2F1F9-B61D-4CD7-B072-0622BCA5D6C6}"/>
              </a:ext>
            </a:extLst>
          </p:cNvPr>
          <p:cNvSpPr txBox="1"/>
          <p:nvPr/>
        </p:nvSpPr>
        <p:spPr>
          <a:xfrm>
            <a:off x="2863094" y="1299850"/>
            <a:ext cx="5634876" cy="1938992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 sz="2400" b="1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CREATE</a:t>
            </a:r>
            <a:r>
              <a:rPr lang="zh-TW" altLang="en-US" sz="2400" b="1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 </a:t>
            </a:r>
            <a:r>
              <a:rPr lang="en-US" altLang="zh-TW" sz="2400" b="1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TABLE</a:t>
            </a:r>
            <a:r>
              <a:rPr lang="zh-TW" altLang="en-US" sz="2400" b="1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 </a:t>
            </a:r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`</a:t>
            </a:r>
            <a:r>
              <a:rPr lang="en-US" altLang="zh-TW" sz="2400" b="1">
                <a:solidFill>
                  <a:srgbClr val="00B05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member</a:t>
            </a:r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` (</a:t>
            </a:r>
          </a:p>
          <a:p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     </a:t>
            </a:r>
            <a:r>
              <a:rPr lang="zh-TW" altLang="en-US" sz="2400" b="1">
                <a:solidFill>
                  <a:srgbClr val="C0000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屬性名稱 </a:t>
            </a:r>
            <a:r>
              <a:rPr lang="zh-TW" altLang="en-US" sz="2400" b="1">
                <a:solidFill>
                  <a:srgbClr val="7030A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資料型別</a:t>
            </a:r>
            <a:r>
              <a:rPr lang="zh-TW" altLang="en-US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 </a:t>
            </a:r>
            <a:r>
              <a:rPr lang="zh-TW" altLang="en-US" sz="2400" b="1">
                <a:solidFill>
                  <a:srgbClr val="00B0F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限制修飾詞</a:t>
            </a:r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, </a:t>
            </a:r>
          </a:p>
          <a:p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     [</a:t>
            </a:r>
            <a:r>
              <a:rPr lang="zh-TW" altLang="en-US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屬性名稱 資料型別 限制修飾詞</a:t>
            </a:r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, ]</a:t>
            </a:r>
          </a:p>
          <a:p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     …..</a:t>
            </a:r>
          </a:p>
          <a:p>
            <a:r>
              <a:rPr lang="en-US" altLang="zh-TW" sz="2400" b="1">
                <a:latin typeface="Comic Sans MS" panose="030F0702030302020204" pitchFamily="66" charset="0"/>
                <a:ea typeface="清松手寫體3" panose="00000500000000000000" pitchFamily="2" charset="-120"/>
              </a:rPr>
              <a:t>);</a:t>
            </a:r>
            <a:endParaRPr lang="zh-TW" altLang="en-US" sz="2400" b="1">
              <a:latin typeface="Comic Sans MS" panose="030F0702030302020204" pitchFamily="66" charset="0"/>
              <a:ea typeface="清松手寫體3" panose="00000500000000000000" pitchFamily="2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2AF469-7ABA-428F-BCD1-0FA1992ECA00}"/>
              </a:ext>
            </a:extLst>
          </p:cNvPr>
          <p:cNvSpPr txBox="1"/>
          <p:nvPr/>
        </p:nvSpPr>
        <p:spPr>
          <a:xfrm>
            <a:off x="2863094" y="3854020"/>
            <a:ext cx="5734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CREATE TABLE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IF NOT EXISTS </a:t>
            </a:r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‘member`(</a:t>
            </a:r>
          </a:p>
          <a:p>
            <a:r>
              <a:rPr lang="zh-TW" altLang="en-US" sz="2000" b="1">
                <a:solidFill>
                  <a:srgbClr val="C0000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屬性名稱 </a:t>
            </a:r>
            <a:r>
              <a:rPr lang="zh-TW" altLang="en-US" sz="2000" b="1">
                <a:solidFill>
                  <a:srgbClr val="7030A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資料型別</a:t>
            </a:r>
            <a:r>
              <a:rPr lang="zh-TW" altLang="en-US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 </a:t>
            </a:r>
            <a:r>
              <a:rPr lang="zh-TW" altLang="en-US" sz="2000" b="1">
                <a:solidFill>
                  <a:srgbClr val="00B0F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限制修飾詞</a:t>
            </a:r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, </a:t>
            </a:r>
          </a:p>
          <a:p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     [</a:t>
            </a:r>
            <a:r>
              <a:rPr lang="zh-TW" altLang="en-US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屬性名稱 資料型別 限制修飾詞</a:t>
            </a:r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, ]</a:t>
            </a:r>
          </a:p>
          <a:p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     …..</a:t>
            </a:r>
          </a:p>
          <a:p>
            <a:endParaRPr lang="en-US" altLang="zh-TW" sz="2000" b="1">
              <a:latin typeface="Comic Sans MS" panose="030F0702030302020204" pitchFamily="66" charset="0"/>
              <a:ea typeface="清松手寫體3" panose="00000500000000000000" pitchFamily="2" charset="-120"/>
            </a:endParaRPr>
          </a:p>
          <a:p>
            <a:r>
              <a:rPr lang="en-US" altLang="zh-TW" sz="2000" b="1">
                <a:latin typeface="Comic Sans MS" panose="030F0702030302020204" pitchFamily="66" charset="0"/>
                <a:ea typeface="清松手寫體3" panose="00000500000000000000" pitchFamily="2" charset="-120"/>
              </a:rPr>
              <a:t>);</a:t>
            </a:r>
            <a:endParaRPr lang="zh-TW" altLang="en-US" sz="2000" b="1">
              <a:latin typeface="Comic Sans MS" panose="030F0702030302020204" pitchFamily="66" charset="0"/>
              <a:ea typeface="清松手寫體3" panose="00000500000000000000" pitchFamily="2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03027AB-FE83-427E-AD66-6EEAC3E364E0}"/>
              </a:ext>
            </a:extLst>
          </p:cNvPr>
          <p:cNvSpPr txBox="1"/>
          <p:nvPr/>
        </p:nvSpPr>
        <p:spPr>
          <a:xfrm>
            <a:off x="5150338" y="5114666"/>
            <a:ext cx="2743200" cy="923330"/>
          </a:xfrm>
          <a:custGeom>
            <a:avLst/>
            <a:gdLst>
              <a:gd name="connsiteX0" fmla="*/ 0 w 2743200"/>
              <a:gd name="connsiteY0" fmla="*/ 0 h 923330"/>
              <a:gd name="connsiteX1" fmla="*/ 603504 w 2743200"/>
              <a:gd name="connsiteY1" fmla="*/ 0 h 923330"/>
              <a:gd name="connsiteX2" fmla="*/ 1069848 w 2743200"/>
              <a:gd name="connsiteY2" fmla="*/ 0 h 923330"/>
              <a:gd name="connsiteX3" fmla="*/ 1673352 w 2743200"/>
              <a:gd name="connsiteY3" fmla="*/ 0 h 923330"/>
              <a:gd name="connsiteX4" fmla="*/ 2167128 w 2743200"/>
              <a:gd name="connsiteY4" fmla="*/ 0 h 923330"/>
              <a:gd name="connsiteX5" fmla="*/ 2743200 w 2743200"/>
              <a:gd name="connsiteY5" fmla="*/ 0 h 923330"/>
              <a:gd name="connsiteX6" fmla="*/ 2743200 w 2743200"/>
              <a:gd name="connsiteY6" fmla="*/ 443198 h 923330"/>
              <a:gd name="connsiteX7" fmla="*/ 2743200 w 2743200"/>
              <a:gd name="connsiteY7" fmla="*/ 923330 h 923330"/>
              <a:gd name="connsiteX8" fmla="*/ 2276856 w 2743200"/>
              <a:gd name="connsiteY8" fmla="*/ 923330 h 923330"/>
              <a:gd name="connsiteX9" fmla="*/ 1755648 w 2743200"/>
              <a:gd name="connsiteY9" fmla="*/ 923330 h 923330"/>
              <a:gd name="connsiteX10" fmla="*/ 1152144 w 2743200"/>
              <a:gd name="connsiteY10" fmla="*/ 923330 h 923330"/>
              <a:gd name="connsiteX11" fmla="*/ 576072 w 2743200"/>
              <a:gd name="connsiteY11" fmla="*/ 923330 h 923330"/>
              <a:gd name="connsiteX12" fmla="*/ 0 w 2743200"/>
              <a:gd name="connsiteY12" fmla="*/ 923330 h 923330"/>
              <a:gd name="connsiteX13" fmla="*/ 0 w 2743200"/>
              <a:gd name="connsiteY13" fmla="*/ 461665 h 923330"/>
              <a:gd name="connsiteX14" fmla="*/ 0 w 2743200"/>
              <a:gd name="connsiteY14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743200" h="923330" extrusionOk="0">
                <a:moveTo>
                  <a:pt x="0" y="0"/>
                </a:moveTo>
                <a:cubicBezTo>
                  <a:pt x="266840" y="-55009"/>
                  <a:pt x="421213" y="13499"/>
                  <a:pt x="603504" y="0"/>
                </a:cubicBezTo>
                <a:cubicBezTo>
                  <a:pt x="785795" y="-13499"/>
                  <a:pt x="937389" y="10123"/>
                  <a:pt x="1069848" y="0"/>
                </a:cubicBezTo>
                <a:cubicBezTo>
                  <a:pt x="1202307" y="-10123"/>
                  <a:pt x="1445768" y="38915"/>
                  <a:pt x="1673352" y="0"/>
                </a:cubicBezTo>
                <a:cubicBezTo>
                  <a:pt x="1900936" y="-38915"/>
                  <a:pt x="2012956" y="21402"/>
                  <a:pt x="2167128" y="0"/>
                </a:cubicBezTo>
                <a:cubicBezTo>
                  <a:pt x="2321300" y="-21402"/>
                  <a:pt x="2594674" y="17017"/>
                  <a:pt x="2743200" y="0"/>
                </a:cubicBezTo>
                <a:cubicBezTo>
                  <a:pt x="2789599" y="165523"/>
                  <a:pt x="2721329" y="242290"/>
                  <a:pt x="2743200" y="443198"/>
                </a:cubicBezTo>
                <a:cubicBezTo>
                  <a:pt x="2765071" y="644106"/>
                  <a:pt x="2690267" y="804882"/>
                  <a:pt x="2743200" y="923330"/>
                </a:cubicBezTo>
                <a:cubicBezTo>
                  <a:pt x="2631745" y="940423"/>
                  <a:pt x="2371331" y="917212"/>
                  <a:pt x="2276856" y="923330"/>
                </a:cubicBezTo>
                <a:cubicBezTo>
                  <a:pt x="2182381" y="929448"/>
                  <a:pt x="1917021" y="887066"/>
                  <a:pt x="1755648" y="923330"/>
                </a:cubicBezTo>
                <a:cubicBezTo>
                  <a:pt x="1594275" y="959594"/>
                  <a:pt x="1303600" y="871936"/>
                  <a:pt x="1152144" y="923330"/>
                </a:cubicBezTo>
                <a:cubicBezTo>
                  <a:pt x="1000688" y="974724"/>
                  <a:pt x="721590" y="869120"/>
                  <a:pt x="576072" y="923330"/>
                </a:cubicBezTo>
                <a:cubicBezTo>
                  <a:pt x="430554" y="977540"/>
                  <a:pt x="241913" y="919073"/>
                  <a:pt x="0" y="923330"/>
                </a:cubicBezTo>
                <a:cubicBezTo>
                  <a:pt x="-31430" y="758708"/>
                  <a:pt x="3859" y="622284"/>
                  <a:pt x="0" y="461665"/>
                </a:cubicBezTo>
                <a:cubicBezTo>
                  <a:pt x="-3859" y="301047"/>
                  <a:pt x="38427" y="98403"/>
                  <a:pt x="0" y="0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503218166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altLang="zh-TW" sz="1800" b="1">
                <a:solidFill>
                  <a:srgbClr val="0000FF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IF NOT EXISTS </a:t>
            </a:r>
            <a:r>
              <a:rPr lang="zh-TW" altLang="en-US" sz="1800" b="1">
                <a:solidFill>
                  <a:srgbClr val="0000FF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修飾詞確保不會重複建立資料表</a:t>
            </a:r>
            <a:endParaRPr lang="zh-TW" altLang="en-US">
              <a:solidFill>
                <a:srgbClr val="0000FF"/>
              </a:solidFill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21479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D67C65-23CE-F069-4289-EED8E167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/>
              <a:t>member </a:t>
            </a:r>
            <a:r>
              <a:rPr kumimoji="1" lang="zh-TW" altLang="en-US"/>
              <a:t>資料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443F68D-FA5A-E121-20CB-7EF15D999F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zh-TW" altLang="en-US" dirty="0"/>
              <a:t>會員編號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mID</a:t>
            </a:r>
            <a:r>
              <a:rPr kumimoji="1" lang="en-US" altLang="zh-TW" dirty="0"/>
              <a:t>)  </a:t>
            </a:r>
            <a:r>
              <a:rPr kumimoji="1" lang="en-US" altLang="zh-TW" dirty="0">
                <a:solidFill>
                  <a:srgbClr val="0000FF"/>
                </a:solidFill>
              </a:rPr>
              <a:t>char(8)</a:t>
            </a:r>
          </a:p>
          <a:p>
            <a:r>
              <a:rPr kumimoji="1" lang="zh-TW" altLang="en-US" dirty="0"/>
              <a:t>身份字號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pID</a:t>
            </a:r>
            <a:r>
              <a:rPr kumimoji="1" lang="en-US" altLang="zh-TW" dirty="0"/>
              <a:t>) </a:t>
            </a:r>
            <a:r>
              <a:rPr kumimoji="1" lang="en-US" altLang="zh-TW" dirty="0">
                <a:solidFill>
                  <a:srgbClr val="0000FF"/>
                </a:solidFill>
              </a:rPr>
              <a:t>char(10)</a:t>
            </a:r>
          </a:p>
          <a:p>
            <a:r>
              <a:rPr kumimoji="1" lang="zh-TW" altLang="en-US" dirty="0"/>
              <a:t>姓名</a:t>
            </a:r>
            <a:r>
              <a:rPr kumimoji="1" lang="en-US" altLang="zh-TW" dirty="0"/>
              <a:t> (name) </a:t>
            </a:r>
            <a:r>
              <a:rPr kumimoji="1" lang="en-US" altLang="zh-TW" dirty="0">
                <a:solidFill>
                  <a:srgbClr val="0000FF"/>
                </a:solidFill>
              </a:rPr>
              <a:t>varchar(8)</a:t>
            </a:r>
          </a:p>
          <a:p>
            <a:r>
              <a:rPr kumimoji="1" lang="zh-TW" altLang="en-US" dirty="0"/>
              <a:t>生日</a:t>
            </a:r>
            <a:r>
              <a:rPr kumimoji="1" lang="en-US" altLang="zh-TW" dirty="0"/>
              <a:t> (birthday) </a:t>
            </a:r>
            <a:r>
              <a:rPr kumimoji="1" lang="en-US" altLang="zh-TW" dirty="0">
                <a:solidFill>
                  <a:srgbClr val="0000FF"/>
                </a:solidFill>
              </a:rPr>
              <a:t>text</a:t>
            </a:r>
          </a:p>
          <a:p>
            <a:r>
              <a:rPr kumimoji="1" lang="zh-TW" altLang="en-US" dirty="0"/>
              <a:t>電話</a:t>
            </a:r>
            <a:r>
              <a:rPr kumimoji="1" lang="en-US" altLang="zh-TW" dirty="0"/>
              <a:t> (phone) </a:t>
            </a:r>
            <a:r>
              <a:rPr kumimoji="1" lang="en-US" altLang="zh-TW" dirty="0">
                <a:solidFill>
                  <a:srgbClr val="0000FF"/>
                </a:solidFill>
              </a:rPr>
              <a:t>varchar(10)</a:t>
            </a:r>
          </a:p>
          <a:p>
            <a:r>
              <a:rPr kumimoji="1" lang="zh-TW" altLang="en-US" dirty="0"/>
              <a:t>地址</a:t>
            </a:r>
            <a:r>
              <a:rPr kumimoji="1" lang="en-US" altLang="zh-TW" dirty="0"/>
              <a:t> (address) </a:t>
            </a:r>
            <a:r>
              <a:rPr kumimoji="1" lang="en-US" altLang="zh-TW" dirty="0">
                <a:solidFill>
                  <a:srgbClr val="0000FF"/>
                </a:solidFill>
              </a:rPr>
              <a:t>varchar(40)</a:t>
            </a:r>
          </a:p>
          <a:p>
            <a:r>
              <a:rPr kumimoji="1" lang="zh-TW" altLang="en-US" dirty="0"/>
              <a:t>電子郵件</a:t>
            </a:r>
            <a:r>
              <a:rPr kumimoji="1" lang="en-US" altLang="zh-TW" dirty="0"/>
              <a:t> (email) </a:t>
            </a:r>
            <a:r>
              <a:rPr kumimoji="1" lang="en-US" altLang="zh-TW" dirty="0">
                <a:solidFill>
                  <a:srgbClr val="0000FF"/>
                </a:solidFill>
              </a:rPr>
              <a:t>varchar(20)</a:t>
            </a:r>
          </a:p>
          <a:p>
            <a:r>
              <a:rPr kumimoji="1" lang="zh-TW" altLang="en-US" dirty="0"/>
              <a:t>介紹人</a:t>
            </a:r>
            <a:r>
              <a:rPr kumimoji="1" lang="en-US" altLang="zh-TW" dirty="0"/>
              <a:t> (introducer) </a:t>
            </a:r>
            <a:r>
              <a:rPr kumimoji="1" lang="en-US" altLang="zh-TW" dirty="0">
                <a:solidFill>
                  <a:srgbClr val="0000FF"/>
                </a:solidFill>
              </a:rPr>
              <a:t>char(8)</a:t>
            </a:r>
            <a:endParaRPr kumimoji="1" lang="zh-TW" altLang="en-US" dirty="0">
              <a:solidFill>
                <a:srgbClr val="0000FF"/>
              </a:solidFill>
            </a:endParaRP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CA53D5B-48E1-1836-0482-BD96189F37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zh-TW" err="1">
                <a:solidFill>
                  <a:schemeClr val="tx1"/>
                </a:solidFill>
              </a:rPr>
              <a:t>mID</a:t>
            </a:r>
            <a:r>
              <a:rPr lang="en-US" altLang="zh-TW">
                <a:solidFill>
                  <a:schemeClr val="tx1"/>
                </a:solidFill>
              </a:rPr>
              <a:t> </a:t>
            </a:r>
            <a:r>
              <a:rPr lang="zh-TW" altLang="en-US">
                <a:solidFill>
                  <a:schemeClr val="tx1"/>
                </a:solidFill>
              </a:rPr>
              <a:t>主鍵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err="1">
                <a:solidFill>
                  <a:schemeClr val="tx1"/>
                </a:solidFill>
              </a:rPr>
              <a:t>pID</a:t>
            </a:r>
            <a:r>
              <a:rPr lang="en-US" altLang="zh-TW">
                <a:solidFill>
                  <a:schemeClr val="tx1"/>
                </a:solidFill>
              </a:rPr>
              <a:t> </a:t>
            </a:r>
            <a:r>
              <a:rPr lang="zh-TW" altLang="en-US">
                <a:solidFill>
                  <a:schemeClr val="tx1"/>
                </a:solidFill>
              </a:rPr>
              <a:t>候選鍵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>
                <a:solidFill>
                  <a:schemeClr val="tx1"/>
                </a:solidFill>
              </a:rPr>
              <a:t>introducer </a:t>
            </a:r>
            <a:r>
              <a:rPr lang="zh-TW" altLang="en-US">
                <a:solidFill>
                  <a:schemeClr val="tx1"/>
                </a:solidFill>
              </a:rPr>
              <a:t>屬性值對應到 </a:t>
            </a:r>
            <a:r>
              <a:rPr lang="en-US" altLang="zh-TW">
                <a:solidFill>
                  <a:schemeClr val="tx1"/>
                </a:solidFill>
              </a:rPr>
              <a:t>member(mID)</a:t>
            </a:r>
          </a:p>
          <a:p>
            <a:r>
              <a:rPr lang="zh-TW" altLang="en-US">
                <a:solidFill>
                  <a:schemeClr val="tx1"/>
                </a:solidFill>
              </a:rPr>
              <a:t>當資料被刪除或更新時需要額外處理</a:t>
            </a:r>
            <a:endParaRPr lang="en-US" altLang="zh-TW">
              <a:solidFill>
                <a:schemeClr val="tx1"/>
              </a:solidFill>
            </a:endParaRPr>
          </a:p>
          <a:p>
            <a:pPr lvl="1"/>
            <a:r>
              <a:rPr lang="en-US" altLang="zh-TW">
                <a:solidFill>
                  <a:srgbClr val="0000FF"/>
                </a:solidFill>
              </a:rPr>
              <a:t>ON </a:t>
            </a:r>
            <a:r>
              <a:rPr lang="en-US" altLang="zh-TW" dirty="0">
                <a:solidFill>
                  <a:srgbClr val="0000FF"/>
                </a:solidFill>
              </a:rPr>
              <a:t>DELETE </a:t>
            </a:r>
            <a:r>
              <a:rPr lang="en-US" altLang="zh-TW">
                <a:solidFill>
                  <a:srgbClr val="0000FF"/>
                </a:solidFill>
              </a:rPr>
              <a:t>SET  NULL</a:t>
            </a:r>
          </a:p>
          <a:p>
            <a:pPr lvl="1"/>
            <a:r>
              <a:rPr lang="en-US" altLang="zh-TW">
                <a:solidFill>
                  <a:srgbClr val="0000FF"/>
                </a:solidFill>
              </a:rPr>
              <a:t>ON </a:t>
            </a:r>
            <a:r>
              <a:rPr lang="en-US" altLang="zh-TW" dirty="0">
                <a:solidFill>
                  <a:srgbClr val="0000FF"/>
                </a:solidFill>
              </a:rPr>
              <a:t>UPDATE CASCADE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C2DBA2-0ED5-3F14-FC6C-161CD434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D9F35-0319-4682-9BEA-40C14B203B83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D02210-E4A9-7AF9-9D5B-3B93E4704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3807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C39A43-B283-404E-A37D-FCFBE84B0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定義資料表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34453D-CD28-4DFD-8D05-E97DF3D9E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dirty="0"/>
              <a:t>CREATE TABLE</a:t>
            </a:r>
          </a:p>
          <a:p>
            <a:pPr lvl="1">
              <a:lnSpc>
                <a:spcPct val="150000"/>
              </a:lnSpc>
            </a:pPr>
            <a:r>
              <a:rPr lang="zh-TW" altLang="en-US" dirty="0"/>
              <a:t>資料表名稱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dirty="0"/>
              <a:t>欄位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dirty="0"/>
              <a:t>完整限制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A2FD090-FE98-4A9C-B1A9-32B6D76000E6}"/>
              </a:ext>
            </a:extLst>
          </p:cNvPr>
          <p:cNvSpPr txBox="1"/>
          <p:nvPr/>
        </p:nvSpPr>
        <p:spPr>
          <a:xfrm>
            <a:off x="4783605" y="457201"/>
            <a:ext cx="5731826" cy="600164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CREATE </a:t>
            </a:r>
            <a:r>
              <a:rPr lang="en-US" altLang="zh-TW" sz="2400" b="1">
                <a:solidFill>
                  <a:schemeClr val="tx1"/>
                </a:solidFill>
              </a:rPr>
              <a:t>TABLE</a:t>
            </a:r>
            <a:r>
              <a:rPr lang="en-US" altLang="zh-TW" sz="2400">
                <a:solidFill>
                  <a:schemeClr val="tx1"/>
                </a:solidFill>
              </a:rPr>
              <a:t> </a:t>
            </a:r>
            <a:r>
              <a:rPr lang="en-US" altLang="zh-TW" sz="2400" b="1">
                <a:solidFill>
                  <a:srgbClr val="C00000"/>
                </a:solidFill>
              </a:rPr>
              <a:t>Members</a:t>
            </a:r>
            <a:r>
              <a:rPr lang="zh-TW" altLang="en-US" sz="2400">
                <a:solidFill>
                  <a:srgbClr val="C00000"/>
                </a:solidFill>
              </a:rPr>
              <a:t> </a:t>
            </a:r>
            <a:r>
              <a:rPr lang="en-US" altLang="zh-TW" sz="2400" dirty="0"/>
              <a:t>(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      </a:t>
            </a:r>
            <a:r>
              <a:rPr lang="zh-TW" altLang="en-US" sz="2400" dirty="0">
                <a:solidFill>
                  <a:schemeClr val="tx1"/>
                </a:solidFill>
              </a:rPr>
              <a:t>     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(8)       </a:t>
            </a:r>
            <a:r>
              <a:rPr lang="zh-TW" altLang="en-US" sz="2400" dirty="0">
                <a:solidFill>
                  <a:schemeClr val="tx1"/>
                </a:solidFill>
              </a:rPr>
              <a:t>   </a:t>
            </a:r>
            <a:r>
              <a:rPr lang="en-US" altLang="zh-TW" sz="2400" b="1" dirty="0">
                <a:solidFill>
                  <a:schemeClr val="tx1"/>
                </a:solidFill>
              </a:rPr>
              <a:t>NOT NULL</a:t>
            </a:r>
            <a:r>
              <a:rPr lang="zh-TW" altLang="en-US" sz="2400" dirty="0">
                <a:solidFill>
                  <a:schemeClr val="tx1"/>
                </a:solidFill>
              </a:rPr>
              <a:t>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 err="1">
                <a:solidFill>
                  <a:schemeClr val="tx1"/>
                </a:solidFill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</a:rPr>
              <a:t>       </a:t>
            </a:r>
            <a:r>
              <a:rPr lang="zh-TW" altLang="en-US" sz="2400" dirty="0">
                <a:solidFill>
                  <a:schemeClr val="tx1"/>
                </a:solidFill>
              </a:rPr>
              <a:t>    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(10)       </a:t>
            </a:r>
            <a:r>
              <a:rPr lang="zh-TW" altLang="en-US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NOT NULL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name    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(8)   </a:t>
            </a:r>
            <a:r>
              <a:rPr lang="en-US" altLang="zh-TW" sz="2400" b="1" dirty="0">
                <a:solidFill>
                  <a:schemeClr val="tx1"/>
                </a:solidFill>
              </a:rPr>
              <a:t>NOT NULL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birthday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DATE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phone</a:t>
            </a:r>
            <a:r>
              <a:rPr lang="zh-TW" altLang="en-US" sz="2400" dirty="0">
                <a:solidFill>
                  <a:schemeClr val="tx1"/>
                </a:solidFill>
              </a:rPr>
              <a:t>     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(10)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address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(40)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email      </a:t>
            </a:r>
            <a:r>
              <a:rPr lang="zh-TW" altLang="en-US" sz="2400" dirty="0">
                <a:solidFill>
                  <a:schemeClr val="tx1"/>
                </a:solidFill>
              </a:rPr>
              <a:t> 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(20)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introducer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(8)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hlink"/>
                </a:solidFill>
              </a:rPr>
              <a:t>	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PRIMARY KEY</a:t>
            </a:r>
            <a:r>
              <a:rPr lang="en-US" altLang="zh-TW" sz="2400" dirty="0">
                <a:solidFill>
                  <a:schemeClr val="tx1"/>
                </a:solidFill>
              </a:rPr>
              <a:t> (</a:t>
            </a: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),</a:t>
            </a:r>
            <a:endParaRPr lang="en-US" altLang="zh-TW" sz="2400" b="1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UNIQUE</a:t>
            </a:r>
            <a:r>
              <a:rPr lang="en-US" altLang="zh-TW" sz="2400" dirty="0">
                <a:solidFill>
                  <a:schemeClr val="tx1"/>
                </a:solidFill>
              </a:rPr>
              <a:t> (</a:t>
            </a:r>
            <a:r>
              <a:rPr lang="en-US" altLang="zh-TW" sz="2400" dirty="0" err="1">
                <a:solidFill>
                  <a:schemeClr val="tx1"/>
                </a:solidFill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</a:rPr>
              <a:t>)</a:t>
            </a:r>
            <a:r>
              <a:rPr lang="en-US" altLang="zh-TW" sz="2400" b="1" dirty="0">
                <a:solidFill>
                  <a:schemeClr val="tx1"/>
                </a:solidFill>
              </a:rPr>
              <a:t>,</a:t>
            </a:r>
            <a:endParaRPr lang="en-US" altLang="zh-TW" sz="2400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FOREIGN KEY</a:t>
            </a:r>
            <a:r>
              <a:rPr lang="en-US" altLang="zh-TW" sz="2400" dirty="0">
                <a:solidFill>
                  <a:schemeClr val="tx1"/>
                </a:solidFill>
              </a:rPr>
              <a:t>(introducer) 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REFERENCES </a:t>
            </a:r>
            <a:r>
              <a:rPr lang="en-US" altLang="zh-TW" sz="2400" dirty="0">
                <a:solidFill>
                  <a:schemeClr val="tx1"/>
                </a:solidFill>
              </a:rPr>
              <a:t>Member(</a:t>
            </a: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)</a:t>
            </a:r>
            <a:endParaRPr lang="en-US" altLang="zh-TW" sz="2400" b="1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ON DELETE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SET NULL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ON UPDATE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CASCADE 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);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9446150-E11E-4B2D-B00E-3AC2344FD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6ABAB-E24E-4A2A-B9B8-C7C6AD07EF5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306639-C126-4A2B-8E47-221ED829E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11</a:t>
            </a:fld>
            <a:endParaRPr lang="zh-TW" altLang="en-US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63291D0-24CC-4851-B668-7EF4139CDD6F}"/>
              </a:ext>
            </a:extLst>
          </p:cNvPr>
          <p:cNvCxnSpPr/>
          <p:nvPr/>
        </p:nvCxnSpPr>
        <p:spPr>
          <a:xfrm flipV="1">
            <a:off x="3499945" y="788276"/>
            <a:ext cx="1283660" cy="1124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A5BE63B8-0E73-4347-899A-266E5DAA19A7}"/>
              </a:ext>
            </a:extLst>
          </p:cNvPr>
          <p:cNvCxnSpPr/>
          <p:nvPr/>
        </p:nvCxnSpPr>
        <p:spPr>
          <a:xfrm>
            <a:off x="2511972" y="2532993"/>
            <a:ext cx="2123090" cy="84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B4A3069F-DDB1-4DB6-A9D2-B34F72D19889}"/>
              </a:ext>
            </a:extLst>
          </p:cNvPr>
          <p:cNvCxnSpPr/>
          <p:nvPr/>
        </p:nvCxnSpPr>
        <p:spPr>
          <a:xfrm>
            <a:off x="2848303" y="3184634"/>
            <a:ext cx="1681656" cy="1608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377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CF7BCE-6F1C-4AE8-BEDD-F0ECFA7E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4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所提供的常用定義域型態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91358C-4284-4766-9520-3F86FA49C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INT</a:t>
            </a:r>
            <a:r>
              <a:rPr lang="en-US" altLang="zh-TW" sz="2800" dirty="0">
                <a:ea typeface="微軟正黑體" panose="020B0604030504040204" pitchFamily="34" charset="-120"/>
              </a:rPr>
              <a:t> </a:t>
            </a:r>
            <a:r>
              <a:rPr lang="zh-TW" altLang="en-US" sz="2800">
                <a:ea typeface="微軟正黑體" panose="020B0604030504040204" pitchFamily="34" charset="-120"/>
              </a:rPr>
              <a:t>或 </a:t>
            </a:r>
            <a:r>
              <a:rPr lang="en-US" altLang="zh-TW" sz="2800" b="1">
                <a:ea typeface="微軟正黑體" panose="020B0604030504040204" pitchFamily="34" charset="-120"/>
              </a:rPr>
              <a:t>INTEGER </a:t>
            </a:r>
            <a:r>
              <a:rPr lang="zh-TW" altLang="en-US" sz="2800" b="1">
                <a:ea typeface="微軟正黑體" panose="020B0604030504040204" pitchFamily="34" charset="-120"/>
              </a:rPr>
              <a:t>整數</a:t>
            </a:r>
            <a:endParaRPr lang="en-US" altLang="zh-TW" sz="2800" b="1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DECIMAL</a:t>
            </a:r>
            <a:r>
              <a:rPr lang="en-US" altLang="zh-TW" sz="2800" dirty="0"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ea typeface="微軟正黑體" panose="020B0604030504040204" pitchFamily="34" charset="-120"/>
              </a:rPr>
              <a:t>, j) </a:t>
            </a:r>
            <a:r>
              <a:rPr lang="zh-TW" altLang="en-US" sz="2800" dirty="0">
                <a:ea typeface="微軟正黑體" panose="020B0604030504040204" pitchFamily="34" charset="-120"/>
              </a:rPr>
              <a:t>或</a:t>
            </a:r>
            <a:r>
              <a:rPr lang="en-US" altLang="zh-TW" sz="2800" b="1" dirty="0">
                <a:ea typeface="微軟正黑體" panose="020B0604030504040204" pitchFamily="34" charset="-120"/>
              </a:rPr>
              <a:t>NUMERIC</a:t>
            </a:r>
            <a:r>
              <a:rPr lang="en-US" altLang="zh-TW" sz="2800" dirty="0"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ea typeface="微軟正黑體" panose="020B0604030504040204" pitchFamily="34" charset="-120"/>
              </a:rPr>
              <a:t>, j) </a:t>
            </a:r>
            <a:r>
              <a:rPr lang="zh-TW" altLang="en-US" sz="2800" dirty="0">
                <a:ea typeface="微軟正黑體" panose="020B0604030504040204" pitchFamily="34" charset="-120"/>
              </a:rPr>
              <a:t>或</a:t>
            </a:r>
            <a:r>
              <a:rPr lang="en-US" altLang="zh-TW" sz="2800" b="1" dirty="0">
                <a:ea typeface="微軟正黑體" panose="020B0604030504040204" pitchFamily="34" charset="-120"/>
              </a:rPr>
              <a:t>DEC </a:t>
            </a:r>
            <a:r>
              <a:rPr lang="en-US" altLang="zh-TW" sz="2800" dirty="0"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ea typeface="微軟正黑體" panose="020B0604030504040204" pitchFamily="34" charset="-120"/>
              </a:rPr>
              <a:t>, j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r>
              <a:rPr lang="zh-TW" altLang="en-US" sz="2800"/>
              <a:t>浮</a:t>
            </a:r>
            <a:r>
              <a:rPr lang="zh-TW" altLang="en-US" sz="2800">
                <a:ea typeface="微軟正黑體" panose="020B0604030504040204" pitchFamily="34" charset="-120"/>
              </a:rPr>
              <a:t>點數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 lvl="1">
              <a:lnSpc>
                <a:spcPct val="12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DECIMAL</a:t>
            </a:r>
            <a:r>
              <a:rPr lang="en-US" altLang="zh-TW" dirty="0">
                <a:ea typeface="微軟正黑體" panose="020B0604030504040204" pitchFamily="34" charset="-120"/>
              </a:rPr>
              <a:t>(3, 1) </a:t>
            </a:r>
          </a:p>
          <a:p>
            <a:pPr lvl="1">
              <a:lnSpc>
                <a:spcPct val="12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DECIMAL</a:t>
            </a:r>
            <a:r>
              <a:rPr lang="en-US" altLang="zh-TW" dirty="0">
                <a:ea typeface="微軟正黑體" panose="020B0604030504040204" pitchFamily="34" charset="-120"/>
              </a:rPr>
              <a:t>(2) </a:t>
            </a:r>
          </a:p>
          <a:p>
            <a:pPr lvl="1">
              <a:lnSpc>
                <a:spcPct val="12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DECIMAL</a:t>
            </a: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CHAR</a:t>
            </a:r>
            <a:r>
              <a:rPr lang="en-US" altLang="zh-TW" sz="2800" dirty="0"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ea typeface="微軟正黑體" panose="020B0604030504040204" pitchFamily="34" charset="-120"/>
              </a:rPr>
              <a:t>字元矩陣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VARCHAR</a:t>
            </a:r>
            <a:r>
              <a:rPr lang="en-US" altLang="zh-TW" sz="2800" dirty="0"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ea typeface="微軟正黑體" panose="020B0604030504040204" pitchFamily="34" charset="-120"/>
              </a:rPr>
              <a:t>字元矩陣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BIT</a:t>
            </a:r>
            <a:r>
              <a:rPr lang="en-US" altLang="zh-TW" sz="2800" dirty="0"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VARBIT(</a:t>
            </a:r>
            <a:r>
              <a:rPr lang="en-US" altLang="zh-TW" sz="2800">
                <a:ea typeface="微軟正黑體" panose="020B0604030504040204" pitchFamily="34" charset="-120"/>
              </a:rPr>
              <a:t>n)</a:t>
            </a:r>
          </a:p>
          <a:p>
            <a:pPr>
              <a:lnSpc>
                <a:spcPct val="120000"/>
              </a:lnSpc>
            </a:pPr>
            <a:r>
              <a:rPr lang="en-US" altLang="zh-TW" sz="2900">
                <a:ea typeface="微軟正黑體" panose="020B0604030504040204" pitchFamily="34" charset="-120"/>
              </a:rPr>
              <a:t>BLOB</a:t>
            </a:r>
            <a:r>
              <a:rPr lang="zh-TW" altLang="en-US" sz="2900">
                <a:ea typeface="微軟正黑體" panose="020B0604030504040204" pitchFamily="34" charset="-120"/>
              </a:rPr>
              <a:t>：表示是儲存大型的二元型態物件 </a:t>
            </a:r>
          </a:p>
          <a:p>
            <a:pPr>
              <a:lnSpc>
                <a:spcPct val="120000"/>
              </a:lnSpc>
            </a:pPr>
            <a:r>
              <a:rPr lang="en-US" altLang="zh-TW" sz="2900">
                <a:ea typeface="微軟正黑體" panose="020B0604030504040204" pitchFamily="34" charset="-120"/>
              </a:rPr>
              <a:t>CLOB</a:t>
            </a:r>
            <a:r>
              <a:rPr lang="zh-TW" altLang="en-US" sz="2900">
                <a:ea typeface="微軟正黑體" panose="020B0604030504040204" pitchFamily="34" charset="-120"/>
              </a:rPr>
              <a:t>：表示是儲存大型的文字型態物件</a:t>
            </a:r>
            <a:endParaRPr lang="zh-TW" altLang="en-US" sz="230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73C6A8C-1557-4488-B256-BCC3E6FFC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C0D67-E84C-4C01-8818-34FCA5F2B78F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5567308-ABEF-4ABC-89B4-9C51A7ECB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7461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207E4A80-8410-4901-9BD8-FC4BF8DA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日期、時間處理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445554D-10FB-4B14-9587-95BD9996E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TW" sz="2000">
                <a:ea typeface="微軟正黑體" panose="020B0604030504040204" pitchFamily="34" charset="-120"/>
              </a:rPr>
              <a:t>DATE </a:t>
            </a:r>
          </a:p>
          <a:p>
            <a:pPr lvl="1">
              <a:lnSpc>
                <a:spcPct val="100000"/>
              </a:lnSpc>
            </a:pPr>
            <a:r>
              <a:rPr lang="zh-TW" altLang="en-US" sz="1800" b="1">
                <a:ea typeface="微軟正黑體" panose="020B0604030504040204" pitchFamily="34" charset="-120"/>
              </a:rPr>
              <a:t>標準的日期欄位是</a:t>
            </a:r>
            <a:r>
              <a:rPr lang="en-US" altLang="zh-TW" sz="1800" b="1">
                <a:ea typeface="微軟正黑體" panose="020B0604030504040204" pitchFamily="34" charset="-120"/>
              </a:rPr>
              <a:t>yyyy-mm-dd </a:t>
            </a:r>
          </a:p>
          <a:p>
            <a:pPr>
              <a:lnSpc>
                <a:spcPct val="100000"/>
              </a:lnSpc>
            </a:pPr>
            <a:r>
              <a:rPr lang="en-US" altLang="zh-TW" sz="2000">
                <a:ea typeface="微軟正黑體" panose="020B0604030504040204" pitchFamily="34" charset="-120"/>
              </a:rPr>
              <a:t>TIME </a:t>
            </a:r>
          </a:p>
          <a:p>
            <a:pPr lvl="1">
              <a:lnSpc>
                <a:spcPct val="100000"/>
              </a:lnSpc>
            </a:pPr>
            <a:r>
              <a:rPr lang="zh-TW" altLang="en-US" sz="1800" b="1">
                <a:ea typeface="微軟正黑體" panose="020B0604030504040204" pitchFamily="34" charset="-120"/>
              </a:rPr>
              <a:t>標準的時間欄位是</a:t>
            </a:r>
            <a:r>
              <a:rPr lang="en-US" altLang="zh-TW" sz="1800" b="1">
                <a:ea typeface="微軟正黑體" panose="020B0604030504040204" pitchFamily="34" charset="-120"/>
              </a:rPr>
              <a:t>hh:mm:ss</a:t>
            </a:r>
            <a:r>
              <a:rPr lang="en-US" altLang="zh-TW" sz="1800" b="1"/>
              <a:t>.sss</a:t>
            </a:r>
            <a:endParaRPr lang="en-US" altLang="zh-TW" sz="1800" b="1">
              <a:ea typeface="微軟正黑體" panose="020B0604030504040204" pitchFamily="34" charset="-120"/>
            </a:endParaRPr>
          </a:p>
          <a:p>
            <a:pPr>
              <a:lnSpc>
                <a:spcPct val="100000"/>
              </a:lnSpc>
            </a:pPr>
            <a:r>
              <a:rPr lang="en-US" altLang="zh-TW" sz="2000">
                <a:ea typeface="微軟正黑體" panose="020B0604030504040204" pitchFamily="34" charset="-120"/>
              </a:rPr>
              <a:t>DATETIME </a:t>
            </a:r>
            <a:r>
              <a:rPr lang="zh-TW" altLang="en-US" sz="2000">
                <a:ea typeface="微軟正黑體" panose="020B0604030504040204" pitchFamily="34" charset="-120"/>
              </a:rPr>
              <a:t>（或稱</a:t>
            </a:r>
            <a:r>
              <a:rPr lang="en-US" altLang="zh-TW" sz="2000">
                <a:ea typeface="微軟正黑體" panose="020B0604030504040204" pitchFamily="34" charset="-120"/>
              </a:rPr>
              <a:t>TIMESTAMP </a:t>
            </a:r>
            <a:r>
              <a:rPr lang="zh-TW" altLang="en-US" sz="2000">
                <a:ea typeface="微軟正黑體" panose="020B0604030504040204" pitchFamily="34" charset="-120"/>
              </a:rPr>
              <a:t>） </a:t>
            </a:r>
          </a:p>
          <a:p>
            <a:pPr lvl="1">
              <a:lnSpc>
                <a:spcPct val="100000"/>
              </a:lnSpc>
            </a:pPr>
            <a:r>
              <a:rPr lang="en-US" altLang="zh-TW" sz="1800" b="1">
                <a:ea typeface="微軟正黑體" panose="020B0604030504040204" pitchFamily="34" charset="-120"/>
              </a:rPr>
              <a:t>2003-07-10 13:27:50.000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0D12A4F-237A-411F-A2F3-A3D2DFCAA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AE8DDCE-B0CA-45BF-AEEF-B4124B9EB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2845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3AC937-E76D-4307-8E39-1511B4B1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資料型別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5B1AD7-C550-4295-A59D-704DD2F28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NULL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空值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INTEGER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整數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REAL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浮點數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TEXT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文字 </a:t>
            </a:r>
            <a:endParaRPr lang="en-US" altLang="zh-TW" dirty="0">
              <a:solidFill>
                <a:schemeClr val="tx1"/>
              </a:solidFill>
            </a:endParaRPr>
          </a:p>
          <a:p>
            <a:pPr lvl="1"/>
            <a:r>
              <a:rPr lang="zh-TW" altLang="en-US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日期以文字表示再用函式轉換</a:t>
            </a:r>
            <a:endParaRPr lang="en-US" altLang="zh-TW" b="1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altLang="zh-TW" dirty="0"/>
              <a:t>BLOB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tx1"/>
                </a:solidFill>
              </a:rPr>
              <a:t>B</a:t>
            </a:r>
            <a:r>
              <a:rPr lang="en-US" altLang="zh-TW" i="0" dirty="0">
                <a:solidFill>
                  <a:schemeClr val="tx1"/>
                </a:solidFill>
                <a:effectLst/>
              </a:rPr>
              <a:t>inary Large </a:t>
            </a:r>
            <a:r>
              <a:rPr lang="en-US" altLang="zh-TW" dirty="0">
                <a:solidFill>
                  <a:schemeClr val="tx1"/>
                </a:solidFill>
              </a:rPr>
              <a:t>Object </a:t>
            </a:r>
            <a:r>
              <a:rPr lang="zh-TW" altLang="en-US" dirty="0">
                <a:solidFill>
                  <a:schemeClr val="tx1"/>
                </a:solidFill>
              </a:rPr>
              <a:t>二進位資料儲存，</a:t>
            </a:r>
            <a:r>
              <a:rPr lang="en-US" altLang="zh-TW" dirty="0">
                <a:solidFill>
                  <a:schemeClr val="tx1"/>
                </a:solidFill>
              </a:rPr>
              <a:t>Blob</a:t>
            </a:r>
            <a:r>
              <a:rPr lang="zh-TW" altLang="en-US" dirty="0">
                <a:solidFill>
                  <a:schemeClr val="tx1"/>
                </a:solidFill>
              </a:rPr>
              <a:t>通常是影像、聲音或多媒體檔案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A7B226-C6A7-4AD8-AE51-ED33D1825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7D5E3-AB67-4D08-AF58-CB64E9A18F81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D7B039-1A3C-42A9-AD84-AB2D4AB7B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16205E3-512B-4386-89B0-1CCF7C81EE8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47" t="44676" r="804"/>
          <a:stretch/>
        </p:blipFill>
        <p:spPr>
          <a:xfrm>
            <a:off x="5387547" y="1046136"/>
            <a:ext cx="5795318" cy="18495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907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0445E4-71AA-402C-9849-37EE921A5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屬性完整性修飾詞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ED264D-739F-4555-A0FA-6329BCF4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33400" indent="-533400">
              <a:lnSpc>
                <a:spcPct val="150000"/>
              </a:lnSpc>
            </a:pPr>
            <a:r>
              <a:rPr lang="en-US" altLang="zh-TW" sz="2800" b="1">
                <a:solidFill>
                  <a:srgbClr val="0000FF"/>
                </a:solidFill>
                <a:ea typeface="微軟正黑體" panose="020B0604030504040204" pitchFamily="34" charset="-120"/>
              </a:rPr>
              <a:t>NOT</a:t>
            </a:r>
            <a:r>
              <a:rPr lang="zh-TW" altLang="en-US" sz="2800" b="1">
                <a:solidFill>
                  <a:srgbClr val="0000FF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2800" b="1">
                <a:solidFill>
                  <a:srgbClr val="0000FF"/>
                </a:solidFill>
                <a:ea typeface="微軟正黑體" panose="020B0604030504040204" pitchFamily="34" charset="-120"/>
              </a:rPr>
              <a:t>NULL</a:t>
            </a:r>
            <a:r>
              <a:rPr lang="zh-TW" altLang="en-US" sz="2800" b="1">
                <a:solidFill>
                  <a:srgbClr val="0000FF"/>
                </a:solidFill>
                <a:ea typeface="微軟正黑體" panose="020B0604030504040204" pitchFamily="34" charset="-120"/>
              </a:rPr>
              <a:t> </a:t>
            </a:r>
            <a:r>
              <a:rPr lang="zh-TW" altLang="en-US" sz="2800"/>
              <a:t>不為空值</a:t>
            </a:r>
            <a:endParaRPr lang="en-US" altLang="zh-TW" sz="2800" b="1">
              <a:ea typeface="微軟正黑體" panose="020B0604030504040204" pitchFamily="34" charset="-120"/>
            </a:endParaRPr>
          </a:p>
          <a:p>
            <a:pPr marL="533400" indent="-533400">
              <a:lnSpc>
                <a:spcPct val="150000"/>
              </a:lnSpc>
            </a:pPr>
            <a:r>
              <a:rPr lang="en-US" altLang="zh-TW" sz="2800" b="1">
                <a:solidFill>
                  <a:srgbClr val="0000FF"/>
                </a:solidFill>
                <a:ea typeface="微軟正黑體" panose="020B0604030504040204" pitchFamily="34" charset="-120"/>
              </a:rPr>
              <a:t>PRIMARY KEY</a:t>
            </a:r>
            <a:r>
              <a:rPr lang="zh-TW" altLang="en-US" sz="2800" dirty="0">
                <a:solidFill>
                  <a:srgbClr val="0000FF"/>
                </a:solidFill>
              </a:rPr>
              <a:t> </a:t>
            </a:r>
            <a:r>
              <a:rPr lang="zh-TW" altLang="en-US" sz="2800" b="1">
                <a:ea typeface="微軟正黑體" panose="020B0604030504040204" pitchFamily="34" charset="-120"/>
              </a:rPr>
              <a:t>用來</a:t>
            </a:r>
            <a:r>
              <a:rPr lang="zh-TW" altLang="en-US" sz="2800" b="1" dirty="0">
                <a:ea typeface="微軟正黑體" panose="020B0604030504040204" pitchFamily="34" charset="-120"/>
              </a:rPr>
              <a:t>設定一資料表的</a:t>
            </a:r>
            <a:r>
              <a:rPr lang="zh-TW" altLang="en-US" sz="2800" b="1" dirty="0">
                <a:solidFill>
                  <a:srgbClr val="00B0F0"/>
                </a:solidFill>
                <a:ea typeface="微軟正黑體" panose="020B0604030504040204" pitchFamily="34" charset="-120"/>
              </a:rPr>
              <a:t>主鍵</a:t>
            </a:r>
          </a:p>
          <a:p>
            <a:pPr marL="533400" indent="-533400">
              <a:lnSpc>
                <a:spcPct val="150000"/>
              </a:lnSpc>
            </a:pPr>
            <a:r>
              <a:rPr lang="en-US" altLang="zh-TW" sz="2800" b="1">
                <a:solidFill>
                  <a:srgbClr val="0000FF"/>
                </a:solidFill>
                <a:ea typeface="微軟正黑體" panose="020B0604030504040204" pitchFamily="34" charset="-120"/>
              </a:rPr>
              <a:t>UNIQUE</a:t>
            </a:r>
            <a:r>
              <a:rPr lang="zh-TW" altLang="en-US" sz="2800" dirty="0">
                <a:solidFill>
                  <a:srgbClr val="0000FF"/>
                </a:solidFill>
              </a:rPr>
              <a:t> </a:t>
            </a:r>
            <a:r>
              <a:rPr lang="zh-TW" altLang="en-US" sz="2800" b="1">
                <a:ea typeface="微軟正黑體" panose="020B0604030504040204" pitchFamily="34" charset="-120"/>
              </a:rPr>
              <a:t>該</a:t>
            </a:r>
            <a:r>
              <a:rPr lang="zh-TW" altLang="en-US" sz="2800" b="1" dirty="0">
                <a:ea typeface="微軟正黑體" panose="020B0604030504040204" pitchFamily="34" charset="-120"/>
              </a:rPr>
              <a:t>欄位值為</a:t>
            </a:r>
            <a:r>
              <a:rPr lang="zh-TW" altLang="en-US" sz="2800" b="1" dirty="0">
                <a:solidFill>
                  <a:srgbClr val="00B0F0"/>
                </a:solidFill>
                <a:ea typeface="微軟正黑體" panose="020B0604030504040204" pitchFamily="34" charset="-120"/>
              </a:rPr>
              <a:t>唯一</a:t>
            </a:r>
            <a:r>
              <a:rPr lang="zh-TW" altLang="en-US" sz="2800" b="1" dirty="0">
                <a:ea typeface="微軟正黑體" panose="020B0604030504040204" pitchFamily="34" charset="-120"/>
              </a:rPr>
              <a:t>，通常是用來設定</a:t>
            </a:r>
            <a:r>
              <a:rPr lang="zh-TW" altLang="en-US" sz="2800" b="1">
                <a:solidFill>
                  <a:srgbClr val="00B0F0"/>
                </a:solidFill>
                <a:ea typeface="微軟正黑體" panose="020B0604030504040204" pitchFamily="34" charset="-120"/>
              </a:rPr>
              <a:t>次要鍵</a:t>
            </a:r>
            <a:endParaRPr lang="en-US" altLang="zh-TW" sz="2800" b="1">
              <a:solidFill>
                <a:srgbClr val="00B0F0"/>
              </a:solidFill>
              <a:ea typeface="微軟正黑體" panose="020B0604030504040204" pitchFamily="34" charset="-120"/>
            </a:endParaRPr>
          </a:p>
          <a:p>
            <a:pPr marL="533400" indent="-533400">
              <a:lnSpc>
                <a:spcPct val="150000"/>
              </a:lnSpc>
            </a:pPr>
            <a:r>
              <a:rPr lang="en-US" altLang="zh-TW" sz="2800" b="1">
                <a:solidFill>
                  <a:srgbClr val="0000FF"/>
                </a:solidFill>
              </a:rPr>
              <a:t>DEFAULT </a:t>
            </a:r>
            <a:r>
              <a:rPr lang="zh-TW" altLang="en-US" sz="2800" b="1"/>
              <a:t>預設值</a:t>
            </a:r>
            <a:endParaRPr lang="zh-TW" altLang="en-US" sz="2800" b="1" dirty="0">
              <a:ea typeface="微軟正黑體" panose="020B0604030504040204" pitchFamily="34" charset="-120"/>
            </a:endParaRPr>
          </a:p>
          <a:p>
            <a:pPr marL="533400" indent="-533400">
              <a:lnSpc>
                <a:spcPct val="150000"/>
              </a:lnSpc>
            </a:pPr>
            <a:r>
              <a:rPr lang="en-US" altLang="zh-TW" sz="2800" b="1">
                <a:solidFill>
                  <a:srgbClr val="0000FF"/>
                </a:solidFill>
                <a:ea typeface="微軟正黑體" panose="020B0604030504040204" pitchFamily="34" charset="-120"/>
              </a:rPr>
              <a:t>FOREIGN KEY</a:t>
            </a:r>
            <a:r>
              <a:rPr lang="zh-TW" altLang="en-US" sz="2800" dirty="0">
                <a:solidFill>
                  <a:srgbClr val="0000FF"/>
                </a:solidFill>
              </a:rPr>
              <a:t> </a:t>
            </a:r>
            <a:r>
              <a:rPr lang="zh-TW" altLang="en-US" sz="2800" b="1">
                <a:ea typeface="微軟正黑體" panose="020B0604030504040204" pitchFamily="34" charset="-120"/>
              </a:rPr>
              <a:t>用來</a:t>
            </a:r>
            <a:r>
              <a:rPr lang="zh-TW" altLang="en-US" sz="2800" b="1" dirty="0">
                <a:ea typeface="微軟正黑體" panose="020B0604030504040204" pitchFamily="34" charset="-120"/>
              </a:rPr>
              <a:t>設定外部鍵</a:t>
            </a:r>
          </a:p>
          <a:p>
            <a:pPr marL="914400" lvl="1" indent="-457200">
              <a:lnSpc>
                <a:spcPct val="150000"/>
              </a:lnSpc>
            </a:pPr>
            <a:r>
              <a:rPr lang="en-US" altLang="zh-TW" sz="2200" b="1" dirty="0">
                <a:solidFill>
                  <a:srgbClr val="00B050"/>
                </a:solidFill>
                <a:ea typeface="微軟正黑體" panose="020B0604030504040204" pitchFamily="34" charset="-120"/>
              </a:rPr>
              <a:t>FOREIGN KEY </a:t>
            </a:r>
            <a:r>
              <a:rPr lang="en-US" altLang="zh-TW" sz="2200" b="1" dirty="0" err="1">
                <a:ea typeface="微軟正黑體" panose="020B0604030504040204" pitchFamily="34" charset="-120"/>
              </a:rPr>
              <a:t>pNo</a:t>
            </a:r>
            <a:r>
              <a:rPr lang="en-US" altLang="zh-TW" sz="2200" b="1" dirty="0">
                <a:ea typeface="微軟正黑體" panose="020B0604030504040204" pitchFamily="34" charset="-120"/>
              </a:rPr>
              <a:t> </a:t>
            </a:r>
            <a:r>
              <a:rPr lang="en-US" altLang="zh-TW" sz="22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REFERENCES</a:t>
            </a:r>
            <a:r>
              <a:rPr lang="en-US" altLang="zh-TW" sz="2200" b="1" dirty="0">
                <a:ea typeface="微軟正黑體" panose="020B0604030504040204" pitchFamily="34" charset="-120"/>
              </a:rPr>
              <a:t> Product(</a:t>
            </a:r>
            <a:r>
              <a:rPr lang="en-US" altLang="zh-TW" sz="2200" b="1" dirty="0" err="1">
                <a:ea typeface="微軟正黑體" panose="020B0604030504040204" pitchFamily="34" charset="-120"/>
              </a:rPr>
              <a:t>pNo</a:t>
            </a:r>
            <a:r>
              <a:rPr lang="en-US" altLang="zh-TW" sz="2200" b="1" dirty="0">
                <a:ea typeface="微軟正黑體" panose="020B0604030504040204" pitchFamily="34" charset="-120"/>
              </a:rPr>
              <a:t>)</a:t>
            </a:r>
          </a:p>
          <a:p>
            <a:pPr marL="514350" indent="-457200">
              <a:lnSpc>
                <a:spcPct val="150000"/>
              </a:lnSpc>
            </a:pPr>
            <a:r>
              <a:rPr lang="zh-TW" altLang="en-US" sz="2600" b="1">
                <a:solidFill>
                  <a:srgbClr val="C00000"/>
                </a:solidFill>
                <a:ea typeface="微軟正黑體" panose="020B0604030504040204" pitchFamily="34" charset="-120"/>
              </a:rPr>
              <a:t>一</a:t>
            </a:r>
            <a:r>
              <a:rPr lang="zh-TW" altLang="en-US" sz="2600" b="1" dirty="0">
                <a:solidFill>
                  <a:srgbClr val="C00000"/>
                </a:solidFill>
                <a:ea typeface="微軟正黑體" panose="020B0604030504040204" pitchFamily="34" charset="-120"/>
              </a:rPr>
              <a:t>筆記錄被刪除或其主鍵值被修改時，其相對應的外部鍵值會</a:t>
            </a:r>
            <a:r>
              <a:rPr lang="zh-TW" altLang="en-US" sz="2600" b="1">
                <a:solidFill>
                  <a:srgbClr val="C00000"/>
                </a:solidFill>
                <a:ea typeface="微軟正黑體" panose="020B0604030504040204" pitchFamily="34" charset="-120"/>
              </a:rPr>
              <a:t>受影響</a:t>
            </a:r>
            <a:endParaRPr lang="en-US" altLang="zh-TW" sz="2600" b="1" dirty="0">
              <a:solidFill>
                <a:srgbClr val="C00000"/>
              </a:solidFill>
              <a:ea typeface="微軟正黑體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</a:pPr>
            <a:r>
              <a:rPr lang="en-US" altLang="zh-TW" sz="2200" b="1" dirty="0">
                <a:ea typeface="微軟正黑體" panose="020B0604030504040204" pitchFamily="34" charset="-120"/>
              </a:rPr>
              <a:t>FOREIGN KEY</a:t>
            </a:r>
            <a:r>
              <a:rPr lang="zh-TW" altLang="en-US" sz="2200" b="1" dirty="0">
                <a:ea typeface="微軟正黑體" panose="020B0604030504040204" pitchFamily="34" charset="-120"/>
              </a:rPr>
              <a:t>裡的語法可以設定這些外部鍵值的處理方式</a:t>
            </a:r>
            <a:endParaRPr lang="en-US" altLang="zh-TW" sz="2200" b="1" dirty="0"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E3C8856-CEC3-44E1-9344-606C357A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75EBE-25A3-4140-BF2D-BF737B29A34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C54D88-E233-40C4-BB32-547F47FE6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2474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2317-B275-4272-8B8F-6A6A0A69A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外部鍵值經刪除或修改資料</a:t>
            </a: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C06EC0E5-EDCF-42ED-9055-C519BB8095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879129"/>
              </p:ext>
            </p:extLst>
          </p:nvPr>
        </p:nvGraphicFramePr>
        <p:xfrm>
          <a:off x="838200" y="1081912"/>
          <a:ext cx="10515600" cy="5274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8E3082E-E697-4F67-8D63-F56C5BA8A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67C2D-E67B-4803-BF30-19AC99EDD5B3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63F26E9-7876-4EEE-9B27-DC5DB538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504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8560482-ABD1-4B46-B469-A9A7E047F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15" y="2794176"/>
            <a:ext cx="3423224" cy="268744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6579CF4-A4ED-4C50-B02E-5756B6396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045" y="1896722"/>
            <a:ext cx="5228479" cy="4130434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06B5A6B-4807-4FCC-946D-6B732C28D03D}"/>
              </a:ext>
            </a:extLst>
          </p:cNvPr>
          <p:cNvSpPr/>
          <p:nvPr/>
        </p:nvSpPr>
        <p:spPr>
          <a:xfrm>
            <a:off x="895215" y="3700329"/>
            <a:ext cx="3423223" cy="4956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右 10">
            <a:extLst>
              <a:ext uri="{FF2B5EF4-FFF2-40B4-BE49-F238E27FC236}">
                <a16:creationId xmlns:a16="http://schemas.microsoft.com/office/drawing/2014/main" id="{5E75F3B3-55A5-42AE-9182-2D44EBBD2F19}"/>
              </a:ext>
            </a:extLst>
          </p:cNvPr>
          <p:cNvSpPr/>
          <p:nvPr/>
        </p:nvSpPr>
        <p:spPr>
          <a:xfrm>
            <a:off x="4956560" y="3606325"/>
            <a:ext cx="717847" cy="683664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C410BFB-521F-4D51-8343-538DC21AA106}"/>
              </a:ext>
            </a:extLst>
          </p:cNvPr>
          <p:cNvSpPr txBox="1"/>
          <p:nvPr/>
        </p:nvSpPr>
        <p:spPr>
          <a:xfrm>
            <a:off x="7578046" y="3876290"/>
            <a:ext cx="2858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>
                <a:solidFill>
                  <a:schemeClr val="bg1"/>
                </a:solidFill>
                <a:latin typeface="Comic Sans MS" panose="030F0702030302020204" pitchFamily="66" charset="0"/>
              </a:rPr>
              <a:t>Sqlite3 test.db</a:t>
            </a:r>
            <a:endParaRPr lang="zh-TW" altLang="en-US" sz="2800" b="1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13" name="標題 12">
            <a:extLst>
              <a:ext uri="{FF2B5EF4-FFF2-40B4-BE49-F238E27FC236}">
                <a16:creationId xmlns:a16="http://schemas.microsoft.com/office/drawing/2014/main" id="{B4FB0F4D-2C94-4481-AD7E-B4871065F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實驗室電腦啟動</a:t>
            </a:r>
            <a:r>
              <a:rPr lang="en-US" altLang="zh-TW"/>
              <a:t>sqlite3</a:t>
            </a:r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6CF7BE0-EA87-41B9-A70A-85F60CBA2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37049-09F0-4137-8B26-884E125F0A07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71E962-1EFE-4E8F-A6D0-9FEDE5EBE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599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D59B98F-EF49-4EDD-BF61-7A3007C5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039" y="69165"/>
            <a:ext cx="10515600" cy="844658"/>
          </a:xfrm>
        </p:spPr>
        <p:txBody>
          <a:bodyPr>
            <a:normAutofit/>
          </a:bodyPr>
          <a:lstStyle/>
          <a:p>
            <a:r>
              <a:rPr lang="zh-TW" altLang="en-US"/>
              <a:t>課堂練習</a:t>
            </a:r>
            <a:r>
              <a:rPr lang="en-US" altLang="zh-TW"/>
              <a:t>:</a:t>
            </a:r>
            <a:r>
              <a:rPr lang="zh-TW" altLang="en-US"/>
              <a:t>啟動</a:t>
            </a:r>
            <a:r>
              <a:rPr lang="en-US" altLang="zh-TW"/>
              <a:t>sqlite3</a:t>
            </a:r>
            <a:r>
              <a:rPr lang="zh-TW" altLang="en-US"/>
              <a:t>及建立資料表 </a:t>
            </a:r>
            <a:r>
              <a:rPr lang="en-US" altLang="zh-TW"/>
              <a:t>‘member’</a:t>
            </a:r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987E2F-805C-471D-9D37-38878D721045}"/>
              </a:ext>
            </a:extLst>
          </p:cNvPr>
          <p:cNvSpPr txBox="1"/>
          <p:nvPr/>
        </p:nvSpPr>
        <p:spPr>
          <a:xfrm>
            <a:off x="1285630" y="812293"/>
            <a:ext cx="4476262" cy="600164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sz="1600"/>
              <a:t>(base) C:\Users\User&gt;sqlite3 webstore.db</a:t>
            </a:r>
          </a:p>
          <a:p>
            <a:r>
              <a:rPr lang="en-US" altLang="zh-TW" sz="1600"/>
              <a:t>SQLite version 3.41.2 2023-03-22 11:56:21</a:t>
            </a:r>
          </a:p>
          <a:p>
            <a:r>
              <a:rPr lang="en-US" altLang="zh-TW" sz="1600"/>
              <a:t>Enter ".help" for usage hints.</a:t>
            </a:r>
          </a:p>
          <a:p>
            <a:r>
              <a:rPr lang="en-US" altLang="zh-TW" sz="1600"/>
              <a:t>sqlite&gt; .databases</a:t>
            </a:r>
          </a:p>
          <a:p>
            <a:r>
              <a:rPr lang="en-US" altLang="zh-TW" sz="1600"/>
              <a:t>main: C:\Users\User\webstore.db r/w</a:t>
            </a:r>
          </a:p>
          <a:p>
            <a:r>
              <a:rPr lang="en-US" altLang="zh-TW" sz="1600"/>
              <a:t>sqlite&gt; create table `member`(</a:t>
            </a:r>
          </a:p>
          <a:p>
            <a:r>
              <a:rPr lang="en-US" altLang="zh-TW" sz="1600"/>
              <a:t>(x1...&gt; mId              CHAR(8)          NOT NULL ,</a:t>
            </a:r>
          </a:p>
          <a:p>
            <a:r>
              <a:rPr lang="en-US" altLang="zh-TW" sz="1600"/>
              <a:t>(x1...&gt; pId              CHAR(10)        NOT NULL ,</a:t>
            </a:r>
          </a:p>
          <a:p>
            <a:r>
              <a:rPr lang="en-US" altLang="zh-TW" sz="1600"/>
              <a:t>(x1...&gt; name          VARCHAR(8)   NOT NULL ,</a:t>
            </a:r>
          </a:p>
          <a:p>
            <a:r>
              <a:rPr lang="en-US" altLang="zh-TW" sz="1600"/>
              <a:t>(x1...&gt; birthday      TEXT ,</a:t>
            </a:r>
          </a:p>
          <a:p>
            <a:r>
              <a:rPr lang="en-US" altLang="zh-TW" sz="1600"/>
              <a:t>(x1...&gt; phone         VARCHAR(10) ,</a:t>
            </a:r>
          </a:p>
          <a:p>
            <a:r>
              <a:rPr lang="en-US" altLang="zh-TW" sz="1600"/>
              <a:t>(x1...&gt; address      VARCHAR(40) ,</a:t>
            </a:r>
          </a:p>
          <a:p>
            <a:r>
              <a:rPr lang="en-US" altLang="zh-TW" sz="1600"/>
              <a:t>(x1...&gt; email           VARCHAR(20) ,</a:t>
            </a:r>
          </a:p>
          <a:p>
            <a:r>
              <a:rPr lang="en-US" altLang="zh-TW" sz="1600"/>
              <a:t>(x1...&gt; introducer   CHAR(8) ,</a:t>
            </a:r>
          </a:p>
          <a:p>
            <a:r>
              <a:rPr lang="en-US" altLang="zh-TW" sz="1600"/>
              <a:t>(x1...&gt; PRIMARY KEY (mId),</a:t>
            </a:r>
          </a:p>
          <a:p>
            <a:r>
              <a:rPr lang="en-US" altLang="zh-TW" sz="1600"/>
              <a:t>(x1...&gt; UNIQUE (pId),</a:t>
            </a:r>
          </a:p>
          <a:p>
            <a:r>
              <a:rPr lang="en-US" altLang="zh-TW" sz="1600"/>
              <a:t>(x1...&gt; FOREIGN KEY(introducer)</a:t>
            </a:r>
          </a:p>
          <a:p>
            <a:r>
              <a:rPr lang="en-US" altLang="zh-TW" sz="1600"/>
              <a:t>(x1...&gt; REFERENCES Member(mId)</a:t>
            </a:r>
          </a:p>
          <a:p>
            <a:r>
              <a:rPr lang="en-US" altLang="zh-TW" sz="1600"/>
              <a:t>(x1...&gt; ON DELETE SET NULL ON UPDATE CASCADE</a:t>
            </a:r>
          </a:p>
          <a:p>
            <a:r>
              <a:rPr lang="en-US" altLang="zh-TW" sz="1600"/>
              <a:t>(x1...&gt; );</a:t>
            </a:r>
          </a:p>
          <a:p>
            <a:r>
              <a:rPr lang="en-US" altLang="zh-TW" sz="1600"/>
              <a:t>sqlite&gt; .table</a:t>
            </a:r>
          </a:p>
          <a:p>
            <a:r>
              <a:rPr lang="en-US" altLang="zh-TW" sz="1600"/>
              <a:t>member</a:t>
            </a:r>
          </a:p>
          <a:p>
            <a:r>
              <a:rPr lang="en-US" altLang="zh-TW" sz="1600"/>
              <a:t>sqlite&gt; .quit</a:t>
            </a:r>
          </a:p>
          <a:p>
            <a:r>
              <a:rPr lang="en-US" altLang="zh-TW" sz="1600"/>
              <a:t>(base) C:\Users\User&gt;</a:t>
            </a:r>
            <a:endParaRPr lang="zh-TW" altLang="en-US" sz="16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8D695-DC84-4CC7-9484-6130D5526127}"/>
              </a:ext>
            </a:extLst>
          </p:cNvPr>
          <p:cNvSpPr txBox="1"/>
          <p:nvPr/>
        </p:nvSpPr>
        <p:spPr>
          <a:xfrm>
            <a:off x="6536021" y="812293"/>
            <a:ext cx="4900940" cy="234846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TW" sz="2000" b="1">
                <a:latin typeface="Comic Sans MS" panose="030F0702030302020204" pitchFamily="66" charset="0"/>
                <a:ea typeface="微軟正黑體" panose="020B0604030504040204" pitchFamily="34" charset="-120"/>
              </a:rPr>
              <a:t>Sqlite3 </a:t>
            </a:r>
            <a:r>
              <a:rPr lang="zh-TW" altLang="en-US" sz="2000" b="1">
                <a:latin typeface="Comic Sans MS" panose="030F0702030302020204" pitchFamily="66" charset="0"/>
                <a:ea typeface="微軟正黑體" panose="020B0604030504040204" pitchFamily="34" charset="-120"/>
              </a:rPr>
              <a:t>點命令</a:t>
            </a:r>
            <a:endParaRPr lang="en-US" altLang="zh-TW" sz="2000" b="1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啟動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sqlite3: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sqlite3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webstore.db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檢查資料庫列表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.databases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檢查資料表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.table</a:t>
            </a:r>
            <a:endParaRPr lang="en-US" altLang="zh-TW" sz="2000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離開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sqlite3: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.quit</a:t>
            </a:r>
            <a:endParaRPr lang="zh-TW" altLang="en-US" sz="20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A4AF1E3-FF3A-4F21-A669-416710C3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2FC8E-EE1B-4573-AFD9-255377973795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239DD3C-8F15-426E-8491-4FED7B91F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DBC6D51-E43B-4E81-82EF-591C51FC0383}"/>
              </a:ext>
            </a:extLst>
          </p:cNvPr>
          <p:cNvSpPr txBox="1"/>
          <p:nvPr/>
        </p:nvSpPr>
        <p:spPr>
          <a:xfrm>
            <a:off x="6536021" y="3410714"/>
            <a:ext cx="4900940" cy="2246769"/>
          </a:xfrm>
          <a:prstGeom prst="rect">
            <a:avLst/>
          </a:prstGeom>
          <a:solidFill>
            <a:srgbClr val="FFFF00"/>
          </a:solidFill>
          <a:ln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sqlite3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提供命令輸入模式可在 </a:t>
            </a: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”sqlite&gt;”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提示後輸入</a:t>
            </a: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指令，</a:t>
            </a: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指令最後以「</a:t>
            </a:r>
            <a:r>
              <a:rPr lang="en-US" altLang="zh-TW" sz="2000" b="1">
                <a:latin typeface="Calibri" panose="020F0502020204030204" pitchFamily="34" charset="0"/>
                <a:ea typeface="清松手寫體3" panose="00000500000000000000" pitchFamily="2" charset="-120"/>
              </a:rPr>
              <a:t>;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」結尾</a:t>
            </a:r>
            <a:endParaRPr lang="en-US" altLang="zh-TW" sz="2000">
              <a:latin typeface="Calibri" panose="020F0502020204030204" pitchFamily="34" charset="0"/>
              <a:ea typeface="清松手寫體3" panose="00000500000000000000" pitchFamily="2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指令分行輸入時，</a:t>
            </a: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sqlite3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顯示</a:t>
            </a: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”(x1…&gt;”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的提示</a:t>
            </a:r>
            <a:endParaRPr lang="en-US" altLang="zh-TW" sz="2000">
              <a:latin typeface="Calibri" panose="020F0502020204030204" pitchFamily="34" charset="0"/>
              <a:ea typeface="清松手寫體3" panose="00000500000000000000" pitchFamily="2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指令可以先在文字編輯器中輸入，再拷貝後貼入</a:t>
            </a:r>
            <a:r>
              <a:rPr lang="en-US" altLang="zh-TW" sz="2000">
                <a:latin typeface="Calibri" panose="020F0502020204030204" pitchFamily="34" charset="0"/>
                <a:ea typeface="清松手寫體3" panose="00000500000000000000" pitchFamily="2" charset="-120"/>
              </a:rPr>
              <a:t>sqlite3</a:t>
            </a:r>
            <a:r>
              <a:rPr lang="zh-TW" altLang="en-US" sz="2000">
                <a:latin typeface="Calibri" panose="020F0502020204030204" pitchFamily="34" charset="0"/>
                <a:ea typeface="清松手寫體3" panose="00000500000000000000" pitchFamily="2" charset="-120"/>
              </a:rPr>
              <a:t>命令列</a:t>
            </a:r>
          </a:p>
        </p:txBody>
      </p:sp>
    </p:spTree>
    <p:extLst>
      <p:ext uri="{BB962C8B-B14F-4D97-AF65-F5344CB8AC3E}">
        <p14:creationId xmlns:p14="http://schemas.microsoft.com/office/powerpoint/2010/main" val="298280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216C10C-E28D-49E2-950A-E0C2B27D6A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/>
              <a:t>資料表定義範例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0A2E0B5-07CA-4B16-9A74-BDB4A12CA6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73BBA67-59CF-4D25-AE03-B9A5E232A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D3740-1BAC-4936-BF05-C28C4848A4F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994DF8-7BE3-421A-BD48-0805A5809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86839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5E8A7E8-506A-4AC6-8CCD-FF5DF7FFE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交易資料表 </a:t>
            </a:r>
            <a:r>
              <a:rPr lang="en-US" altLang="zh-TW"/>
              <a:t>(Transaction)</a:t>
            </a:r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E895E52-DC7B-4329-A08A-6D4A9282F7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zh-TW" sz="2800">
                <a:solidFill>
                  <a:srgbClr val="0000FF"/>
                </a:solidFill>
                <a:latin typeface="+mn-lt"/>
              </a:rPr>
              <a:t>CREATE TABLE  </a:t>
            </a:r>
            <a:r>
              <a:rPr lang="en-US" altLang="zh-TW" sz="2800">
                <a:solidFill>
                  <a:srgbClr val="7030A0"/>
                </a:solidFill>
                <a:latin typeface="+mn-lt"/>
              </a:rPr>
              <a:t>Transaction</a:t>
            </a:r>
          </a:p>
          <a:p>
            <a:pPr marL="0" indent="0">
              <a:buNone/>
            </a:pPr>
            <a:r>
              <a:rPr lang="en-US" altLang="zh-TW" sz="2800">
                <a:solidFill>
                  <a:srgbClr val="0000FF"/>
                </a:solidFill>
                <a:latin typeface="+mn-lt"/>
              </a:rPr>
              <a:t>(</a:t>
            </a:r>
          </a:p>
          <a:p>
            <a:pPr marL="0" indent="0">
              <a:buNone/>
            </a:pPr>
            <a:r>
              <a:rPr lang="zh-TW" altLang="en-US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tNo     CHAR(5)    </a:t>
            </a:r>
            <a:r>
              <a:rPr lang="en-US" altLang="zh-TW" sz="24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NOT NULL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,</a:t>
            </a:r>
          </a:p>
          <a:p>
            <a:pPr marL="0" indent="0">
              <a:buNone/>
            </a:pPr>
            <a:r>
              <a:rPr lang="zh-TW" altLang="en-US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transMId     CHAR(8)   NOT NULL,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transTime   TEXT  </a:t>
            </a:r>
            <a:r>
              <a:rPr lang="zh-TW" altLang="en-US" sz="2400">
                <a:solidFill>
                  <a:srgbClr val="0000FF"/>
                </a:solidFill>
                <a:latin typeface="+mn-lt"/>
              </a:rPr>
              <a:t>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NOT NULL,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method    </a:t>
            </a:r>
            <a:r>
              <a:rPr lang="zh-TW" altLang="en-US" sz="2400">
                <a:solidFill>
                  <a:srgbClr val="0000FF"/>
                </a:solidFill>
                <a:latin typeface="+mn-lt"/>
              </a:rPr>
              <a:t>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VARCHAR(5)     NOT NULL,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bankId    </a:t>
            </a:r>
            <a:r>
              <a:rPr lang="zh-TW" altLang="en-US" sz="2400">
                <a:solidFill>
                  <a:srgbClr val="0000FF"/>
                </a:solidFill>
                <a:latin typeface="+mn-lt"/>
              </a:rPr>
              <a:t>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VARCHAR(14),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bankName VARCHAR(20),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cardId   VARCHAR(10),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cardType  VARCHAR(10),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dueDate   TEXT,</a:t>
            </a:r>
          </a:p>
          <a:p>
            <a:pPr marL="0" indent="0">
              <a:buNone/>
            </a:pPr>
            <a:endParaRPr lang="en-US" altLang="zh-TW" sz="2400">
              <a:solidFill>
                <a:srgbClr val="0000FF"/>
              </a:solidFill>
              <a:latin typeface="+mn-lt"/>
            </a:endParaRP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PRIMARY KEY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(tNo) ,</a:t>
            </a:r>
          </a:p>
          <a:p>
            <a:pPr marL="0" indent="0">
              <a:buNone/>
            </a:pPr>
            <a:r>
              <a:rPr lang="zh-TW" altLang="en-US" sz="24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     </a:t>
            </a:r>
            <a:r>
              <a:rPr lang="en-US" altLang="zh-TW" sz="24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FOREIGN KEY 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(transMid) </a:t>
            </a:r>
            <a:r>
              <a:rPr lang="en-US" altLang="zh-TW" sz="24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REFERENCES</a:t>
            </a:r>
            <a:r>
              <a:rPr lang="en-US" altLang="zh-TW" sz="2400">
                <a:solidFill>
                  <a:srgbClr val="0000FF"/>
                </a:solidFill>
                <a:latin typeface="+mn-lt"/>
              </a:rPr>
              <a:t> Member(mId)</a:t>
            </a:r>
          </a:p>
          <a:p>
            <a:pPr marL="0" indent="0">
              <a:buNone/>
            </a:pPr>
            <a:r>
              <a:rPr lang="en-US" altLang="zh-TW" sz="2800">
                <a:solidFill>
                  <a:srgbClr val="0000FF"/>
                </a:solidFill>
                <a:latin typeface="+mn-lt"/>
              </a:rPr>
              <a:t>);</a:t>
            </a:r>
            <a:endParaRPr lang="zh-TW" altLang="en-US">
              <a:solidFill>
                <a:srgbClr val="0000FF"/>
              </a:solidFill>
              <a:latin typeface="+mn-lt"/>
            </a:endParaRPr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F35B2B88-FF2B-4335-BE3E-268541080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NOT NULL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b="1">
                <a:latin typeface="Comic Sans MS" panose="030F0702030302020204" pitchFamily="66" charset="0"/>
                <a:ea typeface="微軟正黑體" panose="020B0604030504040204" pitchFamily="34" charset="-120"/>
              </a:rPr>
              <a:t>不得為空值</a:t>
            </a:r>
            <a:endParaRPr lang="en-US" altLang="zh-TW" b="1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PRIMARY KEY</a:t>
            </a:r>
            <a:r>
              <a:rPr lang="zh-TW" altLang="en-US" sz="2400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sz="2400" b="1">
                <a:latin typeface="Comic Sans MS" panose="030F0702030302020204" pitchFamily="66" charset="0"/>
                <a:ea typeface="微軟正黑體" panose="020B0604030504040204" pitchFamily="34" charset="-120"/>
              </a:rPr>
              <a:t>設定資料表的</a:t>
            </a:r>
            <a:r>
              <a:rPr lang="zh-TW" altLang="en-US" sz="24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主鍵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FOREIGN KEY</a:t>
            </a:r>
            <a:r>
              <a:rPr lang="zh-TW" altLang="en-US" sz="2400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sz="2400" b="1">
                <a:latin typeface="Comic Sans MS" panose="030F0702030302020204" pitchFamily="66" charset="0"/>
                <a:ea typeface="微軟正黑體" panose="020B0604030504040204" pitchFamily="34" charset="-120"/>
              </a:rPr>
              <a:t>設定</a:t>
            </a:r>
            <a:r>
              <a:rPr lang="zh-TW" altLang="en-US" sz="24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外部鍵</a:t>
            </a:r>
            <a:endParaRPr lang="en-US" altLang="zh-TW" sz="24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REFERENCES</a:t>
            </a: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外來鍵參考到的資料表項目</a:t>
            </a:r>
            <a:endParaRPr lang="zh-TW" altLang="en-US" sz="2400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72E040D-1F72-41F1-8925-AE87BE069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50EB90-3B76-4552-93B7-464703B95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0938BA-9083-4902-B8E6-0DF2D327E6BB}"/>
              </a:ext>
            </a:extLst>
          </p:cNvPr>
          <p:cNvSpPr txBox="1"/>
          <p:nvPr/>
        </p:nvSpPr>
        <p:spPr>
          <a:xfrm>
            <a:off x="6292361" y="3429000"/>
            <a:ext cx="4941277" cy="92333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zh-TW" altLang="en-US"/>
              <a:t>建立 </a:t>
            </a:r>
            <a:r>
              <a:rPr lang="en-US" altLang="zh-TW"/>
              <a:t>Transaction</a:t>
            </a:r>
            <a:r>
              <a:rPr lang="zh-TW" altLang="en-US"/>
              <a:t> 資料表產生錯誤，原因出於 </a:t>
            </a:r>
            <a:r>
              <a:rPr lang="en-US" altLang="zh-TW"/>
              <a:t>Transaction </a:t>
            </a:r>
            <a:r>
              <a:rPr lang="zh-TW" altLang="en-US"/>
              <a:t>為</a:t>
            </a:r>
            <a:r>
              <a:rPr lang="en-US" altLang="zh-TW"/>
              <a:t>sqlite3</a:t>
            </a:r>
            <a:r>
              <a:rPr lang="zh-TW" altLang="en-US"/>
              <a:t>關鍵字，可以將資料表的名稱改為 </a:t>
            </a:r>
            <a:r>
              <a:rPr lang="en-US" altLang="zh-TW"/>
              <a:t>Transaction</a:t>
            </a:r>
            <a:r>
              <a:rPr lang="en-US" altLang="zh-TW">
                <a:highlight>
                  <a:srgbClr val="FFFF00"/>
                </a:highlight>
              </a:rPr>
              <a:t>s</a:t>
            </a:r>
            <a:endParaRPr lang="zh-TW" altLang="en-US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42820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F150263-AB8B-4438-9938-FF8BADDF8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瀏覽紀錄表</a:t>
            </a:r>
            <a:r>
              <a:rPr lang="en-US" altLang="zh-TW"/>
              <a:t>(Browse)</a:t>
            </a:r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B70E2F74-B3F8-4743-A326-A2B750201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1" y="1003550"/>
            <a:ext cx="5980722" cy="53528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CREATE TABLE </a:t>
            </a:r>
            <a:r>
              <a:rPr lang="en-US" altLang="zh-TW" sz="1800">
                <a:solidFill>
                  <a:srgbClr val="7030A0"/>
                </a:solidFill>
                <a:latin typeface="Consolas" panose="020B0609020204030204" pitchFamily="49" charset="0"/>
              </a:rPr>
              <a:t>Browse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mId  CHAR(8) 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NOT NULL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'a0910001’,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pNo  CHAR(6) NOT NULL,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browseTime  TEXT  NOT NULL,     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    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PRIMARY KEY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(mId, pNo, browseTime ),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FOREIGN KEY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(mId)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REFERENCES 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Member(mId)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ON DELETE SET DEFAULT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ON UPDATE CASCADE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FOREIGN KEY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(pNo) </a:t>
            </a:r>
            <a:r>
              <a:rPr lang="en-US" altLang="zh-TW" sz="180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REFERENCES</a:t>
            </a: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 Product (pNo)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zh-TW" altLang="en-US" sz="180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E9425448-89E4-4E36-A54F-8C4D9A0936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4092" y="1003550"/>
            <a:ext cx="4499708" cy="5352800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外來鍵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(foreign key)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是一個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或數個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指向另一個表格主鍵的欄位</a:t>
            </a:r>
            <a:endParaRPr lang="en-US" altLang="zh-TW" sz="2000">
              <a:solidFill>
                <a:schemeClr val="tx1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外來鍵用來確定資料的參考完整性 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(Referential Integrity)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。只有被准許的資料值才會被存入資料庫內。</a:t>
            </a:r>
            <a:endParaRPr lang="en-US" altLang="zh-TW" sz="2000">
              <a:solidFill>
                <a:schemeClr val="tx1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在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Browse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中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mId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的資料在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Member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中的</a:t>
            </a:r>
            <a:r>
              <a:rPr lang="en-US" altLang="zh-TW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mId</a:t>
            </a:r>
            <a:r>
              <a:rPr lang="zh-TW" altLang="en-US" sz="2000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一定要存在。</a:t>
            </a:r>
            <a:endParaRPr lang="en-US" altLang="zh-TW" sz="2000">
              <a:solidFill>
                <a:schemeClr val="tx1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zh-TW" altLang="en-US" sz="2000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外部鍵值變動狀況處理</a:t>
            </a:r>
            <a:endParaRPr lang="en-US" altLang="zh-TW" sz="2000" b="1">
              <a:solidFill>
                <a:schemeClr val="tx1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742950" lvl="1" indent="-285750">
              <a:lnSpc>
                <a:spcPct val="120000"/>
              </a:lnSpc>
            </a:pPr>
            <a:r>
              <a:rPr lang="en-US" altLang="zh-TW" sz="18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ON DELETE SET DEFAULT : </a:t>
            </a:r>
            <a:r>
              <a:rPr lang="zh-TW" altLang="en-US" sz="1800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一筆記錄被刪除時，所有參考它的外部鍵值全部變成預設值</a:t>
            </a:r>
            <a:endParaRPr lang="en-US" altLang="zh-TW" sz="1800" b="1">
              <a:solidFill>
                <a:schemeClr val="tx1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742950" lvl="1" indent="-285750">
              <a:lnSpc>
                <a:spcPct val="120000"/>
              </a:lnSpc>
            </a:pPr>
            <a:r>
              <a:rPr lang="en-US" altLang="zh-TW" sz="18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ON UPDATE CASCADE</a:t>
            </a:r>
            <a:r>
              <a:rPr lang="en-US" altLang="zh-TW" sz="1800" b="1">
                <a:solidFill>
                  <a:srgbClr val="C00000"/>
                </a:solidFill>
              </a:rPr>
              <a:t> : </a:t>
            </a:r>
            <a:r>
              <a:rPr lang="zh-TW" altLang="en-US" sz="1800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一筆記錄的主鍵值被修改時，所有參考它的外部鍵值全部跟著修改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A7C409A-7E1B-4682-9223-A0EECC1E7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0D0050-22C6-4C7B-9930-AD507016A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702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7081945-D042-4707-A829-BEE040651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商品資料表</a:t>
            </a:r>
            <a:r>
              <a:rPr lang="en-US" altLang="zh-TW"/>
              <a:t>(products)</a:t>
            </a:r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7434EEE6-30EA-4952-833B-2C578BC191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003550"/>
            <a:ext cx="6477000" cy="5352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CREATE TABLE </a:t>
            </a:r>
            <a:r>
              <a:rPr lang="en-US" altLang="zh-TW" sz="2000">
                <a:solidFill>
                  <a:srgbClr val="7030A0"/>
                </a:solidFill>
                <a:latin typeface="+mn-lt"/>
              </a:rPr>
              <a:t>Products</a:t>
            </a:r>
            <a:r>
              <a:rPr lang="en-US" altLang="zh-TW" sz="2000">
                <a:solidFill>
                  <a:srgbClr val="0000FF"/>
                </a:solidFill>
                <a:latin typeface="+mn-lt"/>
              </a:rPr>
              <a:t>( 	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    pNo         CHAR(6)     NOT NULL,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    pName        VARCHAR(30),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    unitPrice      DECIMAL(10,2),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    category      VARCHAR(20),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    </a:t>
            </a:r>
            <a:r>
              <a:rPr lang="en-US" altLang="zh-TW" sz="20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PRIMARY KEY </a:t>
            </a:r>
            <a:r>
              <a:rPr lang="en-US" altLang="zh-TW" sz="2000">
                <a:solidFill>
                  <a:srgbClr val="0000FF"/>
                </a:solidFill>
                <a:latin typeface="+mn-lt"/>
              </a:rPr>
              <a:t>(pNo 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    </a:t>
            </a:r>
            <a:r>
              <a:rPr lang="en-US" altLang="zh-TW" sz="20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CONSTRAINT</a:t>
            </a:r>
            <a:r>
              <a:rPr lang="en-US" altLang="zh-TW" sz="2000">
                <a:solidFill>
                  <a:srgbClr val="0000FF"/>
                </a:solidFill>
                <a:latin typeface="+mn-lt"/>
              </a:rPr>
              <a:t> UnitPrice_Check</a:t>
            </a:r>
            <a:r>
              <a:rPr lang="zh-TW" altLang="en-US" sz="2000">
                <a:solidFill>
                  <a:srgbClr val="0000FF"/>
                </a:solidFill>
                <a:latin typeface="+mn-lt"/>
              </a:rPr>
              <a:t> </a:t>
            </a:r>
            <a:r>
              <a:rPr lang="en-US" altLang="zh-TW" sz="2000">
                <a:solidFill>
                  <a:srgbClr val="0000FF"/>
                </a:solidFill>
                <a:highlight>
                  <a:srgbClr val="FFFF00"/>
                </a:highlight>
                <a:latin typeface="+mn-lt"/>
              </a:rPr>
              <a:t>CHECK</a:t>
            </a:r>
            <a:r>
              <a:rPr lang="en-US" altLang="zh-TW" sz="2000">
                <a:solidFill>
                  <a:srgbClr val="0000FF"/>
                </a:solidFill>
                <a:latin typeface="+mn-lt"/>
              </a:rPr>
              <a:t> (unitPrice &gt; 100)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+mn-lt"/>
              </a:rPr>
              <a:t>);</a:t>
            </a:r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822D6023-0013-4CE1-9A1F-6EC35FF7D5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altLang="zh-TW" sz="20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(</a:t>
            </a:r>
            <a:r>
              <a:rPr lang="en-US" altLang="zh-TW" sz="2000">
                <a:solidFill>
                  <a:srgbClr val="7030A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unitPrice &gt; 100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 sz="2000"/>
              <a:t>的用途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確保輸入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unitprice 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值大於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100,</a:t>
            </a:r>
            <a:endParaRPr lang="en-US" altLang="zh-TW" sz="2000" b="1">
              <a:solidFill>
                <a:srgbClr val="0070C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r>
              <a:rPr lang="en-US" altLang="zh-TW" sz="20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CONSTRAINT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用於建立一個</a:t>
            </a:r>
            <a:r>
              <a:rPr lang="en-US" altLang="zh-TW" sz="2000" u="sng"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zh-TW" altLang="en-US" sz="2000" u="sng">
                <a:latin typeface="Comic Sans MS" panose="030F0702030302020204" pitchFamily="66" charset="0"/>
                <a:ea typeface="微軟正黑體" panose="020B0604030504040204" pitchFamily="34" charset="-120"/>
              </a:rPr>
              <a:t>標籤</a:t>
            </a:r>
            <a:r>
              <a:rPr lang="en-US" altLang="zh-TW" sz="2000" u="sng"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zh-TW" altLang="en-US" sz="2000" u="sng">
                <a:latin typeface="Comic Sans MS" panose="030F0702030302020204" pitchFamily="66" charset="0"/>
                <a:ea typeface="微軟正黑體" panose="020B0604030504040204" pitchFamily="34" charset="-120"/>
              </a:rPr>
              <a:t>變數</a:t>
            </a:r>
            <a:r>
              <a:rPr lang="en-US" altLang="zh-TW" sz="2000" u="sng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，當要修改資料表時可以 </a:t>
            </a:r>
            <a:r>
              <a:rPr lang="en-US" altLang="zh-TW" sz="20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DROP CHECK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[</a:t>
            </a:r>
            <a:r>
              <a:rPr lang="en-US" altLang="zh-TW" sz="2000">
                <a:solidFill>
                  <a:srgbClr val="00B05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zh-TW" altLang="en-US" sz="2000">
                <a:solidFill>
                  <a:srgbClr val="00B05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標籤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]</a:t>
            </a:r>
            <a:r>
              <a:rPr lang="zh-TW" altLang="en-US" sz="2000"/>
              <a:t>刪除</a:t>
            </a:r>
            <a:endParaRPr lang="en-US" altLang="zh-TW" sz="2000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endParaRPr lang="zh-TW" altLang="en-US" sz="200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8EBA753-3FD8-43BF-9171-CC938DF4A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2C3CA-1FA2-4351-864D-F6F6608E749B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7594541-AF79-4E3D-B94B-9E4B77AE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907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DCA29A-3599-493B-8C74-84E4BD16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商品創作者資料表 </a:t>
            </a:r>
            <a:r>
              <a:rPr lang="en-US" altLang="zh-TW"/>
              <a:t>(authors)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57B62FD-736C-440C-86C8-5A1AEEE661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003550"/>
            <a:ext cx="6883400" cy="5352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>
                <a:latin typeface="Calibri" panose="020F0502020204030204" pitchFamily="34" charset="0"/>
                <a:cs typeface="Calibri" panose="020F0502020204030204" pitchFamily="34" charset="0"/>
              </a:rPr>
              <a:t>CREATE TABLE </a:t>
            </a:r>
            <a:r>
              <a:rPr lang="en-US" altLang="zh-TW" sz="2000">
                <a:solidFill>
                  <a:srgbClr val="7030A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authors</a:t>
            </a: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pNo CHAR(6) not null,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name VARCHAR(8) not null,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altLang="zh-TW" sz="2000">
                <a:solidFill>
                  <a:srgbClr val="0000FF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PRIMARY KEY </a:t>
            </a: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(pNo, name),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altLang="zh-TW" sz="2000">
                <a:solidFill>
                  <a:srgbClr val="0000FF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FOREIGN KEY </a:t>
            </a: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(pNo) </a:t>
            </a:r>
            <a:r>
              <a:rPr lang="en-US" altLang="zh-TW" sz="2000">
                <a:solidFill>
                  <a:srgbClr val="0000FF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REFERENCES</a:t>
            </a: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product(pNo);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);</a:t>
            </a:r>
            <a:endParaRPr lang="zh-TW" altLang="en-US" sz="2000">
              <a:solidFill>
                <a:srgbClr val="0000F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5E39584-F025-4D47-8CB5-FCC1ACAB2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4585" y="1003550"/>
            <a:ext cx="4859215" cy="5352800"/>
          </a:xfrm>
        </p:spPr>
        <p:txBody>
          <a:bodyPr>
            <a:normAutofit/>
          </a:bodyPr>
          <a:lstStyle/>
          <a:p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pNo, name 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為主鍵</a:t>
            </a:r>
            <a:endParaRPr lang="en-US" altLang="zh-TW" sz="2000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pNo 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外部鍵需對應 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product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資料表的 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pNo</a:t>
            </a:r>
            <a:endParaRPr lang="zh-TW" altLang="en-US" sz="2000">
              <a:solidFill>
                <a:schemeClr val="tx1"/>
              </a:solidFill>
              <a:ea typeface="清松手寫體3" panose="00000500000000000000" pitchFamily="2" charset="-120"/>
            </a:endParaRP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374D062-03C0-490C-B9D0-58DE5AFA6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2E4CA-C6AA-407C-8BE4-A34E16100C1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DDADCAE-75F0-41AD-9BA8-70373D4AF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37808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638504-5E6C-4CE9-840D-42D0E45A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購物車資料表 </a:t>
            </a:r>
            <a:r>
              <a:rPr lang="en-US" altLang="zh-TW"/>
              <a:t>(carts)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E80706-D039-4DEF-90C1-6DAD7A0607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923" y="1003550"/>
            <a:ext cx="6572739" cy="5352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>
                <a:effectLst/>
                <a:latin typeface="+mn-lt"/>
              </a:rPr>
              <a:t>CREATE TABLE </a:t>
            </a:r>
            <a:r>
              <a:rPr lang="en-US" altLang="zh-TW" sz="1800">
                <a:solidFill>
                  <a:srgbClr val="7030A0"/>
                </a:solidFill>
                <a:effectLst/>
                <a:latin typeface="+mn-lt"/>
              </a:rPr>
              <a:t>Carts</a:t>
            </a: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(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    mld CHAR(8) NOT NULL,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    cartTime TEXT NOT NULL,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    tNo CHAR(5),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   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PRIMARY KEY </a:t>
            </a: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(mld, cartTime),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   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FOREIGN KEY </a:t>
            </a: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(tNo)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REFERENCES </a:t>
            </a: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Transactions(tNo)</a:t>
            </a:r>
          </a:p>
          <a:p>
            <a:pPr marL="0" indent="0">
              <a:buNone/>
            </a:pPr>
            <a:r>
              <a:rPr lang="en-US" altLang="zh-TW" sz="1800">
                <a:effectLst/>
                <a:latin typeface="+mn-lt"/>
              </a:rPr>
              <a:t>    </a:t>
            </a:r>
            <a:r>
              <a:rPr lang="en-US" altLang="zh-TW" sz="1800">
                <a:solidFill>
                  <a:srgbClr val="00B050"/>
                </a:solidFill>
                <a:effectLst/>
                <a:latin typeface="+mn-lt"/>
              </a:rPr>
              <a:t>ON UPDATE CASCADE</a:t>
            </a:r>
            <a:r>
              <a:rPr lang="en-US" altLang="zh-TW" sz="1800">
                <a:effectLst/>
                <a:latin typeface="+mn-lt"/>
              </a:rPr>
              <a:t>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   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FOREIGN KEY </a:t>
            </a: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(mld) REFERENCES Member(mld)</a:t>
            </a:r>
          </a:p>
          <a:p>
            <a:pPr marL="0" indent="0">
              <a:buNone/>
            </a:pPr>
            <a:r>
              <a:rPr lang="en-US" altLang="zh-TW" sz="1800">
                <a:effectLst/>
                <a:latin typeface="+mn-lt"/>
              </a:rPr>
              <a:t>    </a:t>
            </a:r>
            <a:r>
              <a:rPr lang="en-US" altLang="zh-TW" sz="1800">
                <a:solidFill>
                  <a:srgbClr val="00B050"/>
                </a:solidFill>
                <a:effectLst/>
                <a:latin typeface="+mn-lt"/>
              </a:rPr>
              <a:t>ON DELETE CASCADE ON UPDATE CASCADE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+mn-lt"/>
              </a:rPr>
              <a:t>);</a:t>
            </a:r>
            <a:endParaRPr lang="zh-TW" altLang="en-US" sz="180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DA5CE1-40FF-4F7D-8D68-539C8B9827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1662" y="1003550"/>
            <a:ext cx="4876800" cy="5352800"/>
          </a:xfrm>
        </p:spPr>
        <p:txBody>
          <a:bodyPr>
            <a:normAutofit/>
          </a:bodyPr>
          <a:lstStyle/>
          <a:p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mId, cartTime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為主鍵</a:t>
            </a:r>
            <a:endParaRPr lang="en-US" altLang="zh-TW" sz="2000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tNo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為外部鍵對應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Transactions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資料表的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tNo</a:t>
            </a:r>
          </a:p>
          <a:p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mId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為外部鍵對應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member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資料表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mId</a:t>
            </a:r>
          </a:p>
          <a:p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當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Transactions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記錄中的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tNo</a:t>
            </a:r>
            <a:r>
              <a:rPr lang="zh-TW" altLang="en-US" sz="2000" b="1">
                <a:solidFill>
                  <a:schemeClr val="tx1"/>
                </a:solidFill>
                <a:ea typeface="清松手寫體3" panose="00000500000000000000" pitchFamily="2" charset="-120"/>
              </a:rPr>
              <a:t>主鍵值被修改時，所有參考它的外部鍵值</a:t>
            </a:r>
            <a:r>
              <a:rPr lang="en-US" altLang="zh-TW" sz="2000" b="1">
                <a:solidFill>
                  <a:schemeClr val="tx1"/>
                </a:solidFill>
                <a:ea typeface="清松手寫體3" panose="00000500000000000000" pitchFamily="2" charset="-120"/>
              </a:rPr>
              <a:t>(tNo)</a:t>
            </a:r>
            <a:r>
              <a:rPr lang="zh-TW" altLang="en-US" sz="2000" b="1">
                <a:solidFill>
                  <a:schemeClr val="tx1"/>
                </a:solidFill>
                <a:ea typeface="清松手寫體3" panose="00000500000000000000" pitchFamily="2" charset="-120"/>
              </a:rPr>
              <a:t>全部跟著修改</a:t>
            </a:r>
            <a:endParaRPr lang="en-US" altLang="zh-TW" sz="2000" b="1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r>
              <a:rPr lang="zh-TW" altLang="en-US" sz="2000" b="1">
                <a:solidFill>
                  <a:schemeClr val="tx1"/>
                </a:solidFill>
                <a:ea typeface="清松手寫體3" panose="00000500000000000000" pitchFamily="2" charset="-120"/>
              </a:rPr>
              <a:t>一筆記錄被刪除時，所有參考它的記錄全部跟著被刪除</a:t>
            </a:r>
            <a:endParaRPr lang="en-US" altLang="zh-TW" sz="2000" b="1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當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member</a:t>
            </a:r>
            <a:r>
              <a:rPr lang="zh-TW" altLang="en-US" sz="2000">
                <a:solidFill>
                  <a:schemeClr val="tx1"/>
                </a:solidFill>
                <a:ea typeface="清松手寫體3" panose="00000500000000000000" pitchFamily="2" charset="-120"/>
              </a:rPr>
              <a:t>記錄中的</a:t>
            </a:r>
            <a:r>
              <a:rPr lang="en-US" altLang="zh-TW" sz="2000">
                <a:solidFill>
                  <a:schemeClr val="tx1"/>
                </a:solidFill>
                <a:ea typeface="清松手寫體3" panose="00000500000000000000" pitchFamily="2" charset="-120"/>
              </a:rPr>
              <a:t>mId</a:t>
            </a:r>
            <a:r>
              <a:rPr lang="zh-TW" altLang="en-US" sz="2000" b="1">
                <a:solidFill>
                  <a:schemeClr val="tx1"/>
                </a:solidFill>
                <a:ea typeface="清松手寫體3" panose="00000500000000000000" pitchFamily="2" charset="-120"/>
              </a:rPr>
              <a:t>主鍵值被修改時，所有參考它的外部鍵值</a:t>
            </a:r>
            <a:r>
              <a:rPr lang="en-US" altLang="zh-TW" sz="2000" b="1">
                <a:solidFill>
                  <a:schemeClr val="tx1"/>
                </a:solidFill>
                <a:ea typeface="清松手寫體3" panose="00000500000000000000" pitchFamily="2" charset="-120"/>
              </a:rPr>
              <a:t>(mId)</a:t>
            </a:r>
            <a:r>
              <a:rPr lang="zh-TW" altLang="en-US" sz="2000" b="1">
                <a:solidFill>
                  <a:schemeClr val="tx1"/>
                </a:solidFill>
                <a:ea typeface="清松手寫體3" panose="00000500000000000000" pitchFamily="2" charset="-120"/>
              </a:rPr>
              <a:t>全部跟著修改</a:t>
            </a:r>
            <a:endParaRPr lang="en-US" altLang="zh-TW" sz="2000" b="1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endParaRPr lang="zh-TW" altLang="en-US" sz="2000" b="1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endParaRPr lang="en-US" altLang="zh-TW" sz="2000" b="1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endParaRPr lang="en-US" altLang="zh-TW" sz="2000" b="1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endParaRPr lang="zh-TW" altLang="en-US" sz="1600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endParaRPr lang="en-US" altLang="zh-TW" sz="2000">
              <a:solidFill>
                <a:schemeClr val="tx1"/>
              </a:solidFill>
              <a:ea typeface="清松手寫體3" panose="00000500000000000000" pitchFamily="2" charset="-120"/>
            </a:endParaRPr>
          </a:p>
          <a:p>
            <a:endParaRPr lang="zh-TW" altLang="en-US" sz="2000">
              <a:solidFill>
                <a:schemeClr val="tx1"/>
              </a:solidFill>
              <a:ea typeface="清松手寫體3" panose="00000500000000000000" pitchFamily="2" charset="-120"/>
            </a:endParaRP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784395-7ED9-4346-9624-2AC4C712A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2E4CA-C6AA-407C-8BE4-A34E16100C1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40C6025-4E4C-489F-9821-F04044401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15480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ADF390-6215-4F37-BECC-26AD926BA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訂單資料表 </a:t>
            </a:r>
            <a:r>
              <a:rPr lang="en-US" altLang="zh-TW"/>
              <a:t>(orders)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D384D3-359B-471A-B579-66E3193BC6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003550"/>
            <a:ext cx="6500446" cy="5352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CREATE TABLE Orders(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pNo CHAR(6) NOT NULL,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mId CHAR(8) NOT NULL,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cartTime TEXT NOT NULL,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amount INTEGER NOT NULL DEFAULT 1,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PRIMARY KEY </a:t>
            </a: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(pNo, mld, cartTime),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FOREIGN KEY </a:t>
            </a: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(pNo)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REFERENCES</a:t>
            </a: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Product(pNo),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FOREIGN KEY </a:t>
            </a: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(mld, cartTime) </a:t>
            </a:r>
            <a:r>
              <a:rPr lang="en-US" altLang="zh-TW" sz="18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REFERENCES</a:t>
            </a:r>
            <a:r>
              <a:rPr lang="en-US" altLang="zh-TW" sz="1800">
                <a:solidFill>
                  <a:srgbClr val="0000F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Cart(mld, cartTime)</a:t>
            </a:r>
          </a:p>
          <a:p>
            <a:pPr marL="0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);</a:t>
            </a:r>
            <a:endParaRPr lang="zh-TW" altLang="en-US" sz="1800">
              <a:solidFill>
                <a:srgbClr val="0000F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064F737-60E1-4642-9C2F-CBC336085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34030" y="1003550"/>
            <a:ext cx="3819769" cy="5352800"/>
          </a:xfrm>
        </p:spPr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9D4CB08-2C71-4F4D-BC4C-48D446707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2E4CA-C6AA-407C-8BE4-A34E16100C1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8DF3BF1-1A64-41B5-B958-62DB2BB1B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9356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E0193F-0E77-4343-928B-44AE37F1D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紀錄資料表 </a:t>
            </a:r>
            <a:r>
              <a:rPr lang="en-US" altLang="zh-TW"/>
              <a:t>(records)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15AF62-2166-44C9-918F-D89264E4A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2370" y="1003550"/>
            <a:ext cx="5814646" cy="5352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>
                <a:effectLst/>
                <a:latin typeface="+mn-lt"/>
              </a:rPr>
              <a:t>CREATE TABLE </a:t>
            </a:r>
            <a:r>
              <a:rPr lang="en-US" altLang="zh-TW" sz="2000">
                <a:solidFill>
                  <a:srgbClr val="7030A0"/>
                </a:solidFill>
                <a:effectLst/>
                <a:latin typeface="+mn-lt"/>
              </a:rPr>
              <a:t>Records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(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tNo CHAR(5) </a:t>
            </a:r>
            <a:r>
              <a:rPr lang="en-US" altLang="zh-TW" sz="20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not null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pNo CHAR(6) not null,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salePrice DECIMAL(10, 2) not null,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amount INT,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</a:t>
            </a:r>
            <a:r>
              <a:rPr lang="en-US" altLang="zh-TW" sz="20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PRIMARY KEY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(tNo, pNo),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</a:t>
            </a:r>
            <a:r>
              <a:rPr lang="en-US" altLang="zh-TW" sz="20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FOREIGN KEY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(INo) </a:t>
            </a:r>
            <a:r>
              <a:rPr lang="en-US" altLang="zh-TW" sz="20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REFERENCES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Transaction(iNo),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   </a:t>
            </a:r>
            <a:r>
              <a:rPr lang="en-US" altLang="zh-TW" sz="20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FOREIGN KEY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(pNo) </a:t>
            </a:r>
            <a:r>
              <a:rPr lang="en-US" altLang="zh-TW" sz="200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+mn-lt"/>
              </a:rPr>
              <a:t>REFERENCES</a:t>
            </a: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 Product(piNo)</a:t>
            </a:r>
          </a:p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  <a:effectLst/>
                <a:latin typeface="+mn-lt"/>
              </a:rPr>
              <a:t>);</a:t>
            </a:r>
            <a:endParaRPr lang="zh-TW" altLang="en-US" sz="200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785AC54-D8CB-47B8-B77E-E7E528B7C8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8032" y="1003550"/>
            <a:ext cx="5025292" cy="5352800"/>
          </a:xfrm>
        </p:spPr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8FF27E-1E33-4B0B-9717-2FFC3765A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2E4CA-C6AA-407C-8BE4-A34E16100C1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7B5C5-D8C2-45B3-BFD6-22D917F78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8845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EFF924-3A54-4971-A0C9-7F957E0D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查詢資料表結構</a:t>
            </a:r>
            <a:r>
              <a:rPr lang="en-US" altLang="zh-TW"/>
              <a:t>(schema)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EC9364-9407-4245-BB34-C0F7D51F0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.schema tableName</a:t>
            </a:r>
          </a:p>
          <a:p>
            <a:r>
              <a:rPr lang="en-US" altLang="zh-TW"/>
              <a:t>PRAGMA table_info(tableName);</a:t>
            </a:r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C2726F3-9513-43D5-B94C-6C84E4F3F10D}"/>
              </a:ext>
            </a:extLst>
          </p:cNvPr>
          <p:cNvSpPr txBox="1"/>
          <p:nvPr/>
        </p:nvSpPr>
        <p:spPr>
          <a:xfrm>
            <a:off x="206780" y="2819459"/>
            <a:ext cx="4380460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sqlite&gt; </a:t>
            </a:r>
            <a:r>
              <a:rPr lang="en-US" altLang="zh-TW">
                <a:highlight>
                  <a:srgbClr val="FFFF00"/>
                </a:highlight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.schema Product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CREATE TABLE Product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(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pNo         CHAR(6)     NOT NULL,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pName        VARCHAR(30),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unitPrice      DECIMAL(10,2),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category      VARCHAR(20),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PRIMARY KEY (pNo 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CONSTRAINT UnitPrice_Check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CHECK (unitPrice &gt; 100)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);</a:t>
            </a:r>
            <a:endParaRPr lang="zh-TW" altLang="en-US">
              <a:latin typeface="Georgia" panose="02040502050405020303" pitchFamily="18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CFFFF66-E157-46DB-9392-781DDA43DDBA}"/>
              </a:ext>
            </a:extLst>
          </p:cNvPr>
          <p:cNvSpPr txBox="1"/>
          <p:nvPr/>
        </p:nvSpPr>
        <p:spPr>
          <a:xfrm>
            <a:off x="4962144" y="3218688"/>
            <a:ext cx="7023076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>
                <a:latin typeface="Consolas" panose="020B0609020204030204" pitchFamily="49" charset="0"/>
              </a:rPr>
              <a:t>sqlite&gt; </a:t>
            </a:r>
            <a:r>
              <a:rPr lang="en-US" altLang="zh-TW">
                <a:highlight>
                  <a:srgbClr val="FFFF00"/>
                </a:highlight>
                <a:latin typeface="Consolas" panose="020B0609020204030204" pitchFamily="49" charset="0"/>
              </a:rPr>
              <a:t>PRAGMA table_info(Product);</a:t>
            </a:r>
          </a:p>
          <a:p>
            <a:r>
              <a:rPr lang="en-US" altLang="zh-TW">
                <a:latin typeface="Consolas" panose="020B0609020204030204" pitchFamily="49" charset="0"/>
              </a:rPr>
              <a:t>cid  name       type           notnull  dflt_value  pk</a:t>
            </a:r>
          </a:p>
          <a:p>
            <a:r>
              <a:rPr lang="en-US" altLang="zh-TW">
                <a:latin typeface="Consolas" panose="020B0609020204030204" pitchFamily="49" charset="0"/>
              </a:rPr>
              <a:t>---  ---------  -------------  -------  ----------  --</a:t>
            </a:r>
          </a:p>
          <a:p>
            <a:r>
              <a:rPr lang="en-US" altLang="zh-TW">
                <a:latin typeface="Consolas" panose="020B0609020204030204" pitchFamily="49" charset="0"/>
              </a:rPr>
              <a:t>0    pNo        CHAR(6)        1                    1</a:t>
            </a:r>
          </a:p>
          <a:p>
            <a:r>
              <a:rPr lang="en-US" altLang="zh-TW">
                <a:latin typeface="Consolas" panose="020B0609020204030204" pitchFamily="49" charset="0"/>
              </a:rPr>
              <a:t>1    pName      VARCHAR(30)    0                    0</a:t>
            </a:r>
          </a:p>
          <a:p>
            <a:r>
              <a:rPr lang="en-US" altLang="zh-TW">
                <a:latin typeface="Consolas" panose="020B0609020204030204" pitchFamily="49" charset="0"/>
              </a:rPr>
              <a:t>2    unitPrice  DECIMAL(10,2)  0                    0</a:t>
            </a:r>
          </a:p>
          <a:p>
            <a:r>
              <a:rPr lang="en-US" altLang="zh-TW">
                <a:latin typeface="Consolas" panose="020B0609020204030204" pitchFamily="49" charset="0"/>
              </a:rPr>
              <a:t>3    category   VARCHAR(20)    0</a:t>
            </a:r>
            <a:endParaRPr lang="zh-TW" altLang="en-US">
              <a:latin typeface="Consolas" panose="020B0609020204030204" pitchFamily="49" charset="0"/>
            </a:endParaRPr>
          </a:p>
        </p:txBody>
      </p:sp>
      <p:sp>
        <p:nvSpPr>
          <p:cNvPr id="6" name="日期版面配置區 5">
            <a:extLst>
              <a:ext uri="{FF2B5EF4-FFF2-40B4-BE49-F238E27FC236}">
                <a16:creationId xmlns:a16="http://schemas.microsoft.com/office/drawing/2014/main" id="{BFCBCA6B-E6A8-4531-959E-A3A37FCD6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A84BD-8924-441E-8FDC-6736130DFCE7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FDB5FE0-5E5F-4B49-9390-A247B8B4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1492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16ABB-EBE8-4F7C-AB51-6F009DB6A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課堂練習：輸入練習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42226C-4559-40CD-AEA0-952F14C46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拷貝 </a:t>
            </a:r>
            <a:r>
              <a:rPr lang="en-US" altLang="zh-TW"/>
              <a:t>Transaction </a:t>
            </a:r>
            <a:r>
              <a:rPr lang="zh-TW" altLang="en-US"/>
              <a:t>資料表</a:t>
            </a:r>
            <a:endParaRPr lang="en-US" altLang="zh-TW"/>
          </a:p>
          <a:p>
            <a:r>
              <a:rPr lang="en-US" altLang="zh-TW"/>
              <a:t>sqlite&gt; </a:t>
            </a:r>
            <a:r>
              <a:rPr lang="zh-TW" altLang="en-US"/>
              <a:t>貼上</a:t>
            </a:r>
            <a:endParaRPr lang="en-US" altLang="zh-TW"/>
          </a:p>
          <a:p>
            <a:pPr lvl="1"/>
            <a:r>
              <a:rPr lang="zh-TW" altLang="en-US"/>
              <a:t>發生甚麼錯誤</a:t>
            </a:r>
            <a:endParaRPr lang="en-US" altLang="zh-TW"/>
          </a:p>
          <a:p>
            <a:pPr lvl="1"/>
            <a:r>
              <a:rPr lang="zh-TW" altLang="en-US"/>
              <a:t>更改 </a:t>
            </a:r>
            <a:r>
              <a:rPr lang="en-US" altLang="zh-TW"/>
              <a:t> </a:t>
            </a:r>
            <a:r>
              <a:rPr lang="zh-TW" altLang="en-US"/>
              <a:t>「</a:t>
            </a:r>
            <a:r>
              <a:rPr lang="en-US" altLang="zh-TW"/>
              <a:t>Transaction</a:t>
            </a:r>
            <a:r>
              <a:rPr lang="zh-TW" altLang="en-US"/>
              <a:t>」</a:t>
            </a:r>
            <a:endParaRPr lang="en-US" altLang="zh-TW"/>
          </a:p>
          <a:p>
            <a:pPr lvl="1"/>
            <a:r>
              <a:rPr lang="zh-TW" altLang="en-US"/>
              <a:t>「</a:t>
            </a:r>
            <a:r>
              <a:rPr lang="en-US" altLang="zh-TW"/>
              <a:t>Transaction</a:t>
            </a:r>
            <a:r>
              <a:rPr lang="en-US" altLang="zh-TW">
                <a:solidFill>
                  <a:srgbClr val="FF0000"/>
                </a:solidFill>
              </a:rPr>
              <a:t>s</a:t>
            </a:r>
            <a:r>
              <a:rPr lang="zh-TW" altLang="en-US"/>
              <a:t>」</a:t>
            </a:r>
            <a:endParaRPr lang="en-US" altLang="zh-TW"/>
          </a:p>
          <a:p>
            <a:pPr marL="0" indent="0">
              <a:buNone/>
            </a:pPr>
            <a:endParaRPr lang="en-US" altLang="zh-TW"/>
          </a:p>
          <a:p>
            <a:endParaRPr lang="en-US" altLang="zh-TW"/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F59529-67AC-470D-82F5-BBFAABD0B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D3DAE-5892-4110-AF98-AD78312F2F82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AE06085-2620-4470-A000-2879B2D8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1037C90-968D-4562-A8C0-E66369828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14" y="1754218"/>
            <a:ext cx="7419499" cy="405764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398252F-F6C1-47ED-9EC9-90EFF842F6DE}"/>
              </a:ext>
            </a:extLst>
          </p:cNvPr>
          <p:cNvSpPr/>
          <p:nvPr/>
        </p:nvSpPr>
        <p:spPr>
          <a:xfrm>
            <a:off x="10874039" y="3276600"/>
            <a:ext cx="1009650" cy="152400"/>
          </a:xfrm>
          <a:prstGeom prst="rect">
            <a:avLst/>
          </a:prstGeom>
          <a:solidFill>
            <a:srgbClr val="FFFF00">
              <a:alpha val="32157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68D3F40-506A-40D7-A3B9-03FE924AD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01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CD5-859C-4A1D-B2BB-D8237040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刪除資料表定義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E4ECBC-A2B1-4028-BBE0-5E5A0C25D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ea typeface="微軟正黑體" panose="020B0604030504040204" pitchFamily="34" charset="-120"/>
              </a:rPr>
              <a:t>DROP TABLE</a:t>
            </a:r>
          </a:p>
          <a:p>
            <a:pPr lvl="1"/>
            <a:r>
              <a:rPr lang="zh-TW" altLang="en-US" sz="2000" b="1" dirty="0">
                <a:ea typeface="微軟正黑體" panose="020B0604030504040204" pitchFamily="34" charset="-120"/>
              </a:rPr>
              <a:t>一資料表被刪除時，另一資料表中參考到該資料表的部分就變成沒有意義</a:t>
            </a:r>
            <a:endParaRPr lang="en-US" altLang="zh-TW" sz="2000" b="1" dirty="0"/>
          </a:p>
          <a:p>
            <a:r>
              <a:rPr lang="en-US" altLang="zh-TW" dirty="0">
                <a:ea typeface="微軟正黑體" panose="020B0604030504040204" pitchFamily="34" charset="-120"/>
              </a:rPr>
              <a:t>DROP TABLE </a:t>
            </a:r>
            <a:r>
              <a:rPr lang="en-US" altLang="zh-TW">
                <a:ea typeface="微軟正黑體" panose="020B0604030504040204" pitchFamily="34" charset="-120"/>
              </a:rPr>
              <a:t>Product RESTRICT</a:t>
            </a:r>
            <a:r>
              <a:rPr lang="zh-TW" altLang="en-US">
                <a:ea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在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sqlite3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無此功能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)</a:t>
            </a:r>
            <a:endParaRPr lang="en-US" altLang="zh-TW" dirty="0">
              <a:solidFill>
                <a:srgbClr val="00B050"/>
              </a:solidFill>
              <a:ea typeface="微軟正黑體" panose="020B0604030504040204" pitchFamily="34" charset="-120"/>
            </a:endParaRPr>
          </a:p>
          <a:p>
            <a:pPr lvl="1"/>
            <a:r>
              <a:rPr lang="en-US" altLang="zh-TW" b="1" dirty="0">
                <a:ea typeface="微軟正黑體" panose="020B0604030504040204" pitchFamily="34" charset="-120"/>
              </a:rPr>
              <a:t>Product</a:t>
            </a:r>
            <a:r>
              <a:rPr lang="zh-TW" altLang="en-US" b="1" dirty="0">
                <a:ea typeface="微軟正黑體" panose="020B0604030504040204" pitchFamily="34" charset="-120"/>
              </a:rPr>
              <a:t>資料表的定義只有在其未被參考到時才能被刪除</a:t>
            </a:r>
            <a:endParaRPr lang="en-US" altLang="zh-TW" b="1" dirty="0">
              <a:ea typeface="微軟正黑體" panose="020B0604030504040204" pitchFamily="34" charset="-120"/>
            </a:endParaRPr>
          </a:p>
          <a:p>
            <a:r>
              <a:rPr lang="en-US" altLang="zh-TW" dirty="0">
                <a:ea typeface="微軟正黑體" panose="020B0604030504040204" pitchFamily="34" charset="-120"/>
              </a:rPr>
              <a:t>DROP TABLE </a:t>
            </a:r>
            <a:r>
              <a:rPr lang="en-US" altLang="zh-TW">
                <a:ea typeface="微軟正黑體" panose="020B0604030504040204" pitchFamily="34" charset="-120"/>
              </a:rPr>
              <a:t>Product CASCADE</a:t>
            </a:r>
            <a:r>
              <a:rPr lang="zh-TW" altLang="en-US">
                <a:ea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在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sqlite3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無此功能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)</a:t>
            </a:r>
            <a:endParaRPr lang="en-US" altLang="zh-TW" b="0" dirty="0">
              <a:solidFill>
                <a:srgbClr val="00B050"/>
              </a:solidFill>
            </a:endParaRPr>
          </a:p>
          <a:p>
            <a:pPr lvl="1"/>
            <a:r>
              <a:rPr lang="en-US" altLang="zh-TW" b="1">
                <a:ea typeface="微軟正黑體" panose="020B0604030504040204" pitchFamily="34" charset="-120"/>
              </a:rPr>
              <a:t>Product</a:t>
            </a:r>
            <a:r>
              <a:rPr lang="zh-TW" altLang="en-US" b="1" dirty="0">
                <a:ea typeface="微軟正黑體" panose="020B0604030504040204" pitchFamily="34" charset="-120"/>
              </a:rPr>
              <a:t>資料表的定義被刪除時，所有參考到這些定義的部分（如外部鍵定義）也一併被刪除 </a:t>
            </a:r>
          </a:p>
          <a:p>
            <a:pPr lvl="1"/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1E231F2-0171-457E-A4F7-A3A6C88D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F26DE-553B-4E45-8D6B-D19E445768F3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7F504A-5C4D-4341-924F-57A5C656E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58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D7157D-1753-4ABC-BE9E-CC422B73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sqlite3</a:t>
            </a:r>
            <a:r>
              <a:rPr lang="zh-TW" altLang="en-US"/>
              <a:t>中修改資料表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737C7D-1F65-4BF2-AD12-1D6872499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zh-TW">
                <a:solidFill>
                  <a:schemeClr val="tx1"/>
                </a:solidFill>
              </a:rPr>
              <a:t>ALTER</a:t>
            </a:r>
            <a:r>
              <a:rPr lang="zh-TW" altLang="en-US">
                <a:solidFill>
                  <a:schemeClr val="tx1"/>
                </a:solidFill>
              </a:rPr>
              <a:t> </a:t>
            </a:r>
            <a:r>
              <a:rPr lang="en-US" altLang="zh-TW">
                <a:solidFill>
                  <a:schemeClr val="tx1"/>
                </a:solidFill>
              </a:rPr>
              <a:t>TABLE</a:t>
            </a:r>
            <a:r>
              <a:rPr lang="zh-TW" altLang="en-US">
                <a:solidFill>
                  <a:schemeClr val="tx1"/>
                </a:solidFill>
              </a:rPr>
              <a:t> 用於改變資料表</a:t>
            </a:r>
            <a:r>
              <a:rPr lang="en-US" altLang="zh-TW">
                <a:solidFill>
                  <a:schemeClr val="tx1"/>
                </a:solidFill>
              </a:rPr>
              <a:t>schema</a:t>
            </a:r>
          </a:p>
          <a:p>
            <a:endParaRPr lang="en-US" altLang="zh-TW"/>
          </a:p>
          <a:p>
            <a:r>
              <a:rPr lang="zh-TW" altLang="en-US"/>
              <a:t>改變資料表名稱</a:t>
            </a:r>
            <a:endParaRPr lang="en-US" altLang="zh-TW"/>
          </a:p>
          <a:p>
            <a:pPr lvl="1"/>
            <a:r>
              <a:rPr lang="en-US" altLang="zh-TW" b="1"/>
              <a:t>ALTER TABLE </a:t>
            </a:r>
            <a:r>
              <a:rPr lang="en-US" altLang="zh-TW" b="1">
                <a:solidFill>
                  <a:schemeClr val="tx1"/>
                </a:solidFill>
              </a:rPr>
              <a:t>old_table_name </a:t>
            </a:r>
            <a:r>
              <a:rPr lang="en-US" altLang="zh-TW" b="1"/>
              <a:t>RENAME TO </a:t>
            </a:r>
            <a:r>
              <a:rPr lang="en-US" altLang="zh-TW" b="1">
                <a:solidFill>
                  <a:srgbClr val="00B0F0"/>
                </a:solidFill>
              </a:rPr>
              <a:t>new_table_name</a:t>
            </a:r>
            <a:r>
              <a:rPr lang="en-US" altLang="zh-TW" b="1">
                <a:solidFill>
                  <a:schemeClr val="tx1"/>
                </a:solidFill>
              </a:rPr>
              <a:t>;</a:t>
            </a:r>
          </a:p>
          <a:p>
            <a:r>
              <a:rPr lang="zh-TW" altLang="en-US"/>
              <a:t>新增資料表欄位</a:t>
            </a:r>
            <a:endParaRPr lang="en-US" altLang="zh-TW"/>
          </a:p>
          <a:p>
            <a:pPr lvl="1"/>
            <a:r>
              <a:rPr lang="en-US" altLang="zh-TW" b="1"/>
              <a:t>ATER TABLE </a:t>
            </a:r>
            <a:r>
              <a:rPr lang="en-US" altLang="zh-TW" b="1">
                <a:solidFill>
                  <a:schemeClr val="tx1"/>
                </a:solidFill>
              </a:rPr>
              <a:t>table_name </a:t>
            </a:r>
            <a:r>
              <a:rPr lang="en-US" altLang="zh-TW" b="1"/>
              <a:t>ADD COLUMN </a:t>
            </a:r>
            <a:r>
              <a:rPr lang="en-US" altLang="zh-TW" b="1">
                <a:solidFill>
                  <a:srgbClr val="00B0F0"/>
                </a:solidFill>
              </a:rPr>
              <a:t>new_column_name </a:t>
            </a:r>
            <a:r>
              <a:rPr lang="en-US" altLang="zh-TW" b="1">
                <a:solidFill>
                  <a:schemeClr val="tx1"/>
                </a:solidFill>
              </a:rPr>
              <a:t>col_def;</a:t>
            </a:r>
          </a:p>
          <a:p>
            <a:r>
              <a:rPr lang="zh-TW" altLang="en-US"/>
              <a:t>改變資料表欄位名稱</a:t>
            </a:r>
            <a:endParaRPr lang="en-US" altLang="zh-TW"/>
          </a:p>
          <a:p>
            <a:pPr lvl="1"/>
            <a:r>
              <a:rPr lang="zh-TW" altLang="zh-TW" b="1"/>
              <a:t>ALTER TABLE </a:t>
            </a:r>
            <a:r>
              <a:rPr lang="zh-TW" altLang="zh-TW" b="1">
                <a:solidFill>
                  <a:schemeClr val="tx1"/>
                </a:solidFill>
              </a:rPr>
              <a:t>table_name </a:t>
            </a:r>
            <a:r>
              <a:rPr lang="zh-TW" altLang="zh-TW" b="1"/>
              <a:t>RENAME COLUMN </a:t>
            </a:r>
            <a:r>
              <a:rPr lang="zh-TW" altLang="zh-TW" b="1">
                <a:solidFill>
                  <a:schemeClr val="tx1"/>
                </a:solidFill>
              </a:rPr>
              <a:t>old_column </a:t>
            </a:r>
            <a:r>
              <a:rPr lang="zh-TW" altLang="zh-TW" b="1"/>
              <a:t>TO </a:t>
            </a:r>
            <a:r>
              <a:rPr lang="zh-TW" altLang="zh-TW" b="1">
                <a:solidFill>
                  <a:srgbClr val="00B0F0"/>
                </a:solidFill>
              </a:rPr>
              <a:t>new_column</a:t>
            </a:r>
            <a:r>
              <a:rPr lang="zh-TW" altLang="zh-TW" b="1">
                <a:solidFill>
                  <a:schemeClr val="tx1"/>
                </a:solidFill>
              </a:rPr>
              <a:t>;</a:t>
            </a:r>
            <a:endParaRPr lang="en-US" altLang="zh-TW" b="1">
              <a:solidFill>
                <a:schemeClr val="tx1"/>
              </a:solidFill>
            </a:endParaRPr>
          </a:p>
          <a:p>
            <a:r>
              <a:rPr lang="zh-TW" altLang="en-US"/>
              <a:t>刪除資料表屬性欄</a:t>
            </a:r>
            <a:endParaRPr lang="en-US" altLang="zh-TW"/>
          </a:p>
          <a:p>
            <a:pPr lvl="1"/>
            <a:r>
              <a:rPr lang="zh-TW" altLang="zh-TW" b="1"/>
              <a:t> </a:t>
            </a:r>
            <a:r>
              <a:rPr lang="en-US" altLang="zh-TW" b="1"/>
              <a:t>ALTER</a:t>
            </a:r>
            <a:r>
              <a:rPr lang="zh-TW" altLang="en-US" b="1"/>
              <a:t> </a:t>
            </a:r>
            <a:r>
              <a:rPr lang="en-US" altLang="zh-TW" b="1"/>
              <a:t>TABLE</a:t>
            </a:r>
            <a:r>
              <a:rPr lang="zh-TW" altLang="en-US" b="1"/>
              <a:t> </a:t>
            </a:r>
            <a:r>
              <a:rPr lang="en-US" altLang="zh-TW" b="1"/>
              <a:t>table_name DROP column_name; </a:t>
            </a:r>
            <a:endParaRPr lang="zh-TW" altLang="zh-TW" b="1"/>
          </a:p>
          <a:p>
            <a:endParaRPr lang="zh-TW" altLang="en-US">
              <a:solidFill>
                <a:srgbClr val="00B0F0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FA6901-C269-45EA-8F47-110401A41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CBFA4C1-02D2-4EE3-BA3F-E544F7AEC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30</a:t>
            </a:fld>
            <a:endParaRPr lang="zh-TW" alt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259A862-E9CA-42DA-A9D0-409F560584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7150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2B2060-8370-4450-BA4B-3C962273F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課堂練習：輸入練習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D0BA-ED1E-42E2-9DC7-0F77C66FD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</a:t>
            </a:r>
            <a:r>
              <a:rPr lang="en-US" altLang="zh-TW"/>
              <a:t>product</a:t>
            </a:r>
            <a:r>
              <a:rPr lang="zh-TW" altLang="en-US"/>
              <a:t>及</a:t>
            </a:r>
            <a:r>
              <a:rPr lang="en-US" altLang="zh-TW"/>
              <a:t>browse</a:t>
            </a:r>
            <a:r>
              <a:rPr lang="zh-TW" altLang="en-US"/>
              <a:t>資料表結構存入桌面 </a:t>
            </a:r>
            <a:r>
              <a:rPr lang="en-US" altLang="zh-TW"/>
              <a:t>sqlcode.sql </a:t>
            </a:r>
            <a:r>
              <a:rPr lang="zh-TW" altLang="en-US"/>
              <a:t>檔案中</a:t>
            </a:r>
            <a:endParaRPr lang="en-US" altLang="zh-TW"/>
          </a:p>
          <a:p>
            <a:r>
              <a:rPr lang="zh-TW" altLang="en-US"/>
              <a:t>在</a:t>
            </a:r>
            <a:r>
              <a:rPr lang="en-US" altLang="zh-TW"/>
              <a:t>sqlite&gt;</a:t>
            </a:r>
            <a:r>
              <a:rPr lang="zh-TW" altLang="en-US"/>
              <a:t>利用 </a:t>
            </a:r>
            <a:r>
              <a:rPr lang="en-US" altLang="zh-TW"/>
              <a:t>.read </a:t>
            </a:r>
            <a:r>
              <a:rPr lang="zh-TW" altLang="en-US"/>
              <a:t>指令讀取 </a:t>
            </a:r>
            <a:r>
              <a:rPr lang="en-US" altLang="zh-TW"/>
              <a:t>.sql </a:t>
            </a:r>
            <a:r>
              <a:rPr lang="zh-TW" altLang="en-US"/>
              <a:t>檔案，並執行</a:t>
            </a:r>
            <a:endParaRPr lang="en-US" altLang="zh-TW"/>
          </a:p>
          <a:p>
            <a:pPr lvl="1"/>
            <a:r>
              <a:rPr lang="en-US" altLang="zh-TW" b="1">
                <a:solidFill>
                  <a:srgbClr val="0000FF"/>
                </a:solidFill>
              </a:rPr>
              <a:t>.read </a:t>
            </a:r>
            <a:r>
              <a:rPr lang="en-US" altLang="zh-TW"/>
              <a:t>c:\users\user\desktop\product.sql</a:t>
            </a:r>
            <a:r>
              <a:rPr lang="zh-TW" altLang="en-US"/>
              <a:t> </a:t>
            </a:r>
            <a:r>
              <a:rPr lang="en-US" altLang="zh-TW"/>
              <a:t>(</a:t>
            </a:r>
            <a:r>
              <a:rPr lang="zh-TW" altLang="en-US"/>
              <a:t>讀入 </a:t>
            </a:r>
            <a:r>
              <a:rPr lang="en-US" altLang="zh-TW"/>
              <a:t>.sql</a:t>
            </a:r>
            <a:r>
              <a:rPr lang="zh-TW" altLang="en-US"/>
              <a:t> 檔並執行</a:t>
            </a:r>
            <a:r>
              <a:rPr lang="en-US" altLang="zh-TW"/>
              <a:t>)</a:t>
            </a:r>
          </a:p>
          <a:p>
            <a:pPr lvl="1"/>
            <a:r>
              <a:rPr lang="zh-TW" altLang="en-US"/>
              <a:t>利用 </a:t>
            </a:r>
            <a:r>
              <a:rPr lang="en-US" altLang="zh-TW"/>
              <a:t>.table </a:t>
            </a:r>
            <a:r>
              <a:rPr lang="zh-TW" altLang="en-US"/>
              <a:t>及 </a:t>
            </a:r>
            <a:r>
              <a:rPr lang="en-US" altLang="zh-TW"/>
              <a:t>.schema </a:t>
            </a:r>
            <a:r>
              <a:rPr lang="zh-TW" altLang="en-US"/>
              <a:t>檢查是否存在 </a:t>
            </a:r>
            <a:r>
              <a:rPr lang="en-US" altLang="zh-TW"/>
              <a:t>product</a:t>
            </a:r>
            <a:r>
              <a:rPr lang="zh-TW" altLang="en-US"/>
              <a:t>與</a:t>
            </a:r>
            <a:r>
              <a:rPr lang="en-US" altLang="zh-TW"/>
              <a:t>browse</a:t>
            </a:r>
            <a:r>
              <a:rPr lang="zh-TW" altLang="en-US"/>
              <a:t>資料表</a:t>
            </a:r>
            <a:endParaRPr lang="en-US" altLang="zh-TW"/>
          </a:p>
          <a:p>
            <a:pPr lvl="1"/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B741BF-372E-4DE3-8614-83557C81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B7515-D82C-434D-8831-8C65F17BA1C5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CD6E8EB-F9AA-4485-BAEB-E77CA9CF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31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C31990CB-175C-4CF2-8BFB-1339F8C38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59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51237B-7957-4B7E-8680-01F696CCE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DML</a:t>
            </a:r>
            <a:r>
              <a:rPr lang="zh-TW" altLang="en-US"/>
              <a:t> 指令 </a:t>
            </a:r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C2ACF41A-FB10-4B0F-9561-4B6EACB1DB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/>
              <a:t>對資料表的紀錄新增、修改、刪除、查詢</a:t>
            </a:r>
          </a:p>
        </p:txBody>
      </p:sp>
    </p:spTree>
    <p:extLst>
      <p:ext uri="{BB962C8B-B14F-4D97-AF65-F5344CB8AC3E}">
        <p14:creationId xmlns:p14="http://schemas.microsoft.com/office/powerpoint/2010/main" val="85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E16164-2E5C-4B1F-80E6-117C83440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新增紀錄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564DC3-D42E-428B-9E9A-AFBA787C8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062" y="3147327"/>
            <a:ext cx="10515600" cy="2165987"/>
          </a:xfrm>
        </p:spPr>
        <p:txBody>
          <a:bodyPr/>
          <a:lstStyle/>
          <a:p>
            <a:r>
              <a:rPr lang="zh-TW" altLang="en-US"/>
              <a:t>新增一筆完整記錄到</a:t>
            </a:r>
            <a:r>
              <a:rPr lang="en-US" altLang="zh-TW"/>
              <a:t>Product</a:t>
            </a:r>
            <a:r>
              <a:rPr lang="zh-TW" altLang="en-US"/>
              <a:t>資料表</a:t>
            </a:r>
            <a:endParaRPr lang="en-US" altLang="zh-TW"/>
          </a:p>
          <a:p>
            <a:pPr marL="0" indent="0">
              <a:buNone/>
            </a:pPr>
            <a:r>
              <a:rPr lang="zh-TW" altLang="en-US" sz="2000">
                <a:solidFill>
                  <a:srgbClr val="0070C0"/>
                </a:solidFill>
              </a:rPr>
              <a:t>  </a:t>
            </a:r>
            <a:r>
              <a:rPr lang="en-US" altLang="zh-TW" sz="2000">
                <a:solidFill>
                  <a:srgbClr val="0070C0"/>
                </a:solidFill>
              </a:rPr>
              <a:t>INSERT</a:t>
            </a:r>
            <a:r>
              <a:rPr lang="zh-TW" altLang="en-US" sz="2000">
                <a:solidFill>
                  <a:srgbClr val="0070C0"/>
                </a:solidFill>
              </a:rPr>
              <a:t> </a:t>
            </a:r>
            <a:r>
              <a:rPr lang="en-US" altLang="zh-TW" sz="2000">
                <a:solidFill>
                  <a:srgbClr val="0070C0"/>
                </a:solidFill>
              </a:rPr>
              <a:t>INTO</a:t>
            </a:r>
            <a:r>
              <a:rPr lang="zh-TW" altLang="en-US" sz="2000">
                <a:solidFill>
                  <a:srgbClr val="0070C0"/>
                </a:solidFill>
              </a:rPr>
              <a:t> </a:t>
            </a:r>
            <a:r>
              <a:rPr lang="en-US" altLang="zh-TW" sz="2000">
                <a:solidFill>
                  <a:srgbClr val="00B050"/>
                </a:solidFill>
              </a:rPr>
              <a:t>Prodcut</a:t>
            </a:r>
            <a:r>
              <a:rPr lang="zh-TW" altLang="en-US" sz="2000">
                <a:solidFill>
                  <a:srgbClr val="00B050"/>
                </a:solidFill>
              </a:rPr>
              <a:t> </a:t>
            </a:r>
            <a:r>
              <a:rPr lang="en-US" altLang="zh-TW" sz="2000">
                <a:solidFill>
                  <a:srgbClr val="0070C0"/>
                </a:solidFill>
              </a:rPr>
              <a:t>VALUES </a:t>
            </a:r>
            <a:r>
              <a:rPr lang="en-US" altLang="zh-TW" sz="2000">
                <a:solidFill>
                  <a:schemeClr val="tx1"/>
                </a:solidFill>
              </a:rPr>
              <a:t>(‘b00001’, ‘</a:t>
            </a:r>
            <a:r>
              <a:rPr lang="zh-TW" altLang="en-US" sz="2000">
                <a:solidFill>
                  <a:schemeClr val="tx1"/>
                </a:solidFill>
              </a:rPr>
              <a:t>資料庫理論與實務</a:t>
            </a:r>
            <a:r>
              <a:rPr lang="en-US" altLang="zh-TW" sz="2000">
                <a:solidFill>
                  <a:schemeClr val="tx1"/>
                </a:solidFill>
              </a:rPr>
              <a:t>’, 500, 'Book’)</a:t>
            </a:r>
            <a:r>
              <a:rPr lang="en-US" altLang="zh-TW" sz="2000">
                <a:solidFill>
                  <a:srgbClr val="0070C0"/>
                </a:solidFill>
              </a:rPr>
              <a:t>;</a:t>
            </a:r>
          </a:p>
          <a:p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新增一筆只含商品編號和商品名稱的記錄到「商品」資料表</a:t>
            </a:r>
            <a:endParaRPr lang="en-US" altLang="zh-TW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zh-TW" altLang="en-US" sz="2000">
                <a:solidFill>
                  <a:srgbClr val="0070C0"/>
                </a:solidFill>
              </a:rPr>
              <a:t>  </a:t>
            </a:r>
            <a:r>
              <a:rPr lang="en-US" altLang="zh-TW" sz="2000">
                <a:solidFill>
                  <a:srgbClr val="0070C0"/>
                </a:solidFill>
              </a:rPr>
              <a:t>INSERT INTO </a:t>
            </a:r>
            <a:r>
              <a:rPr lang="en-US" altLang="zh-TW" sz="2000">
                <a:solidFill>
                  <a:srgbClr val="00B050"/>
                </a:solidFill>
              </a:rPr>
              <a:t>Product</a:t>
            </a:r>
            <a:r>
              <a:rPr lang="en-US" altLang="zh-TW" sz="2000">
                <a:solidFill>
                  <a:srgbClr val="0070C0"/>
                </a:solidFill>
              </a:rPr>
              <a:t> (</a:t>
            </a:r>
            <a:r>
              <a:rPr lang="en-US" altLang="zh-TW" sz="2000">
                <a:solidFill>
                  <a:srgbClr val="7030A0"/>
                </a:solidFill>
              </a:rPr>
              <a:t>pName</a:t>
            </a:r>
            <a:r>
              <a:rPr lang="en-US" altLang="zh-TW" sz="2000">
                <a:solidFill>
                  <a:srgbClr val="0070C0"/>
                </a:solidFill>
              </a:rPr>
              <a:t>, </a:t>
            </a:r>
            <a:r>
              <a:rPr lang="en-US" altLang="zh-TW" sz="2000">
                <a:solidFill>
                  <a:srgbClr val="7030A0"/>
                </a:solidFill>
              </a:rPr>
              <a:t>pNo</a:t>
            </a:r>
            <a:r>
              <a:rPr lang="en-US" altLang="zh-TW" sz="2000">
                <a:solidFill>
                  <a:srgbClr val="0070C0"/>
                </a:solidFill>
              </a:rPr>
              <a:t>)</a:t>
            </a:r>
            <a:r>
              <a:rPr lang="zh-TW" altLang="en-US" sz="2000">
                <a:solidFill>
                  <a:srgbClr val="0070C0"/>
                </a:solidFill>
              </a:rPr>
              <a:t> </a:t>
            </a:r>
            <a:r>
              <a:rPr lang="en-US" altLang="zh-TW" sz="2000">
                <a:solidFill>
                  <a:srgbClr val="0070C0"/>
                </a:solidFill>
              </a:rPr>
              <a:t>VALUES </a:t>
            </a:r>
            <a:r>
              <a:rPr lang="en-US" altLang="zh-TW" sz="2000">
                <a:solidFill>
                  <a:schemeClr val="tx1"/>
                </a:solidFill>
              </a:rPr>
              <a:t>('</a:t>
            </a:r>
            <a:r>
              <a:rPr lang="zh-TW" altLang="en-US" sz="2000">
                <a:solidFill>
                  <a:schemeClr val="tx1"/>
                </a:solidFill>
              </a:rPr>
              <a:t>資料庫管理與系統</a:t>
            </a:r>
            <a:r>
              <a:rPr lang="en-US" altLang="zh-TW" sz="2000">
                <a:solidFill>
                  <a:schemeClr val="tx1"/>
                </a:solidFill>
              </a:rPr>
              <a:t>', 'b00001')</a:t>
            </a:r>
            <a:r>
              <a:rPr lang="en-US" altLang="zh-TW" sz="2000">
                <a:solidFill>
                  <a:srgbClr val="0070C0"/>
                </a:solidFill>
              </a:rPr>
              <a:t>;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97186-7C9B-4F65-83B1-5B9AC14E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54C25-0BC5-4A30-AE4C-2D84B8151EB9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09F0AF-6E63-4AF0-BC2F-54E292197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33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F540B20-D7CA-4161-A534-A8F3AE6795C9}"/>
              </a:ext>
            </a:extLst>
          </p:cNvPr>
          <p:cNvSpPr txBox="1"/>
          <p:nvPr/>
        </p:nvSpPr>
        <p:spPr>
          <a:xfrm>
            <a:off x="1391026" y="1873458"/>
            <a:ext cx="9409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INSERT INTO </a:t>
            </a:r>
            <a:r>
              <a:rPr lang="zh-TW" altLang="en-US" sz="2400">
                <a:latin typeface="Comic Sans MS" panose="030F0702030302020204" pitchFamily="66" charset="0"/>
                <a:ea typeface="清松手寫體3" panose="00000500000000000000" pitchFamily="2" charset="-120"/>
              </a:rPr>
              <a:t>資料表名稱 </a:t>
            </a:r>
            <a:r>
              <a:rPr lang="en-US" altLang="zh-TW" sz="2400">
                <a:latin typeface="Comic Sans MS" panose="030F0702030302020204" pitchFamily="66" charset="0"/>
                <a:ea typeface="清松手寫體3" panose="00000500000000000000" pitchFamily="2" charset="-120"/>
              </a:rPr>
              <a:t>[&lt;</a:t>
            </a:r>
            <a:r>
              <a:rPr lang="zh-TW" altLang="en-US" sz="2400">
                <a:latin typeface="Comic Sans MS" panose="030F0702030302020204" pitchFamily="66" charset="0"/>
                <a:ea typeface="清松手寫體3" panose="00000500000000000000" pitchFamily="2" charset="-120"/>
              </a:rPr>
              <a:t>屬性串列</a:t>
            </a:r>
            <a:r>
              <a:rPr lang="en-US" altLang="zh-TW" sz="2400">
                <a:latin typeface="Comic Sans MS" panose="030F0702030302020204" pitchFamily="66" charset="0"/>
                <a:ea typeface="清松手寫體3" panose="00000500000000000000" pitchFamily="2" charset="-120"/>
              </a:rPr>
              <a:t>&gt;]</a:t>
            </a:r>
            <a:r>
              <a:rPr lang="zh-TW" altLang="en-US" sz="2400">
                <a:latin typeface="Comic Sans MS" panose="030F0702030302020204" pitchFamily="66" charset="0"/>
                <a:ea typeface="清松手寫體3" panose="00000500000000000000" pitchFamily="2" charset="-120"/>
              </a:rPr>
              <a:t> </a:t>
            </a:r>
            <a:r>
              <a:rPr lang="en-US" altLang="zh-TW" sz="2400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VALUES</a:t>
            </a:r>
            <a:r>
              <a:rPr lang="en-US" altLang="zh-TW" sz="2400">
                <a:solidFill>
                  <a:srgbClr val="0070C0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 </a:t>
            </a:r>
            <a:r>
              <a:rPr lang="en-US" altLang="zh-TW" sz="2400">
                <a:latin typeface="Comic Sans MS" panose="030F0702030302020204" pitchFamily="66" charset="0"/>
                <a:ea typeface="清松手寫體3" panose="00000500000000000000" pitchFamily="2" charset="-120"/>
              </a:rPr>
              <a:t>(&lt;</a:t>
            </a:r>
            <a:r>
              <a:rPr lang="zh-TW" altLang="en-US" sz="2400">
                <a:latin typeface="Comic Sans MS" panose="030F0702030302020204" pitchFamily="66" charset="0"/>
                <a:ea typeface="清松手寫體3" panose="00000500000000000000" pitchFamily="2" charset="-120"/>
              </a:rPr>
              <a:t>欄位值串列</a:t>
            </a:r>
            <a:r>
              <a:rPr lang="en-US" altLang="zh-TW" sz="2400">
                <a:latin typeface="Comic Sans MS" panose="030F0702030302020204" pitchFamily="66" charset="0"/>
                <a:ea typeface="清松手寫體3" panose="00000500000000000000" pitchFamily="2" charset="-120"/>
              </a:rPr>
              <a:t>&gt;);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3F722A8-0DBC-4042-8622-0F4A40654BF1}"/>
              </a:ext>
            </a:extLst>
          </p:cNvPr>
          <p:cNvSpPr/>
          <p:nvPr/>
        </p:nvSpPr>
        <p:spPr>
          <a:xfrm>
            <a:off x="1172308" y="1641231"/>
            <a:ext cx="9683261" cy="914400"/>
          </a:xfrm>
          <a:prstGeom prst="round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3289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28BBB3-98B9-49EC-AA45-87AB02F6C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Insert </a:t>
            </a:r>
            <a:r>
              <a:rPr lang="zh-TW" altLang="en-US"/>
              <a:t>多筆資料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DC6D0C-ACE6-467A-A05F-1E8E70A3E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8696" y="1238176"/>
            <a:ext cx="8034608" cy="2611464"/>
          </a:xfrm>
          <a:ln>
            <a:solidFill>
              <a:schemeClr val="bg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zh-TW">
                <a:solidFill>
                  <a:srgbClr val="0000FF"/>
                </a:solidFill>
              </a:rPr>
              <a:t>Insert into </a:t>
            </a:r>
            <a:r>
              <a:rPr lang="en-US" altLang="zh-TW">
                <a:solidFill>
                  <a:srgbClr val="7030A0"/>
                </a:solidFill>
              </a:rPr>
              <a:t>table_name </a:t>
            </a: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column1, column2, …</a:t>
            </a:r>
            <a:r>
              <a:rPr lang="en-US" altLang="zh-TW"/>
              <a:t>) </a:t>
            </a:r>
            <a:r>
              <a:rPr lang="en-US" altLang="zh-TW">
                <a:solidFill>
                  <a:srgbClr val="0000FF"/>
                </a:solidFill>
              </a:rPr>
              <a:t>values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…), 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…), </a:t>
            </a:r>
            <a:endParaRPr lang="zh-TW" altLang="en-US"/>
          </a:p>
          <a:p>
            <a:pPr marL="0" indent="0">
              <a:buNone/>
            </a:pPr>
            <a:r>
              <a:rPr lang="en-US" altLang="zh-TW"/>
              <a:t>…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…);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80B8C2-5A8F-4E9E-94C5-C2D04397C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2950-49E9-4178-8BB6-388C4DCD4522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F5C791-06EB-4001-BA04-B89F69798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34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A5406F0-9014-42B3-A92F-7C2673108A05}"/>
              </a:ext>
            </a:extLst>
          </p:cNvPr>
          <p:cNvSpPr txBox="1"/>
          <p:nvPr/>
        </p:nvSpPr>
        <p:spPr>
          <a:xfrm>
            <a:off x="1492738" y="431409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EC3B63B-5817-4666-81EC-54E42B0FC703}"/>
              </a:ext>
            </a:extLst>
          </p:cNvPr>
          <p:cNvSpPr txBox="1"/>
          <p:nvPr/>
        </p:nvSpPr>
        <p:spPr>
          <a:xfrm>
            <a:off x="2830505" y="4182895"/>
            <a:ext cx="68197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altLang="zh-TW" sz="2000">
                <a:solidFill>
                  <a:srgbClr val="0000FF"/>
                </a:solidFill>
              </a:rPr>
              <a:t>INSERT INTO </a:t>
            </a:r>
            <a:r>
              <a:rPr lang="en-US" altLang="zh-TW" sz="2000">
                <a:solidFill>
                  <a:srgbClr val="7030A0"/>
                </a:solidFill>
              </a:rPr>
              <a:t>Product</a:t>
            </a:r>
            <a:r>
              <a:rPr lang="en-US" altLang="zh-TW" sz="2000">
                <a:solidFill>
                  <a:srgbClr val="00B050"/>
                </a:solidFill>
              </a:rPr>
              <a:t> </a:t>
            </a:r>
            <a:r>
              <a:rPr lang="en-US" altLang="zh-TW" sz="2000"/>
              <a:t>(</a:t>
            </a:r>
            <a:r>
              <a:rPr lang="en-US" altLang="zh-TW" sz="2000">
                <a:solidFill>
                  <a:srgbClr val="00B050"/>
                </a:solidFill>
              </a:rPr>
              <a:t>pNo, pName, unitPrice, category</a:t>
            </a:r>
            <a:r>
              <a:rPr lang="en-US" altLang="zh-TW" sz="2000"/>
              <a:t>)</a:t>
            </a:r>
            <a:r>
              <a:rPr lang="en-US" altLang="zh-TW" sz="2000">
                <a:solidFill>
                  <a:srgbClr val="00B050"/>
                </a:solidFill>
              </a:rPr>
              <a:t> </a:t>
            </a:r>
            <a:r>
              <a:rPr lang="en-US" altLang="zh-TW" sz="2000">
                <a:solidFill>
                  <a:srgbClr val="0000FF"/>
                </a:solidFill>
              </a:rPr>
              <a:t>VALUES</a:t>
            </a:r>
          </a:p>
          <a:p>
            <a:pPr marL="0" indent="0">
              <a:buNone/>
            </a:pPr>
            <a:r>
              <a:rPr lang="en-US" altLang="zh-TW" sz="2000"/>
              <a:t>(</a:t>
            </a:r>
            <a:r>
              <a:rPr lang="en-US" altLang="zh-TW" sz="2000">
                <a:solidFill>
                  <a:srgbClr val="00B050"/>
                </a:solidFill>
              </a:rPr>
              <a:t>'b30999', '</a:t>
            </a:r>
            <a:r>
              <a:rPr lang="zh-TW" altLang="en-US" sz="2000">
                <a:solidFill>
                  <a:srgbClr val="00B050"/>
                </a:solidFill>
              </a:rPr>
              <a:t>資料庫理論與實務</a:t>
            </a:r>
            <a:r>
              <a:rPr lang="en-US" altLang="zh-TW" sz="2000">
                <a:solidFill>
                  <a:srgbClr val="00B050"/>
                </a:solidFill>
              </a:rPr>
              <a:t>', 500, 'book'</a:t>
            </a:r>
            <a:r>
              <a:rPr lang="en-US" altLang="zh-TW" sz="2000"/>
              <a:t>), </a:t>
            </a:r>
          </a:p>
          <a:p>
            <a:pPr marL="0" indent="0">
              <a:buNone/>
            </a:pPr>
            <a:r>
              <a:rPr lang="en-US" altLang="zh-TW" sz="2000"/>
              <a:t>(</a:t>
            </a:r>
            <a:r>
              <a:rPr lang="en-US" altLang="zh-TW" sz="2000">
                <a:solidFill>
                  <a:srgbClr val="00B050"/>
                </a:solidFill>
              </a:rPr>
              <a:t>'d11222', '</a:t>
            </a:r>
            <a:r>
              <a:rPr lang="zh-TW" altLang="en-US" sz="2000">
                <a:solidFill>
                  <a:srgbClr val="00B050"/>
                </a:solidFill>
              </a:rPr>
              <a:t>任賢齊專輯三</a:t>
            </a:r>
            <a:r>
              <a:rPr lang="en-US" altLang="zh-TW" sz="2000">
                <a:solidFill>
                  <a:srgbClr val="00B050"/>
                </a:solidFill>
              </a:rPr>
              <a:t>', 300, 'CD'</a:t>
            </a:r>
            <a:r>
              <a:rPr lang="en-US" altLang="zh-TW" sz="2000"/>
              <a:t>), 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56A5BB6-E650-4F2C-B4F4-892C2C3A4285}"/>
              </a:ext>
            </a:extLst>
          </p:cNvPr>
          <p:cNvSpPr/>
          <p:nvPr/>
        </p:nvSpPr>
        <p:spPr>
          <a:xfrm>
            <a:off x="1953846" y="1164492"/>
            <a:ext cx="8245231" cy="259560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5594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F8E8B6-4A3D-415D-8ACE-928A14B5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讀取</a:t>
            </a:r>
            <a:r>
              <a:rPr lang="en-US" altLang="zh-TW"/>
              <a:t>sql</a:t>
            </a:r>
            <a:r>
              <a:rPr lang="zh-TW" altLang="en-US"/>
              <a:t>指令並執行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AFB4EDF-65A9-4176-9DE3-E4B883081B98}"/>
              </a:ext>
            </a:extLst>
          </p:cNvPr>
          <p:cNvSpPr txBox="1"/>
          <p:nvPr/>
        </p:nvSpPr>
        <p:spPr>
          <a:xfrm>
            <a:off x="1025162" y="981571"/>
            <a:ext cx="7219462" cy="569386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TW" sz="1600"/>
              <a:t>sqlite&gt; CREATE TABLE Products(</a:t>
            </a:r>
          </a:p>
          <a:p>
            <a:r>
              <a:rPr lang="en-US" altLang="zh-TW" sz="1600"/>
              <a:t>(x1...&gt;     pNo         CHAR(6)     NOT NULL,</a:t>
            </a:r>
          </a:p>
          <a:p>
            <a:r>
              <a:rPr lang="en-US" altLang="zh-TW" sz="1600"/>
              <a:t>(x1...&gt;     pName        VARCHAR(30),</a:t>
            </a:r>
          </a:p>
          <a:p>
            <a:r>
              <a:rPr lang="en-US" altLang="zh-TW" sz="1600"/>
              <a:t>(x1...&gt;     unitPrice      DECIMAL(10,2),</a:t>
            </a:r>
          </a:p>
          <a:p>
            <a:r>
              <a:rPr lang="en-US" altLang="zh-TW" sz="1600"/>
              <a:t>(x1...&gt;     category      VARCHAR(20),</a:t>
            </a:r>
          </a:p>
          <a:p>
            <a:r>
              <a:rPr lang="en-US" altLang="zh-TW" sz="1600"/>
              <a:t>(x1...&gt;     PRIMARY KEY (pNo ),</a:t>
            </a:r>
          </a:p>
          <a:p>
            <a:r>
              <a:rPr lang="en-US" altLang="zh-TW" sz="1600"/>
              <a:t>(x1...&gt;     CONSTRAINT UnitPrice_Check</a:t>
            </a:r>
          </a:p>
          <a:p>
            <a:r>
              <a:rPr lang="en-US" altLang="zh-TW" sz="1600"/>
              <a:t>(x1...&gt;     CHECK (unitPrice &gt; 100)</a:t>
            </a:r>
          </a:p>
          <a:p>
            <a:r>
              <a:rPr lang="en-US" altLang="zh-TW" sz="1600"/>
              <a:t>(x1...&gt; );</a:t>
            </a:r>
          </a:p>
          <a:p>
            <a:r>
              <a:rPr lang="en-US" altLang="zh-TW" sz="1600"/>
              <a:t>sqlite&gt; .table</a:t>
            </a:r>
          </a:p>
          <a:p>
            <a:r>
              <a:rPr lang="en-US" altLang="zh-TW" sz="1600"/>
              <a:t>Products  member    students</a:t>
            </a:r>
          </a:p>
          <a:p>
            <a:r>
              <a:rPr lang="en-US" altLang="zh-TW" sz="1600">
                <a:highlight>
                  <a:srgbClr val="FFFF00"/>
                </a:highlight>
              </a:rPr>
              <a:t>sqlite&gt; insert into products values</a:t>
            </a:r>
          </a:p>
          <a:p>
            <a:r>
              <a:rPr lang="en-US" altLang="zh-TW" sz="1600">
                <a:highlight>
                  <a:srgbClr val="FFFF00"/>
                </a:highlight>
              </a:rPr>
              <a:t>   ...&gt; ("b30999", "</a:t>
            </a:r>
            <a:r>
              <a:rPr lang="zh-TW" altLang="en-US" sz="1600">
                <a:highlight>
                  <a:srgbClr val="FFFF00"/>
                </a:highlight>
              </a:rPr>
              <a:t>資料庫理論與實務</a:t>
            </a:r>
            <a:r>
              <a:rPr lang="en-US" altLang="zh-TW" sz="1600">
                <a:highlight>
                  <a:srgbClr val="FFFF00"/>
                </a:highlight>
              </a:rPr>
              <a:t>", 500, "Book");</a:t>
            </a:r>
          </a:p>
          <a:p>
            <a:r>
              <a:rPr lang="en-US" altLang="zh-TW" sz="1600">
                <a:highlight>
                  <a:srgbClr val="00FFFF"/>
                </a:highlight>
              </a:rPr>
              <a:t>sqlite&gt; select * from products;</a:t>
            </a:r>
          </a:p>
          <a:p>
            <a:r>
              <a:rPr lang="en-US" altLang="zh-TW" sz="1600"/>
              <a:t>b30999|</a:t>
            </a:r>
            <a:r>
              <a:rPr lang="zh-TW" altLang="en-US" sz="1600"/>
              <a:t>資料庫理論與實務</a:t>
            </a:r>
            <a:r>
              <a:rPr lang="en-US" altLang="zh-TW" sz="1600"/>
              <a:t>|500|Book</a:t>
            </a:r>
          </a:p>
          <a:p>
            <a:r>
              <a:rPr lang="en-US" altLang="zh-TW" sz="1600">
                <a:highlight>
                  <a:srgbClr val="C0C0C0"/>
                </a:highlight>
              </a:rPr>
              <a:t>sqlite&gt; .header on</a:t>
            </a:r>
          </a:p>
          <a:p>
            <a:r>
              <a:rPr lang="en-US" altLang="zh-TW" sz="1600">
                <a:highlight>
                  <a:srgbClr val="C0C0C0"/>
                </a:highlight>
              </a:rPr>
              <a:t>sqlite&gt; .mode column</a:t>
            </a:r>
          </a:p>
          <a:p>
            <a:r>
              <a:rPr lang="en-US" altLang="zh-TW" sz="1600"/>
              <a:t>sqlite&gt; select * from products;</a:t>
            </a:r>
          </a:p>
          <a:p>
            <a:r>
              <a:rPr lang="en-US" altLang="zh-TW" sz="1600"/>
              <a:t>pNo     pName     unitPrice  category</a:t>
            </a:r>
          </a:p>
          <a:p>
            <a:r>
              <a:rPr lang="en-US" altLang="zh-TW" sz="1600"/>
              <a:t>------  --------  ---------  --------</a:t>
            </a:r>
          </a:p>
          <a:p>
            <a:r>
              <a:rPr lang="en-US" altLang="zh-TW" sz="1600"/>
              <a:t>b30999  </a:t>
            </a:r>
            <a:r>
              <a:rPr lang="zh-TW" altLang="en-US" sz="1600"/>
              <a:t>資料庫理論與實務  </a:t>
            </a:r>
            <a:r>
              <a:rPr lang="en-US" altLang="zh-TW" sz="1600"/>
              <a:t>500        Book</a:t>
            </a:r>
          </a:p>
          <a:p>
            <a:r>
              <a:rPr lang="en-US" altLang="zh-TW" sz="1600"/>
              <a:t>sqlite&gt;</a:t>
            </a:r>
            <a:endParaRPr lang="zh-TW" altLang="en-US" sz="1600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B7C54AF-BB98-401A-A09A-CCB2B4528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306F0-FE83-4918-BED7-919EFD16E20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E833BD-0982-42A0-AB58-F64562F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35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EF7A533-DA6E-446B-B5C5-686225A0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01E235BB-6896-4A3B-A380-A8B7DE812D0F}"/>
              </a:ext>
            </a:extLst>
          </p:cNvPr>
          <p:cNvSpPr/>
          <p:nvPr/>
        </p:nvSpPr>
        <p:spPr>
          <a:xfrm>
            <a:off x="961292" y="1002884"/>
            <a:ext cx="3641970" cy="2240501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CCF72AE-A7F2-4087-B6DD-EBB3C9CCA7C9}"/>
              </a:ext>
            </a:extLst>
          </p:cNvPr>
          <p:cNvSpPr txBox="1"/>
          <p:nvPr/>
        </p:nvSpPr>
        <p:spPr>
          <a:xfrm>
            <a:off x="4726354" y="1964459"/>
            <a:ext cx="2452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建立 </a:t>
            </a:r>
            <a:r>
              <a:rPr lang="en-US" altLang="zh-TW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products </a:t>
            </a:r>
            <a:r>
              <a:rPr lang="zh-TW" altLang="en-US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資料表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2544C44-E345-4764-B85E-362B1B615389}"/>
              </a:ext>
            </a:extLst>
          </p:cNvPr>
          <p:cNvSpPr txBox="1"/>
          <p:nvPr/>
        </p:nvSpPr>
        <p:spPr>
          <a:xfrm>
            <a:off x="3883015" y="3624531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輸入一筆商品資料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6BF664B-EFC2-458A-A791-89BBAAE4FEB1}"/>
              </a:ext>
            </a:extLst>
          </p:cNvPr>
          <p:cNvSpPr txBox="1"/>
          <p:nvPr/>
        </p:nvSpPr>
        <p:spPr>
          <a:xfrm>
            <a:off x="3712308" y="4154878"/>
            <a:ext cx="324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讀取商品資料表中的所有資料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0364202-9EB8-4BC2-9874-7110FBA6F358}"/>
              </a:ext>
            </a:extLst>
          </p:cNvPr>
          <p:cNvSpPr txBox="1"/>
          <p:nvPr/>
        </p:nvSpPr>
        <p:spPr>
          <a:xfrm>
            <a:off x="2913050" y="4765226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設定顯示模式</a:t>
            </a:r>
          </a:p>
        </p:txBody>
      </p:sp>
    </p:spTree>
    <p:extLst>
      <p:ext uri="{BB962C8B-B14F-4D97-AF65-F5344CB8AC3E}">
        <p14:creationId xmlns:p14="http://schemas.microsoft.com/office/powerpoint/2010/main" val="124326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CEACDA3-4C1F-46E2-A6AD-C9104F026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讀取</a:t>
            </a:r>
            <a:r>
              <a:rPr lang="en-US" altLang="zh-TW"/>
              <a:t>csv</a:t>
            </a:r>
            <a:r>
              <a:rPr lang="zh-TW" altLang="en-US"/>
              <a:t>檔資料新增至資料表</a:t>
            </a:r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D1574895-CBAF-407B-A812-261D055A2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8523" y="5104441"/>
            <a:ext cx="4587631" cy="1549074"/>
          </a:xfrm>
          <a:solidFill>
            <a:srgbClr val="FFFF00"/>
          </a:solidFill>
          <a:ln>
            <a:solidFill>
              <a:srgbClr val="0000FF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1600">
                <a:solidFill>
                  <a:srgbClr val="0000FF"/>
                </a:solidFill>
              </a:rPr>
              <a:t>注意</a:t>
            </a:r>
            <a:r>
              <a:rPr lang="zh-TW" altLang="en-US" sz="1600" dirty="0">
                <a:solidFill>
                  <a:srgbClr val="0000FF"/>
                </a:solidFill>
              </a:rPr>
              <a:t>檔案編碼問題</a:t>
            </a:r>
            <a:endParaRPr lang="en-US" altLang="zh-TW" sz="1600" dirty="0">
              <a:solidFill>
                <a:srgbClr val="0000FF"/>
              </a:solidFill>
            </a:endParaRPr>
          </a:p>
          <a:p>
            <a:r>
              <a:rPr lang="zh-TW" altLang="en-US" sz="1600" dirty="0"/>
              <a:t>將 </a:t>
            </a:r>
            <a:r>
              <a:rPr lang="en-US" altLang="zh-TW" sz="1600" dirty="0"/>
              <a:t>csv </a:t>
            </a:r>
            <a:r>
              <a:rPr lang="zh-TW" altLang="en-US" sz="1600" dirty="0"/>
              <a:t>檔案轉換為 </a:t>
            </a:r>
            <a:r>
              <a:rPr lang="en-US" altLang="zh-TW" sz="1600" dirty="0"/>
              <a:t>utf-8</a:t>
            </a:r>
          </a:p>
          <a:p>
            <a:r>
              <a:rPr lang="en-US" altLang="zh-TW" sz="1600" dirty="0"/>
              <a:t>Sqlite3</a:t>
            </a:r>
            <a:r>
              <a:rPr lang="zh-TW" altLang="en-US" sz="1600" dirty="0"/>
              <a:t>設定編碼</a:t>
            </a:r>
            <a:endParaRPr lang="en-US" altLang="zh-TW" sz="1600" dirty="0"/>
          </a:p>
          <a:p>
            <a:pPr lvl="1"/>
            <a:r>
              <a:rPr lang="en-US" altLang="zh-TW" sz="1400" b="1" dirty="0"/>
              <a:t>PRAGMA encoding="</a:t>
            </a:r>
            <a:r>
              <a:rPr lang="en-US" altLang="zh-TW" sz="1400" b="1"/>
              <a:t>UTF-8";</a:t>
            </a:r>
            <a:endParaRPr lang="en-US" altLang="zh-TW" sz="1400" b="1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E926D2-FA8B-42A3-A3D5-AEAF80CBF5C3}"/>
              </a:ext>
            </a:extLst>
          </p:cNvPr>
          <p:cNvSpPr txBox="1"/>
          <p:nvPr/>
        </p:nvSpPr>
        <p:spPr>
          <a:xfrm>
            <a:off x="7723505" y="835469"/>
            <a:ext cx="1273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/>
              <a:t>authors.csv</a:t>
            </a:r>
            <a:endParaRPr lang="zh-TW" altLang="en-US" b="1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0CDACC-A24E-4994-AC0C-23DC30C58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659DA-5002-4C55-9D86-748851CB7377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C921CDF-0165-4A49-8F24-D5FEF7CDA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36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0F9C88-62C9-4ADC-A86F-BD9AA0B0C25B}"/>
              </a:ext>
            </a:extLst>
          </p:cNvPr>
          <p:cNvSpPr txBox="1"/>
          <p:nvPr/>
        </p:nvSpPr>
        <p:spPr>
          <a:xfrm>
            <a:off x="7320224" y="1204801"/>
            <a:ext cx="2456708" cy="369331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dirty="0"/>
              <a:t>b30999,Huang</a:t>
            </a:r>
          </a:p>
          <a:p>
            <a:r>
              <a:rPr lang="en-US" altLang="zh-TW" dirty="0"/>
              <a:t>b10234,Lin</a:t>
            </a:r>
          </a:p>
          <a:p>
            <a:r>
              <a:rPr lang="en-US" altLang="zh-TW" dirty="0"/>
              <a:t>d11222,William</a:t>
            </a:r>
          </a:p>
          <a:p>
            <a:r>
              <a:rPr lang="en-US" altLang="zh-TW" dirty="0"/>
              <a:t>b20666,Sandra</a:t>
            </a:r>
          </a:p>
          <a:p>
            <a:r>
              <a:rPr lang="en-US" altLang="zh-TW" dirty="0"/>
              <a:t>b40555,Wu</a:t>
            </a:r>
          </a:p>
          <a:p>
            <a:r>
              <a:rPr lang="en-US" altLang="zh-TW" dirty="0"/>
              <a:t>d20777,Jolin</a:t>
            </a:r>
          </a:p>
          <a:p>
            <a:r>
              <a:rPr lang="en-US" altLang="zh-TW" dirty="0"/>
              <a:t>v01888,J.K.</a:t>
            </a:r>
          </a:p>
          <a:p>
            <a:r>
              <a:rPr lang="en-US" altLang="zh-TW" dirty="0"/>
              <a:t>b51111,Lai</a:t>
            </a:r>
          </a:p>
          <a:p>
            <a:r>
              <a:rPr lang="en-US" altLang="zh-TW" dirty="0"/>
              <a:t>b51111,Huang</a:t>
            </a:r>
          </a:p>
          <a:p>
            <a:r>
              <a:rPr lang="en-US" altLang="zh-TW" dirty="0"/>
              <a:t>b51111,Lin</a:t>
            </a:r>
          </a:p>
          <a:p>
            <a:r>
              <a:rPr lang="en-US" altLang="zh-TW" dirty="0"/>
              <a:t>d03333,Jackey</a:t>
            </a:r>
          </a:p>
          <a:p>
            <a:r>
              <a:rPr lang="en-US" altLang="zh-TW" dirty="0"/>
              <a:t>d03333,David</a:t>
            </a:r>
          </a:p>
          <a:p>
            <a:r>
              <a:rPr lang="en-US" altLang="zh-TW" dirty="0"/>
              <a:t>d03333,Tom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F6FF73-12EB-4073-837C-0AF5F8230024}"/>
              </a:ext>
            </a:extLst>
          </p:cNvPr>
          <p:cNvSpPr txBox="1"/>
          <p:nvPr/>
        </p:nvSpPr>
        <p:spPr>
          <a:xfrm>
            <a:off x="772418" y="1343301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/>
              <a:t>sqlite&gt; CREATE TABLE authors(</a:t>
            </a:r>
          </a:p>
          <a:p>
            <a:r>
              <a:rPr lang="en-US" altLang="zh-TW"/>
              <a:t>(x1...&gt; pNo CHAR(6) not null,</a:t>
            </a:r>
          </a:p>
          <a:p>
            <a:r>
              <a:rPr lang="en-US" altLang="zh-TW"/>
              <a:t>(x1...&gt; name TEXT not null,</a:t>
            </a:r>
          </a:p>
          <a:p>
            <a:r>
              <a:rPr lang="en-US" altLang="zh-TW"/>
              <a:t>(x1...&gt; PRIMARY KEY(pNo, name),</a:t>
            </a:r>
          </a:p>
          <a:p>
            <a:r>
              <a:rPr lang="en-US" altLang="zh-TW"/>
              <a:t>(x1...&gt; FOREIGN KEY(pNO) REFERENCES products(pNo)</a:t>
            </a:r>
          </a:p>
          <a:p>
            <a:r>
              <a:rPr lang="en-US" altLang="zh-TW"/>
              <a:t>(x1...&gt; );</a:t>
            </a:r>
          </a:p>
          <a:p>
            <a:r>
              <a:rPr lang="en-US" altLang="zh-TW"/>
              <a:t>sqlite&gt; .table</a:t>
            </a:r>
          </a:p>
          <a:p>
            <a:r>
              <a:rPr lang="en-US" altLang="zh-TW"/>
              <a:t>Products  authors   member    students</a:t>
            </a:r>
          </a:p>
          <a:p>
            <a:r>
              <a:rPr lang="en-US" altLang="zh-TW"/>
              <a:t>sqlite&gt; select * from authors;</a:t>
            </a:r>
          </a:p>
          <a:p>
            <a:r>
              <a:rPr lang="en-US" altLang="zh-TW"/>
              <a:t>sqlite&gt; </a:t>
            </a:r>
            <a:r>
              <a:rPr lang="en-US" altLang="zh-TW" b="1">
                <a:highlight>
                  <a:srgbClr val="FFFF00"/>
                </a:highlight>
              </a:rPr>
              <a:t>.mode csv</a:t>
            </a:r>
          </a:p>
          <a:p>
            <a:r>
              <a:rPr lang="en-US" altLang="zh-TW"/>
              <a:t>sqlite&gt; </a:t>
            </a:r>
            <a:r>
              <a:rPr lang="en-US" altLang="zh-TW" b="1">
                <a:highlight>
                  <a:srgbClr val="FFFF00"/>
                </a:highlight>
              </a:rPr>
              <a:t>.import C:/Users/User/Desktop/authors.csv authors</a:t>
            </a:r>
          </a:p>
          <a:p>
            <a:r>
              <a:rPr lang="en-US" altLang="zh-TW"/>
              <a:t>sqlite&gt; select * from authors;</a:t>
            </a:r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2E575AB-2E2F-4D05-9FC3-7AA495B63BE8}"/>
              </a:ext>
            </a:extLst>
          </p:cNvPr>
          <p:cNvSpPr txBox="1"/>
          <p:nvPr/>
        </p:nvSpPr>
        <p:spPr>
          <a:xfrm>
            <a:off x="3870569" y="1333228"/>
            <a:ext cx="2178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800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建立</a:t>
            </a:r>
            <a:r>
              <a:rPr lang="en-US" altLang="zh-TW" sz="1800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authors</a:t>
            </a:r>
            <a:r>
              <a:rPr lang="zh-TW" altLang="en-US" sz="1800">
                <a:solidFill>
                  <a:srgbClr val="0000FF"/>
                </a:solidFill>
                <a:latin typeface="Comic Sans MS" panose="030F0702030302020204" pitchFamily="66" charset="0"/>
                <a:ea typeface="清松手寫體3" panose="00000500000000000000" pitchFamily="2" charset="-120"/>
              </a:rPr>
              <a:t>資料表</a:t>
            </a:r>
            <a:endParaRPr lang="en-US" altLang="zh-TW" sz="1800">
              <a:solidFill>
                <a:srgbClr val="0000FF"/>
              </a:solidFill>
              <a:latin typeface="Comic Sans MS" panose="030F0702030302020204" pitchFamily="66" charset="0"/>
              <a:ea typeface="清松手寫體3" panose="00000500000000000000" pitchFamily="2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684D0AC-41BA-4AA7-B1B0-DCC2CA7E666A}"/>
              </a:ext>
            </a:extLst>
          </p:cNvPr>
          <p:cNvSpPr txBox="1"/>
          <p:nvPr/>
        </p:nvSpPr>
        <p:spPr>
          <a:xfrm>
            <a:off x="2415068" y="3782648"/>
            <a:ext cx="27382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設定讀取 </a:t>
            </a:r>
            <a:r>
              <a:rPr lang="en-US" altLang="zh-TW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csv </a:t>
            </a:r>
            <a:r>
              <a:rPr lang="zh-TW" altLang="en-US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檔案模式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ED7F22C-65CF-4E77-972E-0B1D1CF6CEBB}"/>
              </a:ext>
            </a:extLst>
          </p:cNvPr>
          <p:cNvSpPr txBox="1"/>
          <p:nvPr/>
        </p:nvSpPr>
        <p:spPr>
          <a:xfrm>
            <a:off x="4089084" y="4359511"/>
            <a:ext cx="2595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.import </a:t>
            </a:r>
            <a:r>
              <a:rPr lang="zh-TW" altLang="en-US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讀取 </a:t>
            </a:r>
            <a:r>
              <a:rPr lang="en-US" altLang="zh-TW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authors.csv</a:t>
            </a:r>
            <a:r>
              <a:rPr lang="zh-TW" altLang="en-US" sz="2000" b="1">
                <a:solidFill>
                  <a:srgbClr val="0000FF"/>
                </a:solidFill>
                <a:latin typeface="清松手寫體3" panose="00000500000000000000" pitchFamily="2" charset="-120"/>
                <a:ea typeface="清松手寫體3" panose="00000500000000000000" pitchFamily="2" charset="-120"/>
              </a:rPr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150784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E990FE-5626-492A-BBA0-FC9DAB429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211C27-979A-4833-B84E-57AC3ABFA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將商品資料檔讀入至 </a:t>
            </a:r>
            <a:r>
              <a:rPr lang="en-US" altLang="zh-TW"/>
              <a:t>products </a:t>
            </a:r>
            <a:r>
              <a:rPr lang="zh-TW" altLang="en-US"/>
              <a:t>表中</a:t>
            </a:r>
            <a:endParaRPr lang="en-US" altLang="zh-TW"/>
          </a:p>
          <a:p>
            <a:pPr lvl="1"/>
            <a:r>
              <a:rPr lang="zh-TW" altLang="en-US"/>
              <a:t>商品資料先儲存成 </a:t>
            </a:r>
            <a:r>
              <a:rPr lang="en-US" altLang="zh-TW"/>
              <a:t>.csv </a:t>
            </a:r>
            <a:r>
              <a:rPr lang="zh-TW" altLang="en-US"/>
              <a:t>檔</a:t>
            </a:r>
            <a:endParaRPr lang="en-US" altLang="zh-TW"/>
          </a:p>
          <a:p>
            <a:pPr lvl="1"/>
            <a:r>
              <a:rPr lang="zh-TW" altLang="en-US"/>
              <a:t>確認資料庫已經建立 </a:t>
            </a:r>
            <a:r>
              <a:rPr lang="en-US" altLang="zh-TW"/>
              <a:t>products</a:t>
            </a:r>
            <a:r>
              <a:rPr lang="zh-TW" altLang="en-US"/>
              <a:t> 資料表</a:t>
            </a:r>
            <a:endParaRPr lang="en-US" altLang="zh-TW"/>
          </a:p>
          <a:p>
            <a:pPr lvl="1"/>
            <a:r>
              <a:rPr lang="zh-TW" altLang="en-US"/>
              <a:t>設定 </a:t>
            </a:r>
            <a:r>
              <a:rPr lang="en-US" altLang="zh-TW"/>
              <a:t>csv </a:t>
            </a:r>
            <a:r>
              <a:rPr lang="zh-TW" altLang="en-US"/>
              <a:t>模式 </a:t>
            </a:r>
            <a:r>
              <a:rPr lang="en-US" altLang="zh-TW"/>
              <a:t>(.mode csv)</a:t>
            </a:r>
          </a:p>
          <a:p>
            <a:pPr lvl="1"/>
            <a:r>
              <a:rPr lang="zh-TW" altLang="en-US"/>
              <a:t>利用 </a:t>
            </a:r>
            <a:r>
              <a:rPr lang="en-US" altLang="zh-TW"/>
              <a:t>.import </a:t>
            </a:r>
            <a:r>
              <a:rPr lang="zh-TW" altLang="en-US"/>
              <a:t>點命令輸入資料</a:t>
            </a:r>
            <a:endParaRPr lang="en-US" altLang="zh-TW"/>
          </a:p>
          <a:p>
            <a:pPr lvl="1"/>
            <a:r>
              <a:rPr lang="zh-TW" altLang="en-US"/>
              <a:t>檢查資料表中資料 </a:t>
            </a:r>
            <a:r>
              <a:rPr lang="en-US" altLang="zh-TW"/>
              <a:t>(select * from products;)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8710B6E-D1BB-4B84-BD51-A9146178F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780D2-2B92-48F9-A611-85407AE7AAC5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839DF8A-4EC3-4CBE-A9C4-720900C6B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37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8516BA8-E9A8-448B-9A97-7BE9A941A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C25269E-0D12-43C5-9C00-BE5717636216}"/>
              </a:ext>
            </a:extLst>
          </p:cNvPr>
          <p:cNvSpPr txBox="1"/>
          <p:nvPr/>
        </p:nvSpPr>
        <p:spPr>
          <a:xfrm>
            <a:off x="3262728" y="3611549"/>
            <a:ext cx="4785164" cy="224676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1400" dirty="0"/>
              <a:t>b30999,</a:t>
            </a:r>
            <a:r>
              <a:rPr lang="zh-TW" altLang="en-US" sz="1400" dirty="0"/>
              <a:t>資料庫理論與實務</a:t>
            </a:r>
            <a:r>
              <a:rPr lang="en-US" altLang="zh-TW" sz="1400" dirty="0"/>
              <a:t>,500,Book</a:t>
            </a:r>
          </a:p>
          <a:p>
            <a:r>
              <a:rPr lang="en-US" altLang="zh-TW" sz="1400" dirty="0"/>
              <a:t>d11222,</a:t>
            </a:r>
            <a:r>
              <a:rPr lang="zh-TW" altLang="en-US" sz="1400" dirty="0"/>
              <a:t>任賢齊專輯三</a:t>
            </a:r>
            <a:r>
              <a:rPr lang="en-US" altLang="zh-TW" sz="1400" dirty="0"/>
              <a:t>,300,CD</a:t>
            </a:r>
          </a:p>
          <a:p>
            <a:r>
              <a:rPr lang="en-US" altLang="zh-TW" sz="1400" dirty="0"/>
              <a:t>b20666,OLAP </a:t>
            </a:r>
            <a:r>
              <a:rPr lang="zh-TW" altLang="en-US" sz="1400" dirty="0"/>
              <a:t>進階</a:t>
            </a:r>
            <a:r>
              <a:rPr lang="en-US" altLang="zh-TW" sz="1400" dirty="0"/>
              <a:t>,500,Book</a:t>
            </a:r>
          </a:p>
          <a:p>
            <a:r>
              <a:rPr lang="en-US" altLang="zh-TW" sz="1400" dirty="0"/>
              <a:t>b10234,</a:t>
            </a:r>
            <a:r>
              <a:rPr lang="zh-TW" altLang="en-US" sz="1400" dirty="0"/>
              <a:t>管理資訊系統概論</a:t>
            </a:r>
            <a:r>
              <a:rPr lang="en-US" altLang="zh-TW" sz="1400" dirty="0"/>
              <a:t>,600,Book</a:t>
            </a:r>
          </a:p>
          <a:p>
            <a:r>
              <a:rPr lang="en-US" altLang="zh-TW" sz="1400" dirty="0"/>
              <a:t>b40555,</a:t>
            </a:r>
            <a:r>
              <a:rPr lang="zh-TW" altLang="en-US" sz="1400" dirty="0"/>
              <a:t>系統分析理論與實務</a:t>
            </a:r>
            <a:r>
              <a:rPr lang="en-US" altLang="zh-TW" sz="1400" dirty="0"/>
              <a:t>,550,Book</a:t>
            </a:r>
          </a:p>
          <a:p>
            <a:r>
              <a:rPr lang="en-US" altLang="zh-TW" sz="1400" dirty="0"/>
              <a:t>b20777,</a:t>
            </a:r>
            <a:r>
              <a:rPr lang="zh-TW" altLang="en-US" sz="1400" dirty="0"/>
              <a:t>蔡依林專輯二</a:t>
            </a:r>
            <a:r>
              <a:rPr lang="en-US" altLang="zh-TW" sz="1400" dirty="0"/>
              <a:t>,350,CD</a:t>
            </a:r>
          </a:p>
          <a:p>
            <a:r>
              <a:rPr lang="en-US" altLang="zh-TW" sz="1400" dirty="0"/>
              <a:t>v01888,</a:t>
            </a:r>
            <a:r>
              <a:rPr lang="zh-TW" altLang="en-US" sz="1400" dirty="0"/>
              <a:t>哈利波特</a:t>
            </a:r>
            <a:r>
              <a:rPr lang="en-US" altLang="zh-TW" sz="1400" dirty="0"/>
              <a:t>:</a:t>
            </a:r>
            <a:r>
              <a:rPr lang="zh-TW" altLang="en-US" sz="1400" dirty="0"/>
              <a:t>混血王子的背叛</a:t>
            </a:r>
            <a:r>
              <a:rPr lang="en-US" altLang="zh-TW" sz="1400" dirty="0"/>
              <a:t>,450,DVD</a:t>
            </a:r>
          </a:p>
          <a:p>
            <a:r>
              <a:rPr lang="en-US" altLang="zh-TW" sz="1400" dirty="0"/>
              <a:t>d03333,5566 </a:t>
            </a:r>
            <a:r>
              <a:rPr lang="zh-TW" altLang="en-US" sz="1400" dirty="0"/>
              <a:t>專輯</a:t>
            </a:r>
            <a:r>
              <a:rPr lang="en-US" altLang="zh-TW" sz="1400" dirty="0"/>
              <a:t>,450,CD</a:t>
            </a:r>
          </a:p>
          <a:p>
            <a:r>
              <a:rPr lang="en-US" altLang="zh-TW" sz="1400" dirty="0"/>
              <a:t>b51111,</a:t>
            </a:r>
            <a:r>
              <a:rPr lang="zh-TW" altLang="en-US" sz="1400" dirty="0"/>
              <a:t>電子商務理論與實務</a:t>
            </a:r>
            <a:r>
              <a:rPr lang="en-US" altLang="zh-TW" sz="1400" dirty="0"/>
              <a:t>,700,Book</a:t>
            </a:r>
          </a:p>
          <a:p>
            <a:r>
              <a:rPr lang="en-US" altLang="zh-TW" sz="1400" dirty="0"/>
              <a:t>v00111,</a:t>
            </a:r>
            <a:r>
              <a:rPr lang="zh-TW" altLang="en-US" sz="1400" dirty="0"/>
              <a:t>英雄</a:t>
            </a:r>
            <a:r>
              <a:rPr lang="en-US" altLang="zh-TW" sz="1400" dirty="0"/>
              <a:t>,400,DVD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65222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5BDEF6-476C-441A-8DC8-97E231105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修改資料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6A88A9-171C-4E13-A75E-4FB5840994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1352" y="3247479"/>
            <a:ext cx="5673971" cy="2493107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zh-TW" altLang="en-US" sz="2000">
                <a:solidFill>
                  <a:schemeClr val="tx1"/>
                </a:solidFill>
              </a:rPr>
              <a:t>將「資料庫理論與實務」這本書的定價改成</a:t>
            </a:r>
            <a:r>
              <a:rPr lang="en-US" altLang="zh-TW" sz="2000">
                <a:solidFill>
                  <a:schemeClr val="tx1"/>
                </a:solidFill>
              </a:rPr>
              <a:t>700</a:t>
            </a:r>
          </a:p>
          <a:p>
            <a:pPr lvl="1">
              <a:buNone/>
            </a:pPr>
            <a:r>
              <a:rPr lang="en-US" altLang="zh-TW" b="1">
                <a:solidFill>
                  <a:srgbClr val="0000FF"/>
                </a:solidFill>
              </a:rPr>
              <a:t>UPDATE</a:t>
            </a:r>
            <a:r>
              <a:rPr lang="en-US" altLang="zh-TW" b="1">
                <a:solidFill>
                  <a:srgbClr val="0070C0"/>
                </a:solidFill>
              </a:rPr>
              <a:t> </a:t>
            </a:r>
            <a:r>
              <a:rPr lang="en-US" altLang="zh-TW" b="1">
                <a:solidFill>
                  <a:srgbClr val="C00000"/>
                </a:solidFill>
              </a:rPr>
              <a:t>Product</a:t>
            </a:r>
          </a:p>
          <a:p>
            <a:pPr lvl="1">
              <a:buNone/>
            </a:pPr>
            <a:r>
              <a:rPr lang="en-US" altLang="zh-TW" b="1">
                <a:solidFill>
                  <a:srgbClr val="0000FF"/>
                </a:solidFill>
              </a:rPr>
              <a:t>SET</a:t>
            </a:r>
            <a:r>
              <a:rPr lang="en-US" altLang="zh-TW" b="1">
                <a:solidFill>
                  <a:srgbClr val="0070C0"/>
                </a:solidFill>
              </a:rPr>
              <a:t> </a:t>
            </a:r>
            <a:r>
              <a:rPr lang="en-US" altLang="zh-TW" b="1">
                <a:solidFill>
                  <a:srgbClr val="00B050"/>
                </a:solidFill>
              </a:rPr>
              <a:t>unitPrice</a:t>
            </a:r>
            <a:r>
              <a:rPr lang="en-US" altLang="zh-TW" b="1">
                <a:solidFill>
                  <a:srgbClr val="0070C0"/>
                </a:solidFill>
              </a:rPr>
              <a:t> = </a:t>
            </a:r>
            <a:r>
              <a:rPr lang="en-US" altLang="zh-TW" b="1">
                <a:solidFill>
                  <a:srgbClr val="7030A0"/>
                </a:solidFill>
              </a:rPr>
              <a:t>700</a:t>
            </a:r>
          </a:p>
          <a:p>
            <a:pPr lvl="1">
              <a:buNone/>
            </a:pPr>
            <a:r>
              <a:rPr lang="en-US" altLang="zh-TW" b="1">
                <a:solidFill>
                  <a:srgbClr val="0000FF"/>
                </a:solidFill>
              </a:rPr>
              <a:t>WHERE</a:t>
            </a:r>
            <a:r>
              <a:rPr lang="en-US" altLang="zh-TW" b="1">
                <a:solidFill>
                  <a:srgbClr val="0070C0"/>
                </a:solidFill>
              </a:rPr>
              <a:t> </a:t>
            </a:r>
            <a:r>
              <a:rPr lang="en-US" altLang="zh-TW" b="1">
                <a:solidFill>
                  <a:srgbClr val="00B050"/>
                </a:solidFill>
              </a:rPr>
              <a:t>pName</a:t>
            </a:r>
            <a:r>
              <a:rPr lang="en-US" altLang="zh-TW" b="1">
                <a:solidFill>
                  <a:srgbClr val="0070C0"/>
                </a:solidFill>
              </a:rPr>
              <a:t> = </a:t>
            </a:r>
            <a:r>
              <a:rPr lang="en-US" altLang="zh-TW" b="1">
                <a:solidFill>
                  <a:srgbClr val="7030A0"/>
                </a:solidFill>
              </a:rPr>
              <a:t>'</a:t>
            </a:r>
            <a:r>
              <a:rPr lang="zh-TW" altLang="en-US" b="1">
                <a:solidFill>
                  <a:srgbClr val="7030A0"/>
                </a:solidFill>
              </a:rPr>
              <a:t>資料庫理論與實務</a:t>
            </a:r>
            <a:r>
              <a:rPr lang="en-US" altLang="zh-TW" b="1">
                <a:solidFill>
                  <a:srgbClr val="7030A0"/>
                </a:solidFill>
              </a:rPr>
              <a:t>'</a:t>
            </a:r>
            <a:r>
              <a:rPr lang="en-US" altLang="zh-TW" b="1">
                <a:solidFill>
                  <a:srgbClr val="0070C0"/>
                </a:solidFill>
              </a:rPr>
              <a:t>;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4068CB-8EA2-4566-B6BE-569AB72F7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1FE5D-4DE6-4AFA-B161-ECDF99F9A500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87189B-742C-4AA6-8674-D1CE6A932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38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486523-8848-4178-BAE1-6A890A442354}"/>
              </a:ext>
            </a:extLst>
          </p:cNvPr>
          <p:cNvSpPr txBox="1"/>
          <p:nvPr/>
        </p:nvSpPr>
        <p:spPr>
          <a:xfrm>
            <a:off x="1992924" y="1602154"/>
            <a:ext cx="74751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US" altLang="zh-TW" sz="2400" b="1">
                <a:solidFill>
                  <a:srgbClr val="0000FF"/>
                </a:solidFill>
                <a:ea typeface="微軟正黑體" panose="020B0604030504040204" pitchFamily="34" charset="-120"/>
              </a:rPr>
              <a:t>UPDATE</a:t>
            </a:r>
            <a:r>
              <a:rPr lang="en-US" altLang="zh-TW" sz="2400">
                <a:ea typeface="微軟正黑體" panose="020B0604030504040204" pitchFamily="34" charset="-120"/>
              </a:rPr>
              <a:t> &lt;</a:t>
            </a:r>
            <a:r>
              <a:rPr lang="zh-TW" altLang="en-US" sz="2400">
                <a:ea typeface="微軟正黑體" panose="020B0604030504040204" pitchFamily="34" charset="-120"/>
              </a:rPr>
              <a:t>資料表名稱</a:t>
            </a:r>
            <a:r>
              <a:rPr lang="en-US" altLang="zh-TW" sz="2400"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sz="2400" b="1">
                <a:solidFill>
                  <a:srgbClr val="0000FF"/>
                </a:solidFill>
                <a:ea typeface="微軟正黑體" panose="020B0604030504040204" pitchFamily="34" charset="-120"/>
              </a:rPr>
              <a:t>SET</a:t>
            </a:r>
            <a:r>
              <a:rPr lang="en-US" altLang="zh-TW" sz="2400" b="1">
                <a:ea typeface="微軟正黑體" panose="020B0604030504040204" pitchFamily="34" charset="-120"/>
              </a:rPr>
              <a:t> </a:t>
            </a:r>
            <a:r>
              <a:rPr lang="en-US" altLang="zh-TW" sz="2400">
                <a:ea typeface="微軟正黑體" panose="020B0604030504040204" pitchFamily="34" charset="-120"/>
              </a:rPr>
              <a:t>&lt;</a:t>
            </a:r>
            <a:r>
              <a:rPr lang="zh-TW" altLang="en-US" sz="2400">
                <a:ea typeface="微軟正黑體" panose="020B0604030504040204" pitchFamily="34" charset="-120"/>
              </a:rPr>
              <a:t>屬性名稱</a:t>
            </a:r>
            <a:r>
              <a:rPr lang="en-US" altLang="zh-TW" sz="2400">
                <a:ea typeface="微軟正黑體" panose="020B0604030504040204" pitchFamily="34" charset="-120"/>
              </a:rPr>
              <a:t>&gt; = &lt;</a:t>
            </a:r>
            <a:r>
              <a:rPr lang="zh-TW" altLang="en-US" sz="2400">
                <a:ea typeface="微軟正黑體" panose="020B0604030504040204" pitchFamily="34" charset="-120"/>
              </a:rPr>
              <a:t>屬性值</a:t>
            </a:r>
            <a:r>
              <a:rPr lang="en-US" altLang="zh-TW" sz="2400">
                <a:ea typeface="微軟正黑體" panose="020B0604030504040204" pitchFamily="34" charset="-120"/>
              </a:rPr>
              <a:t>&gt;</a:t>
            </a:r>
            <a:r>
              <a:rPr lang="en-US" altLang="zh-TW" sz="2400">
                <a:solidFill>
                  <a:srgbClr val="0070C0"/>
                </a:solidFill>
                <a:ea typeface="微軟正黑體" panose="020B0604030504040204" pitchFamily="34" charset="-120"/>
              </a:rPr>
              <a:t>, </a:t>
            </a:r>
            <a:r>
              <a:rPr lang="en-US" altLang="zh-TW" sz="2400">
                <a:ea typeface="微軟正黑體" panose="020B0604030504040204" pitchFamily="34" charset="-120"/>
              </a:rPr>
              <a:t>&lt;</a:t>
            </a:r>
            <a:r>
              <a:rPr lang="zh-TW" altLang="en-US" sz="2400">
                <a:ea typeface="微軟正黑體" panose="020B0604030504040204" pitchFamily="34" charset="-120"/>
              </a:rPr>
              <a:t>屬性名稱</a:t>
            </a:r>
            <a:r>
              <a:rPr lang="en-US" altLang="zh-TW" sz="2400">
                <a:ea typeface="微軟正黑體" panose="020B0604030504040204" pitchFamily="34" charset="-120"/>
              </a:rPr>
              <a:t>&gt; = &lt;</a:t>
            </a:r>
            <a:r>
              <a:rPr lang="zh-TW" altLang="en-US" sz="2400">
                <a:ea typeface="微軟正黑體" panose="020B0604030504040204" pitchFamily="34" charset="-120"/>
              </a:rPr>
              <a:t>屬性值</a:t>
            </a:r>
            <a:r>
              <a:rPr lang="en-US" altLang="zh-TW" sz="2400">
                <a:ea typeface="微軟正黑體" panose="020B0604030504040204" pitchFamily="34" charset="-120"/>
              </a:rPr>
              <a:t>&gt;,……</a:t>
            </a:r>
          </a:p>
          <a:p>
            <a:pPr>
              <a:buNone/>
            </a:pPr>
            <a:r>
              <a:rPr lang="en-US" altLang="zh-TW" sz="2400" b="1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sz="2400" b="1">
                <a:ea typeface="微軟正黑體" panose="020B0604030504040204" pitchFamily="34" charset="-120"/>
              </a:rPr>
              <a:t> </a:t>
            </a:r>
            <a:r>
              <a:rPr lang="en-US" altLang="zh-TW" sz="2400">
                <a:ea typeface="微軟正黑體" panose="020B0604030504040204" pitchFamily="34" charset="-120"/>
              </a:rPr>
              <a:t>&lt;</a:t>
            </a:r>
            <a:r>
              <a:rPr lang="zh-TW" altLang="en-US" sz="2400">
                <a:ea typeface="微軟正黑體" panose="020B0604030504040204" pitchFamily="34" charset="-120"/>
              </a:rPr>
              <a:t>條件</a:t>
            </a:r>
            <a:r>
              <a:rPr lang="en-US" altLang="zh-TW" sz="2400">
                <a:ea typeface="微軟正黑體" panose="020B0604030504040204" pitchFamily="34" charset="-120"/>
              </a:rPr>
              <a:t>&gt;</a:t>
            </a:r>
            <a:r>
              <a:rPr lang="en-US" altLang="zh-TW" sz="2400">
                <a:solidFill>
                  <a:srgbClr val="0070C0"/>
                </a:solidFill>
                <a:ea typeface="微軟正黑體" panose="020B0604030504040204" pitchFamily="34" charset="-120"/>
              </a:rPr>
              <a:t>;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99218CB-E4BE-4FF7-8EE1-DE2986C12158}"/>
              </a:ext>
            </a:extLst>
          </p:cNvPr>
          <p:cNvSpPr/>
          <p:nvPr/>
        </p:nvSpPr>
        <p:spPr>
          <a:xfrm>
            <a:off x="1735015" y="1419168"/>
            <a:ext cx="7846647" cy="1441630"/>
          </a:xfrm>
          <a:prstGeom prst="round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0231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3D5A76-851C-4B17-B2C5-53239E38A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刪除資料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F8B6E8-E0EA-4E91-BC5E-85619A545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1853" y="3429000"/>
            <a:ext cx="5437554" cy="1555262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zh-TW" altLang="en-US" sz="2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將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名為「資料庫理論與實務」的商品刪除</a:t>
            </a:r>
            <a:endParaRPr lang="en-US" altLang="zh-TW" sz="2000" dirty="0">
              <a:ea typeface="微軟正黑體" panose="020B0604030504040204" pitchFamily="34" charset="-120"/>
            </a:endParaRPr>
          </a:p>
          <a:p>
            <a:pPr lvl="1">
              <a:buNone/>
            </a:pPr>
            <a:r>
              <a:rPr lang="en-US" altLang="zh-TW" b="1" dirty="0">
                <a:solidFill>
                  <a:srgbClr val="0000FF"/>
                </a:solidFill>
                <a:ea typeface="微軟正黑體" panose="020B0604030504040204" pitchFamily="34" charset="-120"/>
              </a:rPr>
              <a:t>DELETE FROM </a:t>
            </a:r>
            <a:r>
              <a:rPr lang="en-US" altLang="zh-TW" b="1" dirty="0">
                <a:solidFill>
                  <a:srgbClr val="C00000"/>
                </a:solidFill>
                <a:ea typeface="微軟正黑體" panose="020B0604030504040204" pitchFamily="34" charset="-120"/>
              </a:rPr>
              <a:t>Product</a:t>
            </a:r>
          </a:p>
          <a:p>
            <a:pPr lvl="1">
              <a:buNone/>
            </a:pPr>
            <a:r>
              <a:rPr lang="en-US" altLang="zh-TW" b="1" dirty="0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b="1" dirty="0">
                <a:solidFill>
                  <a:schemeClr val="tx1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b="1" dirty="0" err="1">
                <a:solidFill>
                  <a:srgbClr val="00B050"/>
                </a:solidFill>
                <a:ea typeface="微軟正黑體" panose="020B0604030504040204" pitchFamily="34" charset="-120"/>
              </a:rPr>
              <a:t>p</a:t>
            </a:r>
            <a:r>
              <a:rPr lang="en-US" altLang="zh-TW" b="1" dirty="0" err="1">
                <a:solidFill>
                  <a:srgbClr val="00B050"/>
                </a:solidFill>
              </a:rPr>
              <a:t>N</a:t>
            </a:r>
            <a:r>
              <a:rPr lang="en-US" altLang="zh-TW" b="1" dirty="0" err="1">
                <a:solidFill>
                  <a:srgbClr val="00B050"/>
                </a:solidFill>
                <a:ea typeface="微軟正黑體" panose="020B0604030504040204" pitchFamily="34" charset="-120"/>
              </a:rPr>
              <a:t>ame</a:t>
            </a:r>
            <a:r>
              <a:rPr lang="en-US" altLang="zh-TW" b="1" dirty="0">
                <a:solidFill>
                  <a:schemeClr val="tx1"/>
                </a:solidFill>
                <a:ea typeface="微軟正黑體" panose="020B0604030504040204" pitchFamily="34" charset="-120"/>
              </a:rPr>
              <a:t> = </a:t>
            </a:r>
            <a:r>
              <a:rPr lang="en-US" altLang="zh-TW" b="1" dirty="0">
                <a:solidFill>
                  <a:srgbClr val="7030A0"/>
                </a:solidFill>
                <a:ea typeface="微軟正黑體" panose="020B0604030504040204" pitchFamily="34" charset="-120"/>
              </a:rPr>
              <a:t>'</a:t>
            </a:r>
            <a:r>
              <a:rPr lang="zh-TW" altLang="en-US" b="1" dirty="0">
                <a:solidFill>
                  <a:srgbClr val="7030A0"/>
                </a:solidFill>
                <a:ea typeface="微軟正黑體" panose="020B0604030504040204" pitchFamily="34" charset="-120"/>
              </a:rPr>
              <a:t>資料庫理論與實務</a:t>
            </a:r>
            <a:r>
              <a:rPr lang="en-US" altLang="zh-TW" b="1" dirty="0">
                <a:solidFill>
                  <a:srgbClr val="7030A0"/>
                </a:solidFill>
                <a:ea typeface="微軟正黑體" panose="020B0604030504040204" pitchFamily="34" charset="-120"/>
              </a:rPr>
              <a:t>'</a:t>
            </a:r>
            <a:r>
              <a:rPr lang="en-US" altLang="zh-TW" b="1" dirty="0">
                <a:solidFill>
                  <a:schemeClr val="tx1"/>
                </a:solidFill>
                <a:ea typeface="微軟正黑體" panose="020B0604030504040204" pitchFamily="34" charset="-120"/>
              </a:rPr>
              <a:t>;</a:t>
            </a:r>
          </a:p>
          <a:p>
            <a:endParaRPr lang="zh-TW" altLang="en-US" sz="2000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DC78EB-ED03-413B-A0B9-6386C0A1E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20CBD-D3CE-46BD-8E10-AE487E2B75AF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7FDCB20-C615-432E-863E-2A82A6177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39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72A9DA3-54D6-4569-B382-9F3AE9955EAA}"/>
              </a:ext>
            </a:extLst>
          </p:cNvPr>
          <p:cNvSpPr txBox="1"/>
          <p:nvPr/>
        </p:nvSpPr>
        <p:spPr>
          <a:xfrm>
            <a:off x="3581400" y="1656862"/>
            <a:ext cx="4298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zh-TW" sz="2400" b="1">
                <a:solidFill>
                  <a:srgbClr val="0000FF"/>
                </a:solidFill>
                <a:ea typeface="微軟正黑體" panose="020B0604030504040204" pitchFamily="34" charset="-120"/>
              </a:rPr>
              <a:t>DELETE</a:t>
            </a:r>
            <a:r>
              <a:rPr lang="en-US" altLang="zh-TW" sz="2400">
                <a:ea typeface="微軟正黑體" panose="020B0604030504040204" pitchFamily="34" charset="-120"/>
              </a:rPr>
              <a:t> From &lt;</a:t>
            </a:r>
            <a:r>
              <a:rPr lang="zh-TW" altLang="en-US" sz="2400">
                <a:ea typeface="微軟正黑體" panose="020B0604030504040204" pitchFamily="34" charset="-120"/>
              </a:rPr>
              <a:t>資料表名稱</a:t>
            </a:r>
            <a:r>
              <a:rPr lang="en-US" altLang="zh-TW" sz="2400"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sz="2400" b="1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sz="2400" b="1">
                <a:ea typeface="微軟正黑體" panose="020B0604030504040204" pitchFamily="34" charset="-120"/>
              </a:rPr>
              <a:t> </a:t>
            </a:r>
            <a:r>
              <a:rPr lang="en-US" altLang="zh-TW" sz="2400">
                <a:ea typeface="微軟正黑體" panose="020B0604030504040204" pitchFamily="34" charset="-120"/>
              </a:rPr>
              <a:t>&lt;</a:t>
            </a:r>
            <a:r>
              <a:rPr lang="zh-TW" altLang="en-US" sz="2400">
                <a:ea typeface="微軟正黑體" panose="020B0604030504040204" pitchFamily="34" charset="-120"/>
              </a:rPr>
              <a:t>條件</a:t>
            </a:r>
            <a:r>
              <a:rPr lang="en-US" altLang="zh-TW" sz="2400">
                <a:ea typeface="微軟正黑體" panose="020B0604030504040204" pitchFamily="34" charset="-120"/>
              </a:rPr>
              <a:t>&gt;;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22318E8-78D5-4FC1-BA8D-57FBAEF7CED9}"/>
              </a:ext>
            </a:extLst>
          </p:cNvPr>
          <p:cNvSpPr/>
          <p:nvPr/>
        </p:nvSpPr>
        <p:spPr>
          <a:xfrm>
            <a:off x="3360615" y="1445846"/>
            <a:ext cx="4618893" cy="1242646"/>
          </a:xfrm>
          <a:prstGeom prst="round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01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4DC2B-C0F0-4585-B4DE-E9E220C5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輸出結果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D21512-F843-4519-BC5B-36C469A92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/>
              <a:t>.quit </a:t>
            </a:r>
            <a:r>
              <a:rPr lang="zh-TW" altLang="en-US"/>
              <a:t>命令退出</a:t>
            </a:r>
            <a:r>
              <a:rPr lang="en-US" altLang="zh-TW"/>
              <a:t>sqlite3</a:t>
            </a:r>
            <a:r>
              <a:rPr lang="zh-TW" altLang="en-US"/>
              <a:t>資料庫管理系統並儲存</a:t>
            </a:r>
            <a:endParaRPr lang="en-US" altLang="zh-TW"/>
          </a:p>
          <a:p>
            <a:r>
              <a:rPr lang="zh-TW" altLang="en-US"/>
              <a:t>輸出整個資料庫</a:t>
            </a:r>
            <a:r>
              <a:rPr lang="en-US" altLang="zh-TW"/>
              <a:t>(schema</a:t>
            </a:r>
            <a:r>
              <a:rPr lang="zh-TW" altLang="en-US"/>
              <a:t>及</a:t>
            </a:r>
            <a:r>
              <a:rPr lang="en-US" altLang="zh-TW"/>
              <a:t>data)</a:t>
            </a:r>
          </a:p>
          <a:p>
            <a:pPr lvl="1"/>
            <a:r>
              <a:rPr lang="en-US" altLang="zh-TW"/>
              <a:t>.output 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.dump</a:t>
            </a:r>
          </a:p>
          <a:p>
            <a:r>
              <a:rPr lang="zh-TW" altLang="en-US"/>
              <a:t>輸出一個資料表</a:t>
            </a:r>
            <a:endParaRPr lang="en-US" altLang="zh-TW"/>
          </a:p>
          <a:p>
            <a:pPr lvl="1"/>
            <a:r>
              <a:rPr lang="en-US" altLang="zh-TW"/>
              <a:t>.output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.dump </a:t>
            </a:r>
            <a:r>
              <a:rPr lang="zh-TW" altLang="en-US"/>
              <a:t>資料表</a:t>
            </a:r>
            <a:endParaRPr lang="en-US" altLang="zh-TW"/>
          </a:p>
          <a:p>
            <a:r>
              <a:rPr lang="zh-TW" altLang="en-US"/>
              <a:t>輸出資料庫</a:t>
            </a:r>
            <a:r>
              <a:rPr lang="en-US" altLang="zh-TW"/>
              <a:t>schema</a:t>
            </a:r>
          </a:p>
          <a:p>
            <a:pPr lvl="1"/>
            <a:r>
              <a:rPr lang="en-US" altLang="zh-TW"/>
              <a:t>.output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.schema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E92700-F23D-4377-A893-0194325C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CD949-9070-4149-8052-09D159BF4F97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39839F2-5B04-4ADD-BBAF-8F6F52DF0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273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50BD36-BD5D-4F3D-AF9E-9430109C9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將資料庫儲存成</a:t>
            </a:r>
            <a:r>
              <a:rPr lang="en-US" altLang="zh-TW"/>
              <a:t>.db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8A4961-14A8-4A6A-A898-B5BA0656E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.save </a:t>
            </a:r>
            <a:r>
              <a:rPr lang="zh-TW" altLang="en-US"/>
              <a:t>資料庫名稱</a:t>
            </a:r>
            <a:r>
              <a:rPr lang="en-US" altLang="zh-TW"/>
              <a:t>.db</a:t>
            </a:r>
          </a:p>
          <a:p>
            <a:r>
              <a:rPr lang="en-US" altLang="zh-TW"/>
              <a:t>.open</a:t>
            </a:r>
            <a:r>
              <a:rPr lang="zh-TW" altLang="en-US"/>
              <a:t>資料庫名稱</a:t>
            </a:r>
            <a:r>
              <a:rPr lang="en-US" altLang="zh-TW"/>
              <a:t>.db</a:t>
            </a:r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A089F1-4872-479E-BE45-435A0A484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D6D2B-4C5C-41FA-AC3E-FE5BFD87ECF3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484B996-25D8-4C33-B151-CE1A91E24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2340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76367-BBE5-47F6-80B3-DC6AE4FDC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36FC69-5254-477D-8528-C975DF96B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將資料表</a:t>
            </a:r>
            <a:r>
              <a:rPr lang="en-US" altLang="zh-TW"/>
              <a:t>(author) dump </a:t>
            </a:r>
            <a:r>
              <a:rPr lang="zh-TW" altLang="en-US"/>
              <a:t>出來 </a:t>
            </a:r>
            <a:r>
              <a:rPr lang="en-US" altLang="zh-TW"/>
              <a:t>“temp_author.sql”</a:t>
            </a:r>
          </a:p>
          <a:p>
            <a:r>
              <a:rPr lang="zh-TW" altLang="en-US"/>
              <a:t>重開</a:t>
            </a:r>
            <a:r>
              <a:rPr lang="en-US" altLang="zh-TW"/>
              <a:t>sqlite3</a:t>
            </a:r>
          </a:p>
          <a:p>
            <a:r>
              <a:rPr lang="zh-TW" altLang="en-US"/>
              <a:t>利用 </a:t>
            </a:r>
            <a:r>
              <a:rPr lang="en-US" altLang="zh-TW"/>
              <a:t>.read </a:t>
            </a:r>
            <a:r>
              <a:rPr lang="zh-TW" altLang="en-US"/>
              <a:t>指令，讀入</a:t>
            </a:r>
            <a:r>
              <a:rPr lang="en-US" altLang="zh-TW"/>
              <a:t>xauthor.sql</a:t>
            </a:r>
            <a:r>
              <a:rPr lang="zh-TW" altLang="en-US"/>
              <a:t>並執行</a:t>
            </a:r>
            <a:endParaRPr lang="en-US" altLang="zh-TW"/>
          </a:p>
          <a:p>
            <a:r>
              <a:rPr lang="zh-TW" altLang="en-US"/>
              <a:t>顯示資料表 </a:t>
            </a:r>
            <a:r>
              <a:rPr lang="en-US" altLang="zh-TW"/>
              <a:t>author </a:t>
            </a:r>
            <a:r>
              <a:rPr lang="zh-TW" altLang="en-US"/>
              <a:t>的內容</a:t>
            </a:r>
            <a:endParaRPr lang="en-US" altLang="zh-TW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22C8F5-E82A-4047-B630-946F97053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ADB8F-6D53-4F64-AAAE-F5BEA5E2C05D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5083D4C-7569-4D52-B13A-5052CB18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42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D9710EF-2E7C-428C-B5A4-1A90735D8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461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5746AAA-F9F6-4704-A008-62F0803BF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系統操作指令</a:t>
            </a:r>
            <a:r>
              <a:rPr lang="en-US" altLang="zh-TW" dirty="0"/>
              <a:t> </a:t>
            </a:r>
            <a:r>
              <a:rPr lang="zh-TW" altLang="en-US" dirty="0"/>
              <a:t>（點指令）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C9C25E6-11E9-4040-AC7E-1F8A75012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建立資料庫</a:t>
            </a:r>
            <a:endParaRPr lang="en-US" altLang="zh-TW" dirty="0"/>
          </a:p>
          <a:p>
            <a:pPr lvl="1"/>
            <a:r>
              <a:rPr lang="en-US" altLang="zh-TW" b="1" dirty="0"/>
              <a:t>sqlite3 </a:t>
            </a:r>
            <a:r>
              <a:rPr lang="en-US" altLang="zh-TW" b="1" dirty="0" err="1"/>
              <a:t>test.db</a:t>
            </a:r>
            <a:endParaRPr lang="en-US" altLang="zh-TW" b="1" dirty="0"/>
          </a:p>
          <a:p>
            <a:r>
              <a:rPr lang="zh-TW" altLang="en-US" dirty="0"/>
              <a:t>退出</a:t>
            </a:r>
            <a:r>
              <a:rPr lang="en-US" altLang="zh-TW" dirty="0"/>
              <a:t>sqlite3</a:t>
            </a:r>
          </a:p>
          <a:p>
            <a:pPr lvl="1"/>
            <a:r>
              <a:rPr lang="en-US" altLang="zh-TW" b="1" dirty="0"/>
              <a:t>.quit</a:t>
            </a:r>
          </a:p>
          <a:p>
            <a:r>
              <a:rPr lang="zh-TW" altLang="en-US" dirty="0"/>
              <a:t>儲存資料庫</a:t>
            </a:r>
            <a:endParaRPr lang="en-US" altLang="zh-TW" dirty="0"/>
          </a:p>
          <a:p>
            <a:pPr lvl="1"/>
            <a:r>
              <a:rPr lang="en-US" altLang="zh-TW" b="1" dirty="0"/>
              <a:t>.save</a:t>
            </a:r>
          </a:p>
          <a:p>
            <a:r>
              <a:rPr lang="zh-TW" altLang="en-US" dirty="0"/>
              <a:t>導出資料庫</a:t>
            </a:r>
            <a:endParaRPr lang="en-US" altLang="zh-TW" dirty="0"/>
          </a:p>
          <a:p>
            <a:pPr lvl="1"/>
            <a:r>
              <a:rPr lang="en-US" altLang="zh-TW" b="1" dirty="0"/>
              <a:t>.dump </a:t>
            </a:r>
            <a:r>
              <a:rPr lang="en-US" altLang="zh-TW" b="1" dirty="0" err="1"/>
              <a:t>test.db</a:t>
            </a:r>
            <a:endParaRPr lang="en-US" altLang="zh-TW" b="1" dirty="0"/>
          </a:p>
          <a:p>
            <a:r>
              <a:rPr lang="zh-TW" altLang="en-US" dirty="0"/>
              <a:t>導入資料庫</a:t>
            </a:r>
            <a:endParaRPr lang="en-US" altLang="zh-TW" dirty="0"/>
          </a:p>
          <a:p>
            <a:pPr lvl="1"/>
            <a:r>
              <a:rPr lang="en-US" altLang="zh-TW" b="1" dirty="0"/>
              <a:t>sqlite3 </a:t>
            </a:r>
            <a:r>
              <a:rPr lang="en-US" altLang="zh-TW" b="1" dirty="0" err="1"/>
              <a:t>dbName.db</a:t>
            </a:r>
            <a:r>
              <a:rPr lang="en-US" altLang="zh-TW" b="1" dirty="0"/>
              <a:t> &lt; </a:t>
            </a:r>
            <a:r>
              <a:rPr lang="en-US" altLang="zh-TW" b="1" dirty="0" err="1"/>
              <a:t>test.db</a:t>
            </a:r>
            <a:endParaRPr lang="zh-TW" altLang="en-US" b="1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47352D8-061C-6006-BE0C-9D6A24DEE4A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設定輸出格式</a:t>
            </a:r>
            <a:endParaRPr lang="en-US" altLang="zh-TW" dirty="0"/>
          </a:p>
          <a:p>
            <a:pPr lvl="1"/>
            <a:r>
              <a:rPr lang="en-US" altLang="zh-TW" b="1" dirty="0"/>
              <a:t>.header </a:t>
            </a:r>
            <a:r>
              <a:rPr lang="en-US" altLang="zh-TW" b="1" dirty="0">
                <a:solidFill>
                  <a:srgbClr val="0000FF"/>
                </a:solidFill>
              </a:rPr>
              <a:t>on</a:t>
            </a:r>
          </a:p>
          <a:p>
            <a:pPr lvl="1"/>
            <a:r>
              <a:rPr lang="en-US" altLang="zh-TW" b="1" dirty="0"/>
              <a:t>.mode </a:t>
            </a:r>
            <a:r>
              <a:rPr lang="en-US" altLang="zh-TW" b="1" dirty="0">
                <a:solidFill>
                  <a:srgbClr val="0000FF"/>
                </a:solidFill>
              </a:rPr>
              <a:t>column</a:t>
            </a:r>
            <a:r>
              <a:rPr lang="en-US" altLang="zh-TW" b="1" dirty="0"/>
              <a:t> (markdown | box…)</a:t>
            </a:r>
          </a:p>
          <a:p>
            <a:r>
              <a:rPr lang="zh-TW" altLang="en-US" dirty="0"/>
              <a:t>檢查資料庫列表</a:t>
            </a:r>
            <a:endParaRPr lang="en-US" altLang="zh-TW" dirty="0"/>
          </a:p>
          <a:p>
            <a:pPr lvl="1"/>
            <a:r>
              <a:rPr lang="en-US" altLang="zh-TW" b="1" dirty="0"/>
              <a:t>.databases</a:t>
            </a:r>
          </a:p>
          <a:p>
            <a:r>
              <a:rPr lang="zh-TW" altLang="en-US" dirty="0"/>
              <a:t>檢查資料表</a:t>
            </a:r>
            <a:endParaRPr lang="en-US" altLang="zh-TW" dirty="0"/>
          </a:p>
          <a:p>
            <a:pPr lvl="1"/>
            <a:r>
              <a:rPr lang="en-US" altLang="zh-TW" b="1" dirty="0"/>
              <a:t>.table</a:t>
            </a:r>
          </a:p>
          <a:p>
            <a:r>
              <a:rPr lang="zh-TW" altLang="en-US" dirty="0"/>
              <a:t>檢查關聯綱要</a:t>
            </a:r>
            <a:endParaRPr lang="en-US" altLang="zh-TW" dirty="0"/>
          </a:p>
          <a:p>
            <a:pPr lvl="1"/>
            <a:r>
              <a:rPr lang="en-US" altLang="zh-TW" b="1" dirty="0"/>
              <a:t>.schema</a:t>
            </a:r>
            <a:endParaRPr lang="zh-TW" altLang="en-US" b="1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32D4808-A2B5-4041-9741-0AEDC679D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8B50-1A05-4761-ABDE-A2C65BD3F6AD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B3AE97-A7D3-49E0-AAEE-D589F0E5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793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43D3C22-033E-46B6-A710-701CF5D06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本週作業</a:t>
            </a:r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C2CEE3F-F521-49E8-8E59-833F362CA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請依據教科書</a:t>
            </a:r>
            <a:r>
              <a:rPr lang="en-US" altLang="zh-TW"/>
              <a:t>179, 180</a:t>
            </a:r>
            <a:r>
              <a:rPr lang="zh-TW" altLang="en-US"/>
              <a:t>頁的資料表定義建立</a:t>
            </a:r>
            <a:r>
              <a:rPr lang="en-US" altLang="zh-TW"/>
              <a:t>webstore.db</a:t>
            </a:r>
            <a:r>
              <a:rPr lang="zh-TW" altLang="en-US"/>
              <a:t>，內涵 </a:t>
            </a:r>
            <a:r>
              <a:rPr lang="en-US" altLang="zh-TW"/>
              <a:t>8</a:t>
            </a:r>
            <a:r>
              <a:rPr lang="zh-TW" altLang="en-US"/>
              <a:t> 個資料表</a:t>
            </a:r>
            <a:endParaRPr lang="en-US" altLang="zh-TW"/>
          </a:p>
          <a:p>
            <a:r>
              <a:rPr lang="zh-TW" altLang="en-US"/>
              <a:t>請依據教科書</a:t>
            </a:r>
            <a:r>
              <a:rPr lang="en-US" altLang="zh-TW"/>
              <a:t>114, 115</a:t>
            </a:r>
            <a:r>
              <a:rPr lang="zh-TW" altLang="en-US"/>
              <a:t>頁資料庫範例輸入資料至 </a:t>
            </a:r>
            <a:r>
              <a:rPr lang="en-US" altLang="zh-TW"/>
              <a:t>8</a:t>
            </a:r>
            <a:r>
              <a:rPr lang="zh-TW" altLang="en-US"/>
              <a:t> 個資料表</a:t>
            </a:r>
            <a:endParaRPr lang="en-US" altLang="zh-TW"/>
          </a:p>
          <a:p>
            <a:r>
              <a:rPr lang="zh-TW" altLang="en-US"/>
              <a:t>將</a:t>
            </a:r>
            <a:r>
              <a:rPr lang="en-US" altLang="zh-TW"/>
              <a:t>webstore</a:t>
            </a:r>
            <a:r>
              <a:rPr lang="zh-TW" altLang="en-US"/>
              <a:t>資料庫由</a:t>
            </a:r>
            <a:r>
              <a:rPr lang="en-US" altLang="zh-TW"/>
              <a:t>sqlite3</a:t>
            </a:r>
            <a:r>
              <a:rPr lang="zh-TW" altLang="en-US"/>
              <a:t>匯出</a:t>
            </a:r>
            <a:r>
              <a:rPr lang="en-US" altLang="zh-TW"/>
              <a:t>sql</a:t>
            </a:r>
            <a:r>
              <a:rPr lang="zh-TW" altLang="en-US"/>
              <a:t>檔案 </a:t>
            </a:r>
            <a:r>
              <a:rPr lang="en-US" altLang="zh-TW"/>
              <a:t>(</a:t>
            </a:r>
            <a:r>
              <a:rPr lang="zh-TW" altLang="en-US"/>
              <a:t>檔案名稱</a:t>
            </a:r>
            <a:r>
              <a:rPr lang="en-US" altLang="zh-TW"/>
              <a:t>:</a:t>
            </a:r>
            <a:r>
              <a:rPr lang="zh-TW" altLang="en-US"/>
              <a:t> </a:t>
            </a:r>
            <a:r>
              <a:rPr lang="en-US" altLang="zh-TW"/>
              <a:t>webstore.sql)</a:t>
            </a:r>
            <a:r>
              <a:rPr lang="zh-TW" altLang="en-US"/>
              <a:t>上傳</a:t>
            </a:r>
            <a:r>
              <a:rPr lang="en-US" altLang="zh-TW"/>
              <a:t>moodle</a:t>
            </a:r>
            <a:r>
              <a:rPr lang="zh-TW" altLang="en-US"/>
              <a:t>作業</a:t>
            </a:r>
            <a:endParaRPr lang="en-US" altLang="zh-TW"/>
          </a:p>
          <a:p>
            <a:r>
              <a:rPr lang="en-US" altLang="zh-TW"/>
              <a:t>**</a:t>
            </a:r>
            <a:r>
              <a:rPr lang="zh-TW" altLang="en-US"/>
              <a:t>請同學保留此一檔案，接下來課程每次上課都需要先導入</a:t>
            </a:r>
            <a:r>
              <a:rPr lang="en-US" altLang="zh-TW"/>
              <a:t>webstore</a:t>
            </a:r>
            <a:r>
              <a:rPr lang="zh-TW" altLang="en-US"/>
              <a:t>資料庫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C729964-F090-4951-8A67-37FDC9C46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2E4CA-C6AA-407C-8BE4-A34E16100C1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28C649-F5F3-446E-A93C-FF1DF583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33431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70ED7F-607E-4DF3-971A-CED7DD1EB8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Backup slides</a:t>
            </a:r>
            <a:endParaRPr lang="zh-TW" altLang="en-US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C4A68082-8FA1-4714-B480-B6F5399B4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805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509F3B-B4D5-484F-BD9A-D565DB28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安裝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B34FC-83B9-48EB-BAA2-AF5D2C39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/>
              <a:t>sqlite3</a:t>
            </a:r>
            <a:r>
              <a:rPr lang="zh-TW" altLang="en-US"/>
              <a:t>網頁</a:t>
            </a:r>
            <a:r>
              <a:rPr lang="en-US" altLang="zh-TW"/>
              <a:t>:</a:t>
            </a:r>
            <a:r>
              <a:rPr lang="zh-TW" altLang="en-US"/>
              <a:t> </a:t>
            </a:r>
            <a:r>
              <a:rPr lang="en-US" altLang="zh-TW"/>
              <a:t>https://www.sqlite.org/index.html</a:t>
            </a:r>
          </a:p>
          <a:p>
            <a:r>
              <a:rPr lang="zh-TW" altLang="en-US"/>
              <a:t>下載</a:t>
            </a:r>
            <a:r>
              <a:rPr lang="en-US" altLang="zh-TW"/>
              <a:t>sqlite3: </a:t>
            </a:r>
            <a:r>
              <a:rPr lang="en-US" altLang="zh-TW">
                <a:hlinkClick r:id="rId2"/>
              </a:rPr>
              <a:t>https://www.sqlite.org/download.html</a:t>
            </a:r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r>
              <a:rPr lang="zh-TW" altLang="en-US"/>
              <a:t>安裝</a:t>
            </a:r>
            <a:r>
              <a:rPr lang="en-US" altLang="zh-TW"/>
              <a:t>sqlite3</a:t>
            </a:r>
          </a:p>
          <a:p>
            <a:pPr lvl="1"/>
            <a:r>
              <a:rPr lang="zh-TW" altLang="en-US"/>
              <a:t>在 </a:t>
            </a:r>
            <a:r>
              <a:rPr lang="en-US" altLang="zh-TW"/>
              <a:t>c: </a:t>
            </a:r>
            <a:r>
              <a:rPr lang="zh-TW" altLang="en-US"/>
              <a:t>根目錄建立一個 </a:t>
            </a:r>
            <a:r>
              <a:rPr lang="en-US" altLang="zh-TW"/>
              <a:t>sqlite3</a:t>
            </a:r>
            <a:r>
              <a:rPr lang="zh-TW" altLang="en-US"/>
              <a:t> 資料夾</a:t>
            </a:r>
            <a:endParaRPr lang="en-US" altLang="zh-TW"/>
          </a:p>
          <a:p>
            <a:pPr lvl="1"/>
            <a:r>
              <a:rPr lang="zh-TW" altLang="en-US"/>
              <a:t>將</a:t>
            </a:r>
            <a:r>
              <a:rPr lang="en-US" altLang="zh-TW"/>
              <a:t>sqlite3.exe, sqlite3.def, sqlite3.dll</a:t>
            </a:r>
            <a:r>
              <a:rPr lang="zh-TW" altLang="en-US"/>
              <a:t>複製到 </a:t>
            </a:r>
            <a:r>
              <a:rPr lang="en-US" altLang="zh-TW"/>
              <a:t>c:\sqlite3</a:t>
            </a:r>
            <a:r>
              <a:rPr lang="zh-TW" altLang="en-US"/>
              <a:t>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E20616-36D2-4320-A7E1-3243B5C29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578"/>
            <a:ext cx="10515600" cy="2849942"/>
          </a:xfrm>
          <a:prstGeom prst="rect">
            <a:avLst/>
          </a:prstGeom>
        </p:spPr>
      </p:pic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D2542265-73B0-4EF9-9B6E-CA3632496514}"/>
              </a:ext>
            </a:extLst>
          </p:cNvPr>
          <p:cNvSpPr/>
          <p:nvPr/>
        </p:nvSpPr>
        <p:spPr>
          <a:xfrm>
            <a:off x="6961632" y="2804160"/>
            <a:ext cx="2791968" cy="1060704"/>
          </a:xfrm>
          <a:prstGeom prst="wedgeRoundRectCallout">
            <a:avLst>
              <a:gd name="adj1" fmla="val -78475"/>
              <a:gd name="adj2" fmla="val 48707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rgbClr val="C00000"/>
                </a:solidFill>
              </a:rPr>
              <a:t>sqlit3.def</a:t>
            </a:r>
          </a:p>
          <a:p>
            <a:pPr algn="ctr"/>
            <a:r>
              <a:rPr lang="en-US" altLang="zh-TW">
                <a:solidFill>
                  <a:srgbClr val="C00000"/>
                </a:solidFill>
              </a:rPr>
              <a:t>sqlite3.dll</a:t>
            </a:r>
            <a:endParaRPr lang="zh-TW" altLang="en-US">
              <a:solidFill>
                <a:srgbClr val="C00000"/>
              </a:solidFill>
            </a:endParaRPr>
          </a:p>
        </p:txBody>
      </p:sp>
      <p:sp>
        <p:nvSpPr>
          <p:cNvPr id="7" name="語音泡泡: 圓角矩形 6">
            <a:extLst>
              <a:ext uri="{FF2B5EF4-FFF2-40B4-BE49-F238E27FC236}">
                <a16:creationId xmlns:a16="http://schemas.microsoft.com/office/drawing/2014/main" id="{F8290812-28DF-40B4-9244-25823E0584E6}"/>
              </a:ext>
            </a:extLst>
          </p:cNvPr>
          <p:cNvSpPr/>
          <p:nvPr/>
        </p:nvSpPr>
        <p:spPr>
          <a:xfrm>
            <a:off x="9015984" y="5076389"/>
            <a:ext cx="2791968" cy="1060704"/>
          </a:xfrm>
          <a:prstGeom prst="wedgeRoundRectCallout">
            <a:avLst>
              <a:gd name="adj1" fmla="val -75418"/>
              <a:gd name="adj2" fmla="val -86925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sqlite3.exe</a:t>
            </a:r>
          </a:p>
          <a:p>
            <a:pPr algn="ctr"/>
            <a:r>
              <a:rPr lang="en-US" altLang="zh-TW">
                <a:solidFill>
                  <a:srgbClr val="C00000"/>
                </a:solidFill>
              </a:rPr>
              <a:t>sqldiff.exe</a:t>
            </a:r>
          </a:p>
          <a:p>
            <a:pPr algn="ctr"/>
            <a:r>
              <a:rPr lang="en-US" altLang="zh-TW">
                <a:solidFill>
                  <a:schemeClr val="tx1"/>
                </a:solidFill>
              </a:rPr>
              <a:t>sqlite3._analyzer.exe</a:t>
            </a:r>
          </a:p>
          <a:p>
            <a:pPr algn="ctr"/>
            <a:r>
              <a:rPr lang="en-US" altLang="zh-TW">
                <a:solidFill>
                  <a:schemeClr val="tx1"/>
                </a:solidFill>
              </a:rPr>
              <a:t>sqlite3_rsync.exe</a:t>
            </a:r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8" name="日期版面配置區 7">
            <a:extLst>
              <a:ext uri="{FF2B5EF4-FFF2-40B4-BE49-F238E27FC236}">
                <a16:creationId xmlns:a16="http://schemas.microsoft.com/office/drawing/2014/main" id="{1C631621-2BF4-4E7B-91F1-BF7A27CF9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4FBD8-6B3A-4580-9BFD-B883C7037EE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00BADC1-BCF0-4DCA-8559-C06B7601D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815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33733D-AD79-4380-B491-61EEE342D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6EE3FF8-27B5-4D20-8276-D73362DB2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 </a:t>
            </a:r>
            <a:r>
              <a:rPr lang="en-US" altLang="zh-TW"/>
              <a:t>c:\sqlite3 </a:t>
            </a:r>
            <a:r>
              <a:rPr lang="zh-TW" altLang="en-US"/>
              <a:t>設定於系統</a:t>
            </a:r>
            <a:r>
              <a:rPr lang="en-US" altLang="zh-TW"/>
              <a:t>path</a:t>
            </a:r>
            <a:r>
              <a:rPr lang="zh-TW" altLang="en-US"/>
              <a:t>中</a:t>
            </a:r>
            <a:endParaRPr lang="en-US" altLang="zh-TW"/>
          </a:p>
          <a:p>
            <a:pPr lvl="1"/>
            <a:r>
              <a:rPr lang="en-US" altLang="zh-TW"/>
              <a:t>Wondows </a:t>
            </a:r>
            <a:r>
              <a:rPr lang="zh-TW" altLang="en-US"/>
              <a:t>設定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系統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關於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進階系統設定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環境變數</a:t>
            </a:r>
            <a:endParaRPr lang="en-US" altLang="zh-TW">
              <a:sym typeface="Wingdings" panose="05000000000000000000" pitchFamily="2" charset="2"/>
            </a:endParaRPr>
          </a:p>
          <a:p>
            <a:pPr lvl="1"/>
            <a:r>
              <a:rPr lang="zh-TW" altLang="en-US">
                <a:sym typeface="Wingdings" panose="05000000000000000000" pitchFamily="2" charset="2"/>
              </a:rPr>
              <a:t>系統變數 </a:t>
            </a:r>
            <a:r>
              <a:rPr lang="en-US" altLang="zh-TW">
                <a:sym typeface="Wingdings" panose="05000000000000000000" pitchFamily="2" charset="2"/>
              </a:rPr>
              <a:t>path </a:t>
            </a:r>
            <a:r>
              <a:rPr lang="zh-TW" altLang="en-US">
                <a:sym typeface="Wingdings" panose="05000000000000000000" pitchFamily="2" charset="2"/>
              </a:rPr>
              <a:t>新增 </a:t>
            </a:r>
            <a:r>
              <a:rPr lang="en-US" altLang="zh-TW">
                <a:sym typeface="Wingdings" panose="05000000000000000000" pitchFamily="2" charset="2"/>
              </a:rPr>
              <a:t>c:\sqlite3</a:t>
            </a:r>
          </a:p>
          <a:p>
            <a:pPr lvl="1"/>
            <a:r>
              <a:rPr lang="zh-TW" altLang="en-US">
                <a:sym typeface="Wingdings" panose="05000000000000000000" pitchFamily="2" charset="2"/>
              </a:rPr>
              <a:t>重新開機</a:t>
            </a:r>
            <a:endParaRPr lang="en-US" altLang="zh-TW">
              <a:sym typeface="Wingdings" panose="05000000000000000000" pitchFamily="2" charset="2"/>
            </a:endParaRPr>
          </a:p>
          <a:p>
            <a:r>
              <a:rPr lang="zh-TW" altLang="en-US">
                <a:sym typeface="Wingdings" panose="05000000000000000000" pitchFamily="2" charset="2"/>
              </a:rPr>
              <a:t>在 </a:t>
            </a:r>
            <a:r>
              <a:rPr lang="en-US" altLang="zh-TW">
                <a:sym typeface="Wingdings" panose="05000000000000000000" pitchFamily="2" charset="2"/>
              </a:rPr>
              <a:t>windows </a:t>
            </a:r>
            <a:r>
              <a:rPr lang="zh-TW" altLang="en-US">
                <a:sym typeface="Wingdings" panose="05000000000000000000" pitchFamily="2" charset="2"/>
              </a:rPr>
              <a:t>命令列模式</a:t>
            </a:r>
            <a:endParaRPr lang="en-US" altLang="zh-TW">
              <a:sym typeface="Wingdings" panose="05000000000000000000" pitchFamily="2" charset="2"/>
            </a:endParaRPr>
          </a:p>
          <a:p>
            <a:pPr lvl="1"/>
            <a:endParaRPr lang="en-US" altLang="zh-TW">
              <a:sym typeface="Wingdings" panose="05000000000000000000" pitchFamily="2" charset="2"/>
            </a:endParaRPr>
          </a:p>
          <a:p>
            <a:pPr lvl="1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E620170-BFC8-41CA-9AA1-F4F688841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27" y="3058566"/>
            <a:ext cx="9891945" cy="1842617"/>
          </a:xfrm>
          <a:prstGeom prst="rect">
            <a:avLst/>
          </a:prstGeom>
        </p:spPr>
      </p:pic>
      <p:sp>
        <p:nvSpPr>
          <p:cNvPr id="8" name="日期版面配置區 7">
            <a:extLst>
              <a:ext uri="{FF2B5EF4-FFF2-40B4-BE49-F238E27FC236}">
                <a16:creationId xmlns:a16="http://schemas.microsoft.com/office/drawing/2014/main" id="{62239409-C764-4590-9E1B-8102621FE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7C56A-FB43-4C64-BEE2-29AAED31444C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2BB5C6B-47BA-4FD7-8627-B303DD6BF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2236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BCD29-4035-46B7-92F8-FDA8E68C5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4C274E-867C-43E7-8C88-9BBF4EE71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請依教科書圖</a:t>
            </a:r>
            <a:r>
              <a:rPr lang="en-US" altLang="zh-TW"/>
              <a:t>6-1</a:t>
            </a:r>
            <a:r>
              <a:rPr lang="zh-TW" altLang="en-US"/>
              <a:t>定義範例資料表綱目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280F285-550E-4F1C-9B62-9F9F6E20FC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59" t="10271" b="2451"/>
          <a:stretch/>
        </p:blipFill>
        <p:spPr>
          <a:xfrm>
            <a:off x="6445133" y="1539115"/>
            <a:ext cx="3660159" cy="51095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6627262-805A-4231-8722-E4ECEF6D30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3" b="4133"/>
          <a:stretch/>
        </p:blipFill>
        <p:spPr>
          <a:xfrm>
            <a:off x="2086708" y="1531878"/>
            <a:ext cx="3660161" cy="511679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A8201A-F36E-4E14-A51C-A321DED77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4BCA-E10E-4A7F-805E-3AC4633FE5F2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68F3DED-FE7C-46C4-919F-C2828CF6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005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E4EE3-5E87-4574-B26D-53090533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Date&amp;Time</a:t>
            </a:r>
            <a:r>
              <a:rPr lang="zh-TW" altLang="en-US"/>
              <a:t>表示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C69AA9-210D-4114-857D-3B10EE28E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/>
              <a:t>利用字串表示日期與時間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日期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en-US" altLang="zh-TW" b="1" dirty="0"/>
              <a:t>YYYY-MM-DD</a:t>
            </a:r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時間</a:t>
            </a:r>
            <a:r>
              <a:rPr lang="en-US" altLang="zh-TW" b="1" dirty="0"/>
              <a:t>: HH:MM:SS</a:t>
            </a:r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日期時間</a:t>
            </a:r>
            <a:r>
              <a:rPr lang="en-US" altLang="zh-TW" b="1" dirty="0"/>
              <a:t>: YYYYMMDD</a:t>
            </a:r>
            <a:r>
              <a:rPr lang="zh-TW" altLang="en-US" b="1" dirty="0"/>
              <a:t> </a:t>
            </a:r>
            <a:r>
              <a:rPr lang="en-US" altLang="zh-TW" b="1" dirty="0"/>
              <a:t>HH:MM:SS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日期與時間函數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b="1">
                <a:solidFill>
                  <a:srgbClr val="0000FF"/>
                </a:solidFill>
              </a:rPr>
              <a:t>date(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date(‘2024-08-09’)</a:t>
            </a:r>
          </a:p>
          <a:p>
            <a:pPr lvl="1">
              <a:lnSpc>
                <a:spcPct val="150000"/>
              </a:lnSpc>
            </a:pPr>
            <a:r>
              <a:rPr lang="en-US" altLang="zh-TW" b="1">
                <a:solidFill>
                  <a:srgbClr val="0000FF"/>
                </a:solidFill>
              </a:rPr>
              <a:t>time(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time(‘12:23:08’)</a:t>
            </a:r>
          </a:p>
          <a:p>
            <a:pPr lvl="1">
              <a:lnSpc>
                <a:spcPct val="150000"/>
              </a:lnSpc>
            </a:pPr>
            <a:r>
              <a:rPr lang="en-US" altLang="zh-TW" b="1">
                <a:solidFill>
                  <a:srgbClr val="0000FF"/>
                </a:solidFill>
              </a:rPr>
              <a:t>datetime(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</a:t>
            </a:r>
            <a:r>
              <a:rPr lang="en-US" altLang="zh-TW" b="1" dirty="0" err="1"/>
              <a:t>datatime</a:t>
            </a:r>
            <a:r>
              <a:rPr lang="en-US" altLang="zh-TW" b="1" dirty="0"/>
              <a:t>(‘2024-11-11 11:11:11’)</a:t>
            </a:r>
          </a:p>
          <a:p>
            <a:pPr lvl="1">
              <a:lnSpc>
                <a:spcPct val="150000"/>
              </a:lnSpc>
            </a:pPr>
            <a:r>
              <a:rPr lang="en-US" altLang="zh-TW" b="1" err="1">
                <a:solidFill>
                  <a:srgbClr val="0000FF"/>
                </a:solidFill>
              </a:rPr>
              <a:t>strftime</a:t>
            </a:r>
            <a:r>
              <a:rPr lang="en-US" altLang="zh-TW" b="1">
                <a:solidFill>
                  <a:srgbClr val="0000FF"/>
                </a:solidFill>
              </a:rPr>
              <a:t>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ref https://</a:t>
            </a:r>
            <a:r>
              <a:rPr lang="en-US" altLang="zh-TW" b="1" dirty="0" err="1"/>
              <a:t>sqlite.org</a:t>
            </a:r>
            <a:r>
              <a:rPr lang="en-US" altLang="zh-TW" b="1" dirty="0"/>
              <a:t>/</a:t>
            </a:r>
            <a:r>
              <a:rPr lang="en-US" altLang="zh-TW" b="1" dirty="0" err="1"/>
              <a:t>lang_datefunc.html</a:t>
            </a:r>
            <a:endParaRPr lang="en-US" altLang="zh-TW" b="1" dirty="0"/>
          </a:p>
          <a:p>
            <a:pPr lvl="1">
              <a:lnSpc>
                <a:spcPct val="150000"/>
              </a:lnSpc>
            </a:pPr>
            <a:r>
              <a:rPr lang="en-US" altLang="zh-TW" b="1" err="1">
                <a:solidFill>
                  <a:srgbClr val="0000FF"/>
                </a:solidFill>
              </a:rPr>
              <a:t>timediff</a:t>
            </a:r>
            <a:r>
              <a:rPr lang="en-US" altLang="zh-TW" b="1">
                <a:solidFill>
                  <a:srgbClr val="0000FF"/>
                </a:solidFill>
              </a:rPr>
              <a:t>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</a:t>
            </a:r>
            <a:r>
              <a:rPr lang="en-US" altLang="zh-TW" b="1" dirty="0" err="1"/>
              <a:t>timediff</a:t>
            </a:r>
            <a:r>
              <a:rPr lang="en-US" altLang="zh-TW" b="1" dirty="0"/>
              <a:t>(date1, date2)</a:t>
            </a:r>
            <a:endParaRPr lang="zh-TW" altLang="en-US" b="1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38AE8C-955A-4FBE-BB64-A2ADF936D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BB29-2BDD-4F14-B667-D7D7049A8BE0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212D83-616B-4B0F-B0A1-34E83E05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8741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B881A-407B-42BB-AC9F-9878D58D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095"/>
            <a:ext cx="10515600" cy="715995"/>
          </a:xfrm>
        </p:spPr>
        <p:txBody>
          <a:bodyPr/>
          <a:lstStyle/>
          <a:p>
            <a:r>
              <a:rPr lang="zh-TW" altLang="en-US"/>
              <a:t>刪除欄位的做法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B6FD621C-2A40-4C0D-BD05-6148233DAA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030014"/>
            <a:ext cx="6329855" cy="5146949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解除 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Foreign Key Constraints</a:t>
            </a: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PRAGMA foreign_keys = OFF;</a:t>
            </a:r>
            <a:endParaRPr kumimoji="0" lang="en-US" altLang="zh-TW" sz="1800" b="0" i="0" u="none" strike="noStrike" cap="none" normalizeH="0" baseline="0">
              <a:ln>
                <a:noFill/>
              </a:ln>
              <a:solidFill>
                <a:srgbClr val="0000FF"/>
              </a:solidFill>
              <a:effectLst/>
              <a:latin typeface="+mn-lt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啟動一個資料交易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 Transaction</a:t>
            </a: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BEGIN TRANSACTION</a:t>
            </a: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;</a:t>
            </a:r>
            <a:endParaRPr lang="en-US" altLang="zh-TW" sz="1800" b="1" i="0">
              <a:solidFill>
                <a:srgbClr val="0000FF"/>
              </a:solidFill>
              <a:effectLst/>
              <a:latin typeface="+mn-lt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建立一個新表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(</a:t>
            </a: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無刪除的欄位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)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CREATE TABLE IF NOT EXISTS customers_temp (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     customer_id INTEGER PRIMARY KEY,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     username TEXT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);</a:t>
            </a:r>
            <a:endParaRPr kumimoji="0" lang="zh-TW" altLang="zh-TW" sz="1800" b="0" i="0" u="none" strike="noStrike" cap="none" normalizeH="0" baseline="0">
              <a:ln>
                <a:noFill/>
              </a:ln>
              <a:solidFill>
                <a:srgbClr val="0000FF"/>
              </a:solidFill>
              <a:effectLst/>
              <a:latin typeface="+mn-lt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</a:rPr>
              <a:t>由舊表拷貝資料至新表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+mn-lt"/>
              </a:rPr>
              <a:t>INSERT INTO customers_temp(customer_id, username)</a:t>
            </a:r>
          </a:p>
          <a:p>
            <a:pPr marL="457200" lvl="1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+mn-lt"/>
              </a:rPr>
              <a:t>SELECT customers_id, username</a:t>
            </a:r>
          </a:p>
          <a:p>
            <a:pPr marL="457200" lvl="1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+mn-lt"/>
              </a:rPr>
              <a:t>FROM customers;</a:t>
            </a:r>
          </a:p>
          <a:p>
            <a:endParaRPr lang="zh-TW" altLang="en-US" sz="2000">
              <a:latin typeface="+mn-lt"/>
            </a:endParaRP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90D25636-5C5D-4856-A771-DA34799C86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34" y="1040151"/>
            <a:ext cx="5704555" cy="5146949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zh-TW" altLang="en-US" sz="2000">
                <a:solidFill>
                  <a:srgbClr val="273239"/>
                </a:solidFill>
                <a:latin typeface="+mn-lt"/>
              </a:rPr>
              <a:t>刪除就表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DROP TABLE customers; </a:t>
            </a:r>
            <a:endParaRPr kumimoji="0" lang="en-US" altLang="zh-TW" sz="1800" b="0" i="0" u="none" strike="noStrike" cap="none" normalizeH="0" baseline="0">
              <a:ln>
                <a:noFill/>
              </a:ln>
              <a:solidFill>
                <a:srgbClr val="0000FF"/>
              </a:solidFill>
              <a:effectLst/>
              <a:latin typeface="+mn-lt"/>
            </a:endParaRPr>
          </a:p>
          <a:p>
            <a:pPr marL="457200" indent="-457200">
              <a:buFont typeface="+mj-lt"/>
              <a:buAutoNum type="arabicPeriod" startAt="6"/>
            </a:pPr>
            <a:r>
              <a:rPr lang="zh-TW" altLang="en-US" sz="2000">
                <a:solidFill>
                  <a:srgbClr val="273239"/>
                </a:solidFill>
                <a:latin typeface="+mn-lt"/>
              </a:rPr>
              <a:t>重新命名新表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ALTER TABLE customers_temp RENAME TO customers;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zh-TW" altLang="en-US" sz="2000">
                <a:solidFill>
                  <a:srgbClr val="273239"/>
                </a:solidFill>
                <a:latin typeface="+mn-lt"/>
              </a:rPr>
              <a:t>確認交易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COMMIT; </a:t>
            </a:r>
          </a:p>
          <a:p>
            <a:pPr marL="457200" indent="-457200">
              <a:buFont typeface="+mj-lt"/>
              <a:buAutoNum type="arabicPeriod" startAt="8"/>
            </a:pPr>
            <a:r>
              <a:rPr lang="zh-TW" altLang="en-US" sz="2000">
                <a:solidFill>
                  <a:schemeClr val="tx1"/>
                </a:solidFill>
                <a:latin typeface="+mn-lt"/>
              </a:rPr>
              <a:t>啟動 </a:t>
            </a:r>
            <a:r>
              <a:rPr kumimoji="0" lang="en-US" altLang="zh-TW" sz="20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Foreign Key Constraints</a:t>
            </a: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PRAGMA foreign_keys = ON; </a:t>
            </a:r>
          </a:p>
          <a:p>
            <a:pPr lvl="1"/>
            <a:endParaRPr kumimoji="0" lang="zh-TW" altLang="zh-TW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endParaRPr lang="zh-TW" altLang="en-US" sz="2000">
              <a:latin typeface="+mn-lt"/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48D957B-587D-4B34-90BD-CA1AF63CE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5F3EE0-F47C-48F3-BDCD-182D0DC8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50</a:t>
            </a:fld>
            <a:endParaRPr lang="zh-TW" altLang="en-US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061D4186-34A2-4298-920F-545A6ED412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F7F5B015-C238-4B46-99BC-6B5C10D8CC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CBD4511D-634F-4DC7-A0EA-0123766C16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835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3388</TotalTime>
  <Words>4417</Words>
  <Application>Microsoft Office PowerPoint</Application>
  <PresentationFormat>寬螢幕</PresentationFormat>
  <Paragraphs>652</Paragraphs>
  <Slides>50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50</vt:i4>
      </vt:variant>
    </vt:vector>
  </HeadingPairs>
  <TitlesOfParts>
    <vt:vector size="65" baseType="lpstr">
      <vt:lpstr>Google Sans Text</vt:lpstr>
      <vt:lpstr>Noto Sans TC</vt:lpstr>
      <vt:lpstr>清松手寫體3</vt:lpstr>
      <vt:lpstr>Microsoft JhengHei</vt:lpstr>
      <vt:lpstr>Microsoft JhengHei</vt:lpstr>
      <vt:lpstr>Arial</vt:lpstr>
      <vt:lpstr>Calibri</vt:lpstr>
      <vt:lpstr>Comic Sans MS</vt:lpstr>
      <vt:lpstr>Consolas</vt:lpstr>
      <vt:lpstr>Georgia</vt:lpstr>
      <vt:lpstr>Lato</vt:lpstr>
      <vt:lpstr>Nunito</vt:lpstr>
      <vt:lpstr>Wingdings</vt:lpstr>
      <vt:lpstr>Wingdings 2</vt:lpstr>
      <vt:lpstr>Office 佈景主題</vt:lpstr>
      <vt:lpstr>SQL 結構查詢語言 Structure Query Language</vt:lpstr>
      <vt:lpstr>關聯式資料庫(Relational Database)</vt:lpstr>
      <vt:lpstr>常見的關連式資料庫管理系統</vt:lpstr>
      <vt:lpstr>Sqlite3資料庫管理系統</vt:lpstr>
      <vt:lpstr>Structured Query Language (SQL)</vt:lpstr>
      <vt:lpstr>SQL的資料模式與關連模式</vt:lpstr>
      <vt:lpstr>SQL提供三種指令</vt:lpstr>
      <vt:lpstr>DDL常用語法</vt:lpstr>
      <vt:lpstr>創建資料表</vt:lpstr>
      <vt:lpstr>member 資料</vt:lpstr>
      <vt:lpstr>定義資料表</vt:lpstr>
      <vt:lpstr>SQL所提供的常用定義域型態</vt:lpstr>
      <vt:lpstr>日期、時間處理</vt:lpstr>
      <vt:lpstr>Sqlite3資料型別</vt:lpstr>
      <vt:lpstr>屬性完整性修飾詞</vt:lpstr>
      <vt:lpstr>外部鍵值經刪除或修改資料</vt:lpstr>
      <vt:lpstr>實驗室電腦啟動sqlite3</vt:lpstr>
      <vt:lpstr>課堂練習:啟動sqlite3及建立資料表 ‘member’</vt:lpstr>
      <vt:lpstr>資料表定義範例</vt:lpstr>
      <vt:lpstr>交易資料表 (Transaction)</vt:lpstr>
      <vt:lpstr>瀏覽紀錄表(Browse)</vt:lpstr>
      <vt:lpstr>商品資料表(products)</vt:lpstr>
      <vt:lpstr>商品創作者資料表 (authors)</vt:lpstr>
      <vt:lpstr>購物車資料表 (carts)</vt:lpstr>
      <vt:lpstr>訂單資料表 (orders)</vt:lpstr>
      <vt:lpstr>紀錄資料表 (records)</vt:lpstr>
      <vt:lpstr>查詢資料表結構(schema)</vt:lpstr>
      <vt:lpstr>課堂練習：輸入練習</vt:lpstr>
      <vt:lpstr>刪除資料表定義</vt:lpstr>
      <vt:lpstr>在sqlite3中修改資料表</vt:lpstr>
      <vt:lpstr>課堂練習：輸入練習</vt:lpstr>
      <vt:lpstr>DML 指令 </vt:lpstr>
      <vt:lpstr>新增紀錄</vt:lpstr>
      <vt:lpstr>Insert 多筆資料</vt:lpstr>
      <vt:lpstr>讀取sql指令並執行</vt:lpstr>
      <vt:lpstr>sqlite3讀取csv檔資料新增至資料表</vt:lpstr>
      <vt:lpstr>課堂練習</vt:lpstr>
      <vt:lpstr>修改資料</vt:lpstr>
      <vt:lpstr>刪除資料</vt:lpstr>
      <vt:lpstr>輸出結果</vt:lpstr>
      <vt:lpstr>將資料庫儲存成.db</vt:lpstr>
      <vt:lpstr>課堂練習</vt:lpstr>
      <vt:lpstr>系統操作指令 （點指令）</vt:lpstr>
      <vt:lpstr>本週作業</vt:lpstr>
      <vt:lpstr>Backup slides</vt:lpstr>
      <vt:lpstr>Sqlite3安裝</vt:lpstr>
      <vt:lpstr>PowerPoint 簡報</vt:lpstr>
      <vt:lpstr>課堂練習</vt:lpstr>
      <vt:lpstr>Date&amp;Time表示</vt:lpstr>
      <vt:lpstr>刪除欄位的做法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鍾定揚 12376046 Daniel</dc:creator>
  <cp:lastModifiedBy>鍾定揚 12376046 Daniel</cp:lastModifiedBy>
  <cp:revision>126</cp:revision>
  <cp:lastPrinted>2024-11-18T14:26:59Z</cp:lastPrinted>
  <dcterms:created xsi:type="dcterms:W3CDTF">2024-11-09T14:41:49Z</dcterms:created>
  <dcterms:modified xsi:type="dcterms:W3CDTF">2025-11-17T10:20:15Z</dcterms:modified>
</cp:coreProperties>
</file>