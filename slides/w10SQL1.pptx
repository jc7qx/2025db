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0"/>
  </p:notesMasterIdLst>
  <p:sldIdLst>
    <p:sldId id="315" r:id="rId2"/>
    <p:sldId id="288" r:id="rId3"/>
    <p:sldId id="289" r:id="rId4"/>
    <p:sldId id="292" r:id="rId5"/>
    <p:sldId id="293" r:id="rId6"/>
    <p:sldId id="294" r:id="rId7"/>
    <p:sldId id="261" r:id="rId8"/>
    <p:sldId id="262" r:id="rId9"/>
    <p:sldId id="263" r:id="rId10"/>
    <p:sldId id="264" r:id="rId11"/>
    <p:sldId id="403" r:id="rId12"/>
    <p:sldId id="265" r:id="rId13"/>
    <p:sldId id="266" r:id="rId14"/>
    <p:sldId id="267" r:id="rId15"/>
    <p:sldId id="268" r:id="rId16"/>
    <p:sldId id="308" r:id="rId17"/>
    <p:sldId id="309" r:id="rId18"/>
    <p:sldId id="269" r:id="rId19"/>
    <p:sldId id="270" r:id="rId20"/>
    <p:sldId id="295" r:id="rId21"/>
    <p:sldId id="281" r:id="rId22"/>
    <p:sldId id="311" r:id="rId23"/>
    <p:sldId id="282" r:id="rId24"/>
    <p:sldId id="283" r:id="rId25"/>
    <p:sldId id="312" r:id="rId26"/>
    <p:sldId id="307" r:id="rId27"/>
    <p:sldId id="271" r:id="rId28"/>
    <p:sldId id="272" r:id="rId29"/>
    <p:sldId id="276" r:id="rId30"/>
    <p:sldId id="277" r:id="rId31"/>
    <p:sldId id="290" r:id="rId32"/>
    <p:sldId id="296" r:id="rId33"/>
    <p:sldId id="286" r:id="rId34"/>
    <p:sldId id="313" r:id="rId35"/>
    <p:sldId id="278" r:id="rId36"/>
    <p:sldId id="279" r:id="rId37"/>
    <p:sldId id="310" r:id="rId38"/>
    <p:sldId id="316" r:id="rId39"/>
    <p:sldId id="314" r:id="rId40"/>
    <p:sldId id="273" r:id="rId41"/>
    <p:sldId id="274" r:id="rId42"/>
    <p:sldId id="275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52" r:id="rId51"/>
    <p:sldId id="353" r:id="rId52"/>
    <p:sldId id="401" r:id="rId53"/>
    <p:sldId id="402" r:id="rId54"/>
    <p:sldId id="304" r:id="rId55"/>
    <p:sldId id="305" r:id="rId56"/>
    <p:sldId id="306" r:id="rId57"/>
    <p:sldId id="256" r:id="rId58"/>
    <p:sldId id="285" r:id="rId5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987" autoAdjust="0"/>
    <p:restoredTop sz="77787" autoAdjust="0"/>
  </p:normalViewPr>
  <p:slideViewPr>
    <p:cSldViewPr snapToGrid="0">
      <p:cViewPr varScale="1">
        <p:scale>
          <a:sx n="75" d="100"/>
          <a:sy n="75" d="100"/>
        </p:scale>
        <p:origin x="17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616"/>
    </p:cViewPr>
  </p:sorterViewPr>
  <p:notesViewPr>
    <p:cSldViewPr snapToGrid="0">
      <p:cViewPr varScale="1">
        <p:scale>
          <a:sx n="81" d="100"/>
          <a:sy n="81" d="100"/>
        </p:scale>
        <p:origin x="184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8B2E93-DED8-4568-AC93-E1B7FFDDE1B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3095D66E-AC8D-4446-9662-EB5BDB2F0CE9}">
      <dgm:prSet phldrT="[文字]"/>
      <dgm:spPr>
        <a:solidFill>
          <a:srgbClr val="C00000"/>
        </a:solidFill>
      </dgm:spPr>
      <dgm:t>
        <a:bodyPr/>
        <a:lstStyle/>
        <a:p>
          <a:r>
            <a: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ON DELETE RESTRICT </a:t>
          </a:r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（為預設處理方式）</a:t>
          </a:r>
          <a:endParaRPr lang="zh-TW" altLang="en-US" dirty="0"/>
        </a:p>
      </dgm:t>
    </dgm:pt>
    <dgm:pt modelId="{BE0EAC5E-CBAB-4267-9A11-5986D99EF96B}" type="parTrans" cxnId="{85983AB7-7BA2-43A7-909C-E9FB55B7AA7A}">
      <dgm:prSet/>
      <dgm:spPr/>
      <dgm:t>
        <a:bodyPr/>
        <a:lstStyle/>
        <a:p>
          <a:endParaRPr lang="zh-TW" altLang="en-US"/>
        </a:p>
      </dgm:t>
    </dgm:pt>
    <dgm:pt modelId="{5264CCC8-5945-4051-951C-8083A359C961}" type="sibTrans" cxnId="{85983AB7-7BA2-43A7-909C-E9FB55B7AA7A}">
      <dgm:prSet/>
      <dgm:spPr/>
      <dgm:t>
        <a:bodyPr/>
        <a:lstStyle/>
        <a:p>
          <a:endParaRPr lang="zh-TW" altLang="en-US"/>
        </a:p>
      </dgm:t>
    </dgm:pt>
    <dgm:pt modelId="{86867B40-0E25-47D6-ACC1-B142F1E02924}">
      <dgm:prSet phldrT="[文字]"/>
      <dgm:spPr>
        <a:solidFill>
          <a:srgbClr val="C00000"/>
        </a:solidFill>
      </dgm:spPr>
      <dgm:t>
        <a:bodyPr/>
        <a:lstStyle/>
        <a:p>
          <a:r>
            <a: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ON DELETE</a:t>
          </a:r>
          <a:r>
            <a: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rPr>
            <a:t> </a:t>
          </a:r>
          <a:r>
            <a: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SET NULL</a:t>
          </a:r>
          <a:endParaRPr lang="zh-TW" altLang="en-US" dirty="0"/>
        </a:p>
      </dgm:t>
    </dgm:pt>
    <dgm:pt modelId="{1C650760-5988-44F6-AE63-46E55DA2D58A}" type="parTrans" cxnId="{7F43F5D7-D577-47B0-9CB9-6FADB7AB3E6B}">
      <dgm:prSet/>
      <dgm:spPr/>
      <dgm:t>
        <a:bodyPr/>
        <a:lstStyle/>
        <a:p>
          <a:endParaRPr lang="zh-TW" altLang="en-US"/>
        </a:p>
      </dgm:t>
    </dgm:pt>
    <dgm:pt modelId="{F24F8D7B-ED0D-4077-8212-136FA25CCC6D}" type="sibTrans" cxnId="{7F43F5D7-D577-47B0-9CB9-6FADB7AB3E6B}">
      <dgm:prSet/>
      <dgm:spPr/>
      <dgm:t>
        <a:bodyPr/>
        <a:lstStyle/>
        <a:p>
          <a:endParaRPr lang="zh-TW" altLang="en-US"/>
        </a:p>
      </dgm:t>
    </dgm:pt>
    <dgm:pt modelId="{C272A2C9-07AB-49CA-B1BC-F23588CB8399}">
      <dgm:prSet phldrT="[文字]"/>
      <dgm:spPr>
        <a:solidFill>
          <a:srgbClr val="C00000"/>
        </a:solidFill>
      </dgm:spPr>
      <dgm:t>
        <a:bodyPr/>
        <a:lstStyle/>
        <a:p>
          <a:r>
            <a: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ON DELETE SET DEFAULT</a:t>
          </a:r>
          <a:endParaRPr lang="zh-TW" altLang="en-US" dirty="0"/>
        </a:p>
      </dgm:t>
    </dgm:pt>
    <dgm:pt modelId="{FF461AB0-B521-40A8-96F2-FBA7F88D57D2}" type="parTrans" cxnId="{B1C56268-C149-47F2-B70F-20E534875751}">
      <dgm:prSet/>
      <dgm:spPr/>
      <dgm:t>
        <a:bodyPr/>
        <a:lstStyle/>
        <a:p>
          <a:endParaRPr lang="zh-TW" altLang="en-US"/>
        </a:p>
      </dgm:t>
    </dgm:pt>
    <dgm:pt modelId="{F6E35AB2-D27D-4B03-80E1-8DE0D0D4376D}" type="sibTrans" cxnId="{B1C56268-C149-47F2-B70F-20E534875751}">
      <dgm:prSet/>
      <dgm:spPr/>
      <dgm:t>
        <a:bodyPr/>
        <a:lstStyle/>
        <a:p>
          <a:endParaRPr lang="zh-TW" altLang="en-US"/>
        </a:p>
      </dgm:t>
    </dgm:pt>
    <dgm:pt modelId="{35F724A0-A988-4FCA-922D-F01F69B1EB30}">
      <dgm:prSet/>
      <dgm:spPr>
        <a:solidFill>
          <a:srgbClr val="C00000"/>
        </a:solidFill>
      </dgm:spPr>
      <dgm:t>
        <a:bodyPr/>
        <a:lstStyle/>
        <a:p>
          <a:r>
            <a:rPr lang="en-US" altLang="zh-TW" b="1">
              <a:latin typeface="微軟正黑體" panose="020B0604030504040204" pitchFamily="34" charset="-120"/>
              <a:ea typeface="微軟正黑體" panose="020B0604030504040204" pitchFamily="34" charset="-120"/>
            </a:rPr>
            <a:t>ON DELETE CASCADE</a:t>
          </a:r>
          <a:endParaRPr lang="en-US" altLang="zh-TW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CECB305A-50E0-4708-B8E1-2569A70D7EBB}" type="parTrans" cxnId="{4721FB41-8E43-4428-BCED-3EE69D290117}">
      <dgm:prSet/>
      <dgm:spPr/>
      <dgm:t>
        <a:bodyPr/>
        <a:lstStyle/>
        <a:p>
          <a:endParaRPr lang="zh-TW" altLang="en-US"/>
        </a:p>
      </dgm:t>
    </dgm:pt>
    <dgm:pt modelId="{DBD8CBEA-8FDC-49B0-B2AF-87F376829FAB}" type="sibTrans" cxnId="{4721FB41-8E43-4428-BCED-3EE69D290117}">
      <dgm:prSet/>
      <dgm:spPr/>
      <dgm:t>
        <a:bodyPr/>
        <a:lstStyle/>
        <a:p>
          <a:endParaRPr lang="zh-TW" altLang="en-US"/>
        </a:p>
      </dgm:t>
    </dgm:pt>
    <dgm:pt modelId="{8EC7ECAB-BA3E-41C9-BDDE-EC4FA95AF4AB}">
      <dgm:prSet/>
      <dgm:spPr>
        <a:solidFill>
          <a:srgbClr val="C00000"/>
        </a:solidFill>
      </dgm:spPr>
      <dgm:t>
        <a:bodyPr/>
        <a:lstStyle/>
        <a:p>
          <a:r>
            <a:rPr lang="en-US" altLang="zh-TW" b="1">
              <a:latin typeface="微軟正黑體" panose="020B0604030504040204" pitchFamily="34" charset="-120"/>
              <a:ea typeface="微軟正黑體" panose="020B0604030504040204" pitchFamily="34" charset="-120"/>
            </a:rPr>
            <a:t>ON UPDATE RESTRICT </a:t>
          </a:r>
          <a:r>
            <a: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rPr>
            <a:t>（為預設處理方式）</a:t>
          </a:r>
          <a:endParaRPr lang="zh-TW" altLang="en-US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492B9E55-D211-40F8-9EBA-F145B420491A}" type="parTrans" cxnId="{6570A805-D896-4954-B072-C67515651F06}">
      <dgm:prSet/>
      <dgm:spPr/>
      <dgm:t>
        <a:bodyPr/>
        <a:lstStyle/>
        <a:p>
          <a:endParaRPr lang="zh-TW" altLang="en-US"/>
        </a:p>
      </dgm:t>
    </dgm:pt>
    <dgm:pt modelId="{92F0B18C-9526-45BD-9E3C-B75C0859834D}" type="sibTrans" cxnId="{6570A805-D896-4954-B072-C67515651F06}">
      <dgm:prSet/>
      <dgm:spPr/>
      <dgm:t>
        <a:bodyPr/>
        <a:lstStyle/>
        <a:p>
          <a:endParaRPr lang="zh-TW" altLang="en-US"/>
        </a:p>
      </dgm:t>
    </dgm:pt>
    <dgm:pt modelId="{473F853C-80C8-47FD-BB32-8DFDF3C432F0}">
      <dgm:prSet/>
      <dgm:spPr>
        <a:solidFill>
          <a:srgbClr val="C00000"/>
        </a:solidFill>
      </dgm:spPr>
      <dgm:t>
        <a:bodyPr/>
        <a:lstStyle/>
        <a:p>
          <a:r>
            <a:rPr lang="en-US" altLang="zh-TW" b="1">
              <a:latin typeface="微軟正黑體" panose="020B0604030504040204" pitchFamily="34" charset="-120"/>
              <a:ea typeface="微軟正黑體" panose="020B0604030504040204" pitchFamily="34" charset="-120"/>
            </a:rPr>
            <a:t>ON UPDATE CASCADE</a:t>
          </a:r>
          <a:endParaRPr lang="en-US" altLang="zh-TW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F720A59-84A1-4532-ABBA-16EE3FDCFF51}" type="parTrans" cxnId="{095EFF49-34DC-4717-ADB3-67A415FC83A5}">
      <dgm:prSet/>
      <dgm:spPr/>
      <dgm:t>
        <a:bodyPr/>
        <a:lstStyle/>
        <a:p>
          <a:endParaRPr lang="zh-TW" altLang="en-US"/>
        </a:p>
      </dgm:t>
    </dgm:pt>
    <dgm:pt modelId="{AB05BC4A-CF73-4E40-899A-E3B87A303E21}" type="sibTrans" cxnId="{095EFF49-34DC-4717-ADB3-67A415FC83A5}">
      <dgm:prSet/>
      <dgm:spPr/>
      <dgm:t>
        <a:bodyPr/>
        <a:lstStyle/>
        <a:p>
          <a:endParaRPr lang="zh-TW" altLang="en-US"/>
        </a:p>
      </dgm:t>
    </dgm:pt>
    <dgm:pt modelId="{5AAF0C6A-7E70-4B17-A85E-74A9494CC8D3}">
      <dgm:prSet custT="1"/>
      <dgm:spPr/>
      <dgm:t>
        <a:bodyPr/>
        <a:lstStyle/>
        <a:p>
          <a:r>
            <a: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一筆記錄只有沒被參考時才可被刪除</a:t>
          </a:r>
          <a:endParaRPr lang="zh-TW" altLang="en-US" sz="1400" dirty="0"/>
        </a:p>
      </dgm:t>
    </dgm:pt>
    <dgm:pt modelId="{F8F05ED9-A85B-4871-84BB-F1355EC519D8}" type="parTrans" cxnId="{E73C26D7-CF27-40D8-87B5-DEA69CFA8DBF}">
      <dgm:prSet/>
      <dgm:spPr/>
      <dgm:t>
        <a:bodyPr/>
        <a:lstStyle/>
        <a:p>
          <a:endParaRPr lang="zh-TW" altLang="en-US"/>
        </a:p>
      </dgm:t>
    </dgm:pt>
    <dgm:pt modelId="{D381E449-F83E-4B38-BC03-F00949844A84}" type="sibTrans" cxnId="{E73C26D7-CF27-40D8-87B5-DEA69CFA8DBF}">
      <dgm:prSet/>
      <dgm:spPr/>
      <dgm:t>
        <a:bodyPr/>
        <a:lstStyle/>
        <a:p>
          <a:endParaRPr lang="zh-TW" altLang="en-US"/>
        </a:p>
      </dgm:t>
    </dgm:pt>
    <dgm:pt modelId="{920487A9-6512-4113-97F9-C1E56C4EB5FF}">
      <dgm:prSet custT="1"/>
      <dgm:spPr/>
      <dgm:t>
        <a:bodyPr/>
        <a:lstStyle/>
        <a:p>
          <a:r>
            <a: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一筆記錄被刪除時，所有參考它的外部鍵值全部變成空值</a:t>
          </a:r>
        </a:p>
      </dgm:t>
    </dgm:pt>
    <dgm:pt modelId="{76739D5A-458D-4F9F-B76B-59CDF46BA723}" type="parTrans" cxnId="{20B4B9C9-8EB7-41D8-9814-BCC064F51BB7}">
      <dgm:prSet/>
      <dgm:spPr/>
      <dgm:t>
        <a:bodyPr/>
        <a:lstStyle/>
        <a:p>
          <a:endParaRPr lang="zh-TW" altLang="en-US"/>
        </a:p>
      </dgm:t>
    </dgm:pt>
    <dgm:pt modelId="{B43A9892-A9DD-46EC-97E6-1813D8C9D6F8}" type="sibTrans" cxnId="{20B4B9C9-8EB7-41D8-9814-BCC064F51BB7}">
      <dgm:prSet/>
      <dgm:spPr/>
      <dgm:t>
        <a:bodyPr/>
        <a:lstStyle/>
        <a:p>
          <a:endParaRPr lang="zh-TW" altLang="en-US"/>
        </a:p>
      </dgm:t>
    </dgm:pt>
    <dgm:pt modelId="{AABB7B56-69DC-47AD-B081-6B3B9C623264}">
      <dgm:prSet custT="1"/>
      <dgm:spPr/>
      <dgm:t>
        <a:bodyPr/>
        <a:lstStyle/>
        <a:p>
          <a:r>
            <a: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一筆記錄被刪除時，所有參考它的外部鍵值全部變成預設值</a:t>
          </a:r>
        </a:p>
      </dgm:t>
    </dgm:pt>
    <dgm:pt modelId="{CABB2DA4-D76B-4232-BEA6-477EA7ACE0F5}" type="parTrans" cxnId="{5B11FE25-30E8-44B5-8093-C2E486939DB6}">
      <dgm:prSet/>
      <dgm:spPr/>
      <dgm:t>
        <a:bodyPr/>
        <a:lstStyle/>
        <a:p>
          <a:endParaRPr lang="zh-TW" altLang="en-US"/>
        </a:p>
      </dgm:t>
    </dgm:pt>
    <dgm:pt modelId="{1EAA7D7F-C808-4BD3-9EDF-441042E54534}" type="sibTrans" cxnId="{5B11FE25-30E8-44B5-8093-C2E486939DB6}">
      <dgm:prSet/>
      <dgm:spPr/>
      <dgm:t>
        <a:bodyPr/>
        <a:lstStyle/>
        <a:p>
          <a:endParaRPr lang="zh-TW" altLang="en-US"/>
        </a:p>
      </dgm:t>
    </dgm:pt>
    <dgm:pt modelId="{AB5973DC-8174-4516-9D01-B8BD10277204}">
      <dgm:prSet custT="1"/>
      <dgm:spPr/>
      <dgm:t>
        <a:bodyPr/>
        <a:lstStyle/>
        <a:p>
          <a:r>
            <a: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一筆記錄被刪除時，所有參考它的記錄全部跟著被刪除</a:t>
          </a:r>
        </a:p>
      </dgm:t>
    </dgm:pt>
    <dgm:pt modelId="{35DEB661-2F8F-49EC-A5DA-3D038470144D}" type="parTrans" cxnId="{D5983CD3-E171-4FC4-9C99-125F58FD77ED}">
      <dgm:prSet/>
      <dgm:spPr/>
      <dgm:t>
        <a:bodyPr/>
        <a:lstStyle/>
        <a:p>
          <a:endParaRPr lang="zh-TW" altLang="en-US"/>
        </a:p>
      </dgm:t>
    </dgm:pt>
    <dgm:pt modelId="{76855C3A-93A9-4096-B779-A7573D62F365}" type="sibTrans" cxnId="{D5983CD3-E171-4FC4-9C99-125F58FD77ED}">
      <dgm:prSet/>
      <dgm:spPr/>
      <dgm:t>
        <a:bodyPr/>
        <a:lstStyle/>
        <a:p>
          <a:endParaRPr lang="zh-TW" altLang="en-US"/>
        </a:p>
      </dgm:t>
    </dgm:pt>
    <dgm:pt modelId="{6C5C7C1D-F02B-4F84-8C2E-3638E2997836}">
      <dgm:prSet custT="1"/>
      <dgm:spPr/>
      <dgm:t>
        <a:bodyPr/>
        <a:lstStyle/>
        <a:p>
          <a:r>
            <a: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一筆記錄的主鍵值只有沒被參考時才可被修改</a:t>
          </a:r>
        </a:p>
      </dgm:t>
    </dgm:pt>
    <dgm:pt modelId="{283D4555-4D12-444D-86EC-B01DFAE4FF9B}" type="parTrans" cxnId="{D73B9A96-1CA6-4192-A824-6910382E3A67}">
      <dgm:prSet/>
      <dgm:spPr/>
      <dgm:t>
        <a:bodyPr/>
        <a:lstStyle/>
        <a:p>
          <a:endParaRPr lang="zh-TW" altLang="en-US"/>
        </a:p>
      </dgm:t>
    </dgm:pt>
    <dgm:pt modelId="{2BE46BEC-F004-47EE-A861-6967FFD71A96}" type="sibTrans" cxnId="{D73B9A96-1CA6-4192-A824-6910382E3A67}">
      <dgm:prSet/>
      <dgm:spPr/>
      <dgm:t>
        <a:bodyPr/>
        <a:lstStyle/>
        <a:p>
          <a:endParaRPr lang="zh-TW" altLang="en-US"/>
        </a:p>
      </dgm:t>
    </dgm:pt>
    <dgm:pt modelId="{26253829-850B-4A0B-93CA-7EDA9AB09EBE}">
      <dgm:prSet custT="1"/>
      <dgm:spPr/>
      <dgm:t>
        <a:bodyPr/>
        <a:lstStyle/>
        <a:p>
          <a:r>
            <a: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一筆記錄的主鍵值被修改時，所有參考它的外部鍵值全部跟著修改</a:t>
          </a:r>
        </a:p>
      </dgm:t>
    </dgm:pt>
    <dgm:pt modelId="{8FBA7CEF-38A9-4BB6-9946-47DBA7DCA967}" type="parTrans" cxnId="{9615482A-2CD5-4763-8944-7EA8AE5F4CFF}">
      <dgm:prSet/>
      <dgm:spPr/>
      <dgm:t>
        <a:bodyPr/>
        <a:lstStyle/>
        <a:p>
          <a:endParaRPr lang="zh-TW" altLang="en-US"/>
        </a:p>
      </dgm:t>
    </dgm:pt>
    <dgm:pt modelId="{F387FF21-07AE-45D8-AA8E-54F204556746}" type="sibTrans" cxnId="{9615482A-2CD5-4763-8944-7EA8AE5F4CFF}">
      <dgm:prSet/>
      <dgm:spPr/>
      <dgm:t>
        <a:bodyPr/>
        <a:lstStyle/>
        <a:p>
          <a:endParaRPr lang="zh-TW" altLang="en-US"/>
        </a:p>
      </dgm:t>
    </dgm:pt>
    <dgm:pt modelId="{093A6613-F039-4145-BFED-377B264194C7}" type="pres">
      <dgm:prSet presAssocID="{4D8B2E93-DED8-4568-AC93-E1B7FFDDE1B8}" presName="linear" presStyleCnt="0">
        <dgm:presLayoutVars>
          <dgm:animLvl val="lvl"/>
          <dgm:resizeHandles val="exact"/>
        </dgm:presLayoutVars>
      </dgm:prSet>
      <dgm:spPr/>
    </dgm:pt>
    <dgm:pt modelId="{4BA05816-B8A5-445C-9E3F-79CD3FBC2293}" type="pres">
      <dgm:prSet presAssocID="{3095D66E-AC8D-4446-9662-EB5BDB2F0CE9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F0C1FFBB-2254-4C18-87B0-8408FBFB934E}" type="pres">
      <dgm:prSet presAssocID="{3095D66E-AC8D-4446-9662-EB5BDB2F0CE9}" presName="childText" presStyleLbl="revTx" presStyleIdx="0" presStyleCnt="6">
        <dgm:presLayoutVars>
          <dgm:bulletEnabled val="1"/>
        </dgm:presLayoutVars>
      </dgm:prSet>
      <dgm:spPr/>
    </dgm:pt>
    <dgm:pt modelId="{F9A8CBA1-92DD-435E-8557-1B58045EE494}" type="pres">
      <dgm:prSet presAssocID="{86867B40-0E25-47D6-ACC1-B142F1E02924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B2AA7C9-C237-4C8D-82E4-E35FA15ABF76}" type="pres">
      <dgm:prSet presAssocID="{86867B40-0E25-47D6-ACC1-B142F1E02924}" presName="childText" presStyleLbl="revTx" presStyleIdx="1" presStyleCnt="6">
        <dgm:presLayoutVars>
          <dgm:bulletEnabled val="1"/>
        </dgm:presLayoutVars>
      </dgm:prSet>
      <dgm:spPr/>
    </dgm:pt>
    <dgm:pt modelId="{70ECCB4C-566B-497C-8E54-E673FC3DA9FB}" type="pres">
      <dgm:prSet presAssocID="{C272A2C9-07AB-49CA-B1BC-F23588CB839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2FD07959-5F3D-4ABC-B27A-8814101C84F0}" type="pres">
      <dgm:prSet presAssocID="{C272A2C9-07AB-49CA-B1BC-F23588CB8399}" presName="childText" presStyleLbl="revTx" presStyleIdx="2" presStyleCnt="6">
        <dgm:presLayoutVars>
          <dgm:bulletEnabled val="1"/>
        </dgm:presLayoutVars>
      </dgm:prSet>
      <dgm:spPr/>
    </dgm:pt>
    <dgm:pt modelId="{D843F524-6D7B-45E7-9E40-E015988C8236}" type="pres">
      <dgm:prSet presAssocID="{35F724A0-A988-4FCA-922D-F01F69B1EB30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3351FB4B-47AD-4B78-B839-8924BEC4B72F}" type="pres">
      <dgm:prSet presAssocID="{35F724A0-A988-4FCA-922D-F01F69B1EB30}" presName="childText" presStyleLbl="revTx" presStyleIdx="3" presStyleCnt="6">
        <dgm:presLayoutVars>
          <dgm:bulletEnabled val="1"/>
        </dgm:presLayoutVars>
      </dgm:prSet>
      <dgm:spPr/>
    </dgm:pt>
    <dgm:pt modelId="{15CC1361-5B2C-473B-8092-769C61FD8882}" type="pres">
      <dgm:prSet presAssocID="{8EC7ECAB-BA3E-41C9-BDDE-EC4FA95AF4AB}" presName="parentText" presStyleLbl="node1" presStyleIdx="4" presStyleCnt="6" custLinFactNeighborX="-467" custLinFactNeighborY="22390">
        <dgm:presLayoutVars>
          <dgm:chMax val="0"/>
          <dgm:bulletEnabled val="1"/>
        </dgm:presLayoutVars>
      </dgm:prSet>
      <dgm:spPr/>
    </dgm:pt>
    <dgm:pt modelId="{E3554C6D-6D5B-4B34-BB52-F2095C855554}" type="pres">
      <dgm:prSet presAssocID="{8EC7ECAB-BA3E-41C9-BDDE-EC4FA95AF4AB}" presName="childText" presStyleLbl="revTx" presStyleIdx="4" presStyleCnt="6">
        <dgm:presLayoutVars>
          <dgm:bulletEnabled val="1"/>
        </dgm:presLayoutVars>
      </dgm:prSet>
      <dgm:spPr/>
    </dgm:pt>
    <dgm:pt modelId="{4439FC13-B58E-45C3-A9D5-155BCFC75FD8}" type="pres">
      <dgm:prSet presAssocID="{473F853C-80C8-47FD-BB32-8DFDF3C432F0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58B6247F-A8C4-40AE-8189-6301C43CA780}" type="pres">
      <dgm:prSet presAssocID="{473F853C-80C8-47FD-BB32-8DFDF3C432F0}" presName="childText" presStyleLbl="revTx" presStyleIdx="5" presStyleCnt="6">
        <dgm:presLayoutVars>
          <dgm:bulletEnabled val="1"/>
        </dgm:presLayoutVars>
      </dgm:prSet>
      <dgm:spPr/>
    </dgm:pt>
  </dgm:ptLst>
  <dgm:cxnLst>
    <dgm:cxn modelId="{6570A805-D896-4954-B072-C67515651F06}" srcId="{4D8B2E93-DED8-4568-AC93-E1B7FFDDE1B8}" destId="{8EC7ECAB-BA3E-41C9-BDDE-EC4FA95AF4AB}" srcOrd="4" destOrd="0" parTransId="{492B9E55-D211-40F8-9EBA-F145B420491A}" sibTransId="{92F0B18C-9526-45BD-9E3C-B75C0859834D}"/>
    <dgm:cxn modelId="{82CA3F13-B8E0-4487-AE99-9343F1AFE352}" type="presOf" srcId="{26253829-850B-4A0B-93CA-7EDA9AB09EBE}" destId="{58B6247F-A8C4-40AE-8189-6301C43CA780}" srcOrd="0" destOrd="0" presId="urn:microsoft.com/office/officeart/2005/8/layout/vList2"/>
    <dgm:cxn modelId="{8C530D19-CCB1-4106-9E5D-BBD341082225}" type="presOf" srcId="{4D8B2E93-DED8-4568-AC93-E1B7FFDDE1B8}" destId="{093A6613-F039-4145-BFED-377B264194C7}" srcOrd="0" destOrd="0" presId="urn:microsoft.com/office/officeart/2005/8/layout/vList2"/>
    <dgm:cxn modelId="{5B11FE25-30E8-44B5-8093-C2E486939DB6}" srcId="{C272A2C9-07AB-49CA-B1BC-F23588CB8399}" destId="{AABB7B56-69DC-47AD-B081-6B3B9C623264}" srcOrd="0" destOrd="0" parTransId="{CABB2DA4-D76B-4232-BEA6-477EA7ACE0F5}" sibTransId="{1EAA7D7F-C808-4BD3-9EDF-441042E54534}"/>
    <dgm:cxn modelId="{6AE94128-F7A6-481C-8DFB-8FFBA27F88AD}" type="presOf" srcId="{AB5973DC-8174-4516-9D01-B8BD10277204}" destId="{3351FB4B-47AD-4B78-B839-8924BEC4B72F}" srcOrd="0" destOrd="0" presId="urn:microsoft.com/office/officeart/2005/8/layout/vList2"/>
    <dgm:cxn modelId="{9615482A-2CD5-4763-8944-7EA8AE5F4CFF}" srcId="{473F853C-80C8-47FD-BB32-8DFDF3C432F0}" destId="{26253829-850B-4A0B-93CA-7EDA9AB09EBE}" srcOrd="0" destOrd="0" parTransId="{8FBA7CEF-38A9-4BB6-9946-47DBA7DCA967}" sibTransId="{F387FF21-07AE-45D8-AA8E-54F204556746}"/>
    <dgm:cxn modelId="{4721FB41-8E43-4428-BCED-3EE69D290117}" srcId="{4D8B2E93-DED8-4568-AC93-E1B7FFDDE1B8}" destId="{35F724A0-A988-4FCA-922D-F01F69B1EB30}" srcOrd="3" destOrd="0" parTransId="{CECB305A-50E0-4708-B8E1-2569A70D7EBB}" sibTransId="{DBD8CBEA-8FDC-49B0-B2AF-87F376829FAB}"/>
    <dgm:cxn modelId="{095EFF49-34DC-4717-ADB3-67A415FC83A5}" srcId="{4D8B2E93-DED8-4568-AC93-E1B7FFDDE1B8}" destId="{473F853C-80C8-47FD-BB32-8DFDF3C432F0}" srcOrd="5" destOrd="0" parTransId="{0F720A59-84A1-4532-ABBA-16EE3FDCFF51}" sibTransId="{AB05BC4A-CF73-4E40-899A-E3B87A303E21}"/>
    <dgm:cxn modelId="{E83C204B-6180-4CF2-AF30-E7A9793442C0}" type="presOf" srcId="{920487A9-6512-4113-97F9-C1E56C4EB5FF}" destId="{0B2AA7C9-C237-4C8D-82E4-E35FA15ABF76}" srcOrd="0" destOrd="0" presId="urn:microsoft.com/office/officeart/2005/8/layout/vList2"/>
    <dgm:cxn modelId="{B1C56268-C149-47F2-B70F-20E534875751}" srcId="{4D8B2E93-DED8-4568-AC93-E1B7FFDDE1B8}" destId="{C272A2C9-07AB-49CA-B1BC-F23588CB8399}" srcOrd="2" destOrd="0" parTransId="{FF461AB0-B521-40A8-96F2-FBA7F88D57D2}" sibTransId="{F6E35AB2-D27D-4B03-80E1-8DE0D0D4376D}"/>
    <dgm:cxn modelId="{B037DF86-2CEE-412D-9456-F9931E110338}" type="presOf" srcId="{C272A2C9-07AB-49CA-B1BC-F23588CB8399}" destId="{70ECCB4C-566B-497C-8E54-E673FC3DA9FB}" srcOrd="0" destOrd="0" presId="urn:microsoft.com/office/officeart/2005/8/layout/vList2"/>
    <dgm:cxn modelId="{D73B9A96-1CA6-4192-A824-6910382E3A67}" srcId="{8EC7ECAB-BA3E-41C9-BDDE-EC4FA95AF4AB}" destId="{6C5C7C1D-F02B-4F84-8C2E-3638E2997836}" srcOrd="0" destOrd="0" parTransId="{283D4555-4D12-444D-86EC-B01DFAE4FF9B}" sibTransId="{2BE46BEC-F004-47EE-A861-6967FFD71A96}"/>
    <dgm:cxn modelId="{8E0BB897-A05E-4EE7-A1F6-C06D7E802B81}" type="presOf" srcId="{AABB7B56-69DC-47AD-B081-6B3B9C623264}" destId="{2FD07959-5F3D-4ABC-B27A-8814101C84F0}" srcOrd="0" destOrd="0" presId="urn:microsoft.com/office/officeart/2005/8/layout/vList2"/>
    <dgm:cxn modelId="{E6B1A8A7-0AC6-439B-8D00-72C8EE503E9F}" type="presOf" srcId="{35F724A0-A988-4FCA-922D-F01F69B1EB30}" destId="{D843F524-6D7B-45E7-9E40-E015988C8236}" srcOrd="0" destOrd="0" presId="urn:microsoft.com/office/officeart/2005/8/layout/vList2"/>
    <dgm:cxn modelId="{811556AD-7BCA-449B-9B6E-DBDF7566316C}" type="presOf" srcId="{8EC7ECAB-BA3E-41C9-BDDE-EC4FA95AF4AB}" destId="{15CC1361-5B2C-473B-8092-769C61FD8882}" srcOrd="0" destOrd="0" presId="urn:microsoft.com/office/officeart/2005/8/layout/vList2"/>
    <dgm:cxn modelId="{2EB493AD-DD73-4C3F-9C19-01623CC7B16E}" type="presOf" srcId="{473F853C-80C8-47FD-BB32-8DFDF3C432F0}" destId="{4439FC13-B58E-45C3-A9D5-155BCFC75FD8}" srcOrd="0" destOrd="0" presId="urn:microsoft.com/office/officeart/2005/8/layout/vList2"/>
    <dgm:cxn modelId="{85983AB7-7BA2-43A7-909C-E9FB55B7AA7A}" srcId="{4D8B2E93-DED8-4568-AC93-E1B7FFDDE1B8}" destId="{3095D66E-AC8D-4446-9662-EB5BDB2F0CE9}" srcOrd="0" destOrd="0" parTransId="{BE0EAC5E-CBAB-4267-9A11-5986D99EF96B}" sibTransId="{5264CCC8-5945-4051-951C-8083A359C961}"/>
    <dgm:cxn modelId="{3965FAC3-9722-4FC7-8331-B6FA3D058EF4}" type="presOf" srcId="{6C5C7C1D-F02B-4F84-8C2E-3638E2997836}" destId="{E3554C6D-6D5B-4B34-BB52-F2095C855554}" srcOrd="0" destOrd="0" presId="urn:microsoft.com/office/officeart/2005/8/layout/vList2"/>
    <dgm:cxn modelId="{20B4B9C9-8EB7-41D8-9814-BCC064F51BB7}" srcId="{86867B40-0E25-47D6-ACC1-B142F1E02924}" destId="{920487A9-6512-4113-97F9-C1E56C4EB5FF}" srcOrd="0" destOrd="0" parTransId="{76739D5A-458D-4F9F-B76B-59CDF46BA723}" sibTransId="{B43A9892-A9DD-46EC-97E6-1813D8C9D6F8}"/>
    <dgm:cxn modelId="{D5983CD3-E171-4FC4-9C99-125F58FD77ED}" srcId="{35F724A0-A988-4FCA-922D-F01F69B1EB30}" destId="{AB5973DC-8174-4516-9D01-B8BD10277204}" srcOrd="0" destOrd="0" parTransId="{35DEB661-2F8F-49EC-A5DA-3D038470144D}" sibTransId="{76855C3A-93A9-4096-B779-A7573D62F365}"/>
    <dgm:cxn modelId="{E73C26D7-CF27-40D8-87B5-DEA69CFA8DBF}" srcId="{3095D66E-AC8D-4446-9662-EB5BDB2F0CE9}" destId="{5AAF0C6A-7E70-4B17-A85E-74A9494CC8D3}" srcOrd="0" destOrd="0" parTransId="{F8F05ED9-A85B-4871-84BB-F1355EC519D8}" sibTransId="{D381E449-F83E-4B38-BC03-F00949844A84}"/>
    <dgm:cxn modelId="{7F43F5D7-D577-47B0-9CB9-6FADB7AB3E6B}" srcId="{4D8B2E93-DED8-4568-AC93-E1B7FFDDE1B8}" destId="{86867B40-0E25-47D6-ACC1-B142F1E02924}" srcOrd="1" destOrd="0" parTransId="{1C650760-5988-44F6-AE63-46E55DA2D58A}" sibTransId="{F24F8D7B-ED0D-4077-8212-136FA25CCC6D}"/>
    <dgm:cxn modelId="{745BA2E6-BD40-430F-9DCD-92FB9D2D6225}" type="presOf" srcId="{86867B40-0E25-47D6-ACC1-B142F1E02924}" destId="{F9A8CBA1-92DD-435E-8557-1B58045EE494}" srcOrd="0" destOrd="0" presId="urn:microsoft.com/office/officeart/2005/8/layout/vList2"/>
    <dgm:cxn modelId="{BB75E6ED-D75B-4A96-BBB4-B07AEEA3E856}" type="presOf" srcId="{5AAF0C6A-7E70-4B17-A85E-74A9494CC8D3}" destId="{F0C1FFBB-2254-4C18-87B0-8408FBFB934E}" srcOrd="0" destOrd="0" presId="urn:microsoft.com/office/officeart/2005/8/layout/vList2"/>
    <dgm:cxn modelId="{76A20BF3-8A04-4C2D-AA80-1B9B4D7C95A5}" type="presOf" srcId="{3095D66E-AC8D-4446-9662-EB5BDB2F0CE9}" destId="{4BA05816-B8A5-445C-9E3F-79CD3FBC2293}" srcOrd="0" destOrd="0" presId="urn:microsoft.com/office/officeart/2005/8/layout/vList2"/>
    <dgm:cxn modelId="{D1FE402B-F423-40F5-9CAB-CA716C93AC2B}" type="presParOf" srcId="{093A6613-F039-4145-BFED-377B264194C7}" destId="{4BA05816-B8A5-445C-9E3F-79CD3FBC2293}" srcOrd="0" destOrd="0" presId="urn:microsoft.com/office/officeart/2005/8/layout/vList2"/>
    <dgm:cxn modelId="{7DFC52CF-D69D-43F8-A5DA-41683B6299A8}" type="presParOf" srcId="{093A6613-F039-4145-BFED-377B264194C7}" destId="{F0C1FFBB-2254-4C18-87B0-8408FBFB934E}" srcOrd="1" destOrd="0" presId="urn:microsoft.com/office/officeart/2005/8/layout/vList2"/>
    <dgm:cxn modelId="{86ED4238-D47F-4821-9218-34AEC5AE84B8}" type="presParOf" srcId="{093A6613-F039-4145-BFED-377B264194C7}" destId="{F9A8CBA1-92DD-435E-8557-1B58045EE494}" srcOrd="2" destOrd="0" presId="urn:microsoft.com/office/officeart/2005/8/layout/vList2"/>
    <dgm:cxn modelId="{0E2A23F1-3AFF-470C-9811-3C50BBBD637E}" type="presParOf" srcId="{093A6613-F039-4145-BFED-377B264194C7}" destId="{0B2AA7C9-C237-4C8D-82E4-E35FA15ABF76}" srcOrd="3" destOrd="0" presId="urn:microsoft.com/office/officeart/2005/8/layout/vList2"/>
    <dgm:cxn modelId="{A5F695C4-E352-4C4E-9A53-228DF2ADAE4B}" type="presParOf" srcId="{093A6613-F039-4145-BFED-377B264194C7}" destId="{70ECCB4C-566B-497C-8E54-E673FC3DA9FB}" srcOrd="4" destOrd="0" presId="urn:microsoft.com/office/officeart/2005/8/layout/vList2"/>
    <dgm:cxn modelId="{3D96E2A7-1B4C-4CE9-ABAB-313F22AD65D4}" type="presParOf" srcId="{093A6613-F039-4145-BFED-377B264194C7}" destId="{2FD07959-5F3D-4ABC-B27A-8814101C84F0}" srcOrd="5" destOrd="0" presId="urn:microsoft.com/office/officeart/2005/8/layout/vList2"/>
    <dgm:cxn modelId="{79198BF1-F1F1-4C49-B345-C2B1D8602646}" type="presParOf" srcId="{093A6613-F039-4145-BFED-377B264194C7}" destId="{D843F524-6D7B-45E7-9E40-E015988C8236}" srcOrd="6" destOrd="0" presId="urn:microsoft.com/office/officeart/2005/8/layout/vList2"/>
    <dgm:cxn modelId="{D4CF96FB-67DA-4833-BAD5-2D154613501B}" type="presParOf" srcId="{093A6613-F039-4145-BFED-377B264194C7}" destId="{3351FB4B-47AD-4B78-B839-8924BEC4B72F}" srcOrd="7" destOrd="0" presId="urn:microsoft.com/office/officeart/2005/8/layout/vList2"/>
    <dgm:cxn modelId="{10E1DFDE-C5A5-43E2-97FA-969A53AC8EDD}" type="presParOf" srcId="{093A6613-F039-4145-BFED-377B264194C7}" destId="{15CC1361-5B2C-473B-8092-769C61FD8882}" srcOrd="8" destOrd="0" presId="urn:microsoft.com/office/officeart/2005/8/layout/vList2"/>
    <dgm:cxn modelId="{80267EF7-0DE7-4AC6-A31A-987F2269FABA}" type="presParOf" srcId="{093A6613-F039-4145-BFED-377B264194C7}" destId="{E3554C6D-6D5B-4B34-BB52-F2095C855554}" srcOrd="9" destOrd="0" presId="urn:microsoft.com/office/officeart/2005/8/layout/vList2"/>
    <dgm:cxn modelId="{07AB624F-8341-4253-9486-A7A19B7AE40E}" type="presParOf" srcId="{093A6613-F039-4145-BFED-377B264194C7}" destId="{4439FC13-B58E-45C3-A9D5-155BCFC75FD8}" srcOrd="10" destOrd="0" presId="urn:microsoft.com/office/officeart/2005/8/layout/vList2"/>
    <dgm:cxn modelId="{E7644756-A9A1-4A84-BFC7-AE3B95133BAA}" type="presParOf" srcId="{093A6613-F039-4145-BFED-377B264194C7}" destId="{58B6247F-A8C4-40AE-8189-6301C43CA780}" srcOrd="1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A05816-B8A5-445C-9E3F-79CD3FBC2293}">
      <dsp:nvSpPr>
        <dsp:cNvPr id="0" name=""/>
        <dsp:cNvSpPr/>
      </dsp:nvSpPr>
      <dsp:spPr>
        <a:xfrm>
          <a:off x="0" y="90728"/>
          <a:ext cx="10515600" cy="372060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ON DELETE RESTRICT </a:t>
          </a:r>
          <a:r>
            <a:rPr lang="zh-TW" altLang="en-US" sz="1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（為預設處理方式）</a:t>
          </a:r>
          <a:endParaRPr lang="zh-TW" altLang="en-US" sz="1200" kern="1200" dirty="0"/>
        </a:p>
      </dsp:txBody>
      <dsp:txXfrm>
        <a:off x="18162" y="108890"/>
        <a:ext cx="10479276" cy="335736"/>
      </dsp:txXfrm>
    </dsp:sp>
    <dsp:sp modelId="{F0C1FFBB-2254-4C18-87B0-8408FBFB934E}">
      <dsp:nvSpPr>
        <dsp:cNvPr id="0" name=""/>
        <dsp:cNvSpPr/>
      </dsp:nvSpPr>
      <dsp:spPr>
        <a:xfrm>
          <a:off x="0" y="462788"/>
          <a:ext cx="10515600" cy="322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TW" altLang="en-US" sz="14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一筆記錄只有沒被參考時才可被刪除</a:t>
          </a:r>
          <a:endParaRPr lang="zh-TW" altLang="en-US" sz="1400" kern="1200" dirty="0"/>
        </a:p>
      </dsp:txBody>
      <dsp:txXfrm>
        <a:off x="0" y="462788"/>
        <a:ext cx="10515600" cy="322920"/>
      </dsp:txXfrm>
    </dsp:sp>
    <dsp:sp modelId="{F9A8CBA1-92DD-435E-8557-1B58045EE494}">
      <dsp:nvSpPr>
        <dsp:cNvPr id="0" name=""/>
        <dsp:cNvSpPr/>
      </dsp:nvSpPr>
      <dsp:spPr>
        <a:xfrm>
          <a:off x="0" y="785709"/>
          <a:ext cx="10515600" cy="372060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ON DELETE</a:t>
          </a:r>
          <a:r>
            <a:rPr lang="en-US" altLang="zh-TW" sz="12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 </a:t>
          </a:r>
          <a:r>
            <a:rPr lang="en-US" altLang="zh-TW" sz="1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SET NULL</a:t>
          </a:r>
          <a:endParaRPr lang="zh-TW" altLang="en-US" sz="1200" kern="1200" dirty="0"/>
        </a:p>
      </dsp:txBody>
      <dsp:txXfrm>
        <a:off x="18162" y="803871"/>
        <a:ext cx="10479276" cy="335736"/>
      </dsp:txXfrm>
    </dsp:sp>
    <dsp:sp modelId="{0B2AA7C9-C237-4C8D-82E4-E35FA15ABF76}">
      <dsp:nvSpPr>
        <dsp:cNvPr id="0" name=""/>
        <dsp:cNvSpPr/>
      </dsp:nvSpPr>
      <dsp:spPr>
        <a:xfrm>
          <a:off x="0" y="1157769"/>
          <a:ext cx="10515600" cy="322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TW" altLang="en-US" sz="14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一筆記錄被刪除時，所有參考它的外部鍵值全部變成空值</a:t>
          </a:r>
        </a:p>
      </dsp:txBody>
      <dsp:txXfrm>
        <a:off x="0" y="1157769"/>
        <a:ext cx="10515600" cy="322920"/>
      </dsp:txXfrm>
    </dsp:sp>
    <dsp:sp modelId="{70ECCB4C-566B-497C-8E54-E673FC3DA9FB}">
      <dsp:nvSpPr>
        <dsp:cNvPr id="0" name=""/>
        <dsp:cNvSpPr/>
      </dsp:nvSpPr>
      <dsp:spPr>
        <a:xfrm>
          <a:off x="0" y="1480689"/>
          <a:ext cx="10515600" cy="372060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ON DELETE SET DEFAULT</a:t>
          </a:r>
          <a:endParaRPr lang="zh-TW" altLang="en-US" sz="1200" kern="1200" dirty="0"/>
        </a:p>
      </dsp:txBody>
      <dsp:txXfrm>
        <a:off x="18162" y="1498851"/>
        <a:ext cx="10479276" cy="335736"/>
      </dsp:txXfrm>
    </dsp:sp>
    <dsp:sp modelId="{2FD07959-5F3D-4ABC-B27A-8814101C84F0}">
      <dsp:nvSpPr>
        <dsp:cNvPr id="0" name=""/>
        <dsp:cNvSpPr/>
      </dsp:nvSpPr>
      <dsp:spPr>
        <a:xfrm>
          <a:off x="0" y="1852749"/>
          <a:ext cx="10515600" cy="322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TW" altLang="en-US" sz="14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一筆記錄被刪除時，所有參考它的外部鍵值全部變成預設值</a:t>
          </a:r>
        </a:p>
      </dsp:txBody>
      <dsp:txXfrm>
        <a:off x="0" y="1852749"/>
        <a:ext cx="10515600" cy="322920"/>
      </dsp:txXfrm>
    </dsp:sp>
    <dsp:sp modelId="{D843F524-6D7B-45E7-9E40-E015988C8236}">
      <dsp:nvSpPr>
        <dsp:cNvPr id="0" name=""/>
        <dsp:cNvSpPr/>
      </dsp:nvSpPr>
      <dsp:spPr>
        <a:xfrm>
          <a:off x="0" y="2175669"/>
          <a:ext cx="10515600" cy="372060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b="1" kern="1200">
              <a:latin typeface="微軟正黑體" panose="020B0604030504040204" pitchFamily="34" charset="-120"/>
              <a:ea typeface="微軟正黑體" panose="020B0604030504040204" pitchFamily="34" charset="-120"/>
            </a:rPr>
            <a:t>ON DELETE CASCADE</a:t>
          </a:r>
          <a:endParaRPr lang="en-US" altLang="zh-TW" sz="12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8162" y="2193831"/>
        <a:ext cx="10479276" cy="335736"/>
      </dsp:txXfrm>
    </dsp:sp>
    <dsp:sp modelId="{3351FB4B-47AD-4B78-B839-8924BEC4B72F}">
      <dsp:nvSpPr>
        <dsp:cNvPr id="0" name=""/>
        <dsp:cNvSpPr/>
      </dsp:nvSpPr>
      <dsp:spPr>
        <a:xfrm>
          <a:off x="0" y="2547729"/>
          <a:ext cx="10515600" cy="322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TW" altLang="en-US" sz="14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一筆記錄被刪除時，所有參考它的記錄全部跟著被刪除</a:t>
          </a:r>
        </a:p>
      </dsp:txBody>
      <dsp:txXfrm>
        <a:off x="0" y="2547729"/>
        <a:ext cx="10515600" cy="322920"/>
      </dsp:txXfrm>
    </dsp:sp>
    <dsp:sp modelId="{15CC1361-5B2C-473B-8092-769C61FD8882}">
      <dsp:nvSpPr>
        <dsp:cNvPr id="0" name=""/>
        <dsp:cNvSpPr/>
      </dsp:nvSpPr>
      <dsp:spPr>
        <a:xfrm>
          <a:off x="0" y="2942950"/>
          <a:ext cx="10515600" cy="372060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b="1" kern="1200">
              <a:latin typeface="微軟正黑體" panose="020B0604030504040204" pitchFamily="34" charset="-120"/>
              <a:ea typeface="微軟正黑體" panose="020B0604030504040204" pitchFamily="34" charset="-120"/>
            </a:rPr>
            <a:t>ON UPDATE RESTRICT </a:t>
          </a:r>
          <a:r>
            <a:rPr lang="zh-TW" altLang="en-US" sz="1200" b="1" kern="1200">
              <a:latin typeface="微軟正黑體" panose="020B0604030504040204" pitchFamily="34" charset="-120"/>
              <a:ea typeface="微軟正黑體" panose="020B0604030504040204" pitchFamily="34" charset="-120"/>
            </a:rPr>
            <a:t>（為預設處理方式）</a:t>
          </a:r>
          <a:endParaRPr lang="zh-TW" altLang="en-US" sz="12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8162" y="2961112"/>
        <a:ext cx="10479276" cy="335736"/>
      </dsp:txXfrm>
    </dsp:sp>
    <dsp:sp modelId="{E3554C6D-6D5B-4B34-BB52-F2095C855554}">
      <dsp:nvSpPr>
        <dsp:cNvPr id="0" name=""/>
        <dsp:cNvSpPr/>
      </dsp:nvSpPr>
      <dsp:spPr>
        <a:xfrm>
          <a:off x="0" y="3242709"/>
          <a:ext cx="10515600" cy="322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TW" altLang="en-US" sz="14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一筆記錄的主鍵值只有沒被參考時才可被修改</a:t>
          </a:r>
        </a:p>
      </dsp:txBody>
      <dsp:txXfrm>
        <a:off x="0" y="3242709"/>
        <a:ext cx="10515600" cy="322920"/>
      </dsp:txXfrm>
    </dsp:sp>
    <dsp:sp modelId="{4439FC13-B58E-45C3-A9D5-155BCFC75FD8}">
      <dsp:nvSpPr>
        <dsp:cNvPr id="0" name=""/>
        <dsp:cNvSpPr/>
      </dsp:nvSpPr>
      <dsp:spPr>
        <a:xfrm>
          <a:off x="0" y="3565629"/>
          <a:ext cx="10515600" cy="372060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b="1" kern="1200">
              <a:latin typeface="微軟正黑體" panose="020B0604030504040204" pitchFamily="34" charset="-120"/>
              <a:ea typeface="微軟正黑體" panose="020B0604030504040204" pitchFamily="34" charset="-120"/>
            </a:rPr>
            <a:t>ON UPDATE CASCADE</a:t>
          </a:r>
          <a:endParaRPr lang="en-US" altLang="zh-TW" sz="12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8162" y="3583791"/>
        <a:ext cx="10479276" cy="335736"/>
      </dsp:txXfrm>
    </dsp:sp>
    <dsp:sp modelId="{58B6247F-A8C4-40AE-8189-6301C43CA780}">
      <dsp:nvSpPr>
        <dsp:cNvPr id="0" name=""/>
        <dsp:cNvSpPr/>
      </dsp:nvSpPr>
      <dsp:spPr>
        <a:xfrm>
          <a:off x="0" y="3937689"/>
          <a:ext cx="10515600" cy="322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TW" altLang="en-US" sz="14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一筆記錄的主鍵值被修改時，所有參考它的外部鍵值全部跟著修改</a:t>
          </a:r>
        </a:p>
      </dsp:txBody>
      <dsp:txXfrm>
        <a:off x="0" y="3937689"/>
        <a:ext cx="10515600" cy="3229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B9D7D9-9BFB-4C98-AB72-5D51E3AE2BDC}" type="datetimeFigureOut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FE9762-296E-4738-BA39-AEDA9F187E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2950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sz="2800">
                <a:latin typeface="微軟正黑體" panose="020B0604030504040204" pitchFamily="34" charset="-120"/>
              </a:rPr>
              <a:t>自訂定義域 （</a:t>
            </a:r>
            <a:r>
              <a:rPr lang="en-US" altLang="zh-TW" sz="2800">
                <a:latin typeface="微軟正黑體" panose="020B0604030504040204" pitchFamily="34" charset="-120"/>
              </a:rPr>
              <a:t>CREATE DOMAIN</a:t>
            </a:r>
            <a:r>
              <a:rPr lang="zh-TW" altLang="en-US" sz="2800">
                <a:latin typeface="微軟正黑體" panose="020B0604030504040204" pitchFamily="34" charset="-120"/>
              </a:rPr>
              <a:t>）</a:t>
            </a:r>
          </a:p>
          <a:p>
            <a:pPr marL="990600" lvl="1" indent="-533400">
              <a:lnSpc>
                <a:spcPct val="150000"/>
              </a:lnSpc>
            </a:pP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CREATE DOMAIN 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PID_TYPE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CHAR(10)</a:t>
            </a:r>
          </a:p>
          <a:p>
            <a:pPr marL="990600" lvl="1" indent="-533400">
              <a:lnSpc>
                <a:spcPct val="150000"/>
              </a:lnSpc>
            </a:pP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CREAE   DOMAIN 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SALES_TYPE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 INT</a:t>
            </a:r>
          </a:p>
          <a:p>
            <a:pPr marL="990600" lvl="1" indent="-533400">
              <a:lnSpc>
                <a:spcPct val="150000"/>
              </a:lnSpc>
            </a:pP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CHECK  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(SALES_TYPE &gt; 100)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E9762-296E-4738-BA39-AEDA9F187EE2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5093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Jenny</a:t>
            </a:r>
            <a:r>
              <a:rPr kumimoji="1" lang="zh-TW" altLang="en-US" dirty="0"/>
              <a:t>與</a:t>
            </a:r>
            <a:r>
              <a:rPr kumimoji="1" lang="en-US" altLang="zh-TW" dirty="0" err="1"/>
              <a:t>su</a:t>
            </a:r>
            <a:r>
              <a:rPr kumimoji="1" lang="zh-TW" altLang="en-US" dirty="0"/>
              <a:t>的介紹人為</a:t>
            </a:r>
            <a:r>
              <a:rPr kumimoji="1" lang="en-US" altLang="zh-TW" dirty="0"/>
              <a:t>Jennifer(b0905555)</a:t>
            </a:r>
            <a:endParaRPr kumimoji="1" lang="zh-TW" altLang="en-US" dirty="0"/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E9762-296E-4738-BA39-AEDA9F187EE2}" type="slidenum">
              <a:rPr lang="zh-TW" altLang="en-US" smtClean="0"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0499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E60E99-F636-4B8D-B23A-DE8714AC7D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471E4B9-F08D-4CCD-9796-78A00230BE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0E1FB47-CFFA-4BE4-BC50-E71BB4CBC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13FC6-417D-4B67-BEC4-A5B4A80C0D9C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57C0584-DFB6-4EF1-9862-D427D6883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6E575E-C930-4ED9-90E5-0649D5FBC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6868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233C9C-2804-4145-95A5-157578F47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081"/>
            <a:ext cx="10515600" cy="9144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FEEE65-D6B3-4B64-A874-BFA7A5985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6136"/>
            <a:ext cx="10515600" cy="513082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331541F-D331-4149-9758-041AB9B96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DF9CD-7CBC-4AB1-8834-785FFDC79F24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F586178-C3E8-4EC9-A6A5-17B855638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5E38CDA-334B-4ACE-8CF8-EA4E3B2F1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4511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4634C4-E159-46A5-84B4-C42B4C5D8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343444-11ED-4E58-B3DD-246ADE226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F232F6-C5D0-46B5-AAD1-80987945E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E6ED5-8421-49A7-BBBE-AAC511AAFAEE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186851C-70B0-4F65-818A-AA8B6E81B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1B07B39-C0B6-4C5B-BA1D-5D3C168E0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1227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F4C27F-86D8-44F2-9BC6-CDC21D39F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DD15951-85BA-42D1-8D3C-328CADC989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1F791F0-4010-418F-AB26-84FC02D9F5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76F2858-538E-4A5D-89B3-BEFD16016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60487-1E56-4C53-ABA1-49D9D495B91C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F700E37-E0DA-4F1D-9E82-2072F0B62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C703FA4-A36E-43A4-BE74-902F978B5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3761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34CAB4-5B47-4A57-96AC-CC34F02E6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EC0670F-60B3-4F77-AF15-C9016E8C3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CC5EF30-052B-438D-A9E0-3A232CC69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124C846-F581-4615-A4DF-985F301D28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CEF1B83-57B4-426B-8B39-B052ECCA75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D63B95B-4659-4A0F-82A0-D4FC5DB86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95D32-4A18-448E-9965-CD9BDF31F446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521BD43-9E5F-47B3-8108-B7925D8B5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CE17822-21A4-4100-B6AB-20CFB4DF2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9280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523E95-FF34-452F-9CC2-09C082011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208"/>
            <a:ext cx="10515600" cy="84465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989F5E7-0879-4C80-9B08-B8EF2551C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46E45-846F-4CAE-8623-B257F776F5F4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75E3F82-AC35-4E7A-9CDE-B88465309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D51C26D-924A-46AF-A8A8-88EA624D7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6895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A796BF4-430B-41E5-9747-D857A0E3A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187EA-61C0-4227-93A6-9B04777DE214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53282C9-D368-44F3-B422-31FADBAEE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4C9F7A-137C-42EB-96BA-006211BAF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1173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B17A34-43B3-45C0-A595-5897F4BF7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3AA89D-B05C-4BDD-8C63-D9F54FF14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D288964-646B-4D88-85BC-DD8D192A9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A144084-47BB-4B47-89BB-83444D9AF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F7A04-CDE9-4A8E-93B0-69400A92E015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3BE5378-0C97-48E3-A70E-3C6FBC9F9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3ADEBA1-EADA-4501-A251-D5A33462E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300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F5D635-221D-440A-B46A-A1588E12E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E9543E8-A7E8-4169-A053-FD7F1107F8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ED52AE8-AA6E-4423-8DFC-3C0B43E400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93BB883-9B74-4A05-8E27-550CA2290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4AF8A-DF7B-4C04-A316-CEC3F04FED4A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8B3F472-BAA4-4B3D-BD72-14CB8CD95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34DF0DF-EA2C-4907-A4BB-1EB288E12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7380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994255-9076-405E-B897-E74EE43AB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A0AA030-43F2-49A7-BBD5-66A3A2C8EB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07DAE0-77A3-4383-B45A-00EE4FD30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8B273-3923-453A-8AC7-BFBBE792023A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0859E8E-F1C3-4050-9058-1C2874775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CE6B9DB-D331-41C7-9C6E-47098F92E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5266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A309FDD-EA37-4D2B-9080-4D8DF6F115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4DA8F67-F16F-4BAE-B250-AC4192AF6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181416A-707D-4E1B-9C2E-27A4C1019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F82F9-C5C6-4061-BA51-DA12DF0DADE4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201C8A-F8DF-4CB3-92F4-E2227BA9C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D2CD7E1-D4A1-42F8-A36D-3F1030956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8951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30002CF-A5CF-4332-9B3E-FCD506D80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89C90EC-E1A2-4EA4-962F-FF96CCEDA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C92E7D-B3E4-4591-8F41-A165523BC7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29384-6EEC-49C3-B798-1BF2845BC021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105A8D7-D550-46A2-8E78-8597A3D6D8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DA07FDB-D9E9-4FDB-A984-82AEF2CEF1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90885F-363B-4E17-8682-1473806670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2743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0070C0"/>
          </a:solidFill>
          <a:latin typeface="Comic Sans MS" panose="030F0702030302020204" pitchFamily="66" charset="0"/>
          <a:ea typeface="微軟正黑體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1" kern="1200" baseline="0">
          <a:solidFill>
            <a:srgbClr val="C00000"/>
          </a:solidFill>
          <a:latin typeface="Comic Sans MS" panose="030F0702030302020204" pitchFamily="66" charset="0"/>
          <a:ea typeface="微軟正黑體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Comic Sans MS" panose="030F0702030302020204" pitchFamily="66" charset="0"/>
          <a:ea typeface="微軟正黑體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omic Sans MS" panose="030F0702030302020204" pitchFamily="66" charset="0"/>
          <a:ea typeface="微軟正黑體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Comic Sans MS" panose="030F0702030302020204" pitchFamily="66" charset="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Comic Sans MS" panose="030F0702030302020204" pitchFamily="66" charset="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sqlite.org/download.html" TargetMode="Externa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569B0CBD-7773-4F16-AA4E-8BCCCFA5A9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Sql</a:t>
            </a:r>
            <a:r>
              <a:rPr lang="zh-TW" altLang="en-US"/>
              <a:t>語</a:t>
            </a:r>
            <a:r>
              <a:rPr lang="en-US" altLang="zh-TW"/>
              <a:t>sqlite</a:t>
            </a:r>
            <a:r>
              <a:rPr lang="zh-TW" altLang="en-US"/>
              <a:t>資料庫引擎</a:t>
            </a:r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161EE96F-7C90-4CDF-86B9-DFCA4BF706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zh-TW" altLang="en-US"/>
              <a:t>鍾健雄</a:t>
            </a:r>
          </a:p>
        </p:txBody>
      </p:sp>
    </p:spTree>
    <p:extLst>
      <p:ext uri="{BB962C8B-B14F-4D97-AF65-F5344CB8AC3E}">
        <p14:creationId xmlns:p14="http://schemas.microsoft.com/office/powerpoint/2010/main" val="3366755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54EAFE-D6BE-45B3-BBB0-7D25FB2BC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關聯式資料庫</a:t>
            </a:r>
            <a:r>
              <a:rPr lang="en-US" altLang="zh-TW"/>
              <a:t>(Relational Database)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558108-500E-4871-8329-C0168553D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關聯式資料庫以資料表</a:t>
            </a:r>
            <a:r>
              <a:rPr lang="en-US" altLang="zh-TW"/>
              <a:t>(tables)</a:t>
            </a:r>
            <a:r>
              <a:rPr lang="zh-TW" altLang="en-US"/>
              <a:t>的形式儲存資料，其中「行」為屬性、「列」為紀錄</a:t>
            </a:r>
            <a:endParaRPr lang="en-US" altLang="zh-TW"/>
          </a:p>
          <a:p>
            <a:r>
              <a:rPr lang="zh-TW" altLang="en-US"/>
              <a:t>關聯式資料庫利用資料表連結</a:t>
            </a:r>
            <a:r>
              <a:rPr lang="en-US" altLang="zh-TW"/>
              <a:t>(link)</a:t>
            </a:r>
            <a:r>
              <a:rPr lang="zh-TW" altLang="en-US"/>
              <a:t>建立資料表之間的關聯，稱為 </a:t>
            </a:r>
            <a:r>
              <a:rPr lang="en-US" altLang="zh-TW"/>
              <a:t>joining tables</a:t>
            </a:r>
          </a:p>
          <a:p>
            <a:r>
              <a:rPr lang="zh-TW" altLang="en-US"/>
              <a:t>資料庫由資料表組成，資料表存在一個欄位稱為「主鍵」</a:t>
            </a:r>
            <a:r>
              <a:rPr lang="en-US" altLang="zh-TW"/>
              <a:t>(primary key)</a:t>
            </a:r>
            <a:r>
              <a:rPr lang="zh-TW" altLang="en-US"/>
              <a:t>，主鍵可以「唯一鑑別一筆資料出來」，另有一個「外部鍵」</a:t>
            </a:r>
            <a:r>
              <a:rPr lang="en-US" altLang="zh-TW"/>
              <a:t>(foreign key)</a:t>
            </a:r>
            <a:r>
              <a:rPr lang="zh-TW" altLang="en-US"/>
              <a:t>，可以參考到另一資料表的主鍵</a:t>
            </a:r>
            <a:endParaRPr lang="en-US" altLang="zh-TW"/>
          </a:p>
          <a:p>
            <a:r>
              <a:rPr lang="zh-TW" altLang="en-US"/>
              <a:t>關聯式資料庫的好處，包括「彈性」、「</a:t>
            </a:r>
            <a:r>
              <a:rPr lang="en-US" altLang="zh-TW"/>
              <a:t>ACID</a:t>
            </a:r>
            <a:r>
              <a:rPr lang="zh-TW" altLang="en-US"/>
              <a:t>合規」、「協作」、「內建安全」、「資料庫正規化」</a:t>
            </a:r>
            <a:endParaRPr lang="en-US" altLang="zh-TW"/>
          </a:p>
          <a:p>
            <a:pPr lvl="1"/>
            <a:r>
              <a:rPr lang="zh-TW" altLang="en-US" b="1"/>
              <a:t>資料與程式分離</a:t>
            </a:r>
            <a:endParaRPr lang="en-US" altLang="zh-TW" b="1"/>
          </a:p>
          <a:p>
            <a:pPr lvl="1"/>
            <a:r>
              <a:rPr lang="en-US" altLang="zh-TW" b="1" i="0">
                <a:effectLst/>
                <a:latin typeface="Google Sans Text"/>
              </a:rPr>
              <a:t>ACID</a:t>
            </a:r>
            <a:r>
              <a:rPr lang="zh-TW" altLang="en-US" b="1" i="0">
                <a:effectLst/>
                <a:latin typeface="Google Sans Text"/>
              </a:rPr>
              <a:t>確保資料正確性</a:t>
            </a:r>
            <a:r>
              <a:rPr lang="en-US" altLang="zh-TW" b="1" i="0">
                <a:effectLst/>
                <a:latin typeface="Google Sans Text"/>
              </a:rPr>
              <a:t>(</a:t>
            </a:r>
            <a:r>
              <a:rPr lang="zh-TW" altLang="en-US" b="1" i="0">
                <a:effectLst/>
                <a:latin typeface="Arial" panose="020B0604020202020204" pitchFamily="34" charset="0"/>
              </a:rPr>
              <a:t>原子性、一致姓、隔離性、持久性</a:t>
            </a:r>
            <a:r>
              <a:rPr lang="en-US" altLang="zh-TW" b="1" i="0">
                <a:effectLst/>
                <a:latin typeface="Google Sans Text"/>
              </a:rPr>
              <a:t>)</a:t>
            </a:r>
          </a:p>
          <a:p>
            <a:pPr lvl="1"/>
            <a:r>
              <a:rPr lang="zh-TW" altLang="en-US" b="1">
                <a:latin typeface="Google Sans Text"/>
              </a:rPr>
              <a:t>易用、多人共用</a:t>
            </a:r>
            <a:endParaRPr lang="en-US" altLang="zh-TW" b="1">
              <a:latin typeface="Google Sans Text"/>
            </a:endParaRPr>
          </a:p>
          <a:p>
            <a:pPr lvl="1"/>
            <a:r>
              <a:rPr lang="zh-TW" altLang="en-US" b="1">
                <a:latin typeface="Google Sans Text"/>
              </a:rPr>
              <a:t>依角色存取資料安全性</a:t>
            </a:r>
            <a:endParaRPr lang="en-US" altLang="zh-TW" b="1">
              <a:latin typeface="Google Sans Text"/>
            </a:endParaRPr>
          </a:p>
          <a:p>
            <a:pPr lvl="1"/>
            <a:r>
              <a:rPr lang="zh-TW" altLang="en-US" b="1"/>
              <a:t>資料正規化防止資料重覆及完整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C3C073-677F-4A99-A0CD-DF3886E7A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EFD7E-4320-4648-918F-91126DB645CD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AB17C0D-D36F-498A-BC32-C1BDFF0B5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9157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DC5F95-2733-47C3-9320-7C4D99B5E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常見的</a:t>
            </a:r>
            <a:r>
              <a:rPr lang="zh-TW" altLang="en-US">
                <a:latin typeface="Arial" panose="020B0604020202020204" pitchFamily="34" charset="0"/>
              </a:rPr>
              <a:t>關連式資料庫管理系統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2FD705-6095-4037-959B-8810406D0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/>
              <a:t>SQLite</a:t>
            </a:r>
          </a:p>
          <a:p>
            <a:pPr lvl="1"/>
            <a:r>
              <a:rPr lang="en-US" altLang="zh-TW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SQLite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遵守</a:t>
            </a:r>
            <a:r>
              <a:rPr lang="en-US" altLang="zh-TW" b="0" i="0" u="none" strike="noStrike">
                <a:effectLst/>
                <a:latin typeface="Arial" panose="020B0604020202020204" pitchFamily="34" charset="0"/>
              </a:rPr>
              <a:t>ACID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，實現了大多數</a:t>
            </a:r>
            <a:r>
              <a:rPr lang="en-US" altLang="zh-TW" b="0" i="0" u="none" strike="noStrike">
                <a:effectLst/>
                <a:latin typeface="Arial" panose="020B0604020202020204" pitchFamily="34" charset="0"/>
              </a:rPr>
              <a:t>SQL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標準，它作為嵌入式資料庫，是</a:t>
            </a:r>
            <a:r>
              <a:rPr lang="zh-TW" altLang="en-US" b="0" i="0" u="none" strike="noStrike">
                <a:effectLst/>
                <a:latin typeface="Arial" panose="020B0604020202020204" pitchFamily="34" charset="0"/>
              </a:rPr>
              <a:t>應用程式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，如</a:t>
            </a:r>
            <a:r>
              <a:rPr lang="zh-TW" altLang="en-US" b="0" i="0" u="none" strike="noStrike">
                <a:effectLst/>
                <a:latin typeface="Arial" panose="020B0604020202020204" pitchFamily="34" charset="0"/>
              </a:rPr>
              <a:t>網頁瀏覽器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，在本地</a:t>
            </a:r>
            <a:r>
              <a:rPr lang="en-US" altLang="zh-TW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/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客戶端儲存資料的常見選擇</a:t>
            </a:r>
            <a:endParaRPr lang="en-US" altLang="zh-TW"/>
          </a:p>
          <a:p>
            <a:r>
              <a:rPr lang="en-US" altLang="zh-TW"/>
              <a:t>mySQL</a:t>
            </a:r>
          </a:p>
          <a:p>
            <a:pPr lvl="1"/>
            <a:r>
              <a:rPr lang="en-US" altLang="zh-TW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MySQL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過去由於效能高、成本低、可靠性好，成為最流行的開源資料庫，被廣泛地應用在</a:t>
            </a:r>
            <a:r>
              <a:rPr lang="en-US" altLang="zh-TW" b="0" i="0" u="none" strike="noStrike">
                <a:effectLst/>
                <a:latin typeface="Arial" panose="020B0604020202020204" pitchFamily="34" charset="0"/>
              </a:rPr>
              <a:t>Internet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上的中小型</a:t>
            </a:r>
            <a:r>
              <a:rPr lang="zh-TW" altLang="en-US" b="0" i="0" u="none" strike="noStrike">
                <a:effectLst/>
                <a:latin typeface="Arial" panose="020B0604020202020204" pitchFamily="34" charset="0"/>
              </a:rPr>
              <a:t>網站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中。隨著</a:t>
            </a:r>
            <a:r>
              <a:rPr lang="en-US" altLang="zh-TW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MySQL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的不斷成熟，逐漸用於更多大規模</a:t>
            </a:r>
            <a:r>
              <a:rPr lang="zh-TW" altLang="en-US" b="0" i="0" u="none" strike="noStrike">
                <a:effectLst/>
                <a:latin typeface="Arial" panose="020B0604020202020204" pitchFamily="34" charset="0"/>
              </a:rPr>
              <a:t>網站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和應用，比如</a:t>
            </a:r>
            <a:r>
              <a:rPr lang="zh-TW" altLang="en-US" b="0" i="0" u="none" strike="noStrike">
                <a:effectLst/>
                <a:latin typeface="Arial" panose="020B0604020202020204" pitchFamily="34" charset="0"/>
              </a:rPr>
              <a:t>維基百科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、</a:t>
            </a:r>
            <a:r>
              <a:rPr lang="en-US" altLang="zh-TW" b="0" i="0" u="none" strike="noStrike">
                <a:effectLst/>
                <a:latin typeface="Arial" panose="020B0604020202020204" pitchFamily="34" charset="0"/>
              </a:rPr>
              <a:t>Google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和</a:t>
            </a:r>
            <a:r>
              <a:rPr lang="en-US" altLang="zh-TW" b="0" i="0" u="none" strike="noStrike">
                <a:effectLst/>
                <a:latin typeface="Arial" panose="020B0604020202020204" pitchFamily="34" charset="0"/>
              </a:rPr>
              <a:t>Facebook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等網站。但被甲骨文公司收購後，</a:t>
            </a:r>
            <a:r>
              <a:rPr lang="en-US" altLang="zh-TW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Oracle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大幅調漲</a:t>
            </a:r>
            <a:r>
              <a:rPr lang="en-US" altLang="zh-TW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MySQL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商業版的售價， </a:t>
            </a:r>
            <a:r>
              <a:rPr lang="en-US" altLang="zh-TW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MySQL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的創始人麥克爾</a:t>
            </a:r>
            <a:r>
              <a:rPr lang="en-US" altLang="zh-TW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·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維德紐斯以</a:t>
            </a:r>
            <a:r>
              <a:rPr lang="en-US" altLang="zh-TW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MySQL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為基礎，成立分支計劃</a:t>
            </a:r>
            <a:r>
              <a:rPr lang="en-US" altLang="zh-TW" b="0" i="0" u="none" strike="noStrike">
                <a:effectLst/>
                <a:latin typeface="Arial" panose="020B0604020202020204" pitchFamily="34" charset="0"/>
              </a:rPr>
              <a:t>MariaDB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TW"/>
          </a:p>
          <a:p>
            <a:r>
              <a:rPr lang="en-US" altLang="zh-TW"/>
              <a:t>PostgreSQL</a:t>
            </a:r>
          </a:p>
          <a:p>
            <a:pPr lvl="1"/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是一款功能全面且</a:t>
            </a:r>
            <a:r>
              <a:rPr lang="zh-TW" altLang="en-US" b="0" i="0" u="none" strike="noStrike">
                <a:effectLst/>
                <a:latin typeface="Arial" panose="020B0604020202020204" pitchFamily="34" charset="0"/>
              </a:rPr>
              <a:t>開源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的</a:t>
            </a:r>
            <a:r>
              <a:rPr lang="zh-TW" altLang="en-US" b="0" i="0" u="none" strike="noStrike">
                <a:effectLst/>
                <a:latin typeface="Arial" panose="020B0604020202020204" pitchFamily="34" charset="0"/>
              </a:rPr>
              <a:t>關連式資料庫管理系統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，憑藉其卓越的</a:t>
            </a:r>
            <a:r>
              <a:rPr lang="zh-TW" altLang="en-US" b="0" i="0" u="none" strike="noStrike">
                <a:effectLst/>
                <a:latin typeface="Arial" panose="020B0604020202020204" pitchFamily="34" charset="0"/>
              </a:rPr>
              <a:t>擴充能力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和對</a:t>
            </a:r>
            <a:r>
              <a:rPr lang="en-US" altLang="zh-TW" b="0" i="0" u="none" strike="noStrike">
                <a:effectLst/>
                <a:latin typeface="Arial" panose="020B0604020202020204" pitchFamily="34" charset="0"/>
              </a:rPr>
              <a:t>SQL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標準的嚴格遵循而廣受讚譽。其應用範圍極為廣泛，無論是單機應用、大規模</a:t>
            </a:r>
            <a:r>
              <a:rPr lang="zh-TW" altLang="en-US" b="0" i="0" u="none" strike="noStrike">
                <a:effectLst/>
                <a:latin typeface="Arial" panose="020B0604020202020204" pitchFamily="34" charset="0"/>
              </a:rPr>
              <a:t>資料倉儲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，還是</a:t>
            </a:r>
            <a:r>
              <a:rPr lang="zh-TW" altLang="en-US" b="0" i="0" u="none" strike="noStrike">
                <a:effectLst/>
                <a:latin typeface="Arial" panose="020B0604020202020204" pitchFamily="34" charset="0"/>
              </a:rPr>
              <a:t>資料湖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、高並行</a:t>
            </a:r>
            <a:r>
              <a:rPr lang="en-US" altLang="zh-TW" b="0" i="0" u="none" strike="noStrike">
                <a:effectLst/>
                <a:latin typeface="Arial" panose="020B0604020202020204" pitchFamily="34" charset="0"/>
              </a:rPr>
              <a:t>Web</a:t>
            </a:r>
            <a:r>
              <a:rPr lang="zh-TW" altLang="en-US" b="0" i="0" u="none" strike="noStrike">
                <a:effectLst/>
                <a:latin typeface="Arial" panose="020B0604020202020204" pitchFamily="34" charset="0"/>
              </a:rPr>
              <a:t>服務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等場景</a:t>
            </a:r>
            <a:endParaRPr lang="en-US" altLang="zh-TW"/>
          </a:p>
          <a:p>
            <a:r>
              <a:rPr lang="en-US" altLang="zh-TW"/>
              <a:t>SQL server (</a:t>
            </a:r>
            <a:r>
              <a:rPr lang="zh-TW" altLang="en-US"/>
              <a:t>微軟</a:t>
            </a:r>
            <a:r>
              <a:rPr lang="en-US" altLang="zh-TW"/>
              <a:t>)</a:t>
            </a:r>
          </a:p>
          <a:p>
            <a:pPr lvl="1"/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微軟結構化查詢語言伺服器</a:t>
            </a:r>
            <a:r>
              <a:rPr lang="en-US" altLang="zh-TW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是由</a:t>
            </a:r>
            <a:r>
              <a:rPr lang="zh-TW" altLang="en-US" b="0" i="0" u="none" strike="noStrike">
                <a:effectLst/>
                <a:latin typeface="Arial" panose="020B0604020202020204" pitchFamily="34" charset="0"/>
              </a:rPr>
              <a:t>美國微軟公司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所推出的</a:t>
            </a:r>
            <a:r>
              <a:rPr lang="zh-TW" altLang="en-US" b="0" i="0" u="none" strike="noStrike">
                <a:effectLst/>
                <a:latin typeface="Arial" panose="020B0604020202020204" pitchFamily="34" charset="0"/>
              </a:rPr>
              <a:t>關聯式資料庫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解決方案</a:t>
            </a:r>
            <a:endParaRPr lang="en-US" altLang="zh-TW"/>
          </a:p>
          <a:p>
            <a:r>
              <a:rPr lang="en-US" altLang="zh-TW"/>
              <a:t>Oracle</a:t>
            </a:r>
          </a:p>
          <a:p>
            <a:pPr lvl="1"/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是</a:t>
            </a:r>
            <a:r>
              <a:rPr lang="zh-TW" altLang="en-US" b="0" i="0" u="none" strike="noStrike">
                <a:effectLst/>
                <a:latin typeface="Arial" panose="020B0604020202020204" pitchFamily="34" charset="0"/>
              </a:rPr>
              <a:t>甲骨文公司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的一款</a:t>
            </a:r>
            <a:r>
              <a:rPr lang="zh-TW" altLang="en-US" b="0" i="0" u="none" strike="noStrike">
                <a:effectLst/>
                <a:latin typeface="Arial" panose="020B0604020202020204" pitchFamily="34" charset="0"/>
              </a:rPr>
              <a:t>關聯式資料庫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管理系統。在資料庫市場有主要市佔率</a:t>
            </a:r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7C07766-5E8F-46CD-8592-EA3975474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E654E-7F56-4337-973B-B6D5844EF98D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1B3AAD8-46F8-44FC-8201-D81EE56C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7008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4D167B4-509B-4D7B-AD2E-B9FC94CD9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Sqlite3</a:t>
            </a:r>
            <a:r>
              <a:rPr lang="zh-TW" altLang="en-US"/>
              <a:t>資料庫管理系統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5EEC0D6-4B4C-4EE4-9592-56770B096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zh-TW" altLang="en-US" dirty="0">
                <a:solidFill>
                  <a:srgbClr val="0000FF"/>
                </a:solidFill>
              </a:rPr>
              <a:t>無伺服器</a:t>
            </a:r>
            <a:r>
              <a:rPr lang="zh-TW" altLang="en-US" dirty="0"/>
              <a:t>：</a:t>
            </a:r>
            <a:r>
              <a:rPr lang="en-US" altLang="zh-TW" dirty="0"/>
              <a:t>SQLite </a:t>
            </a:r>
            <a:r>
              <a:rPr lang="zh-TW" altLang="en-US" dirty="0"/>
              <a:t>是一個「伺服器無須運行」的資料庫，這表示</a:t>
            </a:r>
            <a:r>
              <a:rPr lang="zh-TW" altLang="en-US" u="sng" dirty="0"/>
              <a:t>不需要安裝額外的伺服器軟體或配置</a:t>
            </a:r>
            <a:r>
              <a:rPr lang="zh-TW" altLang="en-US" dirty="0"/>
              <a:t>。</a:t>
            </a:r>
            <a:r>
              <a:rPr lang="en-US" altLang="zh-TW" dirty="0"/>
              <a:t>SQLite </a:t>
            </a:r>
            <a:r>
              <a:rPr lang="zh-TW" altLang="en-US" dirty="0"/>
              <a:t>整個資料庫可以嵌入到應用程式中，以一個檔案的形式運行。</a:t>
            </a:r>
          </a:p>
          <a:p>
            <a:pPr>
              <a:lnSpc>
                <a:spcPct val="150000"/>
              </a:lnSpc>
            </a:pPr>
            <a:r>
              <a:rPr lang="zh-TW" altLang="en-US" dirty="0">
                <a:solidFill>
                  <a:srgbClr val="0000FF"/>
                </a:solidFill>
              </a:rPr>
              <a:t>跨平台兼容</a:t>
            </a:r>
            <a:r>
              <a:rPr lang="zh-TW" altLang="en-US" dirty="0"/>
              <a:t>：</a:t>
            </a:r>
            <a:r>
              <a:rPr lang="en-US" altLang="zh-TW" dirty="0"/>
              <a:t>SQLite </a:t>
            </a:r>
            <a:r>
              <a:rPr lang="zh-TW" altLang="en-US" u="sng" dirty="0"/>
              <a:t>支援多種操作系統</a:t>
            </a:r>
            <a:r>
              <a:rPr lang="zh-TW" altLang="en-US" dirty="0"/>
              <a:t>和語言並支援 </a:t>
            </a:r>
            <a:r>
              <a:rPr lang="en-US" altLang="zh-TW" dirty="0"/>
              <a:t>C</a:t>
            </a:r>
            <a:r>
              <a:rPr lang="zh-TW" altLang="en-US" dirty="0"/>
              <a:t>、</a:t>
            </a:r>
            <a:r>
              <a:rPr lang="en-US" altLang="zh-TW" dirty="0"/>
              <a:t>C++</a:t>
            </a:r>
            <a:r>
              <a:rPr lang="zh-TW" altLang="en-US" dirty="0"/>
              <a:t>、</a:t>
            </a:r>
            <a:r>
              <a:rPr lang="en-US" altLang="zh-TW" dirty="0"/>
              <a:t>Python</a:t>
            </a:r>
            <a:r>
              <a:rPr lang="zh-TW" altLang="en-US" dirty="0"/>
              <a:t>、</a:t>
            </a:r>
            <a:r>
              <a:rPr lang="en-US" altLang="zh-TW" dirty="0"/>
              <a:t>Java </a:t>
            </a:r>
            <a:r>
              <a:rPr lang="zh-TW" altLang="en-US" dirty="0"/>
              <a:t>等主流語言，使得它在多種平台上應用非常廣泛。</a:t>
            </a:r>
          </a:p>
          <a:p>
            <a:pPr>
              <a:lnSpc>
                <a:spcPct val="150000"/>
              </a:lnSpc>
            </a:pPr>
            <a:r>
              <a:rPr lang="zh-TW" altLang="en-US" dirty="0">
                <a:solidFill>
                  <a:srgbClr val="0000FF"/>
                </a:solidFill>
              </a:rPr>
              <a:t>小巧高效</a:t>
            </a:r>
            <a:r>
              <a:rPr lang="zh-TW" altLang="en-US" dirty="0"/>
              <a:t>：</a:t>
            </a:r>
            <a:r>
              <a:rPr lang="en-US" altLang="zh-TW" dirty="0"/>
              <a:t>SQLite </a:t>
            </a:r>
            <a:r>
              <a:rPr lang="zh-TW" altLang="en-US" u="sng" dirty="0"/>
              <a:t>佔用資源非常少</a:t>
            </a:r>
            <a:r>
              <a:rPr lang="zh-TW" altLang="en-US" dirty="0"/>
              <a:t>，因此非常適合資源有限的裝置。此外，</a:t>
            </a:r>
            <a:r>
              <a:rPr lang="en-US" altLang="zh-TW" dirty="0"/>
              <a:t>SQLite </a:t>
            </a:r>
            <a:r>
              <a:rPr lang="zh-TW" altLang="en-US" dirty="0"/>
              <a:t>的</a:t>
            </a:r>
            <a:r>
              <a:rPr lang="zh-TW" altLang="en-US" u="sng" dirty="0"/>
              <a:t>查詢速度快</a:t>
            </a:r>
            <a:r>
              <a:rPr lang="zh-TW" altLang="en-US" dirty="0"/>
              <a:t>，特別是針對小型或中型資料集，性能表現極佳。</a:t>
            </a:r>
          </a:p>
          <a:p>
            <a:pPr>
              <a:lnSpc>
                <a:spcPct val="150000"/>
              </a:lnSpc>
            </a:pPr>
            <a:r>
              <a:rPr lang="zh-TW" altLang="en-US" dirty="0">
                <a:solidFill>
                  <a:srgbClr val="0000FF"/>
                </a:solidFill>
              </a:rPr>
              <a:t>支援標準 </a:t>
            </a:r>
            <a:r>
              <a:rPr lang="en-US" altLang="zh-TW" dirty="0">
                <a:solidFill>
                  <a:srgbClr val="0000FF"/>
                </a:solidFill>
              </a:rPr>
              <a:t>SQL</a:t>
            </a:r>
            <a:r>
              <a:rPr lang="zh-TW" altLang="en-US" dirty="0"/>
              <a:t>：</a:t>
            </a:r>
            <a:r>
              <a:rPr lang="en-US" altLang="zh-TW" dirty="0"/>
              <a:t>SQLite </a:t>
            </a:r>
            <a:r>
              <a:rPr lang="zh-TW" altLang="en-US" u="sng" dirty="0"/>
              <a:t>支援 </a:t>
            </a:r>
            <a:r>
              <a:rPr lang="en-US" altLang="zh-TW" u="sng" dirty="0"/>
              <a:t>SQL-92 </a:t>
            </a:r>
            <a:r>
              <a:rPr lang="zh-TW" altLang="en-US" u="sng" dirty="0"/>
              <a:t>標準</a:t>
            </a:r>
            <a:r>
              <a:rPr lang="zh-TW" altLang="en-US" dirty="0"/>
              <a:t>，並提供基本的 </a:t>
            </a:r>
            <a:r>
              <a:rPr lang="en-US" altLang="zh-TW" dirty="0"/>
              <a:t>SQL </a:t>
            </a:r>
            <a:r>
              <a:rPr lang="zh-TW" altLang="en-US" dirty="0"/>
              <a:t>功能如 </a:t>
            </a:r>
            <a:r>
              <a:rPr lang="en-US" altLang="zh-TW" dirty="0"/>
              <a:t>CREATE</a:t>
            </a:r>
            <a:r>
              <a:rPr lang="zh-TW" altLang="en-US" dirty="0"/>
              <a:t>、</a:t>
            </a:r>
            <a:r>
              <a:rPr lang="en-US" altLang="zh-TW" dirty="0"/>
              <a:t>INSERT</a:t>
            </a:r>
            <a:r>
              <a:rPr lang="zh-TW" altLang="en-US" dirty="0"/>
              <a:t>、</a:t>
            </a:r>
            <a:r>
              <a:rPr lang="en-US" altLang="zh-TW" dirty="0"/>
              <a:t>SELECT</a:t>
            </a:r>
            <a:r>
              <a:rPr lang="zh-TW" altLang="en-US" dirty="0"/>
              <a:t>、</a:t>
            </a:r>
            <a:r>
              <a:rPr lang="en-US" altLang="zh-TW" dirty="0"/>
              <a:t>UPDATE</a:t>
            </a:r>
            <a:r>
              <a:rPr lang="zh-TW" altLang="en-US" dirty="0"/>
              <a:t>、</a:t>
            </a:r>
            <a:r>
              <a:rPr lang="en-US" altLang="zh-TW" dirty="0"/>
              <a:t>DELETE </a:t>
            </a:r>
            <a:r>
              <a:rPr lang="zh-TW" altLang="en-US" dirty="0"/>
              <a:t>等，適合用來學習 </a:t>
            </a:r>
            <a:r>
              <a:rPr lang="en-US" altLang="zh-TW" dirty="0"/>
              <a:t>SQL </a:t>
            </a:r>
            <a:r>
              <a:rPr lang="zh-TW" altLang="en-US" dirty="0"/>
              <a:t>和進行簡單資料操作。</a:t>
            </a: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59ABADA-536D-4D0C-BB0E-58AFDCD01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47CFC-5E0C-47E3-948F-6615A86ED1C7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2AFF79B-8FA5-489C-959B-0A35A7555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283A235-71CB-BBE1-79CD-67A3A019BF27}"/>
              </a:ext>
            </a:extLst>
          </p:cNvPr>
          <p:cNvSpPr txBox="1"/>
          <p:nvPr/>
        </p:nvSpPr>
        <p:spPr>
          <a:xfrm>
            <a:off x="4294394" y="6284996"/>
            <a:ext cx="40783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TW" sz="1050" b="1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Noto Sans TC"/>
              </a:rPr>
              <a:t>From </a:t>
            </a:r>
            <a:r>
              <a:rPr lang="en" altLang="zh-TW" sz="1050" b="1" i="0" u="none" strike="noStrike" dirty="0" err="1">
                <a:solidFill>
                  <a:schemeClr val="bg1">
                    <a:lumMod val="65000"/>
                  </a:schemeClr>
                </a:solidFill>
                <a:effectLst/>
                <a:latin typeface="Noto Sans TC"/>
              </a:rPr>
              <a:t>DigNo</a:t>
            </a:r>
            <a:r>
              <a:rPr lang="en" altLang="zh-TW" sz="1050" b="1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Noto Sans TC"/>
              </a:rPr>
              <a:t> Ape </a:t>
            </a:r>
            <a:r>
              <a:rPr lang="zh-TW" altLang="en-US" sz="1050" b="1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Noto Sans TC"/>
              </a:rPr>
              <a:t>數遊原人</a:t>
            </a:r>
            <a:r>
              <a:rPr lang="en-US" altLang="zh-TW" sz="1050" b="1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Noto Sans TC"/>
              </a:rPr>
              <a:t>@https://</a:t>
            </a:r>
            <a:r>
              <a:rPr lang="en-US" altLang="zh-TW" sz="1050" b="1" i="0" u="none" strike="noStrike" dirty="0" err="1">
                <a:solidFill>
                  <a:schemeClr val="bg1">
                    <a:lumMod val="65000"/>
                  </a:schemeClr>
                </a:solidFill>
                <a:effectLst/>
                <a:latin typeface="Noto Sans TC"/>
              </a:rPr>
              <a:t>vocus.cc</a:t>
            </a:r>
            <a:r>
              <a:rPr lang="en-US" altLang="zh-TW" sz="1050" b="1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Noto Sans TC"/>
              </a:rPr>
              <a:t>/salon/</a:t>
            </a:r>
            <a:r>
              <a:rPr lang="en-US" altLang="zh-TW" sz="1050" b="1" i="0" u="none" strike="noStrike" dirty="0" err="1">
                <a:solidFill>
                  <a:schemeClr val="bg1">
                    <a:lumMod val="65000"/>
                  </a:schemeClr>
                </a:solidFill>
                <a:effectLst/>
                <a:latin typeface="Noto Sans TC"/>
              </a:rPr>
              <a:t>DigNoApe</a:t>
            </a:r>
            <a:r>
              <a:rPr lang="en-US" altLang="zh-TW" sz="1050" b="1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Noto Sans TC"/>
              </a:rPr>
              <a:t>/about</a:t>
            </a:r>
            <a:endParaRPr lang="zh-TW" altLang="en-US" sz="1050" b="1" i="0" u="none" strike="noStrike" dirty="0">
              <a:solidFill>
                <a:schemeClr val="bg1">
                  <a:lumMod val="65000"/>
                </a:schemeClr>
              </a:solidFill>
              <a:effectLst/>
              <a:latin typeface="Noto Sans TC"/>
            </a:endParaRPr>
          </a:p>
        </p:txBody>
      </p:sp>
    </p:spTree>
    <p:extLst>
      <p:ext uri="{BB962C8B-B14F-4D97-AF65-F5344CB8AC3E}">
        <p14:creationId xmlns:p14="http://schemas.microsoft.com/office/powerpoint/2010/main" val="2224854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8560482-ABD1-4B46-B469-A9A7E047F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215" y="2794176"/>
            <a:ext cx="3423224" cy="268744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16579CF4-A4ED-4C50-B02E-5756B6396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045" y="1896722"/>
            <a:ext cx="5228479" cy="4130434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F06B5A6B-4807-4FCC-946D-6B732C28D03D}"/>
              </a:ext>
            </a:extLst>
          </p:cNvPr>
          <p:cNvSpPr/>
          <p:nvPr/>
        </p:nvSpPr>
        <p:spPr>
          <a:xfrm>
            <a:off x="895215" y="3700329"/>
            <a:ext cx="3423223" cy="4956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5E75F3B3-55A5-42AE-9182-2D44EBBD2F19}"/>
              </a:ext>
            </a:extLst>
          </p:cNvPr>
          <p:cNvSpPr/>
          <p:nvPr/>
        </p:nvSpPr>
        <p:spPr>
          <a:xfrm>
            <a:off x="4956560" y="3606325"/>
            <a:ext cx="717847" cy="68366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C410BFB-521F-4D51-8343-538DC21AA106}"/>
              </a:ext>
            </a:extLst>
          </p:cNvPr>
          <p:cNvSpPr txBox="1"/>
          <p:nvPr/>
        </p:nvSpPr>
        <p:spPr>
          <a:xfrm>
            <a:off x="7578046" y="3876290"/>
            <a:ext cx="28584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>
                <a:solidFill>
                  <a:schemeClr val="bg1"/>
                </a:solidFill>
                <a:latin typeface="Comic Sans MS" panose="030F0702030302020204" pitchFamily="66" charset="0"/>
              </a:rPr>
              <a:t>Sqlite3 test.db</a:t>
            </a:r>
            <a:endParaRPr lang="zh-TW" altLang="en-US" sz="2800" b="1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13" name="標題 12">
            <a:extLst>
              <a:ext uri="{FF2B5EF4-FFF2-40B4-BE49-F238E27FC236}">
                <a16:creationId xmlns:a16="http://schemas.microsoft.com/office/drawing/2014/main" id="{B4FB0F4D-2C94-4481-AD7E-B4871065F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實驗室電腦啟動</a:t>
            </a:r>
            <a:r>
              <a:rPr lang="en-US" altLang="zh-TW"/>
              <a:t>sqlite3</a:t>
            </a:r>
            <a:endParaRPr lang="zh-TW" altLang="en-US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6CF7BE0-EA87-41B9-A70A-85F60CBA2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ED3A7-EB85-48C1-9850-5627C7A46095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071E962-1EFE-4E8F-A6D0-9FEDE5EBE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5599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D5746AAA-F9F6-4704-A008-62F0803BF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系統操作指令</a:t>
            </a:r>
            <a:r>
              <a:rPr lang="en-US" altLang="zh-TW" dirty="0"/>
              <a:t> </a:t>
            </a:r>
            <a:r>
              <a:rPr lang="zh-TW" altLang="en-US" dirty="0"/>
              <a:t>（點指令）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C9C25E6-11E9-4040-AC7E-1F8A75012FA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建立資料庫</a:t>
            </a:r>
            <a:endParaRPr lang="en-US" altLang="zh-TW" dirty="0"/>
          </a:p>
          <a:p>
            <a:pPr lvl="1"/>
            <a:r>
              <a:rPr lang="en-US" altLang="zh-TW" dirty="0"/>
              <a:t>sqlite3 </a:t>
            </a:r>
            <a:r>
              <a:rPr lang="en-US" altLang="zh-TW" dirty="0" err="1"/>
              <a:t>test.db</a:t>
            </a:r>
            <a:endParaRPr lang="en-US" altLang="zh-TW" dirty="0"/>
          </a:p>
          <a:p>
            <a:r>
              <a:rPr lang="zh-TW" altLang="en-US" dirty="0"/>
              <a:t>退出</a:t>
            </a:r>
            <a:r>
              <a:rPr lang="en-US" altLang="zh-TW" dirty="0"/>
              <a:t>sqlite3</a:t>
            </a:r>
          </a:p>
          <a:p>
            <a:pPr lvl="1"/>
            <a:r>
              <a:rPr lang="en-US" altLang="zh-TW" dirty="0"/>
              <a:t>.quit</a:t>
            </a:r>
          </a:p>
          <a:p>
            <a:r>
              <a:rPr lang="zh-TW" altLang="en-US" dirty="0"/>
              <a:t>儲存資料庫</a:t>
            </a:r>
            <a:endParaRPr lang="en-US" altLang="zh-TW" dirty="0"/>
          </a:p>
          <a:p>
            <a:pPr lvl="1"/>
            <a:r>
              <a:rPr lang="en-US" altLang="zh-TW" dirty="0"/>
              <a:t>.save</a:t>
            </a:r>
          </a:p>
          <a:p>
            <a:r>
              <a:rPr lang="zh-TW" altLang="en-US" dirty="0"/>
              <a:t>導出資料庫</a:t>
            </a:r>
            <a:endParaRPr lang="en-US" altLang="zh-TW" dirty="0"/>
          </a:p>
          <a:p>
            <a:pPr lvl="1"/>
            <a:r>
              <a:rPr lang="en-US" altLang="zh-TW" dirty="0"/>
              <a:t>.dump </a:t>
            </a:r>
            <a:r>
              <a:rPr lang="en-US" altLang="zh-TW" dirty="0" err="1"/>
              <a:t>test.db</a:t>
            </a:r>
            <a:endParaRPr lang="en-US" altLang="zh-TW" dirty="0"/>
          </a:p>
          <a:p>
            <a:r>
              <a:rPr lang="zh-TW" altLang="en-US" dirty="0"/>
              <a:t>導入資料庫</a:t>
            </a:r>
            <a:endParaRPr lang="en-US" altLang="zh-TW" dirty="0"/>
          </a:p>
          <a:p>
            <a:pPr lvl="1"/>
            <a:r>
              <a:rPr lang="en-US" altLang="zh-TW" dirty="0"/>
              <a:t>sqlite3 </a:t>
            </a:r>
            <a:r>
              <a:rPr lang="en-US" altLang="zh-TW" dirty="0" err="1"/>
              <a:t>dbName.db</a:t>
            </a:r>
            <a:r>
              <a:rPr lang="en-US" altLang="zh-TW" dirty="0"/>
              <a:t> &lt; </a:t>
            </a:r>
            <a:r>
              <a:rPr lang="en-US" altLang="zh-TW" dirty="0" err="1"/>
              <a:t>test.db</a:t>
            </a:r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47352D8-061C-6006-BE0C-9D6A24DEE4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設定輸出格式</a:t>
            </a:r>
            <a:endParaRPr lang="en-US" altLang="zh-TW" dirty="0"/>
          </a:p>
          <a:p>
            <a:pPr lvl="1"/>
            <a:r>
              <a:rPr lang="en-US" altLang="zh-TW" dirty="0"/>
              <a:t>.header </a:t>
            </a:r>
            <a:r>
              <a:rPr lang="en-US" altLang="zh-TW" dirty="0">
                <a:solidFill>
                  <a:srgbClr val="C00000"/>
                </a:solidFill>
              </a:rPr>
              <a:t>on</a:t>
            </a:r>
          </a:p>
          <a:p>
            <a:pPr lvl="1"/>
            <a:r>
              <a:rPr lang="en-US" altLang="zh-TW" dirty="0"/>
              <a:t>.mode </a:t>
            </a:r>
            <a:r>
              <a:rPr lang="en-US" altLang="zh-TW" dirty="0">
                <a:solidFill>
                  <a:srgbClr val="C00000"/>
                </a:solidFill>
              </a:rPr>
              <a:t>column</a:t>
            </a:r>
            <a:r>
              <a:rPr lang="en-US" altLang="zh-TW" dirty="0"/>
              <a:t> (markdown | box…)</a:t>
            </a:r>
          </a:p>
          <a:p>
            <a:r>
              <a:rPr lang="zh-TW" altLang="en-US" dirty="0"/>
              <a:t>檢查資料庫列表</a:t>
            </a:r>
            <a:endParaRPr lang="en-US" altLang="zh-TW" dirty="0"/>
          </a:p>
          <a:p>
            <a:pPr lvl="1"/>
            <a:r>
              <a:rPr lang="en-US" altLang="zh-TW" dirty="0"/>
              <a:t>.databases</a:t>
            </a:r>
          </a:p>
          <a:p>
            <a:r>
              <a:rPr lang="zh-TW" altLang="en-US" dirty="0"/>
              <a:t>檢查資料表</a:t>
            </a:r>
            <a:endParaRPr lang="en-US" altLang="zh-TW" dirty="0"/>
          </a:p>
          <a:p>
            <a:pPr lvl="1"/>
            <a:r>
              <a:rPr lang="en-US" altLang="zh-TW" dirty="0"/>
              <a:t>.table</a:t>
            </a:r>
          </a:p>
          <a:p>
            <a:r>
              <a:rPr lang="zh-TW" altLang="en-US" dirty="0"/>
              <a:t>檢查關聯綱要</a:t>
            </a:r>
            <a:endParaRPr lang="en-US" altLang="zh-TW" dirty="0"/>
          </a:p>
          <a:p>
            <a:pPr lvl="1"/>
            <a:r>
              <a:rPr lang="en-US" altLang="zh-TW" dirty="0"/>
              <a:t>.schema</a:t>
            </a:r>
            <a:endParaRPr lang="zh-TW" alt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32D4808-A2B5-4041-9741-0AEDC679D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A69D5-7495-44F6-82EF-A989D47785C8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BB3AE97-A7D3-49E0-AAEE-D589F0E5F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7934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656575-4629-4C1E-821C-BC6A5B92F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Structured Query Language (SQL)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D4F1E56-AB76-4809-8B8A-C7FCBDEA3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IBM SYSTEM R (DB2)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1970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年代根據關聯模式、關聯代數和關聯邏輯計算法提出 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SEQUEL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語言，後改名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</a:p>
          <a:p>
            <a:pPr>
              <a:lnSpc>
                <a:spcPct val="130000"/>
              </a:lnSpc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已成為目前資料庫管理系統之標準語言，但各家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DBMS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語法有小差異</a:t>
            </a:r>
          </a:p>
          <a:p>
            <a:pPr>
              <a:lnSpc>
                <a:spcPct val="130000"/>
              </a:lnSpc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ANSI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ISO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共同制訂資料庫電腦語言的標準， 依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SEQUEL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為藍本，命名為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</a:p>
          <a:p>
            <a:pPr>
              <a:lnSpc>
                <a:spcPct val="130000"/>
              </a:lnSpc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SQL/86, SQL/89, SQL/92, SQL/99, SQL2003, SQL2008</a:t>
            </a:r>
          </a:p>
          <a:p>
            <a:pPr lvl="1">
              <a:lnSpc>
                <a:spcPct val="13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SQL/89: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完整限制語法</a:t>
            </a:r>
          </a:p>
          <a:p>
            <a:pPr lvl="1">
              <a:lnSpc>
                <a:spcPct val="13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SQL/92: entry level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transitional level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intermediate level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、和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full level </a:t>
            </a:r>
          </a:p>
          <a:p>
            <a:pPr lvl="1">
              <a:lnSpc>
                <a:spcPct val="13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SQL/99: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物件導向、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Trigger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、遞迴查詢句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3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SQL2003: XML</a:t>
            </a:r>
          </a:p>
          <a:p>
            <a:pPr>
              <a:lnSpc>
                <a:spcPct val="130000"/>
              </a:lnSpc>
            </a:pPr>
            <a:r>
              <a:rPr lang="en-US" altLang="zh-TW" sz="2000" dirty="0">
                <a:latin typeface="微軟正黑體" panose="020B0604030504040204" pitchFamily="34" charset="-120"/>
              </a:rPr>
              <a:t>SQL</a:t>
            </a:r>
            <a:r>
              <a:rPr lang="zh-TW" altLang="en-US" sz="2000" dirty="0">
                <a:latin typeface="微軟正黑體" panose="020B0604030504040204" pitchFamily="34" charset="-120"/>
              </a:rPr>
              <a:t>指令的最後須加「</a:t>
            </a:r>
            <a:r>
              <a:rPr lang="en-US" altLang="zh-TW" sz="2800" dirty="0">
                <a:solidFill>
                  <a:srgbClr val="0000FF"/>
                </a:solidFill>
                <a:latin typeface="微軟正黑體" panose="020B0604030504040204" pitchFamily="34" charset="-120"/>
              </a:rPr>
              <a:t>;</a:t>
            </a:r>
            <a:r>
              <a:rPr lang="zh-TW" altLang="en-US" sz="2000" dirty="0">
                <a:latin typeface="微軟正黑體" panose="020B0604030504040204" pitchFamily="34" charset="-120"/>
              </a:rPr>
              <a:t>」</a:t>
            </a:r>
            <a:endParaRPr lang="zh-TW" altLang="en-US" sz="2000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41F176A-FF6D-453D-81A7-0DC266C62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AFC8F-4D8B-4198-87B6-96EDF9F08494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EE96B4B-E987-4878-8B53-EA11BB84D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9337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120367-B8CD-4237-840A-54DB032EA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SQL</a:t>
            </a:r>
            <a:r>
              <a:rPr lang="zh-TW" altLang="en-US"/>
              <a:t>的資料模式與關連模式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7E5183-AAE2-4457-B6F7-35FEB4BA3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8493"/>
            <a:ext cx="10515600" cy="5130827"/>
          </a:xfrm>
        </p:spPr>
        <p:txBody>
          <a:bodyPr/>
          <a:lstStyle/>
          <a:p>
            <a:pPr marL="381000" indent="-381000">
              <a:lnSpc>
                <a:spcPct val="150000"/>
              </a:lnSpc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關聯（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Relation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r>
              <a:rPr lang="en-US" altLang="zh-TW" dirty="0">
                <a:latin typeface="微軟正黑體" panose="020B0604030504040204" pitchFamily="34" charset="-120"/>
                <a:sym typeface="Wingdings" pitchFamily="2" charset="2"/>
              </a:rPr>
              <a:t> </a:t>
            </a:r>
            <a:r>
              <a:rPr lang="zh-TW" altLang="en-US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資料表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Table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</a:p>
          <a:p>
            <a:pPr marL="381000" indent="-381000">
              <a:lnSpc>
                <a:spcPct val="150000"/>
              </a:lnSpc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序列值（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Tuple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  </a:t>
            </a:r>
            <a:r>
              <a:rPr lang="en-US" altLang="zh-TW" dirty="0">
                <a:latin typeface="微軟正黑體" panose="020B0604030504040204" pitchFamily="34" charset="-120"/>
                <a:sym typeface="Wingdings" pitchFamily="2" charset="2"/>
              </a:rPr>
              <a:t> </a:t>
            </a:r>
            <a:r>
              <a:rPr lang="zh-TW" altLang="en-US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記錄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Record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）或列（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Row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</a:p>
          <a:p>
            <a:pPr marL="381000" indent="-381000">
              <a:lnSpc>
                <a:spcPct val="150000"/>
              </a:lnSpc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屬性（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Attribute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r>
              <a:rPr lang="en-US" altLang="zh-TW" dirty="0">
                <a:latin typeface="微軟正黑體" panose="020B0604030504040204" pitchFamily="34" charset="-120"/>
                <a:sym typeface="Wingdings" pitchFamily="2" charset="2"/>
              </a:rPr>
              <a:t> </a:t>
            </a:r>
            <a:r>
              <a:rPr lang="zh-TW" altLang="en-US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欄位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Field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）或行（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Column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lnSpc>
                <a:spcPct val="15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的資料表可以不需定義主鍵</a:t>
            </a:r>
          </a:p>
          <a:p>
            <a:pPr marL="457200" indent="-457200">
              <a:lnSpc>
                <a:spcPct val="15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的資料表中可以有兩筆記錄是一模一樣的 </a:t>
            </a:r>
          </a:p>
          <a:p>
            <a:pPr marL="457200" indent="-457200">
              <a:lnSpc>
                <a:spcPct val="150000"/>
              </a:lnSpc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資料表中的記錄是有次序的</a:t>
            </a:r>
          </a:p>
          <a:p>
            <a:pPr>
              <a:lnSpc>
                <a:spcPct val="150000"/>
              </a:lnSpc>
            </a:pP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F343B8A-4E25-4245-B7C5-989F943B3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34570-D0DF-4180-B039-37747FE28BC3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7063447-3A86-408A-96FC-F02347A64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645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55C7FD-8389-4DFE-AD01-F81E81C75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提供</a:t>
            </a:r>
            <a:r>
              <a:rPr lang="zh-TW" altLang="en-US" sz="4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三種</a:t>
            </a:r>
            <a:r>
              <a:rPr lang="zh-TW" altLang="en-US" sz="4400">
                <a:latin typeface="微軟正黑體" panose="020B0604030504040204" pitchFamily="34" charset="-120"/>
              </a:rPr>
              <a:t>指令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1F16D0-DA60-40E9-9A43-1BB2D277A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/>
              <a:t>資料定義語言</a:t>
            </a:r>
            <a:r>
              <a:rPr lang="en-US" altLang="zh-TW" sz="2800" dirty="0"/>
              <a:t>(</a:t>
            </a:r>
            <a:r>
              <a:rPr lang="en-US" altLang="zh-TW" sz="2800" i="0" dirty="0">
                <a:solidFill>
                  <a:srgbClr val="273239"/>
                </a:solidFill>
                <a:effectLst/>
                <a:latin typeface="Nunito" panose="020B0604020202020204" pitchFamily="2" charset="0"/>
              </a:rPr>
              <a:t>Data Definition Language, </a:t>
            </a:r>
            <a:r>
              <a:rPr lang="en-US" altLang="zh-TW" sz="2800" dirty="0"/>
              <a:t>DDL)</a:t>
            </a:r>
          </a:p>
          <a:p>
            <a:pPr lvl="1">
              <a:lnSpc>
                <a:spcPct val="150000"/>
              </a:lnSpc>
            </a:pPr>
            <a:r>
              <a:rPr lang="en-US" altLang="zh-TW" sz="2400" b="1" dirty="0"/>
              <a:t>SQL</a:t>
            </a:r>
            <a:r>
              <a:rPr lang="zh-TW" altLang="en-US" sz="2400" b="1" dirty="0"/>
              <a:t>指令用於定義資料庫綱要</a:t>
            </a:r>
            <a:r>
              <a:rPr lang="en-US" altLang="zh-TW" sz="2400" b="1" dirty="0"/>
              <a:t>(schema)</a:t>
            </a:r>
            <a:r>
              <a:rPr lang="zh-TW" altLang="en-US" sz="2400" b="1" dirty="0"/>
              <a:t>，建立及修改資料的結構</a:t>
            </a:r>
            <a:endParaRPr lang="en-US" altLang="zh-TW" sz="2400" b="1" dirty="0"/>
          </a:p>
          <a:p>
            <a:pPr>
              <a:lnSpc>
                <a:spcPct val="150000"/>
              </a:lnSpc>
            </a:pPr>
            <a:r>
              <a:rPr lang="zh-TW" altLang="en-US" sz="2800" dirty="0"/>
              <a:t>資料處理語言</a:t>
            </a:r>
            <a:r>
              <a:rPr lang="en-US" altLang="zh-TW" sz="2800" dirty="0"/>
              <a:t>(</a:t>
            </a:r>
            <a:r>
              <a:rPr lang="en-US" altLang="zh-TW" sz="2800" i="0" dirty="0">
                <a:solidFill>
                  <a:srgbClr val="273239"/>
                </a:solidFill>
                <a:effectLst/>
                <a:latin typeface="Nunito" pitchFamily="2" charset="0"/>
              </a:rPr>
              <a:t>Data Manipulation Language, </a:t>
            </a:r>
            <a:r>
              <a:rPr lang="en-US" altLang="zh-TW" sz="2800" dirty="0"/>
              <a:t>DML)</a:t>
            </a:r>
          </a:p>
          <a:p>
            <a:pPr lvl="1">
              <a:lnSpc>
                <a:spcPct val="150000"/>
              </a:lnSpc>
            </a:pPr>
            <a:r>
              <a:rPr lang="en-US" altLang="zh-TW" sz="2400" b="1" dirty="0"/>
              <a:t>SQL</a:t>
            </a:r>
            <a:r>
              <a:rPr lang="zh-TW" altLang="en-US" sz="2400" b="1" dirty="0"/>
              <a:t>指令用於資料庫中資料的操作</a:t>
            </a:r>
            <a:endParaRPr lang="en-US" altLang="zh-TW" sz="2400" b="1" dirty="0"/>
          </a:p>
          <a:p>
            <a:pPr>
              <a:lnSpc>
                <a:spcPct val="150000"/>
              </a:lnSpc>
            </a:pPr>
            <a:r>
              <a:rPr lang="zh-TW" altLang="en-US" sz="2800" dirty="0"/>
              <a:t>資料控制語言</a:t>
            </a:r>
            <a:r>
              <a:rPr lang="en-US" altLang="zh-TW" sz="2800" dirty="0"/>
              <a:t>(</a:t>
            </a:r>
            <a:r>
              <a:rPr lang="en-US" altLang="zh-TW" sz="2800" i="0" dirty="0">
                <a:solidFill>
                  <a:srgbClr val="273239"/>
                </a:solidFill>
                <a:effectLst/>
                <a:latin typeface="Nunito" pitchFamily="2" charset="0"/>
              </a:rPr>
              <a:t>Data Control Language, </a:t>
            </a:r>
            <a:r>
              <a:rPr lang="en-US" altLang="zh-TW" sz="2800" dirty="0"/>
              <a:t>DCL)</a:t>
            </a:r>
          </a:p>
          <a:p>
            <a:pPr lvl="1">
              <a:lnSpc>
                <a:spcPct val="150000"/>
              </a:lnSpc>
            </a:pPr>
            <a:r>
              <a:rPr lang="en-US" altLang="zh-TW" sz="2400" b="1" dirty="0"/>
              <a:t>SQL</a:t>
            </a:r>
            <a:r>
              <a:rPr lang="zh-TW" altLang="en-US" sz="2400" b="1" dirty="0"/>
              <a:t>指令用於控制資料庫的權限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1A28638-4ED3-4837-8480-280E213E3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357B2-17EA-4DDC-ACD7-2AF54F43982C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B6583EC-3970-4EE1-9F28-A8718E084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2781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3D4A42-ED1A-4AC2-A0AB-268961ECE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DDL</a:t>
            </a:r>
            <a:r>
              <a:rPr lang="zh-TW" altLang="en-US"/>
              <a:t>常用語法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161F6E-F5A1-410A-BBE9-A987AC2B3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TW" sz="2800" i="0" dirty="0">
                <a:effectLst/>
                <a:latin typeface="Lato" panose="020F0502020204030203" pitchFamily="34" charset="0"/>
              </a:rPr>
              <a:t>CREATE</a:t>
            </a:r>
            <a:r>
              <a:rPr lang="zh-TW" altLang="en-US" sz="2800" i="0" dirty="0">
                <a:solidFill>
                  <a:srgbClr val="303233"/>
                </a:solidFill>
                <a:effectLst/>
                <a:latin typeface="Lato" panose="020F0502020204030203" pitchFamily="34" charset="0"/>
              </a:rPr>
              <a:t>：創建數據庫或表</a:t>
            </a:r>
            <a:endParaRPr lang="en-US" altLang="zh-TW" sz="2800" i="0" dirty="0">
              <a:solidFill>
                <a:srgbClr val="303233"/>
              </a:solidFill>
              <a:effectLst/>
              <a:latin typeface="Lato" panose="020F050202020403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TW" sz="2400" b="1" i="0" dirty="0">
                <a:solidFill>
                  <a:srgbClr val="0070C0"/>
                </a:solidFill>
                <a:effectLst/>
                <a:latin typeface="Lato" panose="020F0502020204030203" pitchFamily="34" charset="0"/>
              </a:rPr>
              <a:t>CREATE DATABASE </a:t>
            </a:r>
            <a:r>
              <a:rPr lang="en-US" altLang="zh-TW" sz="2400" b="1" i="0" dirty="0">
                <a:solidFill>
                  <a:srgbClr val="303233"/>
                </a:solidFill>
                <a:effectLst/>
                <a:latin typeface="Lato" panose="020F0502020204030203" pitchFamily="34" charset="0"/>
              </a:rPr>
              <a:t>test;</a:t>
            </a:r>
            <a:r>
              <a:rPr lang="zh-TW" altLang="en-US" sz="2400" b="1" i="0" dirty="0">
                <a:solidFill>
                  <a:srgbClr val="303233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US" altLang="zh-TW" sz="2400" b="1" i="0" dirty="0">
                <a:solidFill>
                  <a:srgbClr val="C00000"/>
                </a:solidFill>
                <a:effectLst/>
                <a:latin typeface="Lato" panose="020F0502020204030203" pitchFamily="34" charset="0"/>
              </a:rPr>
              <a:t>(</a:t>
            </a:r>
            <a:r>
              <a:rPr lang="zh-TW" altLang="en-US" sz="2400" b="1" i="0" dirty="0">
                <a:solidFill>
                  <a:srgbClr val="C00000"/>
                </a:solidFill>
                <a:effectLst/>
                <a:latin typeface="Lato" panose="020F0502020204030203" pitchFamily="34" charset="0"/>
              </a:rPr>
              <a:t>在</a:t>
            </a:r>
            <a:r>
              <a:rPr lang="en-US" altLang="zh-TW" sz="2400" b="1" i="0" dirty="0">
                <a:solidFill>
                  <a:srgbClr val="C00000"/>
                </a:solidFill>
                <a:effectLst/>
                <a:latin typeface="Lato" panose="020F0502020204030203" pitchFamily="34" charset="0"/>
              </a:rPr>
              <a:t>sqlite3</a:t>
            </a:r>
            <a:r>
              <a:rPr lang="zh-TW" altLang="en-US" sz="2400" b="1" i="0" dirty="0">
                <a:solidFill>
                  <a:srgbClr val="C00000"/>
                </a:solidFill>
                <a:effectLst/>
                <a:latin typeface="Lato" panose="020F0502020204030203" pitchFamily="34" charset="0"/>
              </a:rPr>
              <a:t>中沒有</a:t>
            </a:r>
            <a:r>
              <a:rPr lang="en-US" altLang="zh-TW" sz="2400" b="1" i="0" dirty="0">
                <a:solidFill>
                  <a:srgbClr val="C00000"/>
                </a:solidFill>
                <a:effectLst/>
                <a:latin typeface="Lato" panose="020F0502020204030203" pitchFamily="34" charset="0"/>
              </a:rPr>
              <a:t>create database</a:t>
            </a:r>
            <a:r>
              <a:rPr lang="zh-TW" altLang="en-US" sz="2400" b="1" i="0" dirty="0">
                <a:solidFill>
                  <a:srgbClr val="C00000"/>
                </a:solidFill>
                <a:effectLst/>
                <a:latin typeface="Lato" panose="020F0502020204030203" pitchFamily="34" charset="0"/>
              </a:rPr>
              <a:t>指令</a:t>
            </a:r>
            <a:r>
              <a:rPr lang="en-US" altLang="zh-TW" sz="2400" b="1" i="0" dirty="0">
                <a:solidFill>
                  <a:srgbClr val="C00000"/>
                </a:solidFill>
                <a:effectLst/>
                <a:latin typeface="Lato" panose="020F0502020204030203" pitchFamily="34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zh-TW" sz="2400" b="1" dirty="0">
                <a:solidFill>
                  <a:srgbClr val="0070C0"/>
                </a:solidFill>
                <a:latin typeface="Lato" panose="020F0502020204030203" pitchFamily="34" charset="0"/>
              </a:rPr>
              <a:t>CREATE DATABASE </a:t>
            </a:r>
            <a:r>
              <a:rPr lang="en-US" altLang="zh-TW" sz="2400" b="1" dirty="0">
                <a:solidFill>
                  <a:srgbClr val="00B050"/>
                </a:solidFill>
                <a:latin typeface="Lato" panose="020F0502020204030203" pitchFamily="34" charset="0"/>
              </a:rPr>
              <a:t>IF NOT EXISTS </a:t>
            </a:r>
            <a:r>
              <a:rPr lang="en-US" altLang="zh-TW" sz="2400" b="1" dirty="0">
                <a:solidFill>
                  <a:srgbClr val="303233"/>
                </a:solidFill>
                <a:latin typeface="Lato" panose="020F0502020204030203" pitchFamily="34" charset="0"/>
              </a:rPr>
              <a:t>test;</a:t>
            </a:r>
            <a:endParaRPr lang="en-US" altLang="zh-TW" sz="2400" b="1" i="0" dirty="0">
              <a:solidFill>
                <a:srgbClr val="303233"/>
              </a:solidFill>
              <a:effectLst/>
              <a:latin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800" i="0" dirty="0">
                <a:effectLst/>
                <a:latin typeface="Lato" panose="020F0502020204030203" pitchFamily="34" charset="0"/>
              </a:rPr>
              <a:t>ALTER</a:t>
            </a:r>
            <a:r>
              <a:rPr lang="zh-TW" altLang="en-US" sz="2800" i="0" dirty="0">
                <a:solidFill>
                  <a:srgbClr val="303233"/>
                </a:solidFill>
                <a:effectLst/>
                <a:latin typeface="Lato" panose="020F0502020204030203" pitchFamily="34" charset="0"/>
              </a:rPr>
              <a:t>：修改表的結構</a:t>
            </a:r>
            <a:endParaRPr lang="en-US" altLang="zh-TW" sz="2800" i="0" dirty="0">
              <a:solidFill>
                <a:srgbClr val="303233"/>
              </a:solidFill>
              <a:effectLst/>
              <a:latin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800" i="0" dirty="0">
                <a:effectLst/>
                <a:latin typeface="Lato" panose="020F0502020204030203" pitchFamily="34" charset="0"/>
              </a:rPr>
              <a:t>DROP</a:t>
            </a:r>
            <a:r>
              <a:rPr lang="zh-TW" altLang="en-US" sz="2800" i="0" dirty="0">
                <a:solidFill>
                  <a:srgbClr val="303233"/>
                </a:solidFill>
                <a:effectLst/>
                <a:latin typeface="Lato" panose="020F0502020204030203" pitchFamily="34" charset="0"/>
              </a:rPr>
              <a:t>：刪除表或數據庫。</a:t>
            </a:r>
            <a:endParaRPr lang="en-US" altLang="zh-TW" sz="2800" i="0" dirty="0">
              <a:solidFill>
                <a:srgbClr val="303233"/>
              </a:solidFill>
              <a:effectLst/>
              <a:latin typeface="Lato" panose="020F050202020403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TW" sz="2400" b="1" dirty="0">
                <a:solidFill>
                  <a:srgbClr val="0070C0"/>
                </a:solidFill>
                <a:latin typeface="Lato" panose="020F0502020204030203" pitchFamily="34" charset="0"/>
              </a:rPr>
              <a:t>DROP DATABASE </a:t>
            </a:r>
            <a:r>
              <a:rPr lang="en-US" altLang="zh-TW" sz="2400" b="1" dirty="0">
                <a:solidFill>
                  <a:srgbClr val="303233"/>
                </a:solidFill>
                <a:latin typeface="Lato" panose="020F0502020204030203" pitchFamily="34" charset="0"/>
              </a:rPr>
              <a:t>test;</a:t>
            </a:r>
            <a:endParaRPr lang="zh-TW" altLang="en-US" b="1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72EFBDD-FDFB-488E-9666-9B6E87A87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B48A0-6D68-47E4-B6CA-D6527EE405AA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FC7D437-404D-4220-9A87-4CD161792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8544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D67C65-23CE-F069-4289-EED8E167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member </a:t>
            </a:r>
            <a:r>
              <a:rPr kumimoji="1" lang="zh-TW" altLang="en-US" dirty="0"/>
              <a:t>資料表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43F68D-FA5A-E121-20CB-7EF15D999F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kumimoji="1" lang="zh-TW" altLang="en-US" dirty="0"/>
              <a:t>會員編號</a:t>
            </a:r>
            <a:r>
              <a:rPr kumimoji="1" lang="en-US" altLang="zh-TW" dirty="0"/>
              <a:t> (</a:t>
            </a:r>
            <a:r>
              <a:rPr kumimoji="1" lang="en-US" altLang="zh-TW" dirty="0" err="1"/>
              <a:t>mID</a:t>
            </a:r>
            <a:r>
              <a:rPr kumimoji="1" lang="en-US" altLang="zh-TW" dirty="0"/>
              <a:t>)  </a:t>
            </a:r>
            <a:r>
              <a:rPr kumimoji="1" lang="en-US" altLang="zh-TW" dirty="0">
                <a:solidFill>
                  <a:srgbClr val="0000FF"/>
                </a:solidFill>
              </a:rPr>
              <a:t>char(8)</a:t>
            </a:r>
          </a:p>
          <a:p>
            <a:r>
              <a:rPr kumimoji="1" lang="zh-TW" altLang="en-US" dirty="0"/>
              <a:t>身份字號</a:t>
            </a:r>
            <a:r>
              <a:rPr kumimoji="1" lang="en-US" altLang="zh-TW" dirty="0"/>
              <a:t> (</a:t>
            </a:r>
            <a:r>
              <a:rPr kumimoji="1" lang="en-US" altLang="zh-TW" dirty="0" err="1"/>
              <a:t>pID</a:t>
            </a:r>
            <a:r>
              <a:rPr kumimoji="1" lang="en-US" altLang="zh-TW" dirty="0"/>
              <a:t>) </a:t>
            </a:r>
            <a:r>
              <a:rPr kumimoji="1" lang="en-US" altLang="zh-TW" dirty="0">
                <a:solidFill>
                  <a:srgbClr val="0000FF"/>
                </a:solidFill>
              </a:rPr>
              <a:t>char(10)</a:t>
            </a:r>
          </a:p>
          <a:p>
            <a:r>
              <a:rPr kumimoji="1" lang="zh-TW" altLang="en-US" dirty="0"/>
              <a:t>姓名</a:t>
            </a:r>
            <a:r>
              <a:rPr kumimoji="1" lang="en-US" altLang="zh-TW" dirty="0"/>
              <a:t> (name) </a:t>
            </a:r>
            <a:r>
              <a:rPr kumimoji="1" lang="en-US" altLang="zh-TW" dirty="0">
                <a:solidFill>
                  <a:srgbClr val="0000FF"/>
                </a:solidFill>
              </a:rPr>
              <a:t>varchar(8)</a:t>
            </a:r>
          </a:p>
          <a:p>
            <a:r>
              <a:rPr kumimoji="1" lang="zh-TW" altLang="en-US" dirty="0"/>
              <a:t>生日</a:t>
            </a:r>
            <a:r>
              <a:rPr kumimoji="1" lang="en-US" altLang="zh-TW" dirty="0"/>
              <a:t> (birthday) </a:t>
            </a:r>
            <a:r>
              <a:rPr kumimoji="1" lang="en-US" altLang="zh-TW" dirty="0">
                <a:solidFill>
                  <a:srgbClr val="0000FF"/>
                </a:solidFill>
              </a:rPr>
              <a:t>text</a:t>
            </a:r>
          </a:p>
          <a:p>
            <a:r>
              <a:rPr kumimoji="1" lang="zh-TW" altLang="en-US" dirty="0"/>
              <a:t>電話</a:t>
            </a:r>
            <a:r>
              <a:rPr kumimoji="1" lang="en-US" altLang="zh-TW" dirty="0"/>
              <a:t> (phone) </a:t>
            </a:r>
            <a:r>
              <a:rPr kumimoji="1" lang="en-US" altLang="zh-TW" dirty="0">
                <a:solidFill>
                  <a:srgbClr val="0000FF"/>
                </a:solidFill>
              </a:rPr>
              <a:t>varchar(10)</a:t>
            </a:r>
          </a:p>
          <a:p>
            <a:r>
              <a:rPr kumimoji="1" lang="zh-TW" altLang="en-US" dirty="0"/>
              <a:t>地址</a:t>
            </a:r>
            <a:r>
              <a:rPr kumimoji="1" lang="en-US" altLang="zh-TW" dirty="0"/>
              <a:t> (address) </a:t>
            </a:r>
            <a:r>
              <a:rPr kumimoji="1" lang="en-US" altLang="zh-TW" dirty="0">
                <a:solidFill>
                  <a:srgbClr val="0000FF"/>
                </a:solidFill>
              </a:rPr>
              <a:t>varchar(40)</a:t>
            </a:r>
          </a:p>
          <a:p>
            <a:r>
              <a:rPr kumimoji="1" lang="zh-TW" altLang="en-US" dirty="0"/>
              <a:t>電子郵件</a:t>
            </a:r>
            <a:r>
              <a:rPr kumimoji="1" lang="en-US" altLang="zh-TW" dirty="0"/>
              <a:t> (email) </a:t>
            </a:r>
            <a:r>
              <a:rPr kumimoji="1" lang="en-US" altLang="zh-TW" dirty="0">
                <a:solidFill>
                  <a:srgbClr val="0000FF"/>
                </a:solidFill>
              </a:rPr>
              <a:t>varchar(20)</a:t>
            </a:r>
          </a:p>
          <a:p>
            <a:r>
              <a:rPr kumimoji="1" lang="zh-TW" altLang="en-US" dirty="0"/>
              <a:t>介紹人</a:t>
            </a:r>
            <a:r>
              <a:rPr kumimoji="1" lang="en-US" altLang="zh-TW" dirty="0"/>
              <a:t> (introducer) </a:t>
            </a:r>
            <a:r>
              <a:rPr kumimoji="1" lang="en-US" altLang="zh-TW" dirty="0">
                <a:solidFill>
                  <a:srgbClr val="0000FF"/>
                </a:solidFill>
              </a:rPr>
              <a:t>char(8)</a:t>
            </a:r>
            <a:endParaRPr kumimoji="1" lang="zh-TW" altLang="en-US" dirty="0">
              <a:solidFill>
                <a:srgbClr val="0000FF"/>
              </a:solidFill>
            </a:endParaRP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CA53D5B-48E1-1836-0482-BD96189F37B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TW" dirty="0" err="1"/>
              <a:t>mID</a:t>
            </a:r>
            <a:r>
              <a:rPr lang="en-US" altLang="zh-TW" dirty="0"/>
              <a:t> is </a:t>
            </a:r>
            <a:r>
              <a:rPr lang="en-US" altLang="zh-TW" dirty="0">
                <a:solidFill>
                  <a:srgbClr val="0000FF"/>
                </a:solidFill>
              </a:rPr>
              <a:t>primary key</a:t>
            </a:r>
          </a:p>
          <a:p>
            <a:r>
              <a:rPr lang="en-US" altLang="zh-TW" dirty="0" err="1"/>
              <a:t>pID</a:t>
            </a:r>
            <a:r>
              <a:rPr lang="en-US" altLang="zh-TW" dirty="0"/>
              <a:t> is </a:t>
            </a:r>
            <a:r>
              <a:rPr lang="en-US" altLang="zh-TW" dirty="0">
                <a:solidFill>
                  <a:srgbClr val="0000FF"/>
                </a:solidFill>
              </a:rPr>
              <a:t>unique</a:t>
            </a:r>
          </a:p>
          <a:p>
            <a:r>
              <a:rPr lang="en-US" altLang="zh-TW" dirty="0"/>
              <a:t>introducer is the </a:t>
            </a:r>
            <a:r>
              <a:rPr lang="en-US" altLang="zh-TW" dirty="0" err="1">
                <a:solidFill>
                  <a:srgbClr val="0000FF"/>
                </a:solidFill>
              </a:rPr>
              <a:t>forign</a:t>
            </a:r>
            <a:r>
              <a:rPr lang="en-US" altLang="zh-TW" dirty="0">
                <a:solidFill>
                  <a:srgbClr val="0000FF"/>
                </a:solidFill>
              </a:rPr>
              <a:t> key reference to </a:t>
            </a:r>
            <a:r>
              <a:rPr lang="en-US" altLang="zh-TW" dirty="0"/>
              <a:t>member(</a:t>
            </a:r>
            <a:r>
              <a:rPr lang="en-US" altLang="zh-TW" dirty="0" err="1"/>
              <a:t>mID</a:t>
            </a:r>
            <a:r>
              <a:rPr lang="en-US" altLang="zh-TW" dirty="0"/>
              <a:t>) and ON DELETE SET  ON UPDATE CASCADE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1C2DBA2-0ED5-3F14-FC6C-161CD434F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DF9CD-7CBC-4AB1-8834-785FFDC79F24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3D02210-E4A9-7AF9-9D5B-3B93E4704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3807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C39A43-B283-404E-A37D-FCFBE84B0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定義資料表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534453D-CD28-4DFD-8D05-E97DF3D9E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TW" dirty="0"/>
              <a:t>CREATE TABLE</a:t>
            </a:r>
          </a:p>
          <a:p>
            <a:pPr lvl="1">
              <a:lnSpc>
                <a:spcPct val="150000"/>
              </a:lnSpc>
            </a:pPr>
            <a:r>
              <a:rPr lang="zh-TW" altLang="en-US" dirty="0"/>
              <a:t>資料表名稱</a:t>
            </a:r>
            <a:endParaRPr lang="en-US" altLang="zh-TW" dirty="0"/>
          </a:p>
          <a:p>
            <a:pPr lvl="1">
              <a:lnSpc>
                <a:spcPct val="150000"/>
              </a:lnSpc>
            </a:pPr>
            <a:r>
              <a:rPr lang="zh-TW" altLang="en-US" dirty="0"/>
              <a:t>欄位</a:t>
            </a:r>
            <a:endParaRPr lang="en-US" altLang="zh-TW" dirty="0"/>
          </a:p>
          <a:p>
            <a:pPr lvl="1">
              <a:lnSpc>
                <a:spcPct val="150000"/>
              </a:lnSpc>
            </a:pPr>
            <a:r>
              <a:rPr lang="zh-TW" altLang="en-US" dirty="0"/>
              <a:t>完整限制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A2FD090-FE98-4A9C-B1A9-32B6D76000E6}"/>
              </a:ext>
            </a:extLst>
          </p:cNvPr>
          <p:cNvSpPr txBox="1"/>
          <p:nvPr/>
        </p:nvSpPr>
        <p:spPr>
          <a:xfrm>
            <a:off x="4783605" y="457201"/>
            <a:ext cx="5731826" cy="600164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>
              <a:buFont typeface="Wingdings 2" pitchFamily="18" charset="2"/>
              <a:buNone/>
            </a:pPr>
            <a:r>
              <a:rPr lang="en-US" altLang="zh-TW" sz="2400" b="1" dirty="0">
                <a:solidFill>
                  <a:schemeClr val="tx1"/>
                </a:solidFill>
              </a:rPr>
              <a:t>CREATE TABLE</a:t>
            </a:r>
            <a:r>
              <a:rPr lang="en-US" altLang="zh-TW" sz="2400" dirty="0">
                <a:solidFill>
                  <a:schemeClr val="tx1"/>
                </a:solidFill>
              </a:rPr>
              <a:t> </a:t>
            </a:r>
            <a:r>
              <a:rPr lang="en-US" altLang="zh-TW" sz="2400" b="1" dirty="0">
                <a:solidFill>
                  <a:srgbClr val="C00000"/>
                </a:solidFill>
              </a:rPr>
              <a:t>Member</a:t>
            </a:r>
            <a:r>
              <a:rPr lang="zh-TW" altLang="en-US" sz="2400" dirty="0">
                <a:solidFill>
                  <a:srgbClr val="C00000"/>
                </a:solidFill>
              </a:rPr>
              <a:t> </a:t>
            </a:r>
            <a:r>
              <a:rPr lang="en-US" altLang="zh-TW" sz="2400" dirty="0"/>
              <a:t>(</a:t>
            </a:r>
          </a:p>
          <a:p>
            <a:pPr>
              <a:buFont typeface="Wingdings 2" pitchFamily="18" charset="2"/>
              <a:buNone/>
            </a:pPr>
            <a:r>
              <a:rPr lang="en-US" altLang="zh-TW" sz="2400" dirty="0" err="1">
                <a:solidFill>
                  <a:schemeClr val="tx1"/>
                </a:solidFill>
              </a:rPr>
              <a:t>mId</a:t>
            </a:r>
            <a:r>
              <a:rPr lang="en-US" altLang="zh-TW" sz="2400" dirty="0">
                <a:solidFill>
                  <a:schemeClr val="tx1"/>
                </a:solidFill>
              </a:rPr>
              <a:t>      </a:t>
            </a:r>
            <a:r>
              <a:rPr lang="zh-TW" altLang="en-US" sz="2400" dirty="0">
                <a:solidFill>
                  <a:schemeClr val="tx1"/>
                </a:solidFill>
              </a:rPr>
              <a:t>        </a:t>
            </a:r>
            <a:r>
              <a:rPr lang="en-US" altLang="zh-TW" sz="2400" b="1" dirty="0">
                <a:solidFill>
                  <a:schemeClr val="tx1"/>
                </a:solidFill>
              </a:rPr>
              <a:t>CHAR</a:t>
            </a:r>
            <a:r>
              <a:rPr lang="en-US" altLang="zh-TW" sz="2400" dirty="0">
                <a:solidFill>
                  <a:schemeClr val="tx1"/>
                </a:solidFill>
              </a:rPr>
              <a:t>(8)       </a:t>
            </a:r>
            <a:r>
              <a:rPr lang="zh-TW" altLang="en-US" sz="2400" dirty="0">
                <a:solidFill>
                  <a:schemeClr val="tx1"/>
                </a:solidFill>
              </a:rPr>
              <a:t>   </a:t>
            </a:r>
            <a:r>
              <a:rPr lang="en-US" altLang="zh-TW" sz="2400" b="1" dirty="0">
                <a:solidFill>
                  <a:schemeClr val="tx1"/>
                </a:solidFill>
              </a:rPr>
              <a:t>NOT NULL</a:t>
            </a:r>
            <a:r>
              <a:rPr lang="zh-TW" altLang="en-US" sz="2400" dirty="0">
                <a:solidFill>
                  <a:schemeClr val="tx1"/>
                </a:solidFill>
              </a:rPr>
              <a:t> </a:t>
            </a:r>
            <a:r>
              <a:rPr lang="en-US" altLang="zh-TW" sz="2400" dirty="0">
                <a:solidFill>
                  <a:schemeClr val="tx1"/>
                </a:solidFill>
              </a:rPr>
              <a:t>,</a:t>
            </a:r>
          </a:p>
          <a:p>
            <a:pPr>
              <a:buFont typeface="Wingdings 2" pitchFamily="18" charset="2"/>
              <a:buNone/>
            </a:pPr>
            <a:r>
              <a:rPr lang="en-US" altLang="zh-TW" sz="2400" dirty="0" err="1">
                <a:solidFill>
                  <a:schemeClr val="tx1"/>
                </a:solidFill>
              </a:rPr>
              <a:t>pId</a:t>
            </a:r>
            <a:r>
              <a:rPr lang="en-US" altLang="zh-TW" sz="2400" dirty="0">
                <a:solidFill>
                  <a:schemeClr val="tx1"/>
                </a:solidFill>
              </a:rPr>
              <a:t>       </a:t>
            </a:r>
            <a:r>
              <a:rPr lang="zh-TW" altLang="en-US" sz="2400" dirty="0">
                <a:solidFill>
                  <a:schemeClr val="tx1"/>
                </a:solidFill>
              </a:rPr>
              <a:t>       </a:t>
            </a:r>
            <a:r>
              <a:rPr lang="en-US" altLang="zh-TW" sz="2400" b="1" dirty="0">
                <a:solidFill>
                  <a:schemeClr val="tx1"/>
                </a:solidFill>
              </a:rPr>
              <a:t>CHAR</a:t>
            </a:r>
            <a:r>
              <a:rPr lang="en-US" altLang="zh-TW" sz="2400" dirty="0">
                <a:solidFill>
                  <a:schemeClr val="tx1"/>
                </a:solidFill>
              </a:rPr>
              <a:t>(10)       </a:t>
            </a:r>
            <a:r>
              <a:rPr lang="zh-TW" altLang="en-US" sz="2400" dirty="0">
                <a:solidFill>
                  <a:schemeClr val="tx1"/>
                </a:solidFill>
              </a:rPr>
              <a:t> </a:t>
            </a:r>
            <a:r>
              <a:rPr lang="en-US" altLang="zh-TW" sz="2400" b="1" dirty="0">
                <a:solidFill>
                  <a:schemeClr val="tx1"/>
                </a:solidFill>
              </a:rPr>
              <a:t>NOT NULL </a:t>
            </a:r>
            <a:r>
              <a:rPr lang="en-US" altLang="zh-TW" sz="2400" dirty="0">
                <a:solidFill>
                  <a:schemeClr val="tx1"/>
                </a:solidFill>
              </a:rPr>
              <a:t>,</a:t>
            </a:r>
          </a:p>
          <a:p>
            <a:pPr>
              <a:buFont typeface="Wingdings 2" pitchFamily="18" charset="2"/>
              <a:buNone/>
            </a:pPr>
            <a:r>
              <a:rPr lang="en-US" altLang="zh-TW" sz="2400" dirty="0">
                <a:solidFill>
                  <a:schemeClr val="tx1"/>
                </a:solidFill>
              </a:rPr>
              <a:t>name      </a:t>
            </a:r>
            <a:r>
              <a:rPr lang="zh-TW" altLang="en-US" sz="2400" dirty="0">
                <a:solidFill>
                  <a:schemeClr val="tx1"/>
                </a:solidFill>
              </a:rPr>
              <a:t>    </a:t>
            </a:r>
            <a:r>
              <a:rPr lang="en-US" altLang="zh-TW" sz="2400" b="1" dirty="0">
                <a:solidFill>
                  <a:schemeClr val="tx1"/>
                </a:solidFill>
              </a:rPr>
              <a:t>VARCHAR</a:t>
            </a:r>
            <a:r>
              <a:rPr lang="en-US" altLang="zh-TW" sz="2400" dirty="0">
                <a:solidFill>
                  <a:schemeClr val="tx1"/>
                </a:solidFill>
              </a:rPr>
              <a:t>(8)   </a:t>
            </a:r>
            <a:r>
              <a:rPr lang="en-US" altLang="zh-TW" sz="2400" b="1" dirty="0">
                <a:solidFill>
                  <a:schemeClr val="tx1"/>
                </a:solidFill>
              </a:rPr>
              <a:t>NOT NULL </a:t>
            </a:r>
            <a:r>
              <a:rPr lang="en-US" altLang="zh-TW" sz="2400" dirty="0">
                <a:solidFill>
                  <a:schemeClr val="tx1"/>
                </a:solidFill>
              </a:rPr>
              <a:t>,</a:t>
            </a:r>
          </a:p>
          <a:p>
            <a:pPr>
              <a:buFont typeface="Wingdings 2" pitchFamily="18" charset="2"/>
              <a:buNone/>
            </a:pPr>
            <a:r>
              <a:rPr lang="en-US" altLang="zh-TW" sz="2400" dirty="0">
                <a:solidFill>
                  <a:schemeClr val="tx1"/>
                </a:solidFill>
              </a:rPr>
              <a:t>birthday  </a:t>
            </a:r>
            <a:r>
              <a:rPr lang="zh-TW" altLang="en-US" sz="2400" dirty="0">
                <a:solidFill>
                  <a:schemeClr val="tx1"/>
                </a:solidFill>
              </a:rPr>
              <a:t>    </a:t>
            </a:r>
            <a:r>
              <a:rPr lang="en-US" altLang="zh-TW" sz="2400" b="1" dirty="0">
                <a:solidFill>
                  <a:schemeClr val="tx1"/>
                </a:solidFill>
              </a:rPr>
              <a:t>DATE </a:t>
            </a:r>
            <a:r>
              <a:rPr lang="en-US" altLang="zh-TW" sz="2400" dirty="0">
                <a:solidFill>
                  <a:schemeClr val="tx1"/>
                </a:solidFill>
              </a:rPr>
              <a:t>,</a:t>
            </a:r>
          </a:p>
          <a:p>
            <a:pPr>
              <a:buFont typeface="Wingdings 2" pitchFamily="18" charset="2"/>
              <a:buNone/>
            </a:pPr>
            <a:r>
              <a:rPr lang="en-US" altLang="zh-TW" sz="2400" dirty="0">
                <a:solidFill>
                  <a:schemeClr val="tx1"/>
                </a:solidFill>
              </a:rPr>
              <a:t>phone</a:t>
            </a:r>
            <a:r>
              <a:rPr lang="zh-TW" altLang="en-US" sz="2400" dirty="0">
                <a:solidFill>
                  <a:schemeClr val="tx1"/>
                </a:solidFill>
              </a:rPr>
              <a:t>         </a:t>
            </a:r>
            <a:r>
              <a:rPr lang="en-US" altLang="zh-TW" sz="2400" b="1" dirty="0">
                <a:solidFill>
                  <a:schemeClr val="tx1"/>
                </a:solidFill>
              </a:rPr>
              <a:t>VARCHAR</a:t>
            </a:r>
            <a:r>
              <a:rPr lang="en-US" altLang="zh-TW" sz="2400" dirty="0">
                <a:solidFill>
                  <a:schemeClr val="tx1"/>
                </a:solidFill>
              </a:rPr>
              <a:t>(10) ,</a:t>
            </a:r>
          </a:p>
          <a:p>
            <a:pPr>
              <a:buFont typeface="Wingdings 2" pitchFamily="18" charset="2"/>
              <a:buNone/>
            </a:pPr>
            <a:r>
              <a:rPr lang="en-US" altLang="zh-TW" sz="2400" dirty="0">
                <a:solidFill>
                  <a:schemeClr val="tx1"/>
                </a:solidFill>
              </a:rPr>
              <a:t>address  </a:t>
            </a:r>
            <a:r>
              <a:rPr lang="zh-TW" altLang="en-US" sz="2400" dirty="0">
                <a:solidFill>
                  <a:schemeClr val="tx1"/>
                </a:solidFill>
              </a:rPr>
              <a:t>    </a:t>
            </a:r>
            <a:r>
              <a:rPr lang="en-US" altLang="zh-TW" sz="2400" b="1" dirty="0">
                <a:solidFill>
                  <a:schemeClr val="tx1"/>
                </a:solidFill>
              </a:rPr>
              <a:t>VARCHAR</a:t>
            </a:r>
            <a:r>
              <a:rPr lang="en-US" altLang="zh-TW" sz="2400" dirty="0">
                <a:solidFill>
                  <a:schemeClr val="tx1"/>
                </a:solidFill>
              </a:rPr>
              <a:t>(40) ,</a:t>
            </a:r>
          </a:p>
          <a:p>
            <a:pPr>
              <a:buFont typeface="Wingdings 2" pitchFamily="18" charset="2"/>
              <a:buNone/>
            </a:pPr>
            <a:r>
              <a:rPr lang="en-US" altLang="zh-TW" sz="2400" dirty="0">
                <a:solidFill>
                  <a:schemeClr val="tx1"/>
                </a:solidFill>
              </a:rPr>
              <a:t>email      </a:t>
            </a:r>
            <a:r>
              <a:rPr lang="zh-TW" altLang="en-US" sz="2400" dirty="0">
                <a:solidFill>
                  <a:schemeClr val="tx1"/>
                </a:solidFill>
              </a:rPr>
              <a:t>     </a:t>
            </a:r>
            <a:r>
              <a:rPr lang="en-US" altLang="zh-TW" sz="2400" b="1" dirty="0">
                <a:solidFill>
                  <a:schemeClr val="tx1"/>
                </a:solidFill>
              </a:rPr>
              <a:t>VARCHAR</a:t>
            </a:r>
            <a:r>
              <a:rPr lang="en-US" altLang="zh-TW" sz="2400" dirty="0">
                <a:solidFill>
                  <a:schemeClr val="tx1"/>
                </a:solidFill>
              </a:rPr>
              <a:t>(20) ,</a:t>
            </a:r>
          </a:p>
          <a:p>
            <a:pPr>
              <a:buFont typeface="Wingdings 2" pitchFamily="18" charset="2"/>
              <a:buNone/>
            </a:pPr>
            <a:r>
              <a:rPr lang="en-US" altLang="zh-TW" sz="2400" dirty="0">
                <a:solidFill>
                  <a:schemeClr val="tx1"/>
                </a:solidFill>
              </a:rPr>
              <a:t>introducer   </a:t>
            </a:r>
            <a:r>
              <a:rPr lang="en-US" altLang="zh-TW" sz="2400" b="1" dirty="0">
                <a:solidFill>
                  <a:schemeClr val="tx1"/>
                </a:solidFill>
              </a:rPr>
              <a:t>CHAR</a:t>
            </a:r>
            <a:r>
              <a:rPr lang="en-US" altLang="zh-TW" sz="2400" dirty="0">
                <a:solidFill>
                  <a:schemeClr val="tx1"/>
                </a:solidFill>
              </a:rPr>
              <a:t>(8) ,</a:t>
            </a:r>
          </a:p>
          <a:p>
            <a:pPr>
              <a:buFont typeface="Wingdings 2" pitchFamily="18" charset="2"/>
              <a:buNone/>
            </a:pPr>
            <a:r>
              <a:rPr lang="en-US" altLang="zh-TW" sz="2400" dirty="0">
                <a:solidFill>
                  <a:schemeClr val="hlink"/>
                </a:solidFill>
              </a:rPr>
              <a:t>	</a:t>
            </a:r>
          </a:p>
          <a:p>
            <a:pPr>
              <a:buFont typeface="Wingdings 2" pitchFamily="18" charset="2"/>
              <a:buNone/>
            </a:pPr>
            <a:r>
              <a:rPr lang="en-US" altLang="zh-TW" sz="2400" b="1" dirty="0">
                <a:solidFill>
                  <a:schemeClr val="tx1"/>
                </a:solidFill>
              </a:rPr>
              <a:t>PRIMARY KEY</a:t>
            </a:r>
            <a:r>
              <a:rPr lang="en-US" altLang="zh-TW" sz="2400" dirty="0">
                <a:solidFill>
                  <a:schemeClr val="tx1"/>
                </a:solidFill>
              </a:rPr>
              <a:t> (</a:t>
            </a:r>
            <a:r>
              <a:rPr lang="en-US" altLang="zh-TW" sz="2400" dirty="0" err="1">
                <a:solidFill>
                  <a:schemeClr val="tx1"/>
                </a:solidFill>
              </a:rPr>
              <a:t>mId</a:t>
            </a:r>
            <a:r>
              <a:rPr lang="en-US" altLang="zh-TW" sz="2400" dirty="0">
                <a:solidFill>
                  <a:schemeClr val="tx1"/>
                </a:solidFill>
              </a:rPr>
              <a:t>),</a:t>
            </a:r>
            <a:endParaRPr lang="en-US" altLang="zh-TW" sz="2400" b="1" dirty="0">
              <a:solidFill>
                <a:schemeClr val="tx1"/>
              </a:solidFill>
            </a:endParaRPr>
          </a:p>
          <a:p>
            <a:pPr>
              <a:buFont typeface="Wingdings 2" pitchFamily="18" charset="2"/>
              <a:buNone/>
            </a:pPr>
            <a:r>
              <a:rPr lang="en-US" altLang="zh-TW" sz="2400" b="1" dirty="0">
                <a:solidFill>
                  <a:schemeClr val="tx1"/>
                </a:solidFill>
              </a:rPr>
              <a:t>UNIQUE</a:t>
            </a:r>
            <a:r>
              <a:rPr lang="en-US" altLang="zh-TW" sz="2400" dirty="0">
                <a:solidFill>
                  <a:schemeClr val="tx1"/>
                </a:solidFill>
              </a:rPr>
              <a:t> (</a:t>
            </a:r>
            <a:r>
              <a:rPr lang="en-US" altLang="zh-TW" sz="2400" dirty="0" err="1">
                <a:solidFill>
                  <a:schemeClr val="tx1"/>
                </a:solidFill>
              </a:rPr>
              <a:t>pId</a:t>
            </a:r>
            <a:r>
              <a:rPr lang="en-US" altLang="zh-TW" sz="2400" dirty="0">
                <a:solidFill>
                  <a:schemeClr val="tx1"/>
                </a:solidFill>
              </a:rPr>
              <a:t>)</a:t>
            </a:r>
            <a:r>
              <a:rPr lang="en-US" altLang="zh-TW" sz="2400" b="1" dirty="0">
                <a:solidFill>
                  <a:schemeClr val="tx1"/>
                </a:solidFill>
              </a:rPr>
              <a:t>,</a:t>
            </a:r>
            <a:endParaRPr lang="en-US" altLang="zh-TW" sz="2400" dirty="0">
              <a:solidFill>
                <a:schemeClr val="tx1"/>
              </a:solidFill>
            </a:endParaRPr>
          </a:p>
          <a:p>
            <a:pPr>
              <a:buFont typeface="Wingdings 2" pitchFamily="18" charset="2"/>
              <a:buNone/>
            </a:pPr>
            <a:r>
              <a:rPr lang="en-US" altLang="zh-TW" sz="2400" b="1" dirty="0">
                <a:solidFill>
                  <a:schemeClr val="tx1"/>
                </a:solidFill>
              </a:rPr>
              <a:t>FOREIGN KEY</a:t>
            </a:r>
            <a:r>
              <a:rPr lang="en-US" altLang="zh-TW" sz="2400" dirty="0">
                <a:solidFill>
                  <a:schemeClr val="tx1"/>
                </a:solidFill>
              </a:rPr>
              <a:t>(introducer) </a:t>
            </a:r>
          </a:p>
          <a:p>
            <a:pPr>
              <a:buFont typeface="Wingdings 2" pitchFamily="18" charset="2"/>
              <a:buNone/>
            </a:pPr>
            <a:r>
              <a:rPr lang="en-US" altLang="zh-TW" sz="2400" b="1" dirty="0">
                <a:solidFill>
                  <a:schemeClr val="tx1"/>
                </a:solidFill>
              </a:rPr>
              <a:t>REFERENCES </a:t>
            </a:r>
            <a:r>
              <a:rPr lang="en-US" altLang="zh-TW" sz="2400" dirty="0">
                <a:solidFill>
                  <a:schemeClr val="tx1"/>
                </a:solidFill>
              </a:rPr>
              <a:t>Member(</a:t>
            </a:r>
            <a:r>
              <a:rPr lang="en-US" altLang="zh-TW" sz="2400" dirty="0" err="1">
                <a:solidFill>
                  <a:schemeClr val="tx1"/>
                </a:solidFill>
              </a:rPr>
              <a:t>mId</a:t>
            </a:r>
            <a:r>
              <a:rPr lang="en-US" altLang="zh-TW" sz="2400" dirty="0">
                <a:solidFill>
                  <a:schemeClr val="tx1"/>
                </a:solidFill>
              </a:rPr>
              <a:t>)</a:t>
            </a:r>
            <a:endParaRPr lang="en-US" altLang="zh-TW" sz="2400" b="1" dirty="0">
              <a:solidFill>
                <a:schemeClr val="tx1"/>
              </a:solidFill>
            </a:endParaRPr>
          </a:p>
          <a:p>
            <a:pPr>
              <a:buFont typeface="Wingdings 2" pitchFamily="18" charset="2"/>
              <a:buNone/>
            </a:pPr>
            <a:r>
              <a:rPr lang="en-US" altLang="zh-TW" sz="2400" b="1" dirty="0">
                <a:solidFill>
                  <a:schemeClr val="tx1"/>
                </a:solidFill>
              </a:rPr>
              <a:t>ON DELETE</a:t>
            </a:r>
            <a:r>
              <a:rPr lang="en-US" altLang="zh-TW" sz="2400" dirty="0">
                <a:solidFill>
                  <a:schemeClr val="tx1"/>
                </a:solidFill>
              </a:rPr>
              <a:t> </a:t>
            </a:r>
            <a:r>
              <a:rPr lang="en-US" altLang="zh-TW" sz="2400" b="1" dirty="0">
                <a:solidFill>
                  <a:schemeClr val="tx1"/>
                </a:solidFill>
              </a:rPr>
              <a:t>SET NULL</a:t>
            </a:r>
            <a:r>
              <a:rPr lang="en-US" altLang="zh-TW" sz="2400" dirty="0">
                <a:solidFill>
                  <a:schemeClr val="tx1"/>
                </a:solidFill>
              </a:rPr>
              <a:t> </a:t>
            </a:r>
            <a:r>
              <a:rPr lang="en-US" altLang="zh-TW" sz="2400" b="1" dirty="0">
                <a:solidFill>
                  <a:schemeClr val="tx1"/>
                </a:solidFill>
              </a:rPr>
              <a:t>ON UPDATE</a:t>
            </a:r>
            <a:r>
              <a:rPr lang="en-US" altLang="zh-TW" sz="2400" dirty="0">
                <a:solidFill>
                  <a:schemeClr val="tx1"/>
                </a:solidFill>
              </a:rPr>
              <a:t> </a:t>
            </a:r>
            <a:r>
              <a:rPr lang="en-US" altLang="zh-TW" sz="2400" b="1" dirty="0">
                <a:solidFill>
                  <a:schemeClr val="tx1"/>
                </a:solidFill>
              </a:rPr>
              <a:t>CASCADE </a:t>
            </a:r>
          </a:p>
          <a:p>
            <a:pPr>
              <a:buFont typeface="Wingdings 2" pitchFamily="18" charset="2"/>
              <a:buNone/>
            </a:pPr>
            <a:r>
              <a:rPr lang="en-US" altLang="zh-TW" sz="2400" b="1" dirty="0">
                <a:solidFill>
                  <a:schemeClr val="tx1"/>
                </a:solidFill>
              </a:rPr>
              <a:t>);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9446150-E11E-4B2D-B00E-3AC2344FD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834FA-4627-44EF-A0F9-6FB4B283ED8E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D306639-C126-4A2B-8E47-221ED829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12</a:t>
            </a:fld>
            <a:endParaRPr lang="zh-TW" altLang="en-US"/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A63291D0-24CC-4851-B668-7EF4139CDD6F}"/>
              </a:ext>
            </a:extLst>
          </p:cNvPr>
          <p:cNvCxnSpPr/>
          <p:nvPr/>
        </p:nvCxnSpPr>
        <p:spPr>
          <a:xfrm flipV="1">
            <a:off x="3499945" y="788276"/>
            <a:ext cx="1283660" cy="1124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A5BE63B8-0E73-4347-899A-266E5DAA19A7}"/>
              </a:ext>
            </a:extLst>
          </p:cNvPr>
          <p:cNvCxnSpPr/>
          <p:nvPr/>
        </p:nvCxnSpPr>
        <p:spPr>
          <a:xfrm>
            <a:off x="2511972" y="2532993"/>
            <a:ext cx="2123090" cy="84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B4A3069F-DDB1-4DB6-A9D2-B34F72D19889}"/>
              </a:ext>
            </a:extLst>
          </p:cNvPr>
          <p:cNvCxnSpPr/>
          <p:nvPr/>
        </p:nvCxnSpPr>
        <p:spPr>
          <a:xfrm>
            <a:off x="2848303" y="3184634"/>
            <a:ext cx="1681656" cy="1608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4377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CF7BCE-6F1C-4AE8-BEDD-F0ECFA7E9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TW" altLang="en-US" sz="40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所提供的常用定義域型態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91358C-4284-4766-9520-3F86FA49C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或 </a:t>
            </a:r>
            <a:r>
              <a:rPr lang="en-US" altLang="zh-TW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INTEGER </a:t>
            </a:r>
            <a:r>
              <a:rPr lang="zh-TW" altLang="en-US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整數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DECIMAL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j) 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NUMERIC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j) 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DEC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j</a:t>
            </a: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  <a:r>
              <a:rPr lang="zh-TW" altLang="en-US" sz="2800">
                <a:latin typeface="微軟正黑體" panose="020B0604030504040204" pitchFamily="34" charset="-120"/>
              </a:rPr>
              <a:t>浮</a:t>
            </a:r>
            <a:r>
              <a:rPr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點數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DECIMAL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(3, 1) </a:t>
            </a:r>
          </a:p>
          <a:p>
            <a:pPr lvl="1">
              <a:lnSpc>
                <a:spcPct val="150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DECIMAL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(2) </a:t>
            </a:r>
          </a:p>
          <a:p>
            <a:pPr lvl="1">
              <a:lnSpc>
                <a:spcPct val="150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DECIMAL</a:t>
            </a:r>
          </a:p>
          <a:p>
            <a:pPr>
              <a:lnSpc>
                <a:spcPct val="150000"/>
              </a:lnSpc>
            </a:pP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CHAR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(n</a:t>
            </a: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  <a:r>
              <a:rPr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字元矩陣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VARCHAR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(n</a:t>
            </a: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  <a:r>
              <a:rPr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字元矩陣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BIT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(n</a:t>
            </a:r>
            <a:r>
              <a:rPr lang="en-US" altLang="zh-TW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VARBIT(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n)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73C6A8C-1557-4488-B256-BCC3E6FFC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576F0-0CF9-49E5-8C5B-3E05609C062C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5567308-ABEF-4ABC-89B4-9C51A7ECB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7461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5E1C7F-0A22-4E96-B9A3-6905D0FF9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7EE8E5-03AE-4620-B82F-9C7598AF2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DATE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標準的日期欄位是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yyyy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-mm-dd </a:t>
            </a:r>
          </a:p>
          <a:p>
            <a:pPr>
              <a:lnSpc>
                <a:spcPct val="150000"/>
              </a:lnSpc>
            </a:pP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TIME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標準的時間欄位是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hh:mm:ss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TIME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(2) (13:25:50:30 )</a:t>
            </a:r>
          </a:p>
          <a:p>
            <a:pPr lvl="1">
              <a:lnSpc>
                <a:spcPct val="150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TIME WITH TIME ZONE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(13:20:50+08:00)</a:t>
            </a:r>
          </a:p>
          <a:p>
            <a:pPr>
              <a:lnSpc>
                <a:spcPct val="150000"/>
              </a:lnSpc>
            </a:pP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DATETIME 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（或稱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TIMESTAMP 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 </a:t>
            </a:r>
          </a:p>
          <a:p>
            <a:pPr lvl="1">
              <a:lnSpc>
                <a:spcPct val="150000"/>
              </a:lnSpc>
            </a:pPr>
            <a:r>
              <a:rPr lang="en-US" altLang="zh-TW" sz="3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2003-07-10 13:27:50 </a:t>
            </a:r>
          </a:p>
          <a:p>
            <a:pPr>
              <a:lnSpc>
                <a:spcPct val="150000"/>
              </a:lnSpc>
            </a:pP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BLOB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表示是儲存大型的二元型態物件 </a:t>
            </a:r>
          </a:p>
          <a:p>
            <a:pPr>
              <a:lnSpc>
                <a:spcPct val="150000"/>
              </a:lnSpc>
            </a:pP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CLOB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表示是儲存大型的文字型態物件  </a:t>
            </a:r>
          </a:p>
          <a:p>
            <a:pPr>
              <a:lnSpc>
                <a:spcPct val="150000"/>
              </a:lnSpc>
            </a:pP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70C7258-A7EF-495E-9BD9-F0EC764BE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B6085-7463-4EFB-803E-ECAEAF68E590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91A258F-2966-45C0-8D81-FE3F09AD8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8648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41871B-2955-4326-8A74-DABFEB003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A366D4-DAB8-4990-8700-4107E8641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>
                <a:latin typeface="微軟正黑體" panose="020B0604030504040204" pitchFamily="34" charset="-120"/>
              </a:rPr>
              <a:t>作用</a:t>
            </a:r>
            <a:r>
              <a:rPr lang="zh-TW" altLang="en-US" sz="2800" dirty="0">
                <a:latin typeface="微軟正黑體" panose="020B0604030504040204" pitchFamily="34" charset="-120"/>
              </a:rPr>
              <a:t>在單一欄位的完整限制：定義該欄位時一併設定 </a:t>
            </a:r>
          </a:p>
          <a:p>
            <a:pPr marL="990600" lvl="1" indent="-533400">
              <a:lnSpc>
                <a:spcPct val="150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NOT NULL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：不得為空值。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990600" lvl="1" indent="-533400">
              <a:lnSpc>
                <a:spcPct val="150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DEFAULT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：設定預設值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914400" lvl="2" indent="0">
              <a:lnSpc>
                <a:spcPct val="150000"/>
              </a:lnSpc>
              <a:buNone/>
            </a:pPr>
            <a:r>
              <a:rPr lang="zh-TW" altLang="en-US" sz="2200" dirty="0">
                <a:latin typeface="微軟正黑體" panose="020B0604030504040204" pitchFamily="34" charset="-120"/>
              </a:rPr>
              <a:t> </a:t>
            </a:r>
            <a:r>
              <a:rPr lang="en-US" altLang="zh-TW" sz="2200" dirty="0">
                <a:latin typeface="微軟正黑體" panose="020B0604030504040204" pitchFamily="34" charset="-120"/>
              </a:rPr>
              <a:t>…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200" dirty="0"/>
              <a:t>category </a:t>
            </a:r>
            <a:r>
              <a:rPr lang="en-US" altLang="zh-TW" sz="2200" b="1" dirty="0">
                <a:solidFill>
                  <a:srgbClr val="C00000"/>
                </a:solidFill>
              </a:rPr>
              <a:t>VARCHAR</a:t>
            </a:r>
            <a:r>
              <a:rPr lang="en-US" altLang="zh-TW" sz="2200" dirty="0"/>
              <a:t>(30) </a:t>
            </a:r>
            <a:r>
              <a:rPr lang="en-US" altLang="zh-TW" sz="2200" b="1" dirty="0">
                <a:solidFill>
                  <a:srgbClr val="00B0F0"/>
                </a:solidFill>
              </a:rPr>
              <a:t>DEFAULT</a:t>
            </a:r>
            <a:r>
              <a:rPr lang="en-US" altLang="zh-TW" sz="2200" dirty="0"/>
              <a:t> ‘</a:t>
            </a:r>
            <a:r>
              <a:rPr lang="en-US" altLang="zh-TW" sz="2200" dirty="0">
                <a:solidFill>
                  <a:srgbClr val="00B050"/>
                </a:solidFill>
              </a:rPr>
              <a:t>book</a:t>
            </a:r>
            <a:r>
              <a:rPr lang="en-US" altLang="zh-TW" sz="2200" dirty="0"/>
              <a:t>’</a:t>
            </a:r>
            <a:endParaRPr lang="zh-TW" altLang="en-US" sz="2200" dirty="0"/>
          </a:p>
          <a:p>
            <a:pPr>
              <a:lnSpc>
                <a:spcPct val="150000"/>
              </a:lnSpc>
            </a:pP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79C163F-8153-4171-856B-578290E56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E7028-D050-4F27-B436-C4FD4FB2CC74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74DEB36-BC6C-4BA0-8581-4D7550DAD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9672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3AC937-E76D-4307-8E39-1511B4B13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Sqlite3</a:t>
            </a:r>
            <a:r>
              <a:rPr lang="zh-TW" altLang="en-US"/>
              <a:t>資料型別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45B1AD7-C550-4295-A59D-704DD2F28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NULL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zh-TW" altLang="en-US" dirty="0">
                <a:solidFill>
                  <a:schemeClr val="tx1"/>
                </a:solidFill>
              </a:rPr>
              <a:t>空值</a:t>
            </a:r>
            <a:endParaRPr lang="en-US" altLang="zh-TW" dirty="0">
              <a:solidFill>
                <a:schemeClr val="tx1"/>
              </a:solidFill>
            </a:endParaRPr>
          </a:p>
          <a:p>
            <a:r>
              <a:rPr lang="en-US" altLang="zh-TW" dirty="0"/>
              <a:t>INTEGER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zh-TW" altLang="en-US" dirty="0">
                <a:solidFill>
                  <a:schemeClr val="tx1"/>
                </a:solidFill>
              </a:rPr>
              <a:t>整數</a:t>
            </a:r>
            <a:endParaRPr lang="en-US" altLang="zh-TW" dirty="0">
              <a:solidFill>
                <a:schemeClr val="tx1"/>
              </a:solidFill>
            </a:endParaRPr>
          </a:p>
          <a:p>
            <a:r>
              <a:rPr lang="en-US" altLang="zh-TW" dirty="0"/>
              <a:t>REAL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zh-TW" altLang="en-US" dirty="0">
                <a:solidFill>
                  <a:schemeClr val="tx1"/>
                </a:solidFill>
              </a:rPr>
              <a:t>浮點數</a:t>
            </a:r>
            <a:endParaRPr lang="en-US" altLang="zh-TW" dirty="0">
              <a:solidFill>
                <a:schemeClr val="tx1"/>
              </a:solidFill>
            </a:endParaRPr>
          </a:p>
          <a:p>
            <a:r>
              <a:rPr lang="en-US" altLang="zh-TW" dirty="0"/>
              <a:t>TEXT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zh-TW" altLang="en-US" dirty="0">
                <a:solidFill>
                  <a:schemeClr val="tx1"/>
                </a:solidFill>
              </a:rPr>
              <a:t>文字 </a:t>
            </a:r>
            <a:endParaRPr lang="en-US" altLang="zh-TW" dirty="0">
              <a:solidFill>
                <a:schemeClr val="tx1"/>
              </a:solidFill>
            </a:endParaRPr>
          </a:p>
          <a:p>
            <a:pPr lvl="1"/>
            <a:r>
              <a:rPr lang="zh-TW" altLang="en-US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日期以文字表示再用函式轉換</a:t>
            </a:r>
            <a:endParaRPr lang="en-US" altLang="zh-TW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dirty="0"/>
              <a:t>BLOB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chemeClr val="tx1"/>
                </a:solidFill>
              </a:rPr>
              <a:t>B</a:t>
            </a:r>
            <a:r>
              <a:rPr lang="en-US" altLang="zh-TW" i="0" dirty="0">
                <a:solidFill>
                  <a:schemeClr val="tx1"/>
                </a:solidFill>
                <a:effectLst/>
              </a:rPr>
              <a:t>inary Large </a:t>
            </a:r>
            <a:r>
              <a:rPr lang="en-US" altLang="zh-TW" dirty="0">
                <a:solidFill>
                  <a:schemeClr val="tx1"/>
                </a:solidFill>
              </a:rPr>
              <a:t>Object </a:t>
            </a:r>
            <a:r>
              <a:rPr lang="zh-TW" altLang="en-US" dirty="0">
                <a:solidFill>
                  <a:schemeClr val="tx1"/>
                </a:solidFill>
              </a:rPr>
              <a:t>二進位資料儲存，</a:t>
            </a:r>
            <a:r>
              <a:rPr lang="en-US" altLang="zh-TW" dirty="0">
                <a:solidFill>
                  <a:schemeClr val="tx1"/>
                </a:solidFill>
              </a:rPr>
              <a:t>Blob</a:t>
            </a:r>
            <a:r>
              <a:rPr lang="zh-TW" altLang="en-US" dirty="0">
                <a:solidFill>
                  <a:schemeClr val="tx1"/>
                </a:solidFill>
              </a:rPr>
              <a:t>通常是影像、聲音或多媒體檔案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A7B226-C6A7-4AD8-AE51-ED33D1825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59A67-F71B-4DCD-8AD5-5009C1006353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FD7B039-1A3C-42A9-AD84-AB2D4AB7B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9072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6E4EE3-5E87-4574-B26D-53090533E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Date&amp;Time</a:t>
            </a:r>
            <a:r>
              <a:rPr lang="zh-TW" altLang="en-US"/>
              <a:t>表示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C69AA9-210D-4114-857D-3B10EE28E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TW" altLang="en-US" dirty="0"/>
              <a:t>利用字串表示日期與時間</a:t>
            </a:r>
            <a:endParaRPr lang="en-US" altLang="zh-TW" dirty="0"/>
          </a:p>
          <a:p>
            <a:pPr lvl="1">
              <a:lnSpc>
                <a:spcPct val="150000"/>
              </a:lnSpc>
            </a:pPr>
            <a:r>
              <a:rPr lang="zh-TW" altLang="en-US" b="1" dirty="0"/>
              <a:t>日期</a:t>
            </a:r>
            <a:r>
              <a:rPr lang="en-US" altLang="zh-TW" b="1" dirty="0"/>
              <a:t>:</a:t>
            </a:r>
            <a:r>
              <a:rPr lang="zh-TW" altLang="en-US" b="1" dirty="0"/>
              <a:t> </a:t>
            </a:r>
            <a:r>
              <a:rPr lang="en-US" altLang="zh-TW" b="1" dirty="0"/>
              <a:t>YYYY-MM-DD</a:t>
            </a:r>
          </a:p>
          <a:p>
            <a:pPr lvl="1">
              <a:lnSpc>
                <a:spcPct val="150000"/>
              </a:lnSpc>
            </a:pPr>
            <a:r>
              <a:rPr lang="zh-TW" altLang="en-US" b="1" dirty="0"/>
              <a:t>時間</a:t>
            </a:r>
            <a:r>
              <a:rPr lang="en-US" altLang="zh-TW" b="1" dirty="0"/>
              <a:t>: HH:MM:SS</a:t>
            </a:r>
          </a:p>
          <a:p>
            <a:pPr lvl="1">
              <a:lnSpc>
                <a:spcPct val="150000"/>
              </a:lnSpc>
            </a:pPr>
            <a:r>
              <a:rPr lang="zh-TW" altLang="en-US" b="1" dirty="0"/>
              <a:t>日期時間</a:t>
            </a:r>
            <a:r>
              <a:rPr lang="en-US" altLang="zh-TW" b="1" dirty="0"/>
              <a:t>: YYYYMMDD</a:t>
            </a:r>
            <a:r>
              <a:rPr lang="zh-TW" altLang="en-US" b="1" dirty="0"/>
              <a:t> </a:t>
            </a:r>
            <a:r>
              <a:rPr lang="en-US" altLang="zh-TW" b="1" dirty="0"/>
              <a:t>HH:MM:SS</a:t>
            </a:r>
          </a:p>
          <a:p>
            <a:pPr>
              <a:lnSpc>
                <a:spcPct val="150000"/>
              </a:lnSpc>
            </a:pPr>
            <a:r>
              <a:rPr lang="zh-TW" altLang="en-US" dirty="0"/>
              <a:t>日期與時間函數</a:t>
            </a:r>
            <a:endParaRPr lang="en-US" altLang="zh-TW" dirty="0"/>
          </a:p>
          <a:p>
            <a:pPr lvl="1">
              <a:lnSpc>
                <a:spcPct val="150000"/>
              </a:lnSpc>
            </a:pPr>
            <a:r>
              <a:rPr lang="en-US" altLang="zh-TW" b="1" dirty="0"/>
              <a:t>date(…) – date(‘2024-08-09’)</a:t>
            </a:r>
          </a:p>
          <a:p>
            <a:pPr lvl="1">
              <a:lnSpc>
                <a:spcPct val="150000"/>
              </a:lnSpc>
            </a:pPr>
            <a:r>
              <a:rPr lang="en-US" altLang="zh-TW" b="1" dirty="0"/>
              <a:t>time(…) – time(‘12:23:08’)</a:t>
            </a:r>
          </a:p>
          <a:p>
            <a:pPr lvl="1">
              <a:lnSpc>
                <a:spcPct val="150000"/>
              </a:lnSpc>
            </a:pPr>
            <a:r>
              <a:rPr lang="en-US" altLang="zh-TW" b="1" dirty="0"/>
              <a:t>datetime(…) – </a:t>
            </a:r>
            <a:r>
              <a:rPr lang="en-US" altLang="zh-TW" b="1" dirty="0" err="1"/>
              <a:t>datatime</a:t>
            </a:r>
            <a:r>
              <a:rPr lang="en-US" altLang="zh-TW" b="1" dirty="0"/>
              <a:t>(‘2024-11-11 11:11:11’)</a:t>
            </a:r>
          </a:p>
          <a:p>
            <a:pPr lvl="1">
              <a:lnSpc>
                <a:spcPct val="150000"/>
              </a:lnSpc>
            </a:pPr>
            <a:r>
              <a:rPr lang="en-US" altLang="zh-TW" b="1" dirty="0" err="1"/>
              <a:t>strftime</a:t>
            </a:r>
            <a:r>
              <a:rPr lang="en-US" altLang="zh-TW" b="1" dirty="0"/>
              <a:t>(…) ref https://</a:t>
            </a:r>
            <a:r>
              <a:rPr lang="en-US" altLang="zh-TW" b="1" dirty="0" err="1"/>
              <a:t>sqlite.org</a:t>
            </a:r>
            <a:r>
              <a:rPr lang="en-US" altLang="zh-TW" b="1" dirty="0"/>
              <a:t>/</a:t>
            </a:r>
            <a:r>
              <a:rPr lang="en-US" altLang="zh-TW" b="1" dirty="0" err="1"/>
              <a:t>lang_datefunc.html</a:t>
            </a:r>
            <a:endParaRPr lang="en-US" altLang="zh-TW" b="1" dirty="0"/>
          </a:p>
          <a:p>
            <a:pPr lvl="1">
              <a:lnSpc>
                <a:spcPct val="150000"/>
              </a:lnSpc>
            </a:pPr>
            <a:r>
              <a:rPr lang="en-US" altLang="zh-TW" b="1" dirty="0" err="1"/>
              <a:t>timediff</a:t>
            </a:r>
            <a:r>
              <a:rPr lang="en-US" altLang="zh-TW" b="1" dirty="0"/>
              <a:t>(…) – </a:t>
            </a:r>
            <a:r>
              <a:rPr lang="en-US" altLang="zh-TW" b="1" dirty="0" err="1"/>
              <a:t>timediff</a:t>
            </a:r>
            <a:r>
              <a:rPr lang="en-US" altLang="zh-TW" b="1" dirty="0"/>
              <a:t>(date1, date2)</a:t>
            </a:r>
            <a:endParaRPr lang="zh-TW" altLang="en-US" b="1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338AE8C-955A-4FBE-BB64-A2ADF936D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D8BD6-C802-4B7A-AAAF-87BE5953DF38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5212D83-616B-4B0F-B0A1-34E83E050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8808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445E4-71AA-402C-9849-37EE921A5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ED264D-739F-4555-A0FA-6329BCF43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作用在數個欄位的完整限制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990600" lvl="1" indent="-533400">
              <a:lnSpc>
                <a:spcPct val="150000"/>
              </a:lnSpc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PRIMARY KEY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：用來設定一資料表的</a:t>
            </a:r>
            <a:r>
              <a:rPr lang="zh-TW" altLang="en-US" sz="24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主鍵</a:t>
            </a:r>
          </a:p>
          <a:p>
            <a:pPr marL="990600" lvl="1" indent="-533400">
              <a:lnSpc>
                <a:spcPct val="150000"/>
              </a:lnSpc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UNIQUE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：該欄位值為</a:t>
            </a:r>
            <a:r>
              <a:rPr lang="zh-TW" altLang="en-US" sz="24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唯一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，通常是用來設定</a:t>
            </a:r>
            <a:r>
              <a:rPr lang="zh-TW" altLang="en-US" sz="24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次要鍵</a:t>
            </a:r>
          </a:p>
          <a:p>
            <a:pPr marL="990600" lvl="1" indent="-533400">
              <a:lnSpc>
                <a:spcPct val="150000"/>
              </a:lnSpc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FOREIGN KEY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：用來設定外部鍵</a:t>
            </a:r>
          </a:p>
          <a:p>
            <a:pPr marL="1371600" lvl="2" indent="-457200">
              <a:lnSpc>
                <a:spcPct val="150000"/>
              </a:lnSpc>
            </a:pPr>
            <a:r>
              <a:rPr lang="en-US" altLang="zh-TW" sz="2000" b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FOREIGN KEY</a:t>
            </a:r>
            <a:r>
              <a:rPr lang="en-US" altLang="zh-TW" sz="2000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REFERENCES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Product(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1371600" lvl="2" indent="-457200">
              <a:lnSpc>
                <a:spcPct val="150000"/>
              </a:lnSpc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FOREIGN KEY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REFERENCES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</a:t>
            </a:r>
          </a:p>
          <a:p>
            <a:pPr marL="971550" lvl="1" indent="-457200">
              <a:lnSpc>
                <a:spcPct val="150000"/>
              </a:lnSpc>
            </a:pP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一筆記錄被刪除或其主鍵值被修改時，其相對應的外部鍵值會受影響。</a:t>
            </a:r>
            <a:endParaRPr lang="en-US" altLang="zh-TW" sz="2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371600" lvl="2" indent="-457200">
              <a:lnSpc>
                <a:spcPct val="150000"/>
              </a:lnSpc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FOREIGN KEY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裡的語法可以設定這些外部鍵值的處理方式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E3C8856-CEC3-44E1-9344-606C357A9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FA7C5-DF82-4F85-9A3D-D92C0D7A152D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2C54D88-E233-40C4-BB32-547F47FE6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2474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E62317-B275-4272-8B8F-6A6A0A69A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限制情況</a:t>
            </a: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C06EC0E5-EDCF-42ED-9055-C519BB8095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9938544"/>
              </p:ext>
            </p:extLst>
          </p:nvPr>
        </p:nvGraphicFramePr>
        <p:xfrm>
          <a:off x="838200" y="1081913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8E3082E-E697-4F67-8D63-F56C5BA8A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391C4-B5F7-406A-AC79-E524857CEEB3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63F26E9-7876-4EEE-9B27-DC5DB5380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5046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0D59B98F-EF49-4EDD-BF61-7A3007C54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啟動</a:t>
            </a:r>
            <a:r>
              <a:rPr lang="en-US" altLang="zh-TW"/>
              <a:t>sqlite3</a:t>
            </a:r>
            <a:r>
              <a:rPr lang="zh-TW" altLang="en-US"/>
              <a:t>及建立資料表 </a:t>
            </a:r>
            <a:r>
              <a:rPr lang="en-US" altLang="zh-TW"/>
              <a:t>‘Transaction’</a:t>
            </a:r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3987E2F-805C-471D-9D37-38878D721045}"/>
              </a:ext>
            </a:extLst>
          </p:cNvPr>
          <p:cNvSpPr txBox="1"/>
          <p:nvPr/>
        </p:nvSpPr>
        <p:spPr>
          <a:xfrm>
            <a:off x="1014413" y="1500188"/>
            <a:ext cx="5157950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(base) PS C:\Streamlit\testWeb&gt; </a:t>
            </a:r>
            <a:r>
              <a:rPr lang="en-US" altLang="zh-TW" b="1">
                <a:solidFill>
                  <a:srgbClr val="0000FF"/>
                </a:solidFill>
              </a:rPr>
              <a:t>sqlite3 webstore.db</a:t>
            </a:r>
          </a:p>
          <a:p>
            <a:r>
              <a:rPr lang="en-US" altLang="zh-TW"/>
              <a:t>SQLite version 3.41.2 2023-03-22 11:56:21</a:t>
            </a:r>
          </a:p>
          <a:p>
            <a:r>
              <a:rPr lang="en-US" altLang="zh-TW"/>
              <a:t>Enter ".help" for usage hints.</a:t>
            </a:r>
          </a:p>
          <a:p>
            <a:r>
              <a:rPr lang="en-US" altLang="zh-TW"/>
              <a:t>sqlite&gt; </a:t>
            </a:r>
            <a:r>
              <a:rPr lang="en-US" altLang="zh-TW" b="1">
                <a:solidFill>
                  <a:srgbClr val="C00000"/>
                </a:solidFill>
              </a:rPr>
              <a:t>.databases</a:t>
            </a:r>
          </a:p>
          <a:p>
            <a:r>
              <a:rPr lang="en-US" altLang="zh-TW"/>
              <a:t>main: C:\Streamlit\testWeb\test.db r/w</a:t>
            </a:r>
          </a:p>
          <a:p>
            <a:r>
              <a:rPr lang="en-US" altLang="zh-TW"/>
              <a:t>sqlite&gt; </a:t>
            </a:r>
            <a:r>
              <a:rPr lang="en-US" altLang="zh-TW" b="1">
                <a:solidFill>
                  <a:srgbClr val="C00000"/>
                </a:solidFill>
              </a:rPr>
              <a:t>create table </a:t>
            </a:r>
            <a:r>
              <a:rPr lang="en-US" altLang="zh-TW"/>
              <a:t>’Transaction' </a:t>
            </a:r>
            <a:r>
              <a:rPr lang="en-US" altLang="zh-TW" b="1">
                <a:solidFill>
                  <a:srgbClr val="0000FF"/>
                </a:solidFill>
              </a:rPr>
              <a:t>(</a:t>
            </a:r>
          </a:p>
          <a:p>
            <a:r>
              <a:rPr lang="en-US" altLang="zh-TW"/>
              <a:t>(x1...&gt; </a:t>
            </a:r>
            <a:r>
              <a:rPr lang="en-US" altLang="zh-TW" sz="1800"/>
              <a:t>tNo   CHAR(5)    NOT NULL,</a:t>
            </a:r>
          </a:p>
          <a:p>
            <a:r>
              <a:rPr lang="en-US" altLang="zh-TW"/>
              <a:t>(x1...&gt; </a:t>
            </a:r>
            <a:r>
              <a:rPr lang="en-US" altLang="zh-TW" sz="1800"/>
              <a:t>transMId    CHAR(8)     NOT NULL,</a:t>
            </a:r>
            <a:endParaRPr lang="en-US" altLang="zh-TW"/>
          </a:p>
          <a:p>
            <a:r>
              <a:rPr lang="en-US" altLang="zh-TW"/>
              <a:t>(x1...&gt; </a:t>
            </a:r>
            <a:r>
              <a:rPr lang="en-US" altLang="zh-TW" sz="1800"/>
              <a:t>transTime   DATETIME  NOT NULL,</a:t>
            </a:r>
            <a:endParaRPr lang="en-US" altLang="zh-TW"/>
          </a:p>
          <a:p>
            <a:r>
              <a:rPr lang="en-US" altLang="zh-TW"/>
              <a:t>(x1...&gt; primary key(</a:t>
            </a:r>
            <a:r>
              <a:rPr lang="en-US" altLang="zh-TW" sz="1800"/>
              <a:t>tNo</a:t>
            </a:r>
            <a:r>
              <a:rPr lang="en-US" altLang="zh-TW"/>
              <a:t>)</a:t>
            </a:r>
          </a:p>
          <a:p>
            <a:r>
              <a:rPr lang="en-US" altLang="zh-TW"/>
              <a:t>(x1...&gt; </a:t>
            </a:r>
            <a:r>
              <a:rPr lang="en-US" altLang="zh-TW" b="1">
                <a:solidFill>
                  <a:srgbClr val="0000FF"/>
                </a:solidFill>
              </a:rPr>
              <a:t>);</a:t>
            </a:r>
          </a:p>
          <a:p>
            <a:r>
              <a:rPr lang="en-US" altLang="zh-TW"/>
              <a:t>sqlite&gt; </a:t>
            </a:r>
            <a:r>
              <a:rPr lang="en-US" altLang="zh-TW" b="1">
                <a:solidFill>
                  <a:srgbClr val="C00000"/>
                </a:solidFill>
              </a:rPr>
              <a:t>.table</a:t>
            </a:r>
          </a:p>
          <a:p>
            <a:r>
              <a:rPr lang="en-US" altLang="zh-TW"/>
              <a:t>Member   student</a:t>
            </a:r>
          </a:p>
          <a:p>
            <a:r>
              <a:rPr lang="en-US" altLang="zh-TW"/>
              <a:t>sqlite&gt; </a:t>
            </a:r>
            <a:r>
              <a:rPr lang="en-US" altLang="zh-TW" b="1">
                <a:solidFill>
                  <a:srgbClr val="C00000"/>
                </a:solidFill>
              </a:rPr>
              <a:t>.save</a:t>
            </a:r>
            <a:r>
              <a:rPr lang="en-US" altLang="zh-TW"/>
              <a:t> </a:t>
            </a:r>
            <a:r>
              <a:rPr lang="en-US" altLang="zh-TW">
                <a:solidFill>
                  <a:srgbClr val="00B050"/>
                </a:solidFill>
              </a:rPr>
              <a:t>test.db</a:t>
            </a:r>
          </a:p>
          <a:p>
            <a:r>
              <a:rPr lang="en-US" altLang="zh-TW"/>
              <a:t>Error: database is locked</a:t>
            </a:r>
          </a:p>
          <a:p>
            <a:r>
              <a:rPr lang="en-US" altLang="zh-TW"/>
              <a:t>sqlite&gt; </a:t>
            </a:r>
            <a:r>
              <a:rPr lang="en-US" altLang="zh-TW" b="1">
                <a:solidFill>
                  <a:srgbClr val="C00000"/>
                </a:solidFill>
              </a:rPr>
              <a:t>.save</a:t>
            </a:r>
            <a:r>
              <a:rPr lang="en-US" altLang="zh-TW"/>
              <a:t> </a:t>
            </a:r>
            <a:r>
              <a:rPr lang="en-US" altLang="zh-TW" b="1">
                <a:solidFill>
                  <a:srgbClr val="7030A0"/>
                </a:solidFill>
              </a:rPr>
              <a:t>test1.db</a:t>
            </a:r>
          </a:p>
          <a:p>
            <a:r>
              <a:rPr lang="en-US" altLang="zh-TW"/>
              <a:t>sqlite&gt; </a:t>
            </a:r>
            <a:r>
              <a:rPr lang="en-US" altLang="zh-TW" b="1">
                <a:solidFill>
                  <a:srgbClr val="C00000"/>
                </a:solidFill>
              </a:rPr>
              <a:t>.quit</a:t>
            </a:r>
          </a:p>
          <a:p>
            <a:r>
              <a:rPr lang="en-US" altLang="zh-TW"/>
              <a:t>(base) PS C:\Streamlit\testWeb&gt;</a:t>
            </a:r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43ADBE-1B3A-428C-ACF7-37348F4D34A1}"/>
              </a:ext>
            </a:extLst>
          </p:cNvPr>
          <p:cNvSpPr/>
          <p:nvPr/>
        </p:nvSpPr>
        <p:spPr>
          <a:xfrm>
            <a:off x="1014413" y="2900363"/>
            <a:ext cx="4009532" cy="1685925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AD8D695-DC84-4CC7-9484-6130D5526127}"/>
              </a:ext>
            </a:extLst>
          </p:cNvPr>
          <p:cNvSpPr txBox="1"/>
          <p:nvPr/>
        </p:nvSpPr>
        <p:spPr>
          <a:xfrm>
            <a:off x="6786563" y="2007394"/>
            <a:ext cx="4900940" cy="327179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>
                <a:latin typeface="Comic Sans MS" panose="030F0702030302020204" pitchFamily="66" charset="0"/>
                <a:ea typeface="微軟正黑體" panose="020B0604030504040204" pitchFamily="34" charset="-120"/>
              </a:rPr>
              <a:t>啟動</a:t>
            </a:r>
            <a:r>
              <a:rPr lang="en-US" altLang="zh-TW" sz="2000">
                <a:latin typeface="Comic Sans MS" panose="030F0702030302020204" pitchFamily="66" charset="0"/>
                <a:ea typeface="微軟正黑體" panose="020B0604030504040204" pitchFamily="34" charset="-120"/>
              </a:rPr>
              <a:t>sqlite3: </a:t>
            </a:r>
            <a:r>
              <a:rPr lang="en-US" altLang="zh-TW" sz="2000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sqlite3</a:t>
            </a:r>
            <a:r>
              <a:rPr lang="en-US" altLang="zh-TW" sz="2000">
                <a:latin typeface="Comic Sans MS" panose="030F0702030302020204" pitchFamily="66" charset="0"/>
                <a:ea typeface="微軟正黑體" panose="020B0604030504040204" pitchFamily="34" charset="-120"/>
              </a:rPr>
              <a:t> webstore.db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>
                <a:latin typeface="Comic Sans MS" panose="030F0702030302020204" pitchFamily="66" charset="0"/>
                <a:ea typeface="微軟正黑體" panose="020B0604030504040204" pitchFamily="34" charset="-120"/>
              </a:rPr>
              <a:t>資料庫列表</a:t>
            </a:r>
            <a:r>
              <a:rPr lang="en-US" altLang="zh-TW" sz="2000">
                <a:latin typeface="Comic Sans MS" panose="030F0702030302020204" pitchFamily="66" charset="0"/>
                <a:ea typeface="微軟正黑體" panose="020B0604030504040204" pitchFamily="34" charset="-120"/>
              </a:rPr>
              <a:t>: </a:t>
            </a:r>
            <a:r>
              <a:rPr lang="en-US" altLang="zh-TW" sz="2000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.databases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>
                <a:latin typeface="Comic Sans MS" panose="030F0702030302020204" pitchFamily="66" charset="0"/>
                <a:ea typeface="微軟正黑體" panose="020B0604030504040204" pitchFamily="34" charset="-120"/>
              </a:rPr>
              <a:t>建立資料表 </a:t>
            </a:r>
            <a:r>
              <a:rPr lang="en-US" altLang="zh-TW" sz="2000">
                <a:latin typeface="Comic Sans MS" panose="030F0702030302020204" pitchFamily="66" charset="0"/>
                <a:ea typeface="微軟正黑體" panose="020B0604030504040204" pitchFamily="34" charset="-120"/>
              </a:rPr>
              <a:t>‘Transaction’</a:t>
            </a:r>
          </a:p>
          <a:p>
            <a:pPr>
              <a:lnSpc>
                <a:spcPct val="150000"/>
              </a:lnSpc>
            </a:pPr>
            <a:r>
              <a:rPr lang="en-US" altLang="zh-TW" sz="2000">
                <a:latin typeface="Comic Sans MS" panose="030F0702030302020204" pitchFamily="66" charset="0"/>
                <a:ea typeface="微軟正黑體" panose="020B0604030504040204" pitchFamily="34" charset="-120"/>
              </a:rPr>
              <a:t>        </a:t>
            </a:r>
            <a:r>
              <a:rPr lang="en-US" altLang="zh-TW" sz="2000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create table </a:t>
            </a:r>
            <a:r>
              <a:rPr lang="en-US" altLang="zh-TW" sz="2000">
                <a:latin typeface="Comic Sans MS" panose="030F0702030302020204" pitchFamily="66" charset="0"/>
                <a:ea typeface="微軟正黑體" panose="020B0604030504040204" pitchFamily="34" charset="-120"/>
              </a:rPr>
              <a:t>‘Transaction’ </a:t>
            </a:r>
            <a:r>
              <a:rPr lang="en-US" altLang="zh-TW" sz="2000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(</a:t>
            </a:r>
            <a:r>
              <a:rPr lang="en-US" altLang="zh-TW" sz="2000">
                <a:latin typeface="Comic Sans MS" panose="030F0702030302020204" pitchFamily="66" charset="0"/>
                <a:ea typeface="微軟正黑體" panose="020B0604030504040204" pitchFamily="34" charset="-120"/>
              </a:rPr>
              <a:t>…</a:t>
            </a:r>
            <a:r>
              <a:rPr lang="en-US" altLang="zh-TW" sz="2000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);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>
                <a:latin typeface="Comic Sans MS" panose="030F0702030302020204" pitchFamily="66" charset="0"/>
                <a:ea typeface="微軟正黑體" panose="020B0604030504040204" pitchFamily="34" charset="-120"/>
              </a:rPr>
              <a:t>資料表列表</a:t>
            </a:r>
            <a:r>
              <a:rPr lang="en-US" altLang="zh-TW" sz="2000">
                <a:latin typeface="Comic Sans MS" panose="030F0702030302020204" pitchFamily="66" charset="0"/>
                <a:ea typeface="微軟正黑體" panose="020B0604030504040204" pitchFamily="34" charset="-120"/>
              </a:rPr>
              <a:t>:</a:t>
            </a:r>
            <a:r>
              <a:rPr lang="zh-TW" altLang="en-US" sz="2000">
                <a:latin typeface="Comic Sans MS" panose="030F0702030302020204" pitchFamily="66" charset="0"/>
                <a:ea typeface="微軟正黑體" panose="020B0604030504040204" pitchFamily="34" charset="-120"/>
              </a:rPr>
              <a:t> </a:t>
            </a:r>
            <a:r>
              <a:rPr lang="en-US" altLang="zh-TW" sz="2000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.table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>
                <a:latin typeface="Comic Sans MS" panose="030F0702030302020204" pitchFamily="66" charset="0"/>
                <a:ea typeface="微軟正黑體" panose="020B0604030504040204" pitchFamily="34" charset="-120"/>
              </a:rPr>
              <a:t>儲存資料庫</a:t>
            </a:r>
            <a:r>
              <a:rPr lang="en-US" altLang="zh-TW" sz="2000">
                <a:latin typeface="Comic Sans MS" panose="030F0702030302020204" pitchFamily="66" charset="0"/>
                <a:ea typeface="微軟正黑體" panose="020B0604030504040204" pitchFamily="34" charset="-120"/>
              </a:rPr>
              <a:t>:</a:t>
            </a:r>
            <a:r>
              <a:rPr lang="zh-TW" altLang="en-US" sz="2000">
                <a:latin typeface="Comic Sans MS" panose="030F0702030302020204" pitchFamily="66" charset="0"/>
                <a:ea typeface="微軟正黑體" panose="020B0604030504040204" pitchFamily="34" charset="-120"/>
              </a:rPr>
              <a:t> </a:t>
            </a:r>
            <a:r>
              <a:rPr lang="en-US" altLang="zh-TW" sz="2000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.save </a:t>
            </a:r>
            <a:r>
              <a:rPr lang="en-US" altLang="zh-TW" sz="2000">
                <a:latin typeface="Comic Sans MS" panose="030F0702030302020204" pitchFamily="66" charset="0"/>
                <a:ea typeface="微軟正黑體" panose="020B0604030504040204" pitchFamily="34" charset="-120"/>
              </a:rPr>
              <a:t>webstore.db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>
                <a:latin typeface="Comic Sans MS" panose="030F0702030302020204" pitchFamily="66" charset="0"/>
                <a:ea typeface="微軟正黑體" panose="020B0604030504040204" pitchFamily="34" charset="-120"/>
              </a:rPr>
              <a:t>離開</a:t>
            </a:r>
            <a:r>
              <a:rPr lang="en-US" altLang="zh-TW" sz="2000">
                <a:latin typeface="Comic Sans MS" panose="030F0702030302020204" pitchFamily="66" charset="0"/>
                <a:ea typeface="微軟正黑體" panose="020B0604030504040204" pitchFamily="34" charset="-120"/>
              </a:rPr>
              <a:t>sqlite3: </a:t>
            </a:r>
            <a:r>
              <a:rPr lang="en-US" altLang="zh-TW" sz="2000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.quit</a:t>
            </a:r>
            <a:endParaRPr lang="zh-TW" altLang="en-US" sz="2000" b="1">
              <a:solidFill>
                <a:srgbClr val="C00000"/>
              </a:solidFill>
              <a:latin typeface="Comic Sans MS" panose="030F0702030302020204" pitchFamily="66" charset="0"/>
              <a:ea typeface="微軟正黑體" panose="020B0604030504040204" pitchFamily="34" charset="-120"/>
            </a:endParaRP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A4AF1E3-FF3A-4F21-A669-416710C34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5165D-3A50-4590-82B5-ACF32EC00168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239DD3C-8F15-426E-8491-4FED7B91F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20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FFB0E62-CE7B-42B5-B3F0-E663F5B82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2" y="205083"/>
            <a:ext cx="797801" cy="79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80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7947B73B-93A7-43C6-B73E-E46E8E9585E6}"/>
              </a:ext>
            </a:extLst>
          </p:cNvPr>
          <p:cNvSpPr txBox="1"/>
          <p:nvPr/>
        </p:nvSpPr>
        <p:spPr>
          <a:xfrm>
            <a:off x="305328" y="548200"/>
            <a:ext cx="6552144" cy="489364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2400" dirty="0"/>
              <a:t>CREATE TABLE  </a:t>
            </a:r>
            <a:r>
              <a:rPr lang="en-US" altLang="zh-TW" sz="2400" dirty="0" err="1"/>
              <a:t>xTransaction</a:t>
            </a:r>
            <a:endParaRPr lang="en-US" altLang="zh-TW" sz="2400" dirty="0"/>
          </a:p>
          <a:p>
            <a:r>
              <a:rPr lang="en-US" altLang="zh-TW" sz="2400" dirty="0"/>
              <a:t>(</a:t>
            </a:r>
          </a:p>
          <a:p>
            <a:r>
              <a:rPr lang="en-US" altLang="zh-TW" sz="2000" dirty="0"/>
              <a:t>	</a:t>
            </a:r>
            <a:r>
              <a:rPr lang="en-US" altLang="zh-TW" sz="2000" dirty="0" err="1"/>
              <a:t>tNo</a:t>
            </a:r>
            <a:r>
              <a:rPr lang="en-US" altLang="zh-TW" sz="2000" dirty="0"/>
              <a:t>              CHAR(5)    </a:t>
            </a:r>
            <a:r>
              <a:rPr lang="en-US" altLang="zh-TW" sz="2000" dirty="0">
                <a:highlight>
                  <a:srgbClr val="FFFF00"/>
                </a:highlight>
              </a:rPr>
              <a:t>NOT NULL</a:t>
            </a:r>
            <a:r>
              <a:rPr lang="en-US" altLang="zh-TW" sz="2000" dirty="0"/>
              <a:t>,</a:t>
            </a:r>
          </a:p>
          <a:p>
            <a:r>
              <a:rPr lang="en-US" altLang="zh-TW" sz="2000" dirty="0"/>
              <a:t>	</a:t>
            </a:r>
            <a:r>
              <a:rPr lang="en-US" altLang="zh-TW" sz="2000" dirty="0" err="1"/>
              <a:t>transMId</a:t>
            </a:r>
            <a:r>
              <a:rPr lang="en-US" altLang="zh-TW" sz="2000" dirty="0"/>
              <a:t>     CHAR(8)       NOT NULL,</a:t>
            </a:r>
          </a:p>
          <a:p>
            <a:r>
              <a:rPr lang="en-US" altLang="zh-TW" sz="2000" dirty="0"/>
              <a:t>	</a:t>
            </a:r>
            <a:r>
              <a:rPr lang="en-US" altLang="zh-TW" sz="2000" dirty="0" err="1"/>
              <a:t>transTime</a:t>
            </a:r>
            <a:r>
              <a:rPr lang="en-US" altLang="zh-TW" sz="2000" dirty="0"/>
              <a:t>   DATETIME  NOT NULL,</a:t>
            </a:r>
          </a:p>
          <a:p>
            <a:r>
              <a:rPr lang="en-US" altLang="zh-TW" sz="2000" dirty="0"/>
              <a:t>	method       VARCHAR(5)     NOT NULL,</a:t>
            </a:r>
          </a:p>
          <a:p>
            <a:r>
              <a:rPr lang="en-US" altLang="zh-TW" sz="2000" dirty="0"/>
              <a:t>	</a:t>
            </a:r>
            <a:r>
              <a:rPr lang="en-US" altLang="zh-TW" sz="2000" dirty="0" err="1"/>
              <a:t>bankId</a:t>
            </a:r>
            <a:r>
              <a:rPr lang="en-US" altLang="zh-TW" sz="2000" dirty="0"/>
              <a:t>        VARCHAR(14),</a:t>
            </a:r>
          </a:p>
          <a:p>
            <a:r>
              <a:rPr lang="en-US" altLang="zh-TW" sz="2000" dirty="0"/>
              <a:t>	</a:t>
            </a:r>
            <a:r>
              <a:rPr lang="en-US" altLang="zh-TW" sz="2000" dirty="0" err="1"/>
              <a:t>bankName</a:t>
            </a:r>
            <a:r>
              <a:rPr lang="en-US" altLang="zh-TW" sz="2000" dirty="0"/>
              <a:t> VARCHAR(20),</a:t>
            </a:r>
          </a:p>
          <a:p>
            <a:r>
              <a:rPr lang="en-US" altLang="zh-TW" sz="2000" dirty="0"/>
              <a:t>	</a:t>
            </a:r>
            <a:r>
              <a:rPr lang="en-US" altLang="zh-TW" sz="2000" dirty="0" err="1"/>
              <a:t>cardId</a:t>
            </a:r>
            <a:r>
              <a:rPr lang="en-US" altLang="zh-TW" sz="2000" dirty="0"/>
              <a:t>         VARCHAR(10),</a:t>
            </a:r>
          </a:p>
          <a:p>
            <a:r>
              <a:rPr lang="en-US" altLang="zh-TW" sz="2000" dirty="0"/>
              <a:t>	</a:t>
            </a:r>
            <a:r>
              <a:rPr lang="en-US" altLang="zh-TW" sz="2000" dirty="0" err="1"/>
              <a:t>cardType</a:t>
            </a:r>
            <a:r>
              <a:rPr lang="en-US" altLang="zh-TW" sz="2000" dirty="0"/>
              <a:t>     VARCHAR(10),</a:t>
            </a:r>
          </a:p>
          <a:p>
            <a:r>
              <a:rPr lang="en-US" altLang="zh-TW" sz="2000" dirty="0"/>
              <a:t>	</a:t>
            </a:r>
            <a:r>
              <a:rPr lang="en-US" altLang="zh-TW" sz="2000" dirty="0" err="1"/>
              <a:t>dueDate</a:t>
            </a:r>
            <a:r>
              <a:rPr lang="en-US" altLang="zh-TW" sz="2000" dirty="0"/>
              <a:t>      DATE,</a:t>
            </a:r>
          </a:p>
          <a:p>
            <a:endParaRPr lang="en-US" altLang="zh-TW" sz="2000" dirty="0"/>
          </a:p>
          <a:p>
            <a:r>
              <a:rPr lang="en-US" altLang="zh-TW" sz="2000" dirty="0"/>
              <a:t>	</a:t>
            </a:r>
            <a:r>
              <a:rPr lang="en-US" altLang="zh-TW" sz="2000" dirty="0">
                <a:highlight>
                  <a:srgbClr val="FFFF00"/>
                </a:highlight>
              </a:rPr>
              <a:t>PRIMARY KEY </a:t>
            </a:r>
            <a:r>
              <a:rPr lang="en-US" altLang="zh-TW" sz="2000" dirty="0"/>
              <a:t>(</a:t>
            </a:r>
            <a:r>
              <a:rPr lang="en-US" altLang="zh-TW" sz="2000" dirty="0" err="1"/>
              <a:t>tNo</a:t>
            </a:r>
            <a:r>
              <a:rPr lang="en-US" altLang="zh-TW" sz="2000" dirty="0"/>
              <a:t>) ,</a:t>
            </a:r>
          </a:p>
          <a:p>
            <a:r>
              <a:rPr lang="en-US" altLang="zh-TW" sz="2000" dirty="0"/>
              <a:t>	</a:t>
            </a:r>
            <a:r>
              <a:rPr lang="en-US" altLang="zh-TW" sz="2000" dirty="0">
                <a:highlight>
                  <a:srgbClr val="FFFF00"/>
                </a:highlight>
              </a:rPr>
              <a:t>FOREIGN KEY </a:t>
            </a:r>
            <a:r>
              <a:rPr lang="en-US" altLang="zh-TW" sz="2000" dirty="0"/>
              <a:t>(</a:t>
            </a:r>
            <a:r>
              <a:rPr lang="en-US" altLang="zh-TW" sz="2000" dirty="0" err="1"/>
              <a:t>transMid</a:t>
            </a:r>
            <a:r>
              <a:rPr lang="en-US" altLang="zh-TW" sz="2000" dirty="0"/>
              <a:t>) </a:t>
            </a:r>
            <a:r>
              <a:rPr lang="en-US" altLang="zh-TW" sz="2000" dirty="0">
                <a:highlight>
                  <a:srgbClr val="FFFF00"/>
                </a:highlight>
              </a:rPr>
              <a:t>REFERENCES</a:t>
            </a:r>
            <a:r>
              <a:rPr lang="en-US" altLang="zh-TW" sz="2000" dirty="0"/>
              <a:t> Member(</a:t>
            </a:r>
            <a:r>
              <a:rPr lang="en-US" altLang="zh-TW" sz="2000" dirty="0" err="1"/>
              <a:t>mId</a:t>
            </a:r>
            <a:r>
              <a:rPr lang="en-US" altLang="zh-TW" sz="2000" dirty="0"/>
              <a:t>)</a:t>
            </a:r>
          </a:p>
          <a:p>
            <a:r>
              <a:rPr lang="en-US" altLang="zh-TW" sz="2400" dirty="0"/>
              <a:t>);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19E93B2-166A-45F3-AB96-044B4DF951ED}"/>
              </a:ext>
            </a:extLst>
          </p:cNvPr>
          <p:cNvSpPr txBox="1"/>
          <p:nvPr/>
        </p:nvSpPr>
        <p:spPr>
          <a:xfrm>
            <a:off x="6936270" y="794568"/>
            <a:ext cx="5071843" cy="1707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b="1">
                <a:solidFill>
                  <a:srgbClr val="0070C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NOT NULL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：</a:t>
            </a:r>
            <a:r>
              <a:rPr lang="zh-TW" altLang="en-US" b="1">
                <a:latin typeface="Comic Sans MS" panose="030F0702030302020204" pitchFamily="66" charset="0"/>
                <a:ea typeface="微軟正黑體" panose="020B0604030504040204" pitchFamily="34" charset="-120"/>
              </a:rPr>
              <a:t>不得為空值</a:t>
            </a:r>
            <a:endParaRPr lang="en-US" altLang="zh-TW" b="1">
              <a:latin typeface="Comic Sans MS" panose="030F0702030302020204" pitchFamily="66" charset="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800" b="1">
                <a:solidFill>
                  <a:srgbClr val="0070C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PRIMARY KEY</a:t>
            </a:r>
            <a:r>
              <a:rPr lang="zh-TW" altLang="en-US" sz="1800">
                <a:latin typeface="Comic Sans MS" panose="030F0702030302020204" pitchFamily="66" charset="0"/>
                <a:ea typeface="微軟正黑體" panose="020B0604030504040204" pitchFamily="34" charset="-120"/>
              </a:rPr>
              <a:t>：</a:t>
            </a:r>
            <a:r>
              <a:rPr lang="zh-TW" altLang="en-US" sz="1800" b="1">
                <a:latin typeface="Comic Sans MS" panose="030F0702030302020204" pitchFamily="66" charset="0"/>
                <a:ea typeface="微軟正黑體" panose="020B0604030504040204" pitchFamily="34" charset="-120"/>
              </a:rPr>
              <a:t>設定資料表的</a:t>
            </a:r>
            <a:r>
              <a:rPr lang="zh-TW" altLang="en-US" sz="1800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主鍵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800" b="1">
                <a:solidFill>
                  <a:srgbClr val="0070C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FOREIGN KEY</a:t>
            </a:r>
            <a:r>
              <a:rPr lang="zh-TW" altLang="en-US" sz="1800">
                <a:latin typeface="Comic Sans MS" panose="030F0702030302020204" pitchFamily="66" charset="0"/>
                <a:ea typeface="微軟正黑體" panose="020B0604030504040204" pitchFamily="34" charset="-120"/>
              </a:rPr>
              <a:t>：</a:t>
            </a:r>
            <a:r>
              <a:rPr lang="zh-TW" altLang="en-US" sz="1800" b="1">
                <a:latin typeface="Comic Sans MS" panose="030F0702030302020204" pitchFamily="66" charset="0"/>
                <a:ea typeface="微軟正黑體" panose="020B0604030504040204" pitchFamily="34" charset="-120"/>
              </a:rPr>
              <a:t>設定</a:t>
            </a:r>
            <a:r>
              <a:rPr lang="zh-TW" altLang="en-US" sz="1800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外部鍵</a:t>
            </a:r>
            <a:endParaRPr lang="en-US" altLang="zh-TW" sz="1800" b="1">
              <a:solidFill>
                <a:srgbClr val="C00000"/>
              </a:solidFill>
              <a:latin typeface="Comic Sans MS" panose="030F0702030302020204" pitchFamily="66" charset="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800" b="1">
                <a:solidFill>
                  <a:srgbClr val="0070C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REFERENCES</a:t>
            </a:r>
            <a:r>
              <a:rPr lang="en-US" altLang="zh-TW" b="1">
                <a:solidFill>
                  <a:srgbClr val="0070C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 </a:t>
            </a:r>
            <a:r>
              <a:rPr lang="en-US" altLang="zh-TW" b="1">
                <a:solidFill>
                  <a:schemeClr val="tx1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:</a:t>
            </a:r>
            <a:r>
              <a:rPr lang="zh-TW" altLang="en-US" b="1">
                <a:solidFill>
                  <a:schemeClr val="tx1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 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外來鍵參考到的資料表項目</a:t>
            </a:r>
            <a:endParaRPr lang="zh-TW" altLang="en-US" sz="1800">
              <a:latin typeface="Comic Sans MS" panose="030F0702030302020204" pitchFamily="66" charset="0"/>
              <a:ea typeface="微軟正黑體" panose="020B0604030504040204" pitchFamily="34" charset="-120"/>
            </a:endParaRP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6DC1DD6-1CAC-4A99-9269-3556CDD7C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79A11-F167-4519-837B-91CFBB27FD15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0772958-52FB-4D72-8164-7581F360B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7882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116ABB-EBE8-4F7C-AB51-6F009DB6A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輸入練習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542226C-4559-40CD-AEA0-952F14C46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拷貝</a:t>
            </a:r>
            <a:r>
              <a:rPr lang="en-US" altLang="zh-TW"/>
              <a:t>(CTRL-C)</a:t>
            </a:r>
            <a:r>
              <a:rPr lang="zh-TW" altLang="en-US"/>
              <a:t> </a:t>
            </a:r>
            <a:r>
              <a:rPr lang="en-US" altLang="zh-TW"/>
              <a:t>Transaction </a:t>
            </a:r>
            <a:r>
              <a:rPr lang="zh-TW" altLang="en-US"/>
              <a:t>資料表</a:t>
            </a:r>
            <a:endParaRPr lang="en-US" altLang="zh-TW"/>
          </a:p>
          <a:p>
            <a:r>
              <a:rPr lang="en-US" altLang="zh-TW"/>
              <a:t>sqlite&gt; </a:t>
            </a:r>
            <a:r>
              <a:rPr lang="zh-TW" altLang="en-US"/>
              <a:t>貼上</a:t>
            </a:r>
            <a:r>
              <a:rPr lang="en-US" altLang="zh-TW"/>
              <a:t>(CTRL-V)</a:t>
            </a:r>
          </a:p>
          <a:p>
            <a:pPr lvl="1"/>
            <a:r>
              <a:rPr lang="zh-TW" altLang="en-US"/>
              <a:t>發生錯誤 </a:t>
            </a:r>
            <a:r>
              <a:rPr lang="en-US" altLang="zh-TW"/>
              <a:t>(</a:t>
            </a:r>
            <a:r>
              <a:rPr lang="en-US" altLang="zh-TW">
                <a:solidFill>
                  <a:srgbClr val="FF0000"/>
                </a:solidFill>
              </a:rPr>
              <a:t>why</a:t>
            </a:r>
            <a:r>
              <a:rPr lang="en-US" altLang="zh-TW"/>
              <a:t>)</a:t>
            </a:r>
          </a:p>
          <a:p>
            <a:pPr lvl="1"/>
            <a:r>
              <a:rPr lang="zh-TW" altLang="en-US"/>
              <a:t>更改 </a:t>
            </a:r>
            <a:r>
              <a:rPr lang="en-US" altLang="zh-TW"/>
              <a:t> </a:t>
            </a:r>
            <a:r>
              <a:rPr lang="zh-TW" altLang="en-US"/>
              <a:t>「</a:t>
            </a:r>
            <a:r>
              <a:rPr lang="en-US" altLang="zh-TW"/>
              <a:t>Transaction</a:t>
            </a:r>
            <a:r>
              <a:rPr lang="zh-TW" altLang="en-US"/>
              <a:t>」</a:t>
            </a:r>
            <a:r>
              <a:rPr lang="en-US" altLang="zh-TW">
                <a:sym typeface="Wingdings" panose="05000000000000000000" pitchFamily="2" charset="2"/>
              </a:rPr>
              <a:t></a:t>
            </a:r>
            <a:endParaRPr lang="en-US" altLang="zh-TW"/>
          </a:p>
          <a:p>
            <a:pPr lvl="1"/>
            <a:r>
              <a:rPr lang="zh-TW" altLang="en-US"/>
              <a:t>「</a:t>
            </a:r>
            <a:r>
              <a:rPr lang="en-US" altLang="zh-TW"/>
              <a:t>xTransaction</a:t>
            </a:r>
            <a:r>
              <a:rPr lang="zh-TW" altLang="en-US"/>
              <a:t>」</a:t>
            </a:r>
            <a:endParaRPr lang="en-US" altLang="zh-TW"/>
          </a:p>
          <a:p>
            <a:r>
              <a:rPr lang="en-US" altLang="zh-TW"/>
              <a:t>.tables</a:t>
            </a:r>
          </a:p>
          <a:p>
            <a:pPr marL="0" indent="0">
              <a:buNone/>
            </a:pPr>
            <a:endParaRPr lang="en-US" altLang="zh-TW"/>
          </a:p>
          <a:p>
            <a:endParaRPr lang="en-US" altLang="zh-TW"/>
          </a:p>
          <a:p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F59529-67AC-470D-82F5-BBFAABD0B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36705-3AF2-4423-AE12-3D338DDEC00A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AE06085-2620-4470-A000-2879B2D87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22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1037C90-968D-4562-A8C0-E66369828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825" y="1754218"/>
            <a:ext cx="7419499" cy="405764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398252F-F6C1-47ED-9EC9-90EFF842F6DE}"/>
              </a:ext>
            </a:extLst>
          </p:cNvPr>
          <p:cNvSpPr/>
          <p:nvPr/>
        </p:nvSpPr>
        <p:spPr>
          <a:xfrm>
            <a:off x="10915650" y="3276600"/>
            <a:ext cx="1009650" cy="152400"/>
          </a:xfrm>
          <a:prstGeom prst="rect">
            <a:avLst/>
          </a:prstGeom>
          <a:solidFill>
            <a:srgbClr val="FFFF00">
              <a:alpha val="32157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68D3F40-506A-40D7-A3B9-03FE924AD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9702" y="205083"/>
            <a:ext cx="797801" cy="79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010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3067E8CF-6345-4461-B6C3-40BED3057F95}"/>
              </a:ext>
            </a:extLst>
          </p:cNvPr>
          <p:cNvSpPr txBox="1"/>
          <p:nvPr/>
        </p:nvSpPr>
        <p:spPr>
          <a:xfrm>
            <a:off x="554209" y="1076443"/>
            <a:ext cx="5825570" cy="378565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2000"/>
              <a:t>CREATE TABLE Browse</a:t>
            </a:r>
          </a:p>
          <a:p>
            <a:r>
              <a:rPr lang="en-US" altLang="zh-TW" sz="2000"/>
              <a:t>(</a:t>
            </a:r>
          </a:p>
          <a:p>
            <a:r>
              <a:rPr lang="en-US" altLang="zh-TW" sz="2000"/>
              <a:t>      mId       CHAR(8)  NOT NULL </a:t>
            </a:r>
            <a:r>
              <a:rPr lang="en-US" altLang="zh-TW" sz="2000">
                <a:highlight>
                  <a:srgbClr val="FFFF00"/>
                </a:highlight>
              </a:rPr>
              <a:t>DEFAULT</a:t>
            </a:r>
            <a:r>
              <a:rPr lang="en-US" altLang="zh-TW" sz="2000"/>
              <a:t>  'a0910001',</a:t>
            </a:r>
          </a:p>
          <a:p>
            <a:r>
              <a:rPr lang="en-US" altLang="zh-TW" sz="2000"/>
              <a:t>      pNo       CHAR(6)   NOT NULL,</a:t>
            </a:r>
          </a:p>
          <a:p>
            <a:r>
              <a:rPr lang="en-US" altLang="zh-TW" sz="2000"/>
              <a:t>      browseTime  DATETIME  NOT NULL,     </a:t>
            </a:r>
          </a:p>
          <a:p>
            <a:r>
              <a:rPr lang="en-US" altLang="zh-TW" sz="2000"/>
              <a:t>      </a:t>
            </a:r>
          </a:p>
          <a:p>
            <a:r>
              <a:rPr lang="en-US" altLang="zh-TW" sz="2000"/>
              <a:t>PRIMARY KEY (mId, pNo, browseTime ),</a:t>
            </a:r>
          </a:p>
          <a:p>
            <a:r>
              <a:rPr lang="en-US" altLang="zh-TW" sz="2000">
                <a:highlight>
                  <a:srgbClr val="FFFF00"/>
                </a:highlight>
              </a:rPr>
              <a:t>FOREIGN KEY </a:t>
            </a:r>
            <a:r>
              <a:rPr lang="en-US" altLang="zh-TW" sz="2000"/>
              <a:t>(mId) </a:t>
            </a:r>
            <a:r>
              <a:rPr lang="en-US" altLang="zh-TW" sz="2000">
                <a:highlight>
                  <a:srgbClr val="FFFF00"/>
                </a:highlight>
              </a:rPr>
              <a:t>REFERENCES </a:t>
            </a:r>
            <a:r>
              <a:rPr lang="en-US" altLang="zh-TW" sz="2000"/>
              <a:t>Member(mId)</a:t>
            </a:r>
          </a:p>
          <a:p>
            <a:r>
              <a:rPr lang="en-US" altLang="zh-TW" sz="2000">
                <a:highlight>
                  <a:srgbClr val="FFFF00"/>
                </a:highlight>
              </a:rPr>
              <a:t>ON DELETE SET DEFAULT </a:t>
            </a:r>
            <a:r>
              <a:rPr lang="en-US" altLang="zh-TW" sz="2000"/>
              <a:t> </a:t>
            </a:r>
            <a:r>
              <a:rPr lang="en-US" altLang="zh-TW" sz="2000">
                <a:highlight>
                  <a:srgbClr val="FFFF00"/>
                </a:highlight>
              </a:rPr>
              <a:t>ON UPDATE CASCADE </a:t>
            </a:r>
            <a:r>
              <a:rPr lang="en-US" altLang="zh-TW" sz="2000"/>
              <a:t>,</a:t>
            </a:r>
          </a:p>
          <a:p>
            <a:r>
              <a:rPr lang="en-US" altLang="zh-TW" sz="2000"/>
              <a:t>FOREIGN KEY (pNo) REFERENCES Product (pNo)</a:t>
            </a:r>
          </a:p>
          <a:p>
            <a:endParaRPr lang="en-US" altLang="zh-TW" sz="2000"/>
          </a:p>
          <a:p>
            <a:r>
              <a:rPr lang="en-US" altLang="zh-TW" sz="2000"/>
              <a:t>);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78C5EC1-E4E2-493D-B5EC-6A10A8BD2BB2}"/>
              </a:ext>
            </a:extLst>
          </p:cNvPr>
          <p:cNvSpPr txBox="1"/>
          <p:nvPr/>
        </p:nvSpPr>
        <p:spPr>
          <a:xfrm>
            <a:off x="6484883" y="1076443"/>
            <a:ext cx="5620526" cy="421653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外來鍵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(foreign key)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是一個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(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或數個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)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指向另一個表格主鍵的欄位。</a:t>
            </a:r>
            <a:endParaRPr lang="en-US" altLang="zh-TW">
              <a:latin typeface="Comic Sans MS" panose="030F0702030302020204" pitchFamily="66" charset="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外來鍵用來確定資料的參考完整性 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(Referential Integrity)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。只有被准許的資料值才會被存入資料庫內。</a:t>
            </a:r>
            <a:endParaRPr lang="en-US" altLang="zh-TW">
              <a:latin typeface="Comic Sans MS" panose="030F0702030302020204" pitchFamily="66" charset="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在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Browse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中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mId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的資料在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Member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中的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mId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一定要存在。</a:t>
            </a:r>
            <a:endParaRPr lang="en-US" altLang="zh-TW">
              <a:latin typeface="Comic Sans MS" panose="030F0702030302020204" pitchFamily="66" charset="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600" b="1">
                <a:latin typeface="Comic Sans MS" panose="030F0702030302020204" pitchFamily="66" charset="0"/>
                <a:ea typeface="微軟正黑體" panose="020B0604030504040204" pitchFamily="34" charset="-120"/>
              </a:rPr>
              <a:t>foreign key(</a:t>
            </a:r>
            <a:r>
              <a:rPr lang="en-US" altLang="zh-TW" sz="1600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browse</a:t>
            </a:r>
            <a:r>
              <a:rPr lang="en-US" altLang="zh-TW" sz="1600" b="1">
                <a:latin typeface="Comic Sans MS" panose="030F0702030302020204" pitchFamily="66" charset="0"/>
                <a:ea typeface="微軟正黑體" panose="020B0604030504040204" pitchFamily="34" charset="-120"/>
              </a:rPr>
              <a:t>) </a:t>
            </a:r>
            <a:r>
              <a:rPr lang="en-US" altLang="zh-TW" sz="1600" b="1">
                <a:latin typeface="Comic Sans MS" panose="030F0702030302020204" pitchFamily="66" charset="0"/>
                <a:ea typeface="微軟正黑體" panose="020B0604030504040204" pitchFamily="34" charset="-120"/>
                <a:sym typeface="Wingdings" panose="05000000000000000000" pitchFamily="2" charset="2"/>
              </a:rPr>
              <a:t> references(</a:t>
            </a:r>
            <a:r>
              <a:rPr lang="en-US" altLang="zh-TW" sz="1600" b="1">
                <a:solidFill>
                  <a:srgbClr val="0070C0"/>
                </a:solidFill>
                <a:latin typeface="Comic Sans MS" panose="030F0702030302020204" pitchFamily="66" charset="0"/>
                <a:ea typeface="微軟正黑體" panose="020B0604030504040204" pitchFamily="34" charset="-120"/>
                <a:sym typeface="Wingdings" panose="05000000000000000000" pitchFamily="2" charset="2"/>
              </a:rPr>
              <a:t>member</a:t>
            </a:r>
            <a:r>
              <a:rPr lang="en-US" altLang="zh-TW" sz="1600" b="1">
                <a:latin typeface="Comic Sans MS" panose="030F0702030302020204" pitchFamily="66" charset="0"/>
                <a:ea typeface="微軟正黑體" panose="020B0604030504040204" pitchFamily="34" charset="-120"/>
                <a:sym typeface="Wingdings" panose="05000000000000000000" pitchFamily="2" charset="2"/>
              </a:rPr>
              <a:t>)</a:t>
            </a:r>
            <a:endParaRPr lang="en-US" altLang="zh-TW" sz="1600" b="1">
              <a:latin typeface="Comic Sans MS" panose="030F0702030302020204" pitchFamily="66" charset="0"/>
              <a:ea typeface="微軟正黑體" panose="020B0604030504040204" pitchFamily="34" charset="-120"/>
            </a:endParaRPr>
          </a:p>
          <a:p>
            <a:endParaRPr lang="en-US" altLang="zh-TW">
              <a:latin typeface="Comic Sans MS" panose="030F0702030302020204" pitchFamily="66" charset="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>
                <a:solidFill>
                  <a:srgbClr val="0070C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ON DELETE SET DEFAULT</a:t>
            </a:r>
            <a:r>
              <a:rPr lang="en-US" altLang="zh-TW" b="1">
                <a:latin typeface="Comic Sans MS" panose="030F0702030302020204" pitchFamily="66" charset="0"/>
                <a:ea typeface="微軟正黑體" panose="020B0604030504040204" pitchFamily="34" charset="-120"/>
              </a:rPr>
              <a:t>: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一筆記錄被刪除時，所有參考它的外部鍵值全部變成預設值</a:t>
            </a:r>
          </a:p>
          <a:p>
            <a:endParaRPr lang="en-US" altLang="zh-TW">
              <a:latin typeface="Comic Sans MS" panose="030F0702030302020204" pitchFamily="66" charset="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>
                <a:solidFill>
                  <a:srgbClr val="0070C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ON UPDATE CASCADE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: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一筆記錄的主鍵值被修改時，所有參考它的外部鍵值全部跟著修改</a:t>
            </a:r>
          </a:p>
          <a:p>
            <a:endParaRPr lang="zh-TW" altLang="en-US">
              <a:latin typeface="Comic Sans MS" panose="030F0702030302020204" pitchFamily="66" charset="0"/>
              <a:ea typeface="微軟正黑體" panose="020B0604030504040204" pitchFamily="34" charset="-120"/>
            </a:endParaRP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3620B6B-17A6-4E99-8089-4A2056B7C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48D55-34C3-4D09-964E-BDBD99034B7B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09EA72-EE06-4F77-933C-D638F21A7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1782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ECB294B-3DB7-44FF-A39F-857036115A5F}"/>
              </a:ext>
            </a:extLst>
          </p:cNvPr>
          <p:cNvSpPr txBox="1"/>
          <p:nvPr/>
        </p:nvSpPr>
        <p:spPr>
          <a:xfrm>
            <a:off x="626422" y="1145785"/>
            <a:ext cx="6011883" cy="378565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2400" dirty="0"/>
              <a:t>CREATE TABLE Product</a:t>
            </a:r>
          </a:p>
          <a:p>
            <a:r>
              <a:rPr lang="en-US" altLang="zh-TW" sz="2400" dirty="0"/>
              <a:t>( 	</a:t>
            </a:r>
          </a:p>
          <a:p>
            <a:r>
              <a:rPr lang="en-US" altLang="zh-TW" sz="2400" dirty="0"/>
              <a:t>	</a:t>
            </a:r>
            <a:r>
              <a:rPr lang="en-US" altLang="zh-TW" sz="2400" dirty="0" err="1"/>
              <a:t>pNo</a:t>
            </a:r>
            <a:r>
              <a:rPr lang="en-US" altLang="zh-TW" sz="2400" dirty="0"/>
              <a:t>         CHAR(6)     NOT NULL,</a:t>
            </a:r>
          </a:p>
          <a:p>
            <a:r>
              <a:rPr lang="en-US" altLang="zh-TW" sz="2400" dirty="0"/>
              <a:t>	</a:t>
            </a:r>
            <a:r>
              <a:rPr lang="en-US" altLang="zh-TW" sz="2400" dirty="0" err="1"/>
              <a:t>pName</a:t>
            </a:r>
            <a:r>
              <a:rPr lang="en-US" altLang="zh-TW" sz="2400" dirty="0"/>
              <a:t>        VARCHAR(30),</a:t>
            </a:r>
          </a:p>
          <a:p>
            <a:r>
              <a:rPr lang="en-US" altLang="zh-TW" sz="2400" dirty="0"/>
              <a:t>	</a:t>
            </a:r>
            <a:r>
              <a:rPr lang="en-US" altLang="zh-TW" sz="2400" dirty="0" err="1"/>
              <a:t>unitPrice</a:t>
            </a:r>
            <a:r>
              <a:rPr lang="en-US" altLang="zh-TW" sz="2400" dirty="0"/>
              <a:t>      DECIMAL(10,2),</a:t>
            </a:r>
          </a:p>
          <a:p>
            <a:r>
              <a:rPr lang="en-US" altLang="zh-TW" sz="2400" dirty="0"/>
              <a:t>	category      VARCHAR(20),</a:t>
            </a:r>
          </a:p>
          <a:p>
            <a:r>
              <a:rPr lang="en-US" altLang="zh-TW" sz="2400" dirty="0"/>
              <a:t>	PRIMARY KEY (</a:t>
            </a:r>
            <a:r>
              <a:rPr lang="en-US" altLang="zh-TW" sz="2400" dirty="0" err="1"/>
              <a:t>pNo</a:t>
            </a:r>
            <a:r>
              <a:rPr lang="en-US" altLang="zh-TW" sz="2400" dirty="0"/>
              <a:t> ),</a:t>
            </a:r>
          </a:p>
          <a:p>
            <a:r>
              <a:rPr lang="en-US" altLang="zh-TW" sz="2400" dirty="0"/>
              <a:t>	</a:t>
            </a:r>
            <a:r>
              <a:rPr lang="en-US" altLang="zh-TW" sz="2400" dirty="0">
                <a:highlight>
                  <a:srgbClr val="FFFF00"/>
                </a:highlight>
              </a:rPr>
              <a:t>CONSTRAINT</a:t>
            </a:r>
            <a:r>
              <a:rPr lang="en-US" altLang="zh-TW" sz="2400" dirty="0"/>
              <a:t> </a:t>
            </a:r>
            <a:r>
              <a:rPr lang="en-US" altLang="zh-TW" sz="2400" dirty="0" err="1"/>
              <a:t>UnitPrice_Check</a:t>
            </a:r>
            <a:endParaRPr lang="en-US" altLang="zh-TW" sz="2400" dirty="0"/>
          </a:p>
          <a:p>
            <a:r>
              <a:rPr lang="en-US" altLang="zh-TW" sz="2400" dirty="0"/>
              <a:t>	</a:t>
            </a:r>
            <a:r>
              <a:rPr lang="en-US" altLang="zh-TW" sz="2400" dirty="0">
                <a:highlight>
                  <a:srgbClr val="FFFF00"/>
                </a:highlight>
              </a:rPr>
              <a:t>CHECK</a:t>
            </a:r>
            <a:r>
              <a:rPr lang="en-US" altLang="zh-TW" sz="2400" dirty="0"/>
              <a:t> (</a:t>
            </a:r>
            <a:r>
              <a:rPr lang="en-US" altLang="zh-TW" sz="2400" dirty="0" err="1"/>
              <a:t>unitPrice</a:t>
            </a:r>
            <a:r>
              <a:rPr lang="en-US" altLang="zh-TW" sz="2400" dirty="0"/>
              <a:t> &gt; 100)</a:t>
            </a:r>
          </a:p>
          <a:p>
            <a:r>
              <a:rPr lang="en-US" altLang="zh-TW" sz="2400" dirty="0"/>
              <a:t>);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AF290FC-8313-4872-81F6-D019FE1828AB}"/>
              </a:ext>
            </a:extLst>
          </p:cNvPr>
          <p:cNvSpPr txBox="1"/>
          <p:nvPr/>
        </p:nvSpPr>
        <p:spPr>
          <a:xfrm>
            <a:off x="7113050" y="1334295"/>
            <a:ext cx="4343400" cy="120032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altLang="zh-TW" b="1">
                <a:solidFill>
                  <a:srgbClr val="0070C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CHECK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 (</a:t>
            </a:r>
            <a:r>
              <a:rPr lang="en-US" altLang="zh-TW">
                <a:solidFill>
                  <a:srgbClr val="7030A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unitPrice &gt; 100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)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 確保 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unitprice 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大於 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100, </a:t>
            </a:r>
            <a:r>
              <a:rPr lang="en-US" altLang="zh-TW" b="1">
                <a:solidFill>
                  <a:srgbClr val="0070C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CONSTRAINT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 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用於建立一個</a:t>
            </a:r>
            <a:r>
              <a:rPr lang="en-US" altLang="zh-TW" u="sng">
                <a:latin typeface="Comic Sans MS" panose="030F0702030302020204" pitchFamily="66" charset="0"/>
                <a:ea typeface="微軟正黑體" panose="020B0604030504040204" pitchFamily="34" charset="-120"/>
              </a:rPr>
              <a:t>CHECK</a:t>
            </a:r>
            <a:r>
              <a:rPr lang="zh-TW" altLang="en-US" u="sng">
                <a:latin typeface="Comic Sans MS" panose="030F0702030302020204" pitchFamily="66" charset="0"/>
                <a:ea typeface="微軟正黑體" panose="020B0604030504040204" pitchFamily="34" charset="-120"/>
              </a:rPr>
              <a:t>標籤</a:t>
            </a:r>
            <a:r>
              <a:rPr lang="en-US" altLang="zh-TW" u="sng">
                <a:latin typeface="Comic Sans MS" panose="030F0702030302020204" pitchFamily="66" charset="0"/>
                <a:ea typeface="微軟正黑體" panose="020B0604030504040204" pitchFamily="34" charset="-120"/>
              </a:rPr>
              <a:t>(</a:t>
            </a:r>
            <a:r>
              <a:rPr lang="zh-TW" altLang="en-US" u="sng">
                <a:latin typeface="Comic Sans MS" panose="030F0702030302020204" pitchFamily="66" charset="0"/>
                <a:ea typeface="微軟正黑體" panose="020B0604030504040204" pitchFamily="34" charset="-120"/>
              </a:rPr>
              <a:t>變數</a:t>
            </a:r>
            <a:r>
              <a:rPr lang="en-US" altLang="zh-TW" u="sng">
                <a:latin typeface="Comic Sans MS" panose="030F0702030302020204" pitchFamily="66" charset="0"/>
                <a:ea typeface="微軟正黑體" panose="020B0604030504040204" pitchFamily="34" charset="-120"/>
              </a:rPr>
              <a:t>)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，可用於當要修改資料表時 </a:t>
            </a:r>
            <a:r>
              <a:rPr lang="en-US" altLang="zh-TW" b="1">
                <a:solidFill>
                  <a:srgbClr val="0070C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DROP CHECK 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[</a:t>
            </a:r>
            <a:r>
              <a:rPr lang="en-US" altLang="zh-TW">
                <a:solidFill>
                  <a:srgbClr val="00B05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CHECK</a:t>
            </a:r>
            <a:r>
              <a:rPr lang="zh-TW" altLang="en-US">
                <a:solidFill>
                  <a:srgbClr val="00B05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標籤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]</a:t>
            </a: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8EBA753-3FD8-43BF-9171-CC938DF4A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DF32B-5DD1-4DFB-B39F-6C02ABC2C1DF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7594541-AF79-4E3D-B94B-9E4B77AE8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2907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2B2060-8370-4450-BA4B-3C962273F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輸入練習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5BD0BA-ED1E-42E2-9DC7-0F77C66FD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將</a:t>
            </a:r>
            <a:r>
              <a:rPr lang="en-US" altLang="zh-TW"/>
              <a:t>product</a:t>
            </a:r>
            <a:r>
              <a:rPr lang="zh-TW" altLang="en-US"/>
              <a:t>及</a:t>
            </a:r>
            <a:r>
              <a:rPr lang="en-US" altLang="zh-TW"/>
              <a:t>browse</a:t>
            </a:r>
            <a:r>
              <a:rPr lang="zh-TW" altLang="en-US"/>
              <a:t>資料表結構存入桌面 </a:t>
            </a:r>
            <a:r>
              <a:rPr lang="en-US" altLang="zh-TW"/>
              <a:t>sqlcode.sql </a:t>
            </a:r>
            <a:r>
              <a:rPr lang="zh-TW" altLang="en-US"/>
              <a:t>檔案中</a:t>
            </a:r>
            <a:endParaRPr lang="en-US" altLang="zh-TW"/>
          </a:p>
          <a:p>
            <a:r>
              <a:rPr lang="zh-TW" altLang="en-US"/>
              <a:t>在</a:t>
            </a:r>
            <a:r>
              <a:rPr lang="en-US" altLang="zh-TW"/>
              <a:t>sqlite</a:t>
            </a:r>
            <a:r>
              <a:rPr lang="zh-TW" altLang="en-US"/>
              <a:t>利用 </a:t>
            </a:r>
            <a:r>
              <a:rPr lang="en-US" altLang="zh-TW"/>
              <a:t>.read </a:t>
            </a:r>
            <a:r>
              <a:rPr lang="zh-TW" altLang="en-US"/>
              <a:t>指令讀取 </a:t>
            </a:r>
            <a:r>
              <a:rPr lang="en-US" altLang="zh-TW"/>
              <a:t>.sql </a:t>
            </a:r>
            <a:r>
              <a:rPr lang="zh-TW" altLang="en-US"/>
              <a:t>檔案，並執行</a:t>
            </a:r>
            <a:endParaRPr lang="en-US" altLang="zh-TW"/>
          </a:p>
          <a:p>
            <a:pPr lvl="1"/>
            <a:r>
              <a:rPr lang="en-US" altLang="zh-TW" b="1">
                <a:solidFill>
                  <a:srgbClr val="0000FF"/>
                </a:solidFill>
              </a:rPr>
              <a:t>.read </a:t>
            </a:r>
            <a:r>
              <a:rPr lang="en-US" altLang="zh-TW"/>
              <a:t>c:\users\user\desktop\product.sql</a:t>
            </a:r>
            <a:r>
              <a:rPr lang="zh-TW" altLang="en-US"/>
              <a:t> </a:t>
            </a:r>
            <a:r>
              <a:rPr lang="en-US" altLang="zh-TW"/>
              <a:t>(</a:t>
            </a:r>
            <a:r>
              <a:rPr lang="zh-TW" altLang="en-US"/>
              <a:t>讀入 </a:t>
            </a:r>
            <a:r>
              <a:rPr lang="en-US" altLang="zh-TW"/>
              <a:t>.sql</a:t>
            </a:r>
            <a:r>
              <a:rPr lang="zh-TW" altLang="en-US"/>
              <a:t> 檔並執行</a:t>
            </a:r>
            <a:r>
              <a:rPr lang="en-US" altLang="zh-TW"/>
              <a:t>)</a:t>
            </a:r>
          </a:p>
          <a:p>
            <a:pPr lvl="1"/>
            <a:r>
              <a:rPr lang="zh-TW" altLang="en-US"/>
              <a:t>利用 </a:t>
            </a:r>
            <a:r>
              <a:rPr lang="en-US" altLang="zh-TW"/>
              <a:t>.table </a:t>
            </a:r>
            <a:r>
              <a:rPr lang="zh-TW" altLang="en-US"/>
              <a:t>及 </a:t>
            </a:r>
            <a:r>
              <a:rPr lang="en-US" altLang="zh-TW"/>
              <a:t>.schema </a:t>
            </a:r>
            <a:r>
              <a:rPr lang="zh-TW" altLang="en-US"/>
              <a:t>檢查是否存在 </a:t>
            </a:r>
            <a:r>
              <a:rPr lang="en-US" altLang="zh-TW"/>
              <a:t>product</a:t>
            </a:r>
            <a:r>
              <a:rPr lang="zh-TW" altLang="en-US"/>
              <a:t>與</a:t>
            </a:r>
            <a:r>
              <a:rPr lang="en-US" altLang="zh-TW"/>
              <a:t>browse</a:t>
            </a:r>
            <a:r>
              <a:rPr lang="zh-TW" altLang="en-US"/>
              <a:t>資料表</a:t>
            </a:r>
            <a:endParaRPr lang="en-US" altLang="zh-TW"/>
          </a:p>
          <a:p>
            <a:pPr lvl="1"/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9B741BF-372E-4DE3-8614-83557C811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FE504-B011-41A2-8FC9-AF0371E0717B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CD6E8EB-F9AA-4485-BAEB-E77CA9CFE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25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2C17752-9D2D-4F79-A53B-5A0FFE9854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6" b="3518"/>
          <a:stretch/>
        </p:blipFill>
        <p:spPr>
          <a:xfrm>
            <a:off x="2346435" y="2784741"/>
            <a:ext cx="6264165" cy="316099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C31990CB-175C-4CF2-8BFB-1339F8C38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9702" y="205083"/>
            <a:ext cx="797801" cy="79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597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EFF924-3A54-4971-A0C9-7F957E0D6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查詢資料表結構</a:t>
            </a:r>
            <a:r>
              <a:rPr lang="en-US" altLang="zh-TW"/>
              <a:t>(schema)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EC9364-9407-4245-BB34-C0F7D51F0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/>
              <a:t>.schema tableName</a:t>
            </a:r>
          </a:p>
          <a:p>
            <a:r>
              <a:rPr lang="en-US" altLang="zh-TW"/>
              <a:t>PRAGMA table_info(tableName);</a:t>
            </a:r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C2726F3-9513-43D5-B94C-6C84E4F3F10D}"/>
              </a:ext>
            </a:extLst>
          </p:cNvPr>
          <p:cNvSpPr txBox="1"/>
          <p:nvPr/>
        </p:nvSpPr>
        <p:spPr>
          <a:xfrm>
            <a:off x="206780" y="2819459"/>
            <a:ext cx="4380460" cy="31393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>
                <a:latin typeface="Georgia" panose="02040502050405020303" pitchFamily="18" charset="0"/>
                <a:ea typeface="+mj-ea"/>
                <a:cs typeface="Arial" panose="020B0604020202020204" pitchFamily="34" charset="0"/>
              </a:rPr>
              <a:t>sqlite&gt; .schema Product</a:t>
            </a:r>
          </a:p>
          <a:p>
            <a:r>
              <a:rPr lang="en-US" altLang="zh-TW">
                <a:latin typeface="Georgia" panose="02040502050405020303" pitchFamily="18" charset="0"/>
                <a:ea typeface="+mj-ea"/>
                <a:cs typeface="Arial" panose="020B0604020202020204" pitchFamily="34" charset="0"/>
              </a:rPr>
              <a:t>CREATE TABLE Product</a:t>
            </a:r>
          </a:p>
          <a:p>
            <a:r>
              <a:rPr lang="en-US" altLang="zh-TW">
                <a:latin typeface="Georgia" panose="02040502050405020303" pitchFamily="18" charset="0"/>
                <a:ea typeface="+mj-ea"/>
                <a:cs typeface="Arial" panose="020B0604020202020204" pitchFamily="34" charset="0"/>
              </a:rPr>
              <a:t>(</a:t>
            </a:r>
          </a:p>
          <a:p>
            <a:r>
              <a:rPr lang="en-US" altLang="zh-TW">
                <a:latin typeface="Georgia" panose="02040502050405020303" pitchFamily="18" charset="0"/>
                <a:ea typeface="+mj-ea"/>
                <a:cs typeface="Arial" panose="020B0604020202020204" pitchFamily="34" charset="0"/>
              </a:rPr>
              <a:t>     pNo         CHAR(6)     NOT NULL,</a:t>
            </a:r>
          </a:p>
          <a:p>
            <a:r>
              <a:rPr lang="en-US" altLang="zh-TW">
                <a:latin typeface="Georgia" panose="02040502050405020303" pitchFamily="18" charset="0"/>
                <a:ea typeface="+mj-ea"/>
                <a:cs typeface="Arial" panose="020B0604020202020204" pitchFamily="34" charset="0"/>
              </a:rPr>
              <a:t>     pName        VARCHAR(30),</a:t>
            </a:r>
          </a:p>
          <a:p>
            <a:r>
              <a:rPr lang="en-US" altLang="zh-TW">
                <a:latin typeface="Georgia" panose="02040502050405020303" pitchFamily="18" charset="0"/>
                <a:ea typeface="+mj-ea"/>
                <a:cs typeface="Arial" panose="020B0604020202020204" pitchFamily="34" charset="0"/>
              </a:rPr>
              <a:t>     unitPrice      DECIMAL(10,2),</a:t>
            </a:r>
          </a:p>
          <a:p>
            <a:r>
              <a:rPr lang="en-US" altLang="zh-TW">
                <a:latin typeface="Georgia" panose="02040502050405020303" pitchFamily="18" charset="0"/>
                <a:ea typeface="+mj-ea"/>
                <a:cs typeface="Arial" panose="020B0604020202020204" pitchFamily="34" charset="0"/>
              </a:rPr>
              <a:t>     category      VARCHAR(20),</a:t>
            </a:r>
          </a:p>
          <a:p>
            <a:r>
              <a:rPr lang="en-US" altLang="zh-TW">
                <a:latin typeface="Georgia" panose="02040502050405020303" pitchFamily="18" charset="0"/>
                <a:ea typeface="+mj-ea"/>
                <a:cs typeface="Arial" panose="020B0604020202020204" pitchFamily="34" charset="0"/>
              </a:rPr>
              <a:t>     PRIMARY KEY (pNo ),</a:t>
            </a:r>
          </a:p>
          <a:p>
            <a:r>
              <a:rPr lang="en-US" altLang="zh-TW">
                <a:latin typeface="Georgia" panose="02040502050405020303" pitchFamily="18" charset="0"/>
                <a:ea typeface="+mj-ea"/>
                <a:cs typeface="Arial" panose="020B0604020202020204" pitchFamily="34" charset="0"/>
              </a:rPr>
              <a:t>     CONSTRAINT UnitPrice_Check</a:t>
            </a:r>
          </a:p>
          <a:p>
            <a:r>
              <a:rPr lang="en-US" altLang="zh-TW">
                <a:latin typeface="Georgia" panose="02040502050405020303" pitchFamily="18" charset="0"/>
                <a:ea typeface="+mj-ea"/>
                <a:cs typeface="Arial" panose="020B0604020202020204" pitchFamily="34" charset="0"/>
              </a:rPr>
              <a:t>     CHECK (unitPrice &gt; 100)</a:t>
            </a:r>
          </a:p>
          <a:p>
            <a:r>
              <a:rPr lang="en-US" altLang="zh-TW">
                <a:latin typeface="Georgia" panose="02040502050405020303" pitchFamily="18" charset="0"/>
                <a:ea typeface="+mj-ea"/>
                <a:cs typeface="Arial" panose="020B0604020202020204" pitchFamily="34" charset="0"/>
              </a:rPr>
              <a:t>);</a:t>
            </a:r>
            <a:endParaRPr lang="zh-TW" altLang="en-US">
              <a:latin typeface="Georgia" panose="02040502050405020303" pitchFamily="18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CFFFF66-E157-46DB-9392-781DDA43DDBA}"/>
              </a:ext>
            </a:extLst>
          </p:cNvPr>
          <p:cNvSpPr txBox="1"/>
          <p:nvPr/>
        </p:nvSpPr>
        <p:spPr>
          <a:xfrm>
            <a:off x="4962144" y="3218688"/>
            <a:ext cx="7023076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>
                <a:latin typeface="Consolas" panose="020B0609020204030204" pitchFamily="49" charset="0"/>
              </a:rPr>
              <a:t>sqlite&gt; PRAGMA table_info(Product);</a:t>
            </a:r>
          </a:p>
          <a:p>
            <a:r>
              <a:rPr lang="en-US" altLang="zh-TW">
                <a:latin typeface="Consolas" panose="020B0609020204030204" pitchFamily="49" charset="0"/>
              </a:rPr>
              <a:t>cid  name       type           notnull  dflt_value  pk</a:t>
            </a:r>
          </a:p>
          <a:p>
            <a:r>
              <a:rPr lang="en-US" altLang="zh-TW">
                <a:latin typeface="Consolas" panose="020B0609020204030204" pitchFamily="49" charset="0"/>
              </a:rPr>
              <a:t>---  ---------  -------------  -------  ----------  --</a:t>
            </a:r>
          </a:p>
          <a:p>
            <a:r>
              <a:rPr lang="en-US" altLang="zh-TW">
                <a:latin typeface="Consolas" panose="020B0609020204030204" pitchFamily="49" charset="0"/>
              </a:rPr>
              <a:t>0    pNo        CHAR(6)        1                    1</a:t>
            </a:r>
          </a:p>
          <a:p>
            <a:r>
              <a:rPr lang="en-US" altLang="zh-TW">
                <a:latin typeface="Consolas" panose="020B0609020204030204" pitchFamily="49" charset="0"/>
              </a:rPr>
              <a:t>1    pName      VARCHAR(30)    0                    0</a:t>
            </a:r>
          </a:p>
          <a:p>
            <a:r>
              <a:rPr lang="en-US" altLang="zh-TW">
                <a:latin typeface="Consolas" panose="020B0609020204030204" pitchFamily="49" charset="0"/>
              </a:rPr>
              <a:t>2    unitPrice  DECIMAL(10,2)  0                    0</a:t>
            </a:r>
          </a:p>
          <a:p>
            <a:r>
              <a:rPr lang="en-US" altLang="zh-TW">
                <a:latin typeface="Consolas" panose="020B0609020204030204" pitchFamily="49" charset="0"/>
              </a:rPr>
              <a:t>3    category   VARCHAR(20)    0</a:t>
            </a:r>
            <a:endParaRPr lang="zh-TW" altLang="en-US">
              <a:latin typeface="Consolas" panose="020B0609020204030204" pitchFamily="49" charset="0"/>
            </a:endParaRPr>
          </a:p>
        </p:txBody>
      </p:sp>
      <p:sp>
        <p:nvSpPr>
          <p:cNvPr id="6" name="日期版面配置區 5">
            <a:extLst>
              <a:ext uri="{FF2B5EF4-FFF2-40B4-BE49-F238E27FC236}">
                <a16:creationId xmlns:a16="http://schemas.microsoft.com/office/drawing/2014/main" id="{BFCBCA6B-E6A8-4531-959E-A3A37FCD6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9E9D9-3552-4565-BC16-DBECDA5FA702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FDB5FE0-5E5F-4B49-9390-A247B8B4F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1492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86ACD5-859C-4A1D-B2BB-D8237040C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刪除資料表定義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E4ECBC-A2B1-4028-BBE0-5E5A0C25D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DROP TABLE</a:t>
            </a:r>
          </a:p>
          <a:p>
            <a:pPr lvl="1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一資料表被刪除時，另一資料表中參考到該資料表的部分就變成沒有意義</a:t>
            </a:r>
            <a:endParaRPr lang="en-US" altLang="zh-TW" sz="2000" b="1" dirty="0">
              <a:latin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DROP TABLE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 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RESTRICT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b="1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sqlite3</a:t>
            </a:r>
            <a:r>
              <a:rPr lang="zh-TW" altLang="en-US" b="1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無此功能</a:t>
            </a:r>
            <a:r>
              <a:rPr lang="en-US" altLang="zh-TW" b="1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b="1" dirty="0">
              <a:solidFill>
                <a:srgbClr val="00B05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資料表的定義只有在其未被參考到時才能被刪除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DROP TABLE 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CASCADE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b="1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sqlite3</a:t>
            </a:r>
            <a:r>
              <a:rPr lang="zh-TW" altLang="en-US" b="1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無此功能</a:t>
            </a:r>
            <a:r>
              <a:rPr lang="en-US" altLang="zh-TW" b="1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914400" lvl="1" indent="-457200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資料表的定義被刪除時，所有參考到這些定義的部分（如外部鍵定義）也一併被刪除 </a:t>
            </a:r>
          </a:p>
          <a:p>
            <a:pPr lvl="1"/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1E231F2-0171-457E-A4F7-A3A6C88DF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3CEC0-DBE2-47E7-ABE1-DCA361A65863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37F504A-5C4D-4341-924F-57A5C656E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558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F102F1-724C-4D40-926C-C20DE3940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修改資料表定義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5638D0-F2F3-494A-B73B-5787898E2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欄位定義的新增、刪除和修改</a:t>
            </a:r>
            <a:endParaRPr lang="en-US" altLang="zh-TW" sz="2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</a:rPr>
              <a:t>ALTER TABLE Member ADD degree VARCHAR(10)</a:t>
            </a:r>
            <a:r>
              <a:rPr lang="zh-TW" altLang="en-US" b="1">
                <a:solidFill>
                  <a:srgbClr val="0000FF"/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</a:rPr>
              <a:t>;</a:t>
            </a:r>
          </a:p>
          <a:p>
            <a:pPr lvl="1">
              <a:buFont typeface="Wingdings" panose="05000000000000000000" pitchFamily="2" charset="2"/>
              <a:buChar char=""/>
            </a:pPr>
            <a:r>
              <a:rPr lang="en-US" altLang="zh-TW">
                <a:solidFill>
                  <a:srgbClr val="7030A0"/>
                </a:solidFill>
                <a:latin typeface="微軟正黑體" panose="020B0604030504040204" pitchFamily="34" charset="-120"/>
              </a:rPr>
              <a:t>ALTER TABLE Member DROP address CASCADE</a:t>
            </a:r>
            <a:r>
              <a:rPr lang="zh-TW" altLang="en-US">
                <a:solidFill>
                  <a:srgbClr val="7030A0"/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>
                <a:solidFill>
                  <a:srgbClr val="7030A0"/>
                </a:solidFill>
                <a:latin typeface="微軟正黑體" panose="020B0604030504040204" pitchFamily="34" charset="-120"/>
              </a:rPr>
              <a:t>;</a:t>
            </a:r>
          </a:p>
          <a:p>
            <a:pPr lvl="1">
              <a:buFont typeface="Wingdings" panose="05000000000000000000" pitchFamily="2" charset="2"/>
              <a:buChar char=""/>
            </a:pPr>
            <a:r>
              <a:rPr lang="en-US" altLang="zh-TW">
                <a:solidFill>
                  <a:srgbClr val="7030A0"/>
                </a:solidFill>
                <a:latin typeface="微軟正黑體" panose="020B0604030504040204" pitchFamily="34" charset="-120"/>
              </a:rPr>
              <a:t>ALTER TABLE Order ALTER amount DROP DEFAULT</a:t>
            </a:r>
            <a:r>
              <a:rPr lang="zh-TW" altLang="en-US">
                <a:solidFill>
                  <a:srgbClr val="7030A0"/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>
                <a:solidFill>
                  <a:srgbClr val="7030A0"/>
                </a:solidFill>
                <a:latin typeface="微軟正黑體" panose="020B0604030504040204" pitchFamily="34" charset="-120"/>
              </a:rPr>
              <a:t>;</a:t>
            </a:r>
          </a:p>
          <a:p>
            <a:pPr lvl="1">
              <a:buFont typeface="Wingdings" panose="05000000000000000000" pitchFamily="2" charset="2"/>
              <a:buChar char=""/>
            </a:pPr>
            <a:r>
              <a:rPr lang="en-US" altLang="zh-TW">
                <a:solidFill>
                  <a:srgbClr val="7030A0"/>
                </a:solidFill>
                <a:latin typeface="微軟正黑體" panose="020B0604030504040204" pitchFamily="34" charset="-120"/>
              </a:rPr>
              <a:t>ALTER TABLE Order ALTER amount SET DEFAULT 100</a:t>
            </a:r>
            <a:r>
              <a:rPr lang="zh-TW" altLang="en-US">
                <a:solidFill>
                  <a:srgbClr val="7030A0"/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>
                <a:solidFill>
                  <a:srgbClr val="7030A0"/>
                </a:solidFill>
                <a:latin typeface="微軟正黑體" panose="020B0604030504040204" pitchFamily="34" charset="-120"/>
              </a:rPr>
              <a:t>;</a:t>
            </a:r>
          </a:p>
          <a:p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AD81A75-BCDE-4482-A131-DF8178CC6F1B}"/>
              </a:ext>
            </a:extLst>
          </p:cNvPr>
          <p:cNvSpPr txBox="1"/>
          <p:nvPr/>
        </p:nvSpPr>
        <p:spPr>
          <a:xfrm>
            <a:off x="1436914" y="3065416"/>
            <a:ext cx="4532010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solidFill>
                  <a:srgbClr val="0070C0"/>
                </a:solidFill>
                <a:latin typeface="Comic Sans MS" panose="030F0702030302020204" pitchFamily="66" charset="0"/>
                <a:ea typeface="標楷體" panose="03000509000000000000" pitchFamily="65" charset="-120"/>
              </a:rPr>
              <a:t>在</a:t>
            </a:r>
            <a:r>
              <a:rPr lang="en-US" altLang="zh-TW" sz="2400" dirty="0" err="1">
                <a:solidFill>
                  <a:srgbClr val="0070C0"/>
                </a:solidFill>
                <a:latin typeface="Comic Sans MS" panose="030F0702030302020204" pitchFamily="66" charset="0"/>
                <a:ea typeface="標楷體" panose="03000509000000000000" pitchFamily="65" charset="-120"/>
              </a:rPr>
              <a:t>sqlite</a:t>
            </a:r>
            <a:r>
              <a:rPr lang="zh-TW" altLang="en-US" sz="2400" dirty="0">
                <a:solidFill>
                  <a:srgbClr val="0070C0"/>
                </a:solidFill>
                <a:latin typeface="Comic Sans MS" panose="030F0702030302020204" pitchFamily="66" charset="0"/>
                <a:ea typeface="標楷體" panose="03000509000000000000" pitchFamily="65" charset="-120"/>
              </a:rPr>
              <a:t>中的做法</a:t>
            </a:r>
            <a:endParaRPr lang="en-US" altLang="zh-TW" sz="2400" dirty="0">
              <a:solidFill>
                <a:srgbClr val="0070C0"/>
              </a:solidFill>
              <a:latin typeface="Comic Sans MS" panose="030F0702030302020204" pitchFamily="66" charset="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sz="2400" dirty="0">
                <a:solidFill>
                  <a:srgbClr val="0070C0"/>
                </a:solidFill>
                <a:latin typeface="Comic Sans MS" panose="030F0702030302020204" pitchFamily="66" charset="0"/>
                <a:ea typeface="標楷體" panose="03000509000000000000" pitchFamily="65" charset="-120"/>
              </a:rPr>
              <a:t>建立一個新表格</a:t>
            </a:r>
            <a:endParaRPr lang="en-US" altLang="zh-TW" sz="2400" dirty="0">
              <a:solidFill>
                <a:srgbClr val="0070C0"/>
              </a:solidFill>
              <a:latin typeface="Comic Sans MS" panose="030F0702030302020204" pitchFamily="66" charset="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sz="2400" dirty="0">
                <a:solidFill>
                  <a:srgbClr val="0070C0"/>
                </a:solidFill>
                <a:latin typeface="Comic Sans MS" panose="030F0702030302020204" pitchFamily="66" charset="0"/>
                <a:ea typeface="標楷體" panose="03000509000000000000" pitchFamily="65" charset="-120"/>
              </a:rPr>
              <a:t>將舊表的資料全部拷貝至新表</a:t>
            </a:r>
            <a:endParaRPr lang="en-US" altLang="zh-TW" sz="2400" dirty="0">
              <a:solidFill>
                <a:srgbClr val="0070C0"/>
              </a:solidFill>
              <a:latin typeface="Comic Sans MS" panose="030F0702030302020204" pitchFamily="66" charset="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sz="2400" dirty="0">
                <a:solidFill>
                  <a:srgbClr val="0070C0"/>
                </a:solidFill>
                <a:latin typeface="Comic Sans MS" panose="030F0702030302020204" pitchFamily="66" charset="0"/>
                <a:ea typeface="標楷體" panose="03000509000000000000" pitchFamily="65" charset="-120"/>
              </a:rPr>
              <a:t>將舊表刪除</a:t>
            </a:r>
            <a:endParaRPr lang="en-US" altLang="zh-TW" sz="2400" dirty="0">
              <a:solidFill>
                <a:srgbClr val="0070C0"/>
              </a:solidFill>
              <a:latin typeface="Comic Sans MS" panose="030F0702030302020204" pitchFamily="66" charset="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sz="2400" dirty="0">
                <a:solidFill>
                  <a:srgbClr val="0070C0"/>
                </a:solidFill>
                <a:latin typeface="Comic Sans MS" panose="030F0702030302020204" pitchFamily="66" charset="0"/>
                <a:ea typeface="標楷體" panose="03000509000000000000" pitchFamily="65" charset="-120"/>
              </a:rPr>
              <a:t>將新表名稱改名為舊表名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28E9935-F2EB-4354-9CE1-C36411895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0A6F-1224-43FD-AAEA-28260D4F7ACC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D85D5CC-F624-4DC0-B817-A6631D4E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8317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5951237B-7957-4B7E-8680-01F696CCE5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DML</a:t>
            </a:r>
            <a:r>
              <a:rPr lang="zh-TW" altLang="en-US"/>
              <a:t> 指令 </a:t>
            </a:r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C2ACF41A-FB10-4B0F-9561-4B6EACB1DB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/>
              <a:t>對資料表的紀錄新增、修改、刪除、查詢</a:t>
            </a:r>
          </a:p>
        </p:txBody>
      </p:sp>
    </p:spTree>
    <p:extLst>
      <p:ext uri="{BB962C8B-B14F-4D97-AF65-F5344CB8AC3E}">
        <p14:creationId xmlns:p14="http://schemas.microsoft.com/office/powerpoint/2010/main" val="856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E16164-2E5C-4B1F-80E6-117C83440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新增紀錄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564DC3-D42E-428B-9E9A-AFBA787C8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>
                <a:solidFill>
                  <a:srgbClr val="0070C0"/>
                </a:solidFill>
              </a:rPr>
              <a:t>INSERT INTO </a:t>
            </a:r>
            <a:r>
              <a:rPr lang="zh-TW" altLang="en-US"/>
              <a:t>資料表名稱 </a:t>
            </a:r>
            <a:r>
              <a:rPr lang="en-US" altLang="zh-TW"/>
              <a:t>[&lt;</a:t>
            </a:r>
            <a:r>
              <a:rPr lang="zh-TW" altLang="en-US"/>
              <a:t>屬性串列</a:t>
            </a:r>
            <a:r>
              <a:rPr lang="en-US" altLang="zh-TW"/>
              <a:t>&gt;]</a:t>
            </a:r>
          </a:p>
          <a:p>
            <a:pPr marL="0" indent="0">
              <a:buNone/>
            </a:pPr>
            <a:r>
              <a:rPr lang="en-US" altLang="zh-TW">
                <a:solidFill>
                  <a:srgbClr val="0070C0"/>
                </a:solidFill>
              </a:rPr>
              <a:t>VALUES </a:t>
            </a:r>
            <a:r>
              <a:rPr lang="en-US" altLang="zh-TW"/>
              <a:t>(&lt;</a:t>
            </a:r>
            <a:r>
              <a:rPr lang="zh-TW" altLang="en-US"/>
              <a:t>欄位值串列</a:t>
            </a:r>
            <a:r>
              <a:rPr lang="en-US" altLang="zh-TW"/>
              <a:t>&gt;)</a:t>
            </a:r>
          </a:p>
          <a:p>
            <a:pPr marL="0" indent="0">
              <a:buNone/>
            </a:pPr>
            <a:endParaRPr lang="en-US" altLang="zh-TW"/>
          </a:p>
          <a:p>
            <a:pPr marL="0" indent="0">
              <a:buNone/>
            </a:pPr>
            <a:r>
              <a:rPr lang="zh-TW" altLang="en-US"/>
              <a:t>新增一筆完整記錄到</a:t>
            </a:r>
            <a:r>
              <a:rPr lang="en-US" altLang="zh-TW"/>
              <a:t>Product</a:t>
            </a:r>
            <a:r>
              <a:rPr lang="zh-TW" altLang="en-US"/>
              <a:t>資料表</a:t>
            </a:r>
            <a:endParaRPr lang="en-US" altLang="zh-TW"/>
          </a:p>
          <a:p>
            <a:pPr marL="0" indent="0">
              <a:buNone/>
            </a:pPr>
            <a:r>
              <a:rPr lang="en-US" altLang="zh-TW"/>
              <a:t>	</a:t>
            </a:r>
            <a:r>
              <a:rPr lang="en-US" altLang="zh-TW">
                <a:solidFill>
                  <a:srgbClr val="0070C0"/>
                </a:solidFill>
              </a:rPr>
              <a:t>INSERT</a:t>
            </a:r>
            <a:r>
              <a:rPr lang="zh-TW" altLang="en-US">
                <a:solidFill>
                  <a:srgbClr val="0070C0"/>
                </a:solidFill>
              </a:rPr>
              <a:t> </a:t>
            </a:r>
            <a:r>
              <a:rPr lang="en-US" altLang="zh-TW">
                <a:solidFill>
                  <a:srgbClr val="0070C0"/>
                </a:solidFill>
              </a:rPr>
              <a:t>INTO</a:t>
            </a:r>
            <a:r>
              <a:rPr lang="zh-TW" altLang="en-US">
                <a:solidFill>
                  <a:srgbClr val="0070C0"/>
                </a:solidFill>
              </a:rPr>
              <a:t> </a:t>
            </a:r>
            <a:r>
              <a:rPr lang="en-US" altLang="zh-TW">
                <a:solidFill>
                  <a:srgbClr val="00B050"/>
                </a:solidFill>
              </a:rPr>
              <a:t>Prodcut</a:t>
            </a:r>
          </a:p>
          <a:p>
            <a:pPr marL="0" indent="0">
              <a:buNone/>
            </a:pPr>
            <a:r>
              <a:rPr lang="en-US" altLang="zh-TW">
                <a:solidFill>
                  <a:srgbClr val="0070C0"/>
                </a:solidFill>
              </a:rPr>
              <a:t>	VALUES </a:t>
            </a:r>
            <a:r>
              <a:rPr lang="en-US" altLang="zh-TW">
                <a:solidFill>
                  <a:schemeClr val="tx1"/>
                </a:solidFill>
              </a:rPr>
              <a:t>(‘b00001’, ‘</a:t>
            </a:r>
            <a:r>
              <a:rPr lang="zh-TW" altLang="en-US">
                <a:solidFill>
                  <a:schemeClr val="tx1"/>
                </a:solidFill>
              </a:rPr>
              <a:t>資料庫理論與實務</a:t>
            </a:r>
            <a:r>
              <a:rPr lang="en-US" altLang="zh-TW">
                <a:solidFill>
                  <a:schemeClr val="tx1"/>
                </a:solidFill>
              </a:rPr>
              <a:t>’, 500, 'Book’)</a:t>
            </a:r>
            <a:r>
              <a:rPr lang="en-US" altLang="zh-TW">
                <a:solidFill>
                  <a:srgbClr val="0070C0"/>
                </a:solidFill>
              </a:rPr>
              <a:t>;</a:t>
            </a:r>
          </a:p>
          <a:p>
            <a:pPr marL="0" indent="0">
              <a:buNone/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新增一筆只含商品編號和商品名稱的記錄到「商品」資料表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>
                <a:latin typeface="微軟正黑體" panose="020B0604030504040204" pitchFamily="34" charset="-120"/>
              </a:rPr>
              <a:t>	</a:t>
            </a:r>
            <a:r>
              <a:rPr lang="en-US" altLang="zh-TW">
                <a:solidFill>
                  <a:srgbClr val="0070C0"/>
                </a:solidFill>
              </a:rPr>
              <a:t>INSERT INTO </a:t>
            </a:r>
            <a:r>
              <a:rPr lang="en-US" altLang="zh-TW">
                <a:solidFill>
                  <a:srgbClr val="00B050"/>
                </a:solidFill>
              </a:rPr>
              <a:t>Product</a:t>
            </a:r>
            <a:r>
              <a:rPr lang="en-US" altLang="zh-TW">
                <a:solidFill>
                  <a:srgbClr val="0070C0"/>
                </a:solidFill>
              </a:rPr>
              <a:t> (</a:t>
            </a:r>
            <a:r>
              <a:rPr lang="en-US" altLang="zh-TW">
                <a:solidFill>
                  <a:srgbClr val="7030A0"/>
                </a:solidFill>
              </a:rPr>
              <a:t>pName</a:t>
            </a:r>
            <a:r>
              <a:rPr lang="en-US" altLang="zh-TW">
                <a:solidFill>
                  <a:srgbClr val="0070C0"/>
                </a:solidFill>
              </a:rPr>
              <a:t>, </a:t>
            </a:r>
            <a:r>
              <a:rPr lang="en-US" altLang="zh-TW">
                <a:solidFill>
                  <a:srgbClr val="7030A0"/>
                </a:solidFill>
              </a:rPr>
              <a:t>pNo</a:t>
            </a:r>
            <a:r>
              <a:rPr lang="en-US" altLang="zh-TW">
                <a:solidFill>
                  <a:srgbClr val="0070C0"/>
                </a:solidFill>
              </a:rPr>
              <a:t>)</a:t>
            </a:r>
            <a:endParaRPr lang="zh-TW" altLang="en-US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TW">
                <a:solidFill>
                  <a:srgbClr val="0070C0"/>
                </a:solidFill>
              </a:rPr>
              <a:t>	VALUES </a:t>
            </a:r>
            <a:r>
              <a:rPr lang="en-US" altLang="zh-TW">
                <a:solidFill>
                  <a:schemeClr val="tx1"/>
                </a:solidFill>
              </a:rPr>
              <a:t>('</a:t>
            </a:r>
            <a:r>
              <a:rPr lang="zh-TW" altLang="en-US">
                <a:solidFill>
                  <a:schemeClr val="tx1"/>
                </a:solidFill>
              </a:rPr>
              <a:t>資料庫管理與系統</a:t>
            </a:r>
            <a:r>
              <a:rPr lang="en-US" altLang="zh-TW">
                <a:solidFill>
                  <a:schemeClr val="tx1"/>
                </a:solidFill>
              </a:rPr>
              <a:t>', 'b00001')</a:t>
            </a:r>
            <a:r>
              <a:rPr lang="en-US" altLang="zh-TW">
                <a:solidFill>
                  <a:srgbClr val="0070C0"/>
                </a:solidFill>
              </a:rPr>
              <a:t>;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D97186-7C9B-4F65-83B1-5B9AC14E1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BFFB7-19E4-477E-A877-5F6DBA409ACB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509F0AF-6E63-4AF0-BC2F-54E292197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328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28BBB3-98B9-49EC-AA45-87AB02F6C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Insert </a:t>
            </a:r>
            <a:r>
              <a:rPr lang="zh-TW" altLang="en-US"/>
              <a:t>多筆資料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DC6D0C-ACE6-467A-A05F-1E8E70A3E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>
                <a:solidFill>
                  <a:srgbClr val="0000FF"/>
                </a:solidFill>
              </a:rPr>
              <a:t>Insert into </a:t>
            </a:r>
            <a:r>
              <a:rPr lang="en-US" altLang="zh-TW">
                <a:solidFill>
                  <a:srgbClr val="7030A0"/>
                </a:solidFill>
              </a:rPr>
              <a:t>table_name </a:t>
            </a:r>
            <a:r>
              <a:rPr lang="en-US" altLang="zh-TW"/>
              <a:t>(</a:t>
            </a:r>
            <a:r>
              <a:rPr lang="en-US" altLang="zh-TW">
                <a:solidFill>
                  <a:srgbClr val="00B050"/>
                </a:solidFill>
              </a:rPr>
              <a:t>column1, column2, …</a:t>
            </a:r>
            <a:r>
              <a:rPr lang="en-US" altLang="zh-TW"/>
              <a:t>) </a:t>
            </a:r>
            <a:r>
              <a:rPr lang="en-US" altLang="zh-TW">
                <a:solidFill>
                  <a:srgbClr val="0000FF"/>
                </a:solidFill>
              </a:rPr>
              <a:t>values</a:t>
            </a:r>
          </a:p>
          <a:p>
            <a:pPr marL="0" indent="0">
              <a:buNone/>
            </a:pPr>
            <a:r>
              <a:rPr lang="en-US" altLang="zh-TW"/>
              <a:t>(‘column1 value’, ‘column2 value’, …), </a:t>
            </a:r>
          </a:p>
          <a:p>
            <a:pPr marL="0" indent="0">
              <a:buNone/>
            </a:pPr>
            <a:r>
              <a:rPr lang="en-US" altLang="zh-TW"/>
              <a:t>(‘column1 value’, ‘column2 value’, …), </a:t>
            </a:r>
            <a:endParaRPr lang="zh-TW" altLang="en-US"/>
          </a:p>
          <a:p>
            <a:pPr marL="0" indent="0">
              <a:buNone/>
            </a:pPr>
            <a:r>
              <a:rPr lang="en-US" altLang="zh-TW"/>
              <a:t>…</a:t>
            </a:r>
          </a:p>
          <a:p>
            <a:pPr marL="0" indent="0">
              <a:buNone/>
            </a:pPr>
            <a:r>
              <a:rPr lang="en-US" altLang="zh-TW"/>
              <a:t>(‘column1 value’, ‘column2 value’, …);</a:t>
            </a:r>
          </a:p>
          <a:p>
            <a:pPr marL="0" indent="0">
              <a:buNone/>
            </a:pPr>
            <a:endParaRPr lang="en-US" altLang="zh-TW"/>
          </a:p>
          <a:p>
            <a:pPr marL="0" indent="0">
              <a:buNone/>
            </a:pPr>
            <a:r>
              <a:rPr lang="en-US" altLang="zh-TW">
                <a:solidFill>
                  <a:srgbClr val="0000FF"/>
                </a:solidFill>
              </a:rPr>
              <a:t>INSERT INTO </a:t>
            </a:r>
            <a:r>
              <a:rPr lang="en-US" altLang="zh-TW">
                <a:solidFill>
                  <a:srgbClr val="7030A0"/>
                </a:solidFill>
              </a:rPr>
              <a:t>Product</a:t>
            </a:r>
            <a:r>
              <a:rPr lang="en-US" altLang="zh-TW">
                <a:solidFill>
                  <a:srgbClr val="00B050"/>
                </a:solidFill>
              </a:rPr>
              <a:t> </a:t>
            </a:r>
            <a:r>
              <a:rPr lang="en-US" altLang="zh-TW"/>
              <a:t>(</a:t>
            </a:r>
            <a:r>
              <a:rPr lang="en-US" altLang="zh-TW">
                <a:solidFill>
                  <a:srgbClr val="00B050"/>
                </a:solidFill>
              </a:rPr>
              <a:t>pNo, pName, unitPrice, category</a:t>
            </a:r>
            <a:r>
              <a:rPr lang="en-US" altLang="zh-TW"/>
              <a:t>)</a:t>
            </a:r>
            <a:r>
              <a:rPr lang="en-US" altLang="zh-TW">
                <a:solidFill>
                  <a:srgbClr val="00B050"/>
                </a:solidFill>
              </a:rPr>
              <a:t> </a:t>
            </a:r>
            <a:r>
              <a:rPr lang="en-US" altLang="zh-TW">
                <a:solidFill>
                  <a:srgbClr val="0000FF"/>
                </a:solidFill>
              </a:rPr>
              <a:t>VALUES</a:t>
            </a:r>
          </a:p>
          <a:p>
            <a:pPr marL="0" indent="0">
              <a:buNone/>
            </a:pPr>
            <a:r>
              <a:rPr lang="en-US" altLang="zh-TW"/>
              <a:t>(</a:t>
            </a:r>
            <a:r>
              <a:rPr lang="en-US" altLang="zh-TW">
                <a:solidFill>
                  <a:srgbClr val="00B050"/>
                </a:solidFill>
              </a:rPr>
              <a:t>'b30999', '</a:t>
            </a:r>
            <a:r>
              <a:rPr lang="zh-TW" altLang="en-US">
                <a:solidFill>
                  <a:srgbClr val="00B050"/>
                </a:solidFill>
              </a:rPr>
              <a:t>資料庫理論與實務</a:t>
            </a:r>
            <a:r>
              <a:rPr lang="en-US" altLang="zh-TW">
                <a:solidFill>
                  <a:srgbClr val="00B050"/>
                </a:solidFill>
              </a:rPr>
              <a:t>', 500, 'book'</a:t>
            </a:r>
            <a:r>
              <a:rPr lang="en-US" altLang="zh-TW"/>
              <a:t>), </a:t>
            </a:r>
          </a:p>
          <a:p>
            <a:pPr marL="0" indent="0">
              <a:buNone/>
            </a:pPr>
            <a:r>
              <a:rPr lang="en-US" altLang="zh-TW"/>
              <a:t>(</a:t>
            </a:r>
            <a:r>
              <a:rPr lang="en-US" altLang="zh-TW">
                <a:solidFill>
                  <a:srgbClr val="00B050"/>
                </a:solidFill>
              </a:rPr>
              <a:t>'d11222', '</a:t>
            </a:r>
            <a:r>
              <a:rPr lang="zh-TW" altLang="en-US">
                <a:solidFill>
                  <a:srgbClr val="00B050"/>
                </a:solidFill>
              </a:rPr>
              <a:t>任賢齊專輯三</a:t>
            </a:r>
            <a:r>
              <a:rPr lang="en-US" altLang="zh-TW">
                <a:solidFill>
                  <a:srgbClr val="00B050"/>
                </a:solidFill>
              </a:rPr>
              <a:t>', 300, 'CD'</a:t>
            </a:r>
            <a:r>
              <a:rPr lang="en-US" altLang="zh-TW"/>
              <a:t>), </a:t>
            </a:r>
          </a:p>
          <a:p>
            <a:pPr marL="0" indent="0">
              <a:buNone/>
            </a:pPr>
            <a:endParaRPr lang="zh-TW" altLang="en-US"/>
          </a:p>
          <a:p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180B8C2-5A8F-4E9E-94C5-C2D04397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CF0E8-B0B9-41BD-9550-D9A9E60C2C6B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4F5C791-06EB-4001-BA04-B89F69798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5594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F8E8B6-4A3D-415D-8ACE-928A14B50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讀取</a:t>
            </a:r>
            <a:r>
              <a:rPr lang="en-US" altLang="zh-TW"/>
              <a:t>sql</a:t>
            </a:r>
            <a:r>
              <a:rPr lang="zh-TW" altLang="en-US"/>
              <a:t>指令並執行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AFB4EDF-65A9-4176-9DE3-E4B883081B98}"/>
              </a:ext>
            </a:extLst>
          </p:cNvPr>
          <p:cNvSpPr txBox="1"/>
          <p:nvPr/>
        </p:nvSpPr>
        <p:spPr>
          <a:xfrm>
            <a:off x="1127369" y="1054866"/>
            <a:ext cx="7219462" cy="535531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altLang="zh-TW"/>
              <a:t>(base) PS C:\Streamlit\testWeb&gt; sqlite3 test.db</a:t>
            </a:r>
          </a:p>
          <a:p>
            <a:r>
              <a:rPr lang="en-US" altLang="zh-TW"/>
              <a:t>SQLite version 3.41.2 2023-03-22 11:56:21</a:t>
            </a:r>
          </a:p>
          <a:p>
            <a:r>
              <a:rPr lang="en-US" altLang="zh-TW"/>
              <a:t>Enter ".help" for usage hints.</a:t>
            </a:r>
          </a:p>
          <a:p>
            <a:r>
              <a:rPr lang="en-US" altLang="zh-TW"/>
              <a:t>sqlite&gt; .table</a:t>
            </a:r>
          </a:p>
          <a:p>
            <a:r>
              <a:rPr lang="en-US" altLang="zh-TW"/>
              <a:t>Member   student</a:t>
            </a:r>
          </a:p>
          <a:p>
            <a:r>
              <a:rPr lang="en-US" altLang="zh-TW">
                <a:highlight>
                  <a:srgbClr val="FFFF00"/>
                </a:highlight>
              </a:rPr>
              <a:t>sqlite&gt; .read test.sql</a:t>
            </a:r>
          </a:p>
          <a:p>
            <a:r>
              <a:rPr lang="en-US" altLang="zh-TW">
                <a:highlight>
                  <a:srgbClr val="FFFF00"/>
                </a:highlight>
              </a:rPr>
              <a:t>sqlite&gt; select * from student;</a:t>
            </a:r>
          </a:p>
          <a:p>
            <a:r>
              <a:rPr lang="en-US" altLang="zh-TW"/>
              <a:t>1|Jason|0911222333</a:t>
            </a:r>
          </a:p>
          <a:p>
            <a:r>
              <a:rPr lang="en-US" altLang="zh-TW"/>
              <a:t>2|</a:t>
            </a:r>
            <a:r>
              <a:rPr lang="zh-TW" altLang="en-US"/>
              <a:t>王大明</a:t>
            </a:r>
            <a:r>
              <a:rPr lang="en-US" altLang="zh-TW"/>
              <a:t>|0988765432</a:t>
            </a:r>
          </a:p>
          <a:p>
            <a:r>
              <a:rPr lang="en-US" altLang="zh-TW"/>
              <a:t>3|</a:t>
            </a:r>
            <a:r>
              <a:rPr lang="zh-TW" altLang="en-US"/>
              <a:t>李大明</a:t>
            </a:r>
            <a:r>
              <a:rPr lang="en-US" altLang="zh-TW"/>
              <a:t>|0922876543</a:t>
            </a:r>
          </a:p>
          <a:p>
            <a:r>
              <a:rPr lang="en-US" altLang="zh-TW">
                <a:highlight>
                  <a:srgbClr val="FFFF00"/>
                </a:highlight>
              </a:rPr>
              <a:t>sqlite&gt; .header on</a:t>
            </a:r>
          </a:p>
          <a:p>
            <a:r>
              <a:rPr lang="en-US" altLang="zh-TW">
                <a:highlight>
                  <a:srgbClr val="FFFF00"/>
                </a:highlight>
              </a:rPr>
              <a:t>sqlite&gt; .mode column</a:t>
            </a:r>
          </a:p>
          <a:p>
            <a:r>
              <a:rPr lang="en-US" altLang="zh-TW"/>
              <a:t>sqlite&gt; select * from student;</a:t>
            </a:r>
          </a:p>
          <a:p>
            <a:r>
              <a:rPr lang="en-US" altLang="zh-TW">
                <a:highlight>
                  <a:srgbClr val="FFFF00"/>
                </a:highlight>
              </a:rPr>
              <a:t>sid  name   phone</a:t>
            </a:r>
          </a:p>
          <a:p>
            <a:r>
              <a:rPr lang="en-US" altLang="zh-TW">
                <a:highlight>
                  <a:srgbClr val="FFFF00"/>
                </a:highlight>
              </a:rPr>
              <a:t>---  -----  ----------</a:t>
            </a:r>
          </a:p>
          <a:p>
            <a:r>
              <a:rPr lang="en-US" altLang="zh-TW">
                <a:highlight>
                  <a:srgbClr val="FFFF00"/>
                </a:highlight>
              </a:rPr>
              <a:t>1    Jason  0911222333</a:t>
            </a:r>
          </a:p>
          <a:p>
            <a:r>
              <a:rPr lang="en-US" altLang="zh-TW">
                <a:highlight>
                  <a:srgbClr val="FFFF00"/>
                </a:highlight>
              </a:rPr>
              <a:t>2    </a:t>
            </a:r>
            <a:r>
              <a:rPr lang="zh-TW" altLang="en-US">
                <a:highlight>
                  <a:srgbClr val="FFFF00"/>
                </a:highlight>
              </a:rPr>
              <a:t>王大明    </a:t>
            </a:r>
            <a:r>
              <a:rPr lang="en-US" altLang="zh-TW">
                <a:highlight>
                  <a:srgbClr val="FFFF00"/>
                </a:highlight>
              </a:rPr>
              <a:t>0988765432</a:t>
            </a:r>
          </a:p>
          <a:p>
            <a:r>
              <a:rPr lang="en-US" altLang="zh-TW">
                <a:highlight>
                  <a:srgbClr val="FFFF00"/>
                </a:highlight>
              </a:rPr>
              <a:t>3    </a:t>
            </a:r>
            <a:r>
              <a:rPr lang="zh-TW" altLang="en-US">
                <a:highlight>
                  <a:srgbClr val="FFFF00"/>
                </a:highlight>
              </a:rPr>
              <a:t>李大明    </a:t>
            </a:r>
            <a:r>
              <a:rPr lang="en-US" altLang="zh-TW">
                <a:highlight>
                  <a:srgbClr val="FFFF00"/>
                </a:highlight>
              </a:rPr>
              <a:t>0922876543</a:t>
            </a:r>
          </a:p>
          <a:p>
            <a:r>
              <a:rPr lang="en-US" altLang="zh-TW"/>
              <a:t>sqlite&gt;</a:t>
            </a:r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1682A97-E7AC-4F05-A482-BF1288D7D221}"/>
              </a:ext>
            </a:extLst>
          </p:cNvPr>
          <p:cNvSpPr txBox="1"/>
          <p:nvPr/>
        </p:nvSpPr>
        <p:spPr>
          <a:xfrm>
            <a:off x="4175964" y="2727692"/>
            <a:ext cx="4443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顯示</a:t>
            </a:r>
            <a:r>
              <a:rPr lang="en-US" altLang="zh-TW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student</a:t>
            </a:r>
            <a:r>
              <a:rPr lang="zh-TW" altLang="en-US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資料表的所有資料欄資料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B7C54AF-BB98-401A-A09A-CCB2B4528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568B7-0CE7-4B49-80C5-2788B1133AFA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E833BD-0982-42A0-AB58-F64562F93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32</a:t>
            </a:fld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1EF7A533-DA6E-446B-B5C5-686225A05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2" y="205083"/>
            <a:ext cx="797801" cy="79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268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DCEACDA3-4C1F-46E2-A6AD-C9104F026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sqlite3</a:t>
            </a:r>
            <a:r>
              <a:rPr lang="zh-TW" altLang="en-US"/>
              <a:t>讀取</a:t>
            </a:r>
            <a:r>
              <a:rPr lang="en-US" altLang="zh-TW"/>
              <a:t>csv</a:t>
            </a:r>
            <a:r>
              <a:rPr lang="zh-TW" altLang="en-US"/>
              <a:t>檔資料新增至資料表</a:t>
            </a:r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D1574895-CBAF-407B-A812-261D055A2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建立</a:t>
            </a:r>
            <a:r>
              <a:rPr lang="en-US" altLang="zh-TW" dirty="0"/>
              <a:t>Product</a:t>
            </a:r>
            <a:r>
              <a:rPr lang="zh-TW" altLang="en-US" dirty="0"/>
              <a:t>資料表</a:t>
            </a:r>
            <a:endParaRPr lang="en-US" altLang="zh-TW" dirty="0"/>
          </a:p>
          <a:p>
            <a:r>
              <a:rPr lang="en-US" altLang="zh-TW" dirty="0"/>
              <a:t>.mode csv</a:t>
            </a:r>
          </a:p>
          <a:p>
            <a:r>
              <a:rPr lang="en-US" altLang="zh-TW" dirty="0"/>
              <a:t>.import </a:t>
            </a:r>
            <a:r>
              <a:rPr lang="zh-TW" altLang="en-US" dirty="0"/>
              <a:t>檔案路徑 </a:t>
            </a:r>
            <a:r>
              <a:rPr lang="en-US" altLang="zh-TW" dirty="0"/>
              <a:t>Product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>
                <a:solidFill>
                  <a:srgbClr val="00B050"/>
                </a:solidFill>
              </a:rPr>
              <a:t>注意檔案編碼問題</a:t>
            </a:r>
            <a:endParaRPr lang="en-US" altLang="zh-TW" dirty="0">
              <a:solidFill>
                <a:srgbClr val="00B050"/>
              </a:solidFill>
            </a:endParaRPr>
          </a:p>
          <a:p>
            <a:r>
              <a:rPr lang="zh-TW" altLang="en-US" dirty="0"/>
              <a:t>將 </a:t>
            </a:r>
            <a:r>
              <a:rPr lang="en-US" altLang="zh-TW" dirty="0"/>
              <a:t>csv </a:t>
            </a:r>
            <a:r>
              <a:rPr lang="zh-TW" altLang="en-US" dirty="0"/>
              <a:t>檔案轉換為 </a:t>
            </a:r>
            <a:r>
              <a:rPr lang="en-US" altLang="zh-TW" dirty="0"/>
              <a:t>utf-8</a:t>
            </a:r>
          </a:p>
          <a:p>
            <a:r>
              <a:rPr lang="en-US" altLang="zh-TW" dirty="0"/>
              <a:t>Sqlite3</a:t>
            </a:r>
            <a:r>
              <a:rPr lang="zh-TW" altLang="en-US" dirty="0"/>
              <a:t>設定編碼</a:t>
            </a:r>
            <a:endParaRPr lang="en-US" altLang="zh-TW" dirty="0"/>
          </a:p>
          <a:p>
            <a:pPr lvl="1"/>
            <a:r>
              <a:rPr lang="en-US" altLang="zh-TW" b="1" dirty="0"/>
              <a:t>PRAGMA encoding="UTF-8";</a:t>
            </a:r>
          </a:p>
          <a:p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EE926D2-FA8B-42A3-A3D5-AEAF80CBF5C3}"/>
              </a:ext>
            </a:extLst>
          </p:cNvPr>
          <p:cNvSpPr txBox="1"/>
          <p:nvPr/>
        </p:nvSpPr>
        <p:spPr>
          <a:xfrm>
            <a:off x="7928773" y="1220931"/>
            <a:ext cx="933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/>
              <a:t>Product</a:t>
            </a:r>
            <a:endParaRPr lang="zh-TW" altLang="en-US" b="1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D0CDACC-A24E-4994-AC0C-23DC30C58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1D742-3FAB-45EA-8BB1-F6680D7FB623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C921CDF-0165-4A49-8F24-D5FEF7CDA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33</a:t>
            </a:fld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CE8C164-380D-4426-BB8F-D2692323923A}"/>
              </a:ext>
            </a:extLst>
          </p:cNvPr>
          <p:cNvSpPr txBox="1"/>
          <p:nvPr/>
        </p:nvSpPr>
        <p:spPr>
          <a:xfrm>
            <a:off x="6934695" y="1765058"/>
            <a:ext cx="4785164" cy="224676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400" dirty="0"/>
              <a:t>b30999,</a:t>
            </a:r>
            <a:r>
              <a:rPr lang="zh-TW" altLang="en-US" sz="1400" dirty="0"/>
              <a:t>資料庫理論與實務</a:t>
            </a:r>
            <a:r>
              <a:rPr lang="en-US" altLang="zh-TW" sz="1400" dirty="0"/>
              <a:t>,500,Book</a:t>
            </a:r>
          </a:p>
          <a:p>
            <a:r>
              <a:rPr lang="en-US" altLang="zh-TW" sz="1400" dirty="0"/>
              <a:t>d11222,</a:t>
            </a:r>
            <a:r>
              <a:rPr lang="zh-TW" altLang="en-US" sz="1400" dirty="0"/>
              <a:t>任賢齊專輯三</a:t>
            </a:r>
            <a:r>
              <a:rPr lang="en-US" altLang="zh-TW" sz="1400" dirty="0"/>
              <a:t>,300,CD</a:t>
            </a:r>
          </a:p>
          <a:p>
            <a:r>
              <a:rPr lang="en-US" altLang="zh-TW" sz="1400" dirty="0"/>
              <a:t>b20666,OLAP </a:t>
            </a:r>
            <a:r>
              <a:rPr lang="zh-TW" altLang="en-US" sz="1400" dirty="0"/>
              <a:t>進階</a:t>
            </a:r>
            <a:r>
              <a:rPr lang="en-US" altLang="zh-TW" sz="1400" dirty="0"/>
              <a:t>,500,Book</a:t>
            </a:r>
          </a:p>
          <a:p>
            <a:r>
              <a:rPr lang="en-US" altLang="zh-TW" sz="1400" dirty="0"/>
              <a:t>b10234,</a:t>
            </a:r>
            <a:r>
              <a:rPr lang="zh-TW" altLang="en-US" sz="1400" dirty="0"/>
              <a:t>管理資訊系統概論</a:t>
            </a:r>
            <a:r>
              <a:rPr lang="en-US" altLang="zh-TW" sz="1400" dirty="0"/>
              <a:t>,600,Book</a:t>
            </a:r>
          </a:p>
          <a:p>
            <a:r>
              <a:rPr lang="en-US" altLang="zh-TW" sz="1400" dirty="0"/>
              <a:t>b40555,</a:t>
            </a:r>
            <a:r>
              <a:rPr lang="zh-TW" altLang="en-US" sz="1400" dirty="0"/>
              <a:t>系統分析理論與實務</a:t>
            </a:r>
            <a:r>
              <a:rPr lang="en-US" altLang="zh-TW" sz="1400" dirty="0"/>
              <a:t>,550,Book</a:t>
            </a:r>
          </a:p>
          <a:p>
            <a:r>
              <a:rPr lang="en-US" altLang="zh-TW" sz="1400" dirty="0"/>
              <a:t>b20777,</a:t>
            </a:r>
            <a:r>
              <a:rPr lang="zh-TW" altLang="en-US" sz="1400" dirty="0"/>
              <a:t>蔡依林專輯二</a:t>
            </a:r>
            <a:r>
              <a:rPr lang="en-US" altLang="zh-TW" sz="1400" dirty="0"/>
              <a:t>,350,CD</a:t>
            </a:r>
          </a:p>
          <a:p>
            <a:r>
              <a:rPr lang="en-US" altLang="zh-TW" sz="1400" dirty="0"/>
              <a:t>v01888,</a:t>
            </a:r>
            <a:r>
              <a:rPr lang="zh-TW" altLang="en-US" sz="1400" dirty="0"/>
              <a:t>哈利波特</a:t>
            </a:r>
            <a:r>
              <a:rPr lang="en-US" altLang="zh-TW" sz="1400" dirty="0"/>
              <a:t>:</a:t>
            </a:r>
            <a:r>
              <a:rPr lang="zh-TW" altLang="en-US" sz="1400" dirty="0"/>
              <a:t>混血王子的背叛</a:t>
            </a:r>
            <a:r>
              <a:rPr lang="en-US" altLang="zh-TW" sz="1400" dirty="0"/>
              <a:t>,450,DVD</a:t>
            </a:r>
          </a:p>
          <a:p>
            <a:r>
              <a:rPr lang="en-US" altLang="zh-TW" sz="1400" dirty="0"/>
              <a:t>d03333,5566 </a:t>
            </a:r>
            <a:r>
              <a:rPr lang="zh-TW" altLang="en-US" sz="1400" dirty="0"/>
              <a:t>專輯</a:t>
            </a:r>
            <a:r>
              <a:rPr lang="en-US" altLang="zh-TW" sz="1400" dirty="0"/>
              <a:t>,450,CD</a:t>
            </a:r>
          </a:p>
          <a:p>
            <a:r>
              <a:rPr lang="en-US" altLang="zh-TW" sz="1400" dirty="0"/>
              <a:t>b51111,</a:t>
            </a:r>
            <a:r>
              <a:rPr lang="zh-TW" altLang="en-US" sz="1400" dirty="0"/>
              <a:t>電子商務理論與實務</a:t>
            </a:r>
            <a:r>
              <a:rPr lang="en-US" altLang="zh-TW" sz="1400" dirty="0"/>
              <a:t>,700,Book</a:t>
            </a:r>
          </a:p>
          <a:p>
            <a:r>
              <a:rPr lang="en-US" altLang="zh-TW" sz="1400" dirty="0"/>
              <a:t>v00111,</a:t>
            </a:r>
            <a:r>
              <a:rPr lang="zh-TW" altLang="en-US" sz="1400" dirty="0"/>
              <a:t>英雄</a:t>
            </a:r>
            <a:r>
              <a:rPr lang="en-US" altLang="zh-TW" sz="1400" dirty="0"/>
              <a:t>,400,DVD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507849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E990FE-5626-492A-BBA0-FC9DAB429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練習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9211C27-979A-4833-B84E-57AC3ABFA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建立</a:t>
            </a:r>
            <a:r>
              <a:rPr lang="en-US" altLang="zh-TW"/>
              <a:t>author</a:t>
            </a:r>
            <a:r>
              <a:rPr lang="zh-TW" altLang="en-US"/>
              <a:t>資料表</a:t>
            </a:r>
            <a:endParaRPr lang="en-US" altLang="zh-TW"/>
          </a:p>
          <a:p>
            <a:r>
              <a:rPr lang="zh-TW" altLang="en-US"/>
              <a:t>將</a:t>
            </a:r>
            <a:r>
              <a:rPr lang="en-US" altLang="zh-TW"/>
              <a:t>author.csv</a:t>
            </a:r>
            <a:r>
              <a:rPr lang="zh-TW" altLang="en-US"/>
              <a:t>讀入</a:t>
            </a:r>
            <a:r>
              <a:rPr lang="en-US" altLang="zh-TW"/>
              <a:t>author</a:t>
            </a:r>
            <a:r>
              <a:rPr lang="zh-TW" altLang="en-US"/>
              <a:t>表中</a:t>
            </a:r>
            <a:endParaRPr lang="en-US" altLang="zh-TW"/>
          </a:p>
          <a:p>
            <a:r>
              <a:rPr lang="zh-TW" altLang="en-US"/>
              <a:t>設定顯示</a:t>
            </a:r>
            <a:endParaRPr lang="en-US" altLang="zh-TW"/>
          </a:p>
          <a:p>
            <a:pPr lvl="1"/>
            <a:r>
              <a:rPr lang="en-US" altLang="zh-TW"/>
              <a:t>.headers on</a:t>
            </a:r>
          </a:p>
          <a:p>
            <a:pPr lvl="1"/>
            <a:r>
              <a:rPr lang="en-US" altLang="zh-TW"/>
              <a:t>.mode column</a:t>
            </a:r>
          </a:p>
          <a:p>
            <a:r>
              <a:rPr lang="zh-TW" altLang="en-US"/>
              <a:t>讀出資料表資料</a:t>
            </a:r>
            <a:endParaRPr lang="en-US" altLang="zh-TW"/>
          </a:p>
          <a:p>
            <a:pPr lvl="1"/>
            <a:r>
              <a:rPr lang="en-US" altLang="zh-TW" b="1"/>
              <a:t>select * from author;</a:t>
            </a:r>
            <a:endParaRPr lang="zh-TW" altLang="en-US" b="1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8710B6E-D1BB-4B84-BD51-A9146178F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61F47-39D7-4DD0-84AD-81CC893880C3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839DF8A-4EC3-4CBE-A9C4-720900C6B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34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8E9FE6E-5D5D-4890-A97B-A4DFA6FD9011}"/>
              </a:ext>
            </a:extLst>
          </p:cNvPr>
          <p:cNvSpPr txBox="1"/>
          <p:nvPr/>
        </p:nvSpPr>
        <p:spPr>
          <a:xfrm>
            <a:off x="6912923" y="813413"/>
            <a:ext cx="2456708" cy="369331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altLang="zh-TW" dirty="0"/>
              <a:t>b30999,Huang</a:t>
            </a:r>
          </a:p>
          <a:p>
            <a:r>
              <a:rPr lang="en-US" altLang="zh-TW" dirty="0"/>
              <a:t>b10234,Lin</a:t>
            </a:r>
          </a:p>
          <a:p>
            <a:r>
              <a:rPr lang="en-US" altLang="zh-TW" dirty="0"/>
              <a:t>d11222,William</a:t>
            </a:r>
          </a:p>
          <a:p>
            <a:r>
              <a:rPr lang="en-US" altLang="zh-TW" dirty="0"/>
              <a:t>b20666,Sandra</a:t>
            </a:r>
          </a:p>
          <a:p>
            <a:r>
              <a:rPr lang="en-US" altLang="zh-TW" dirty="0"/>
              <a:t>b40555,Wu</a:t>
            </a:r>
          </a:p>
          <a:p>
            <a:r>
              <a:rPr lang="en-US" altLang="zh-TW" dirty="0"/>
              <a:t>d20777,Jolin</a:t>
            </a:r>
          </a:p>
          <a:p>
            <a:r>
              <a:rPr lang="en-US" altLang="zh-TW" dirty="0"/>
              <a:t>v01888,J.K.</a:t>
            </a:r>
          </a:p>
          <a:p>
            <a:r>
              <a:rPr lang="en-US" altLang="zh-TW" dirty="0"/>
              <a:t>b51111,Lai</a:t>
            </a:r>
          </a:p>
          <a:p>
            <a:r>
              <a:rPr lang="en-US" altLang="zh-TW" dirty="0"/>
              <a:t>b51111,Huang</a:t>
            </a:r>
          </a:p>
          <a:p>
            <a:r>
              <a:rPr lang="en-US" altLang="zh-TW" dirty="0"/>
              <a:t>b51111,Lin</a:t>
            </a:r>
          </a:p>
          <a:p>
            <a:r>
              <a:rPr lang="en-US" altLang="zh-TW" dirty="0"/>
              <a:t>d03333,Jackey</a:t>
            </a:r>
          </a:p>
          <a:p>
            <a:r>
              <a:rPr lang="en-US" altLang="zh-TW" dirty="0"/>
              <a:t>d03333,David</a:t>
            </a:r>
          </a:p>
          <a:p>
            <a:r>
              <a:rPr lang="en-US" altLang="zh-TW" dirty="0"/>
              <a:t>d03333,Tom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8516BA8-E9A8-448B-9A97-7BE9A941A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2" y="205083"/>
            <a:ext cx="797801" cy="79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222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5BDEF6-476C-441A-8DC8-97E231105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修改資料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6A88A9-171C-4E13-A75E-4FB584099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b="1">
                <a:solidFill>
                  <a:srgbClr val="0000FF"/>
                </a:solidFill>
                <a:ea typeface="微軟正黑體" panose="020B0604030504040204" pitchFamily="34" charset="-120"/>
              </a:rPr>
              <a:t>UPDATE</a:t>
            </a:r>
            <a:r>
              <a:rPr lang="en-US" altLang="zh-TW">
                <a:ea typeface="微軟正黑體" panose="020B0604030504040204" pitchFamily="34" charset="-120"/>
              </a:rPr>
              <a:t> &lt;</a:t>
            </a:r>
            <a:r>
              <a:rPr lang="zh-TW" altLang="en-US">
                <a:ea typeface="微軟正黑體" panose="020B0604030504040204" pitchFamily="34" charset="-120"/>
              </a:rPr>
              <a:t>資料表名稱</a:t>
            </a:r>
            <a:r>
              <a:rPr lang="en-US" altLang="zh-TW">
                <a:ea typeface="微軟正黑體" panose="020B0604030504040204" pitchFamily="34" charset="-120"/>
              </a:rPr>
              <a:t>&gt;</a:t>
            </a:r>
          </a:p>
          <a:p>
            <a:pPr>
              <a:buNone/>
            </a:pPr>
            <a:r>
              <a:rPr lang="en-US" altLang="zh-TW" b="1">
                <a:solidFill>
                  <a:srgbClr val="0000FF"/>
                </a:solidFill>
                <a:ea typeface="微軟正黑體" panose="020B0604030504040204" pitchFamily="34" charset="-120"/>
              </a:rPr>
              <a:t>SET</a:t>
            </a:r>
            <a:r>
              <a:rPr lang="en-US" altLang="zh-TW" b="1">
                <a:ea typeface="微軟正黑體" panose="020B0604030504040204" pitchFamily="34" charset="-120"/>
              </a:rPr>
              <a:t> </a:t>
            </a:r>
            <a:r>
              <a:rPr lang="en-US" altLang="zh-TW">
                <a:ea typeface="微軟正黑體" panose="020B0604030504040204" pitchFamily="34" charset="-120"/>
              </a:rPr>
              <a:t>&lt;</a:t>
            </a:r>
            <a:r>
              <a:rPr lang="zh-TW" altLang="en-US">
                <a:ea typeface="微軟正黑體" panose="020B0604030504040204" pitchFamily="34" charset="-120"/>
              </a:rPr>
              <a:t>屬性名稱</a:t>
            </a:r>
            <a:r>
              <a:rPr lang="en-US" altLang="zh-TW">
                <a:ea typeface="微軟正黑體" panose="020B0604030504040204" pitchFamily="34" charset="-120"/>
              </a:rPr>
              <a:t>&gt; = &lt;</a:t>
            </a:r>
            <a:r>
              <a:rPr lang="zh-TW" altLang="en-US">
                <a:ea typeface="微軟正黑體" panose="020B0604030504040204" pitchFamily="34" charset="-120"/>
              </a:rPr>
              <a:t>屬性值</a:t>
            </a:r>
            <a:r>
              <a:rPr lang="en-US" altLang="zh-TW">
                <a:ea typeface="微軟正黑體" panose="020B0604030504040204" pitchFamily="34" charset="-120"/>
              </a:rPr>
              <a:t>&gt;</a:t>
            </a:r>
            <a:r>
              <a:rPr lang="en-US" altLang="zh-TW">
                <a:solidFill>
                  <a:srgbClr val="0070C0"/>
                </a:solidFill>
                <a:ea typeface="微軟正黑體" panose="020B0604030504040204" pitchFamily="34" charset="-120"/>
              </a:rPr>
              <a:t>, </a:t>
            </a:r>
            <a:r>
              <a:rPr lang="en-US" altLang="zh-TW">
                <a:ea typeface="微軟正黑體" panose="020B0604030504040204" pitchFamily="34" charset="-120"/>
              </a:rPr>
              <a:t>&lt;</a:t>
            </a:r>
            <a:r>
              <a:rPr lang="zh-TW" altLang="en-US">
                <a:ea typeface="微軟正黑體" panose="020B0604030504040204" pitchFamily="34" charset="-120"/>
              </a:rPr>
              <a:t>屬性名稱</a:t>
            </a:r>
            <a:r>
              <a:rPr lang="en-US" altLang="zh-TW">
                <a:ea typeface="微軟正黑體" panose="020B0604030504040204" pitchFamily="34" charset="-120"/>
              </a:rPr>
              <a:t>&gt; = &lt;</a:t>
            </a:r>
            <a:r>
              <a:rPr lang="zh-TW" altLang="en-US">
                <a:ea typeface="微軟正黑體" panose="020B0604030504040204" pitchFamily="34" charset="-120"/>
              </a:rPr>
              <a:t>屬性值</a:t>
            </a:r>
            <a:r>
              <a:rPr lang="en-US" altLang="zh-TW">
                <a:ea typeface="微軟正黑體" panose="020B0604030504040204" pitchFamily="34" charset="-120"/>
              </a:rPr>
              <a:t>&gt;,……</a:t>
            </a:r>
          </a:p>
          <a:p>
            <a:pPr>
              <a:buNone/>
            </a:pPr>
            <a:r>
              <a:rPr lang="en-US" altLang="zh-TW" b="1">
                <a:solidFill>
                  <a:srgbClr val="0000FF"/>
                </a:solidFill>
                <a:ea typeface="微軟正黑體" panose="020B0604030504040204" pitchFamily="34" charset="-120"/>
              </a:rPr>
              <a:t>WHERE</a:t>
            </a:r>
            <a:r>
              <a:rPr lang="en-US" altLang="zh-TW" b="1">
                <a:ea typeface="微軟正黑體" panose="020B0604030504040204" pitchFamily="34" charset="-120"/>
              </a:rPr>
              <a:t> </a:t>
            </a:r>
            <a:r>
              <a:rPr lang="en-US" altLang="zh-TW">
                <a:ea typeface="微軟正黑體" panose="020B0604030504040204" pitchFamily="34" charset="-120"/>
              </a:rPr>
              <a:t>&lt;</a:t>
            </a:r>
            <a:r>
              <a:rPr lang="zh-TW" altLang="en-US">
                <a:ea typeface="微軟正黑體" panose="020B0604030504040204" pitchFamily="34" charset="-120"/>
              </a:rPr>
              <a:t>條件</a:t>
            </a:r>
            <a:r>
              <a:rPr lang="en-US" altLang="zh-TW">
                <a:ea typeface="微軟正黑體" panose="020B0604030504040204" pitchFamily="34" charset="-120"/>
              </a:rPr>
              <a:t>&gt;</a:t>
            </a:r>
            <a:r>
              <a:rPr lang="en-US" altLang="zh-TW">
                <a:solidFill>
                  <a:srgbClr val="0070C0"/>
                </a:solidFill>
                <a:ea typeface="微軟正黑體" panose="020B0604030504040204" pitchFamily="34" charset="-120"/>
              </a:rPr>
              <a:t>;</a:t>
            </a:r>
          </a:p>
          <a:p>
            <a:pPr>
              <a:buNone/>
            </a:pPr>
            <a:endParaRPr lang="en-US" altLang="zh-TW">
              <a:solidFill>
                <a:srgbClr val="0070C0"/>
              </a:solidFill>
              <a:latin typeface="微軟正黑體" panose="020B0604030504040204" pitchFamily="34" charset="-120"/>
            </a:endParaRPr>
          </a:p>
          <a:p>
            <a:pPr>
              <a:buNone/>
            </a:pPr>
            <a:r>
              <a:rPr lang="zh-TW" altLang="en-US">
                <a:solidFill>
                  <a:schemeClr val="tx1"/>
                </a:solidFill>
              </a:rPr>
              <a:t>將「資料庫理論與實務」這本書的定價改成</a:t>
            </a:r>
            <a:r>
              <a:rPr lang="en-US" altLang="zh-TW">
                <a:solidFill>
                  <a:schemeClr val="tx1"/>
                </a:solidFill>
              </a:rPr>
              <a:t>700</a:t>
            </a:r>
          </a:p>
          <a:p>
            <a:pPr lvl="1">
              <a:buNone/>
            </a:pPr>
            <a:r>
              <a:rPr lang="en-US" altLang="zh-TW" sz="2400" b="1">
                <a:solidFill>
                  <a:srgbClr val="0000FF"/>
                </a:solidFill>
              </a:rPr>
              <a:t>UPDATE</a:t>
            </a:r>
            <a:r>
              <a:rPr lang="en-US" altLang="zh-TW" sz="2400" b="1">
                <a:solidFill>
                  <a:srgbClr val="0070C0"/>
                </a:solidFill>
              </a:rPr>
              <a:t> </a:t>
            </a:r>
            <a:r>
              <a:rPr lang="en-US" altLang="zh-TW" sz="2400" b="1">
                <a:solidFill>
                  <a:srgbClr val="C00000"/>
                </a:solidFill>
              </a:rPr>
              <a:t>Product</a:t>
            </a:r>
          </a:p>
          <a:p>
            <a:pPr lvl="1">
              <a:buNone/>
            </a:pPr>
            <a:r>
              <a:rPr lang="en-US" altLang="zh-TW" sz="2400" b="1">
                <a:solidFill>
                  <a:srgbClr val="0000FF"/>
                </a:solidFill>
              </a:rPr>
              <a:t>SET</a:t>
            </a:r>
            <a:r>
              <a:rPr lang="en-US" altLang="zh-TW" sz="2400" b="1">
                <a:solidFill>
                  <a:srgbClr val="0070C0"/>
                </a:solidFill>
              </a:rPr>
              <a:t> </a:t>
            </a:r>
            <a:r>
              <a:rPr lang="en-US" altLang="zh-TW" sz="2400" b="1">
                <a:solidFill>
                  <a:srgbClr val="00B050"/>
                </a:solidFill>
              </a:rPr>
              <a:t>unitPrice</a:t>
            </a:r>
            <a:r>
              <a:rPr lang="en-US" altLang="zh-TW" sz="2400" b="1">
                <a:solidFill>
                  <a:srgbClr val="0070C0"/>
                </a:solidFill>
              </a:rPr>
              <a:t> = </a:t>
            </a:r>
            <a:r>
              <a:rPr lang="en-US" altLang="zh-TW" sz="2400" b="1">
                <a:solidFill>
                  <a:srgbClr val="7030A0"/>
                </a:solidFill>
              </a:rPr>
              <a:t>700</a:t>
            </a:r>
          </a:p>
          <a:p>
            <a:pPr lvl="1">
              <a:buNone/>
            </a:pPr>
            <a:r>
              <a:rPr lang="en-US" altLang="zh-TW" sz="2400" b="1">
                <a:solidFill>
                  <a:srgbClr val="0000FF"/>
                </a:solidFill>
              </a:rPr>
              <a:t>WHERE</a:t>
            </a:r>
            <a:r>
              <a:rPr lang="en-US" altLang="zh-TW" sz="2400" b="1">
                <a:solidFill>
                  <a:srgbClr val="0070C0"/>
                </a:solidFill>
              </a:rPr>
              <a:t> </a:t>
            </a:r>
            <a:r>
              <a:rPr lang="en-US" altLang="zh-TW" sz="2400" b="1">
                <a:solidFill>
                  <a:srgbClr val="00B050"/>
                </a:solidFill>
              </a:rPr>
              <a:t>pName</a:t>
            </a:r>
            <a:r>
              <a:rPr lang="en-US" altLang="zh-TW" sz="2400" b="1">
                <a:solidFill>
                  <a:srgbClr val="0070C0"/>
                </a:solidFill>
              </a:rPr>
              <a:t> = </a:t>
            </a:r>
            <a:r>
              <a:rPr lang="en-US" altLang="zh-TW" sz="2400" b="1">
                <a:solidFill>
                  <a:srgbClr val="7030A0"/>
                </a:solidFill>
              </a:rPr>
              <a:t>'</a:t>
            </a:r>
            <a:r>
              <a:rPr lang="zh-TW" altLang="en-US" sz="2400" b="1">
                <a:solidFill>
                  <a:srgbClr val="7030A0"/>
                </a:solidFill>
              </a:rPr>
              <a:t>資料庫理論與實務</a:t>
            </a:r>
            <a:r>
              <a:rPr lang="en-US" altLang="zh-TW" sz="2400" b="1">
                <a:solidFill>
                  <a:srgbClr val="7030A0"/>
                </a:solidFill>
              </a:rPr>
              <a:t>'</a:t>
            </a:r>
            <a:r>
              <a:rPr lang="en-US" altLang="zh-TW" sz="2400" b="1">
                <a:solidFill>
                  <a:srgbClr val="0070C0"/>
                </a:solidFill>
              </a:rPr>
              <a:t>;</a:t>
            </a:r>
          </a:p>
          <a:p>
            <a:pPr>
              <a:buNone/>
            </a:pPr>
            <a:endParaRPr lang="en-US" altLang="zh-TW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F4068CB-8EA2-4566-B6BE-569AB72F7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DD454-B244-435B-926B-9AD61594AAB1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587189B-742C-4AA6-8674-D1CE6A932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0231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3D5A76-851C-4B17-B2C5-53239E38A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刪除資料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F8B6E8-E0EA-4E91-BC5E-85619A545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b="1" dirty="0">
                <a:solidFill>
                  <a:srgbClr val="0000FF"/>
                </a:solidFill>
                <a:ea typeface="微軟正黑體" panose="020B0604030504040204" pitchFamily="34" charset="-120"/>
              </a:rPr>
              <a:t>DELETE</a:t>
            </a:r>
            <a:r>
              <a:rPr lang="en-US" altLang="zh-TW" dirty="0">
                <a:ea typeface="微軟正黑體" panose="020B0604030504040204" pitchFamily="34" charset="-120"/>
              </a:rPr>
              <a:t> From &lt;</a:t>
            </a:r>
            <a:r>
              <a:rPr lang="zh-TW" altLang="en-US" dirty="0">
                <a:ea typeface="微軟正黑體" panose="020B0604030504040204" pitchFamily="34" charset="-120"/>
              </a:rPr>
              <a:t>資料表名稱</a:t>
            </a:r>
            <a:r>
              <a:rPr lang="en-US" altLang="zh-TW" dirty="0">
                <a:ea typeface="微軟正黑體" panose="020B0604030504040204" pitchFamily="34" charset="-120"/>
              </a:rPr>
              <a:t>&gt;</a:t>
            </a:r>
          </a:p>
          <a:p>
            <a:pPr>
              <a:buNone/>
            </a:pPr>
            <a:r>
              <a:rPr lang="en-US" altLang="zh-TW" b="1" dirty="0">
                <a:solidFill>
                  <a:srgbClr val="0000FF"/>
                </a:solidFill>
                <a:ea typeface="微軟正黑體" panose="020B0604030504040204" pitchFamily="34" charset="-120"/>
              </a:rPr>
              <a:t>WHERE</a:t>
            </a:r>
            <a:r>
              <a:rPr lang="en-US" altLang="zh-TW" b="1" dirty="0"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ea typeface="微軟正黑體" panose="020B0604030504040204" pitchFamily="34" charset="-120"/>
              </a:rPr>
              <a:t>&lt;</a:t>
            </a:r>
            <a:r>
              <a:rPr lang="zh-TW" altLang="en-US" dirty="0">
                <a:ea typeface="微軟正黑體" panose="020B0604030504040204" pitchFamily="34" charset="-120"/>
              </a:rPr>
              <a:t>條件</a:t>
            </a:r>
            <a:r>
              <a:rPr lang="en-US" altLang="zh-TW" dirty="0">
                <a:ea typeface="微軟正黑體" panose="020B0604030504040204" pitchFamily="34" charset="-120"/>
              </a:rPr>
              <a:t>&gt;;</a:t>
            </a:r>
          </a:p>
          <a:p>
            <a:pPr>
              <a:buNone/>
            </a:pPr>
            <a:endParaRPr lang="en-US" altLang="zh-TW" dirty="0"/>
          </a:p>
          <a:p>
            <a:pPr>
              <a:buNone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將名為「資料庫理論與實務」的商品刪除</a:t>
            </a:r>
            <a:endParaRPr lang="en-US" altLang="zh-TW" dirty="0">
              <a:ea typeface="微軟正黑體" panose="020B0604030504040204" pitchFamily="34" charset="-120"/>
            </a:endParaRPr>
          </a:p>
          <a:p>
            <a:pPr lvl="1">
              <a:buNone/>
            </a:pPr>
            <a:r>
              <a:rPr lang="en-US" altLang="zh-TW" sz="2400" b="1" dirty="0">
                <a:solidFill>
                  <a:srgbClr val="0000FF"/>
                </a:solidFill>
                <a:ea typeface="微軟正黑體" panose="020B0604030504040204" pitchFamily="34" charset="-120"/>
              </a:rPr>
              <a:t>DELETE FROM </a:t>
            </a:r>
            <a:r>
              <a:rPr lang="en-US" altLang="zh-TW" sz="2400" b="1" dirty="0">
                <a:solidFill>
                  <a:srgbClr val="C00000"/>
                </a:solidFill>
                <a:ea typeface="微軟正黑體" panose="020B0604030504040204" pitchFamily="34" charset="-120"/>
              </a:rPr>
              <a:t>Product</a:t>
            </a:r>
          </a:p>
          <a:p>
            <a:pPr lvl="1">
              <a:buNone/>
            </a:pPr>
            <a:r>
              <a:rPr lang="en-US" altLang="zh-TW" sz="2400" b="1" dirty="0">
                <a:solidFill>
                  <a:srgbClr val="0000FF"/>
                </a:solidFill>
                <a:ea typeface="微軟正黑體" panose="020B0604030504040204" pitchFamily="34" charset="-120"/>
              </a:rPr>
              <a:t>WHERE</a:t>
            </a:r>
            <a:r>
              <a:rPr lang="en-US" altLang="zh-TW" sz="24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 </a:t>
            </a:r>
            <a:r>
              <a:rPr lang="en-US" altLang="zh-TW" sz="2400" b="1" dirty="0" err="1">
                <a:solidFill>
                  <a:srgbClr val="00B050"/>
                </a:solidFill>
                <a:ea typeface="微軟正黑體" panose="020B0604030504040204" pitchFamily="34" charset="-120"/>
              </a:rPr>
              <a:t>p</a:t>
            </a:r>
            <a:r>
              <a:rPr lang="en-US" altLang="zh-TW" sz="2400" b="1" dirty="0" err="1">
                <a:solidFill>
                  <a:srgbClr val="00B050"/>
                </a:solidFill>
              </a:rPr>
              <a:t>N</a:t>
            </a:r>
            <a:r>
              <a:rPr lang="en-US" altLang="zh-TW" sz="2400" b="1" dirty="0" err="1">
                <a:solidFill>
                  <a:srgbClr val="00B050"/>
                </a:solidFill>
                <a:ea typeface="微軟正黑體" panose="020B0604030504040204" pitchFamily="34" charset="-120"/>
              </a:rPr>
              <a:t>ame</a:t>
            </a:r>
            <a:r>
              <a:rPr lang="en-US" altLang="zh-TW" sz="24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 = </a:t>
            </a:r>
            <a:r>
              <a:rPr lang="en-US" altLang="zh-TW" sz="2400" b="1" dirty="0">
                <a:solidFill>
                  <a:srgbClr val="7030A0"/>
                </a:solidFill>
                <a:ea typeface="微軟正黑體" panose="020B0604030504040204" pitchFamily="34" charset="-120"/>
              </a:rPr>
              <a:t>'</a:t>
            </a:r>
            <a:r>
              <a:rPr lang="zh-TW" altLang="en-US" sz="2400" b="1" dirty="0">
                <a:solidFill>
                  <a:srgbClr val="7030A0"/>
                </a:solidFill>
                <a:ea typeface="微軟正黑體" panose="020B0604030504040204" pitchFamily="34" charset="-120"/>
              </a:rPr>
              <a:t>資料庫理論與實務</a:t>
            </a:r>
            <a:r>
              <a:rPr lang="en-US" altLang="zh-TW" sz="2400" b="1" dirty="0">
                <a:solidFill>
                  <a:srgbClr val="7030A0"/>
                </a:solidFill>
                <a:ea typeface="微軟正黑體" panose="020B0604030504040204" pitchFamily="34" charset="-120"/>
              </a:rPr>
              <a:t>'</a:t>
            </a:r>
            <a:r>
              <a:rPr lang="en-US" altLang="zh-TW" sz="24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;</a:t>
            </a:r>
          </a:p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DC78EB-ED03-413B-A0B9-6386C0A1E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374CD-2B11-4E45-BC37-85229340081A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7FDCB20-C615-432E-863E-2A82A6177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7012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24DC2B-C0F0-4585-B4DE-E9E220C5F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輸出結果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D21512-F843-4519-BC5B-36C469A92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/>
              <a:t>.dump </a:t>
            </a:r>
            <a:r>
              <a:rPr lang="zh-TW" altLang="en-US"/>
              <a:t>可以將資料庫或資料表到「倒進」一個文字檔</a:t>
            </a:r>
            <a:r>
              <a:rPr lang="en-US" altLang="zh-TW"/>
              <a:t>(sql)</a:t>
            </a:r>
          </a:p>
          <a:p>
            <a:r>
              <a:rPr lang="zh-TW" altLang="en-US"/>
              <a:t>輸出整個資料庫</a:t>
            </a:r>
            <a:r>
              <a:rPr lang="en-US" altLang="zh-TW"/>
              <a:t>(schema</a:t>
            </a:r>
            <a:r>
              <a:rPr lang="zh-TW" altLang="en-US"/>
              <a:t>及</a:t>
            </a:r>
            <a:r>
              <a:rPr lang="en-US" altLang="zh-TW"/>
              <a:t>data)</a:t>
            </a:r>
          </a:p>
          <a:p>
            <a:pPr lvl="1"/>
            <a:r>
              <a:rPr lang="en-US" altLang="zh-TW"/>
              <a:t>.output </a:t>
            </a:r>
            <a:r>
              <a:rPr lang="zh-TW" altLang="en-US"/>
              <a:t>檔案路徑</a:t>
            </a:r>
            <a:r>
              <a:rPr lang="en-US" altLang="zh-TW"/>
              <a:t>(.sql)</a:t>
            </a:r>
          </a:p>
          <a:p>
            <a:pPr lvl="1"/>
            <a:r>
              <a:rPr lang="en-US" altLang="zh-TW"/>
              <a:t>.dump</a:t>
            </a:r>
          </a:p>
          <a:p>
            <a:pPr lvl="1"/>
            <a:r>
              <a:rPr lang="en-US" altLang="zh-TW"/>
              <a:t>.exit</a:t>
            </a:r>
          </a:p>
          <a:p>
            <a:r>
              <a:rPr lang="zh-TW" altLang="en-US"/>
              <a:t>輸出一個資料表</a:t>
            </a:r>
            <a:endParaRPr lang="en-US" altLang="zh-TW"/>
          </a:p>
          <a:p>
            <a:pPr lvl="1"/>
            <a:r>
              <a:rPr lang="en-US" altLang="zh-TW"/>
              <a:t>.output</a:t>
            </a:r>
            <a:r>
              <a:rPr lang="zh-TW" altLang="en-US"/>
              <a:t>檔案路徑</a:t>
            </a:r>
            <a:r>
              <a:rPr lang="en-US" altLang="zh-TW"/>
              <a:t>(.sql)</a:t>
            </a:r>
          </a:p>
          <a:p>
            <a:pPr lvl="1"/>
            <a:r>
              <a:rPr lang="en-US" altLang="zh-TW"/>
              <a:t>.dump </a:t>
            </a:r>
            <a:r>
              <a:rPr lang="zh-TW" altLang="en-US"/>
              <a:t>資料表</a:t>
            </a:r>
            <a:endParaRPr lang="en-US" altLang="zh-TW"/>
          </a:p>
          <a:p>
            <a:pPr lvl="1"/>
            <a:r>
              <a:rPr lang="en-US" altLang="zh-TW"/>
              <a:t>.quit</a:t>
            </a:r>
          </a:p>
          <a:p>
            <a:r>
              <a:rPr lang="zh-TW" altLang="en-US"/>
              <a:t>輸出資料庫</a:t>
            </a:r>
            <a:r>
              <a:rPr lang="en-US" altLang="zh-TW"/>
              <a:t>schema</a:t>
            </a:r>
          </a:p>
          <a:p>
            <a:pPr lvl="1"/>
            <a:r>
              <a:rPr lang="en-US" altLang="zh-TW"/>
              <a:t>.output</a:t>
            </a:r>
            <a:r>
              <a:rPr lang="zh-TW" altLang="en-US"/>
              <a:t>檔案路徑</a:t>
            </a:r>
            <a:r>
              <a:rPr lang="en-US" altLang="zh-TW"/>
              <a:t>(.sql)</a:t>
            </a:r>
          </a:p>
          <a:p>
            <a:pPr lvl="1"/>
            <a:r>
              <a:rPr lang="en-US" altLang="zh-TW"/>
              <a:t>.schema</a:t>
            </a:r>
          </a:p>
          <a:p>
            <a:pPr lvl="1"/>
            <a:r>
              <a:rPr lang="en-US" altLang="zh-TW"/>
              <a:t>.quit</a:t>
            </a:r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FE92700-F23D-4377-A893-0194325C6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C55A9-DF25-4E7A-B6AE-9F1ED649BF82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39839F2-5B04-4ADD-BBAF-8F6F52DF0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2738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50BD36-BD5D-4F3D-AF9E-9430109C9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將資料庫儲存成</a:t>
            </a:r>
            <a:r>
              <a:rPr lang="en-US" altLang="zh-TW"/>
              <a:t>.db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B8A4961-14A8-4A6A-A898-B5BA0656E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在</a:t>
            </a:r>
            <a:r>
              <a:rPr lang="en-US" altLang="zh-TW"/>
              <a:t>sqlite3</a:t>
            </a:r>
          </a:p>
          <a:p>
            <a:r>
              <a:rPr lang="en-US" altLang="zh-TW"/>
              <a:t>.save </a:t>
            </a:r>
            <a:r>
              <a:rPr lang="zh-TW" altLang="en-US"/>
              <a:t>資料庫名稱</a:t>
            </a:r>
            <a:r>
              <a:rPr lang="en-US" altLang="zh-TW"/>
              <a:t>.db</a:t>
            </a:r>
          </a:p>
          <a:p>
            <a:r>
              <a:rPr lang="en-US" altLang="zh-TW"/>
              <a:t>.open</a:t>
            </a:r>
            <a:r>
              <a:rPr lang="zh-TW" altLang="en-US"/>
              <a:t>資料庫名稱</a:t>
            </a:r>
            <a:r>
              <a:rPr lang="en-US" altLang="zh-TW"/>
              <a:t>.db</a:t>
            </a:r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CA089F1-4872-479E-BE45-435A0A484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DF9CD-7CBC-4AB1-8834-785FFDC79F24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484B996-25D8-4C33-B151-CE1A91E24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234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B76367-BBE5-47F6-80B3-DC6AE4FDC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練習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36FC69-5254-477D-8528-C975DF96B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將資料表</a:t>
            </a:r>
            <a:r>
              <a:rPr lang="en-US" altLang="zh-TW"/>
              <a:t>(author) dump </a:t>
            </a:r>
            <a:r>
              <a:rPr lang="zh-TW" altLang="en-US"/>
              <a:t>出來 </a:t>
            </a:r>
            <a:r>
              <a:rPr lang="en-US" altLang="zh-TW"/>
              <a:t>“xauthor.sql”</a:t>
            </a:r>
          </a:p>
          <a:p>
            <a:r>
              <a:rPr lang="zh-TW" altLang="en-US"/>
              <a:t>關閉</a:t>
            </a:r>
            <a:r>
              <a:rPr lang="en-US" altLang="zh-TW"/>
              <a:t>sqlite3</a:t>
            </a:r>
          </a:p>
          <a:p>
            <a:r>
              <a:rPr lang="zh-TW" altLang="en-US"/>
              <a:t>重開</a:t>
            </a:r>
            <a:r>
              <a:rPr lang="en-US" altLang="zh-TW"/>
              <a:t>sqlite3</a:t>
            </a:r>
          </a:p>
          <a:p>
            <a:r>
              <a:rPr lang="zh-TW" altLang="en-US"/>
              <a:t>利用 </a:t>
            </a:r>
            <a:r>
              <a:rPr lang="en-US" altLang="zh-TW"/>
              <a:t>.read </a:t>
            </a:r>
            <a:r>
              <a:rPr lang="zh-TW" altLang="en-US"/>
              <a:t>指令，讀入</a:t>
            </a:r>
            <a:r>
              <a:rPr lang="en-US" altLang="zh-TW"/>
              <a:t>xauthor.sql</a:t>
            </a:r>
            <a:r>
              <a:rPr lang="zh-TW" altLang="en-US"/>
              <a:t>並執行</a:t>
            </a:r>
            <a:endParaRPr lang="en-US" altLang="zh-TW"/>
          </a:p>
          <a:p>
            <a:r>
              <a:rPr lang="zh-TW" altLang="en-US"/>
              <a:t>顯示資料表 </a:t>
            </a:r>
            <a:r>
              <a:rPr lang="en-US" altLang="zh-TW"/>
              <a:t>author </a:t>
            </a:r>
            <a:r>
              <a:rPr lang="zh-TW" altLang="en-US"/>
              <a:t>的內容</a:t>
            </a:r>
            <a:endParaRPr lang="en-US" altLang="zh-TW"/>
          </a:p>
          <a:p>
            <a:pPr lvl="1"/>
            <a:r>
              <a:rPr lang="en-US" altLang="zh-TW" b="1"/>
              <a:t>select * from author;</a:t>
            </a:r>
            <a:endParaRPr lang="zh-TW" altLang="en-US" b="1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622C8F5-E82A-4047-B630-946F97053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BC82A-C99D-4C59-A4D6-03F5B6F5161E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5083D4C-7569-4D52-B13A-5052CB18E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39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D9710EF-2E7C-428C-B5A4-1A90735D8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2" y="205083"/>
            <a:ext cx="797801" cy="79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461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556899FC-8427-4EFE-B10B-9F992737C7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b="1" spc="6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基本的</a:t>
            </a:r>
            <a:r>
              <a:rPr lang="en-US" altLang="zh-TW" b="1" spc="6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SQL</a:t>
            </a:r>
            <a:r>
              <a:rPr lang="zh-TW" altLang="en-US" b="1" spc="6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查詢語法</a:t>
            </a:r>
            <a:endParaRPr lang="zh-TW" altLang="en-US"/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F2DD82D0-AC17-44D4-9ACA-EF9447D629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3941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D5AEB0-A7C0-4079-A480-C03959603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的查詢句基本格式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868A88-1574-4A81-BF63-73177BFAD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0600" y="1702687"/>
            <a:ext cx="5181600" cy="1417760"/>
          </a:xfrm>
          <a:ln>
            <a:solidFill>
              <a:srgbClr val="C00000"/>
            </a:solidFill>
          </a:ln>
        </p:spPr>
        <p:txBody>
          <a:bodyPr/>
          <a:lstStyle/>
          <a:p>
            <a:pPr>
              <a:buNone/>
            </a:pP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&lt;</a:t>
            </a:r>
            <a:r>
              <a:rPr lang="zh-TW" altLang="en-US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屬性串列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&gt;	</a:t>
            </a:r>
          </a:p>
          <a:p>
            <a:pPr>
              <a:buNone/>
            </a:pP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 &lt;</a:t>
            </a:r>
            <a:r>
              <a:rPr lang="zh-TW" altLang="en-US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資料表串列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</a:p>
          <a:p>
            <a:pPr>
              <a:buNone/>
            </a:pP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WHERE 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&lt;</a:t>
            </a:r>
            <a:r>
              <a:rPr lang="zh-TW" altLang="en-US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限制條件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</a:p>
          <a:p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CF84E97-AF6F-4B7B-8336-6AF662A58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9" y="3419846"/>
            <a:ext cx="9087339" cy="2924505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>
                <a:latin typeface="微軟正黑體" panose="020B0604030504040204" pitchFamily="34" charset="-120"/>
              </a:rPr>
              <a:t>實例</a:t>
            </a:r>
            <a:r>
              <a:rPr lang="en-US" altLang="zh-TW" dirty="0">
                <a:latin typeface="微軟正黑體" panose="020B0604030504040204" pitchFamily="34" charset="-120"/>
              </a:rPr>
              <a:t>: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找出所有定價超過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500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的商品之編號、名稱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和定價</a:t>
            </a:r>
            <a:r>
              <a:rPr lang="zh-TW" altLang="en-US">
                <a:latin typeface="微軟正黑體" panose="020B0604030504040204" pitchFamily="34" charset="-120"/>
              </a:rPr>
              <a:t>關聯</a:t>
            </a:r>
            <a:r>
              <a:rPr lang="zh-TW" altLang="en-US" dirty="0">
                <a:latin typeface="微軟正黑體" panose="020B0604030504040204" pitchFamily="34" charset="-120"/>
              </a:rPr>
              <a:t>代數</a:t>
            </a:r>
            <a:endParaRPr lang="en-US" altLang="zh-TW" dirty="0">
              <a:latin typeface="微軟正黑體" panose="020B0604030504040204" pitchFamily="34" charset="-120"/>
            </a:endParaRPr>
          </a:p>
          <a:p>
            <a:pPr marL="457200" lvl="1" indent="0">
              <a:buNone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</a:t>
            </a:r>
            <a:r>
              <a:rPr lang="en-US" altLang="zh-TW" sz="2400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sz="24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en-US" altLang="zh-TW" sz="2400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pName</a:t>
            </a:r>
            <a:r>
              <a:rPr lang="en-US" altLang="zh-TW" sz="24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en-US" altLang="zh-TW" sz="2400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unitPrice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(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</a:t>
            </a:r>
            <a:r>
              <a:rPr lang="en-US" altLang="zh-TW" sz="2400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unitPrice</a:t>
            </a:r>
            <a:r>
              <a:rPr lang="en-US" altLang="zh-TW" sz="24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&gt; 500</a:t>
            </a:r>
            <a:r>
              <a:rPr lang="zh-TW" altLang="en-US" sz="24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Product)</a:t>
            </a:r>
          </a:p>
          <a:p>
            <a:pPr marL="0" indent="0">
              <a:buNone/>
            </a:pPr>
            <a:r>
              <a:rPr lang="en-US" altLang="zh-TW" dirty="0"/>
              <a:t>SQL</a:t>
            </a:r>
            <a:r>
              <a:rPr lang="zh-TW" altLang="en-US" dirty="0"/>
              <a:t>指令</a:t>
            </a:r>
            <a:endParaRPr lang="en-US" altLang="zh-TW" dirty="0"/>
          </a:p>
          <a:p>
            <a:pPr marL="457200" lvl="1" indent="0">
              <a:buNone/>
            </a:pPr>
            <a:r>
              <a:rPr lang="en-US" altLang="zh-TW" b="1" dirty="0">
                <a:solidFill>
                  <a:srgbClr val="0000FF"/>
                </a:solidFill>
              </a:rPr>
              <a:t>SELECT</a:t>
            </a:r>
            <a:r>
              <a:rPr lang="en-US" altLang="zh-TW" dirty="0"/>
              <a:t> </a:t>
            </a:r>
            <a:r>
              <a:rPr lang="en-US" altLang="zh-TW" dirty="0" err="1"/>
              <a:t>pNo</a:t>
            </a:r>
            <a:r>
              <a:rPr lang="en-US" altLang="zh-TW" dirty="0"/>
              <a:t>, </a:t>
            </a:r>
            <a:r>
              <a:rPr lang="en-US" altLang="zh-TW" dirty="0" err="1"/>
              <a:t>pName</a:t>
            </a:r>
            <a:r>
              <a:rPr lang="en-US" altLang="zh-TW" dirty="0"/>
              <a:t>, </a:t>
            </a:r>
            <a:r>
              <a:rPr lang="en-US" altLang="zh-TW" dirty="0" err="1"/>
              <a:t>unitPrice</a:t>
            </a:r>
            <a:endParaRPr lang="en-US" altLang="zh-TW" dirty="0"/>
          </a:p>
          <a:p>
            <a:pPr marL="457200" lvl="1" indent="0">
              <a:buNone/>
            </a:pPr>
            <a:r>
              <a:rPr lang="en-US" altLang="zh-TW" b="1" dirty="0">
                <a:solidFill>
                  <a:srgbClr val="0000FF"/>
                </a:solidFill>
              </a:rPr>
              <a:t>FROM</a:t>
            </a:r>
            <a:r>
              <a:rPr lang="en-US" altLang="zh-TW" dirty="0">
                <a:solidFill>
                  <a:srgbClr val="0000FF"/>
                </a:solidFill>
              </a:rPr>
              <a:t> </a:t>
            </a:r>
            <a:r>
              <a:rPr lang="en-US" altLang="zh-TW" dirty="0"/>
              <a:t>product</a:t>
            </a:r>
          </a:p>
          <a:p>
            <a:pPr marL="457200" lvl="1" indent="0">
              <a:buNone/>
            </a:pPr>
            <a:r>
              <a:rPr lang="en-US" altLang="zh-TW" b="1" dirty="0">
                <a:solidFill>
                  <a:srgbClr val="0000FF"/>
                </a:solidFill>
              </a:rPr>
              <a:t>WHERE</a:t>
            </a:r>
            <a:r>
              <a:rPr lang="en-US" altLang="zh-TW" dirty="0"/>
              <a:t> </a:t>
            </a:r>
            <a:r>
              <a:rPr lang="en-US" altLang="zh-TW" dirty="0" err="1"/>
              <a:t>uniprice</a:t>
            </a:r>
            <a:r>
              <a:rPr lang="en-US" altLang="zh-TW" dirty="0"/>
              <a:t> &gt; 500</a:t>
            </a:r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9C11F7E-F7B3-46AA-8552-D3F7C0569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3CB1F-C9DF-4883-942E-225A463CB8B1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337FEB-7D8A-4D03-97BD-D33BBF91B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9671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CC1E78-F64B-4FB9-A2E7-2154F4020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7D9C5B-5F41-4C37-A52F-5404C3E31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/>
              <a:t>實例</a:t>
            </a:r>
            <a:r>
              <a:rPr lang="en-US" altLang="zh-TW"/>
              <a:t>:</a:t>
            </a:r>
            <a:r>
              <a:rPr lang="zh-TW" altLang="en-US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列出「系統分析理論與實務」的作者姓名</a:t>
            </a:r>
          </a:p>
          <a:p>
            <a:pPr lvl="1"/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  (</a:t>
            </a:r>
            <a:r>
              <a:rPr lang="zh-TW" altLang="en-US" sz="2000" u="sng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商品編號</a:t>
            </a:r>
            <a:r>
              <a:rPr lang="en-US" altLang="zh-TW" sz="2000" u="sng"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商品名稱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pName, 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定價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unitPrice, 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種類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category)</a:t>
            </a:r>
          </a:p>
          <a:p>
            <a:pPr lvl="1"/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Author  (</a:t>
            </a:r>
            <a:r>
              <a:rPr lang="zh-TW" altLang="en-US" sz="2000" u="sng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商品編號</a:t>
            </a:r>
            <a:r>
              <a:rPr lang="en-US" altLang="zh-TW" sz="2000" u="sng">
                <a:latin typeface="微軟正黑體" panose="020B0604030504040204" pitchFamily="34" charset="-120"/>
                <a:ea typeface="微軟正黑體" panose="020B0604030504040204" pitchFamily="34" charset="-120"/>
              </a:rPr>
              <a:t>pNo, </a:t>
            </a:r>
            <a:r>
              <a:rPr lang="zh-TW" altLang="en-US" sz="2000" u="sng">
                <a:latin typeface="微軟正黑體" panose="020B0604030504040204" pitchFamily="34" charset="-120"/>
                <a:ea typeface="微軟正黑體" panose="020B0604030504040204" pitchFamily="34" charset="-120"/>
              </a:rPr>
              <a:t>創作者名稱</a:t>
            </a:r>
            <a:r>
              <a:rPr lang="en-US" altLang="zh-TW" sz="2000" u="sng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name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r>
              <a:rPr lang="zh-TW" altLang="en-US"/>
              <a:t>關聯運算子</a:t>
            </a:r>
            <a:endParaRPr lang="en-US" altLang="zh-TW"/>
          </a:p>
          <a:p>
            <a:pPr lvl="1">
              <a:lnSpc>
                <a:spcPct val="150000"/>
              </a:lnSpc>
              <a:buNone/>
            </a:pP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Temp=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</a:t>
            </a:r>
            <a:r>
              <a:rPr lang="en-US" altLang="zh-TW" b="1" baseline="-25000"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(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</a:t>
            </a:r>
            <a:r>
              <a:rPr lang="en-US" altLang="zh-TW" b="1" baseline="-25000">
                <a:latin typeface="微軟正黑體" panose="020B0604030504040204" pitchFamily="34" charset="-120"/>
                <a:ea typeface="微軟正黑體" panose="020B0604030504040204" pitchFamily="34" charset="-120"/>
              </a:rPr>
              <a:t>pName=‘</a:t>
            </a:r>
            <a:r>
              <a:rPr lang="zh-TW" altLang="en-US" b="1" baseline="-2500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系統分析理論與實務</a:t>
            </a:r>
            <a:r>
              <a:rPr lang="en-US" altLang="zh-TW" b="1" baseline="-25000">
                <a:latin typeface="微軟正黑體" panose="020B0604030504040204" pitchFamily="34" charset="-120"/>
                <a:ea typeface="微軟正黑體" panose="020B0604030504040204" pitchFamily="34" charset="-120"/>
              </a:rPr>
              <a:t>’</a:t>
            </a:r>
            <a:r>
              <a:rPr lang="zh-TW" altLang="en-US" b="1" baseline="-2500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(Product))</a:t>
            </a:r>
          </a:p>
          <a:p>
            <a:pPr lvl="1">
              <a:lnSpc>
                <a:spcPct val="150000"/>
              </a:lnSpc>
              <a:buNone/>
            </a:pP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Result= 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</a:t>
            </a:r>
            <a:r>
              <a:rPr lang="en-US" altLang="zh-TW" b="1" baseline="-25000">
                <a:latin typeface="微軟正黑體" panose="020B0604030504040204" pitchFamily="34" charset="-120"/>
                <a:ea typeface="微軟正黑體" panose="020B0604030504040204" pitchFamily="34" charset="-120"/>
              </a:rPr>
              <a:t> name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(Temp *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Author)</a:t>
            </a:r>
            <a:endParaRPr lang="en-US" altLang="zh-TW"/>
          </a:p>
          <a:p>
            <a:r>
              <a:rPr lang="en-US" altLang="zh-TW"/>
              <a:t>SQL</a:t>
            </a:r>
            <a:r>
              <a:rPr lang="zh-TW" altLang="en-US"/>
              <a:t>指令</a:t>
            </a:r>
            <a:endParaRPr lang="en-US" altLang="zh-TW"/>
          </a:p>
          <a:p>
            <a:pPr marL="457200" lvl="1" indent="0">
              <a:buNone/>
            </a:pPr>
            <a:r>
              <a:rPr lang="en-US" altLang="zh-TW" b="1">
                <a:solidFill>
                  <a:srgbClr val="0000FF"/>
                </a:solidFill>
              </a:rPr>
              <a:t>SELECT</a:t>
            </a:r>
            <a:r>
              <a:rPr lang="en-US" altLang="zh-TW"/>
              <a:t> name</a:t>
            </a:r>
          </a:p>
          <a:p>
            <a:pPr marL="457200" lvl="1" indent="0">
              <a:buNone/>
            </a:pPr>
            <a:r>
              <a:rPr lang="en-US" altLang="zh-TW" b="1">
                <a:solidFill>
                  <a:srgbClr val="0000FF"/>
                </a:solidFill>
              </a:rPr>
              <a:t>FROM</a:t>
            </a:r>
            <a:r>
              <a:rPr lang="en-US" altLang="zh-TW"/>
              <a:t> Product, Author</a:t>
            </a:r>
          </a:p>
          <a:p>
            <a:pPr marL="457200" lvl="1" indent="0">
              <a:buNone/>
            </a:pPr>
            <a:r>
              <a:rPr lang="en-US" altLang="zh-TW" b="1">
                <a:solidFill>
                  <a:srgbClr val="0000FF"/>
                </a:solidFill>
              </a:rPr>
              <a:t>WHERE</a:t>
            </a:r>
            <a:r>
              <a:rPr lang="en-US" altLang="zh-TW"/>
              <a:t> pName = ‘</a:t>
            </a:r>
            <a:r>
              <a:rPr lang="zh-TW" altLang="en-US" b="1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系統分析理論與實務</a:t>
            </a:r>
            <a:r>
              <a:rPr lang="en-US" altLang="zh-TW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’</a:t>
            </a:r>
          </a:p>
          <a:p>
            <a:pPr marL="457200" lvl="1" indent="0">
              <a:buNone/>
            </a:pP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</a:rPr>
              <a:t>AND</a:t>
            </a:r>
            <a:r>
              <a:rPr lang="en-US" altLang="zh-TW">
                <a:solidFill>
                  <a:srgbClr val="FF5050"/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b="1">
                <a:solidFill>
                  <a:srgbClr val="C00000"/>
                </a:solidFill>
                <a:latin typeface="微軟正黑體" panose="020B0604030504040204" pitchFamily="34" charset="-120"/>
              </a:rPr>
              <a:t>Product.pNo = Author.pNo;</a:t>
            </a:r>
            <a:endParaRPr lang="zh-TW" altLang="en-US" b="1">
              <a:solidFill>
                <a:srgbClr val="C00000"/>
              </a:solidFill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649EBD8-6330-4580-98B1-966E9DCC1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F8594-5880-4E54-A955-E805B648DDC2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9C6FA1E-91EF-4EA6-88E5-A78839A9B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5820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486E3F-709A-4BBB-91E9-2872EDD22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8D16EFE-9D66-40EB-A144-4E7FE40C7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列出所有購買過「</a:t>
            </a:r>
            <a:r>
              <a:rPr lang="zh-TW" altLang="en-US" b="1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系統分析理論與實務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」的會員之</a:t>
            </a:r>
            <a:r>
              <a:rPr lang="zh-TW" altLang="en-US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會員編號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zh-TW" altLang="en-US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會員姓名 </a:t>
            </a:r>
          </a:p>
          <a:p>
            <a:pPr lvl="1">
              <a:lnSpc>
                <a:spcPct val="15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 (</a:t>
            </a:r>
            <a:r>
              <a:rPr lang="zh-TW" altLang="en-US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商品編號</a:t>
            </a:r>
            <a:r>
              <a:rPr lang="en-US" altLang="zh-TW" u="sng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b="1" dirty="0">
                <a:solidFill>
                  <a:srgbClr val="0070C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商品名稱</a:t>
            </a:r>
            <a:r>
              <a:rPr lang="en-US" altLang="zh-TW" b="1" dirty="0" err="1">
                <a:solidFill>
                  <a:srgbClr val="0070C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pName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定價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unitPrice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種類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category)</a:t>
            </a:r>
          </a:p>
          <a:p>
            <a:pPr lvl="1">
              <a:lnSpc>
                <a:spcPct val="15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Record (</a:t>
            </a:r>
            <a:r>
              <a:rPr lang="zh-TW" altLang="en-US" u="sng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交易編號</a:t>
            </a:r>
            <a:r>
              <a:rPr lang="en-US" altLang="zh-TW" u="sng" dirty="0" err="1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tNo</a:t>
            </a:r>
            <a:r>
              <a:rPr lang="en-US" altLang="zh-TW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商品編號</a:t>
            </a:r>
            <a:r>
              <a:rPr lang="en-US" altLang="zh-TW" u="sng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交易數量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amount,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售價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salePrice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) </a:t>
            </a:r>
          </a:p>
          <a:p>
            <a:pPr lvl="1">
              <a:lnSpc>
                <a:spcPct val="15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Transaction (</a:t>
            </a:r>
            <a:r>
              <a:rPr lang="zh-TW" altLang="en-US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交易編號</a:t>
            </a:r>
            <a:r>
              <a:rPr lang="en-US" altLang="zh-TW" u="sng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tNo</a:t>
            </a:r>
            <a:r>
              <a:rPr lang="en-US" altLang="zh-TW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會員編號</a:t>
            </a:r>
            <a:r>
              <a:rPr lang="en-US" altLang="zh-TW" dirty="0" err="1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transMid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交易方式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method, …..)</a:t>
            </a:r>
          </a:p>
          <a:p>
            <a:pPr lvl="1">
              <a:lnSpc>
                <a:spcPct val="15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Member  (</a:t>
            </a:r>
            <a:r>
              <a:rPr lang="zh-TW" altLang="en-US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會員編號</a:t>
            </a:r>
            <a:r>
              <a:rPr lang="en-US" altLang="zh-TW" u="sng" dirty="0" err="1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姓名</a:t>
            </a:r>
            <a:r>
              <a:rPr lang="en-US" altLang="zh-TW" dirty="0">
                <a:solidFill>
                  <a:srgbClr val="00B0F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name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ID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pId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……) </a:t>
            </a:r>
          </a:p>
          <a:p>
            <a:pPr>
              <a:lnSpc>
                <a:spcPct val="150000"/>
              </a:lnSpc>
            </a:pP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0CA5854-B353-4B95-BF6E-E89A97B99220}"/>
              </a:ext>
            </a:extLst>
          </p:cNvPr>
          <p:cNvSpPr txBox="1"/>
          <p:nvPr/>
        </p:nvSpPr>
        <p:spPr>
          <a:xfrm>
            <a:off x="2494961" y="4058050"/>
            <a:ext cx="7202078" cy="2118913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 2" pitchFamily="18" charset="2"/>
              <a:buNone/>
            </a:pPr>
            <a:r>
              <a:rPr lang="en-US" altLang="zh-TW" sz="18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b="1" dirty="0" err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name</a:t>
            </a:r>
          </a:p>
          <a:p>
            <a:pPr>
              <a:lnSpc>
                <a:spcPct val="150000"/>
              </a:lnSpc>
              <a:buFont typeface="Wingdings 2" pitchFamily="18" charset="2"/>
              <a:buNone/>
            </a:pPr>
            <a:r>
              <a:rPr lang="en-US" altLang="zh-TW" sz="18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Product, Record, Transaction, Member</a:t>
            </a:r>
          </a:p>
          <a:p>
            <a:pPr>
              <a:lnSpc>
                <a:spcPct val="150000"/>
              </a:lnSpc>
              <a:buFont typeface="Wingdings 2" pitchFamily="18" charset="2"/>
              <a:buNone/>
            </a:pPr>
            <a:r>
              <a:rPr lang="en-US" altLang="zh-TW" sz="18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b="1" dirty="0" err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pName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='</a:t>
            </a:r>
            <a:r>
              <a:rPr lang="zh-TW" altLang="en-US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系統分析理論與實務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' </a:t>
            </a:r>
            <a:r>
              <a:rPr lang="en-US" altLang="zh-TW" sz="18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AND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pPr>
              <a:lnSpc>
                <a:spcPct val="150000"/>
              </a:lnSpc>
              <a:buFont typeface="Wingdings 2" pitchFamily="18" charset="2"/>
              <a:buNone/>
            </a:pP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</a:t>
            </a:r>
            <a:r>
              <a:rPr lang="en-US" altLang="zh-TW" sz="1800" b="1" dirty="0" err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Product.pNo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sz="1800" b="1" dirty="0" err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Record.pNo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AND</a:t>
            </a:r>
          </a:p>
          <a:p>
            <a:pPr>
              <a:lnSpc>
                <a:spcPct val="150000"/>
              </a:lnSpc>
              <a:buFont typeface="Wingdings 2" pitchFamily="18" charset="2"/>
              <a:buNone/>
            </a:pP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</a:t>
            </a:r>
            <a:r>
              <a:rPr lang="en-US" altLang="zh-TW" sz="1800" b="1" dirty="0" err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Record.tNo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sz="1800" b="1" dirty="0" err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Transaction.tNo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AND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b="1" dirty="0" err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transMid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sz="1800" b="1" dirty="0" err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;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DBBA1E6-AE88-49B9-A33B-C6DA9501D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6409F-FDF9-4458-8B7D-EE13E2E5BC61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248434A-C6F6-4DAB-879A-7BAF0685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2596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3B1729-12AB-4EDC-9964-DE5123864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使用資料表名稱的縮寫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B82CB8-95A8-4B45-AC3C-C65A53D9D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US" altLang="zh-TW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en-US" altLang="zh-TW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name</a:t>
            </a:r>
            <a:endParaRPr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Product </a:t>
            </a:r>
            <a:r>
              <a:rPr lang="en-US" altLang="zh-TW" b="1" dirty="0">
                <a:solidFill>
                  <a:srgbClr val="0070C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AS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Record </a:t>
            </a:r>
            <a:r>
              <a:rPr lang="en-US" altLang="zh-TW" b="1" dirty="0">
                <a:solidFill>
                  <a:srgbClr val="0070C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AS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Transaction </a:t>
            </a:r>
            <a:r>
              <a:rPr lang="en-US" altLang="zh-TW" b="1" dirty="0">
                <a:solidFill>
                  <a:srgbClr val="0070C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AS</a:t>
            </a: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Member</a:t>
            </a:r>
            <a:endParaRPr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pName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='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系統分析理論與實務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'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AND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P.pNo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R.pNo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AND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R.tNo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T.tNo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AND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transMid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; </a:t>
            </a:r>
          </a:p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19CD422-30EB-4458-B5CA-42E66B908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48C29-F74E-4ECA-90E8-095A40C8D946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A1807C3-CED7-4142-83B9-11444AFF9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3955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337A08-BBD0-41FF-80F2-330CF2BAF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86EB89-6264-4C33-8CC0-6B8434C80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對於會員編號為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'b0905555'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的會員，列出其姓名以及所（直接） 介紹的會員之會員編號和姓名 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buNone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I:	</a:t>
            </a:r>
          </a:p>
          <a:p>
            <a:pPr lvl="1">
              <a:buNone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Member (</a:t>
            </a:r>
            <a:r>
              <a:rPr lang="zh-TW" altLang="en-US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會員編號</a:t>
            </a:r>
            <a:r>
              <a:rPr lang="en-US" altLang="zh-TW" u="sng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會員姓名</a:t>
            </a:r>
            <a:r>
              <a:rPr lang="en-US" altLang="zh-TW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name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ID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pId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…,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介紹人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introducer)</a:t>
            </a:r>
          </a:p>
          <a:p>
            <a:pPr lvl="1">
              <a:buNone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M:	</a:t>
            </a:r>
          </a:p>
          <a:p>
            <a:pPr lvl="1">
              <a:buNone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Member (</a:t>
            </a:r>
            <a:r>
              <a:rPr lang="zh-TW" altLang="en-US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會員編號</a:t>
            </a:r>
            <a:r>
              <a:rPr lang="en-US" altLang="zh-TW" u="sng" dirty="0" err="1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會員姓名</a:t>
            </a:r>
            <a:r>
              <a:rPr lang="en-US" altLang="zh-TW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name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ID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pId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…,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介紹人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introducer)</a:t>
            </a:r>
          </a:p>
          <a:p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DF186D7-8EA1-4EAE-AB56-018A76AD8924}"/>
              </a:ext>
            </a:extLst>
          </p:cNvPr>
          <p:cNvSpPr txBox="1"/>
          <p:nvPr/>
        </p:nvSpPr>
        <p:spPr>
          <a:xfrm>
            <a:off x="2337847" y="3750402"/>
            <a:ext cx="7498362" cy="155363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2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I.name, </a:t>
            </a:r>
            <a:r>
              <a:rPr lang="en-US" altLang="zh-TW" sz="2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M.mId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M.name</a:t>
            </a:r>
            <a:endParaRPr lang="en-US" altLang="zh-TW" sz="2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MEMBER </a:t>
            </a:r>
            <a:r>
              <a:rPr lang="en-US" altLang="zh-TW" sz="2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AS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MEMBER </a:t>
            </a:r>
            <a:r>
              <a:rPr lang="en-US" altLang="zh-TW" sz="2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AS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I.mId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 'b0905555' </a:t>
            </a:r>
            <a:r>
              <a:rPr lang="en-US" altLang="zh-TW" sz="2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AND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I.mId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sz="2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M.introducer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;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D9C1167-7C0A-4B47-BF2A-BCE8F22F2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FC7DC-7E15-4F95-BACB-272A19464511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1273119-DD83-49B5-B060-EEB885122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45</a:t>
            </a:fld>
            <a:endParaRPr lang="zh-TW" altLang="en-US"/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74A6F89A-5871-9C98-4B65-C1B11C6AEF3F}"/>
              </a:ext>
            </a:extLst>
          </p:cNvPr>
          <p:cNvCxnSpPr/>
          <p:nvPr/>
        </p:nvCxnSpPr>
        <p:spPr>
          <a:xfrm>
            <a:off x="3372787" y="2413416"/>
            <a:ext cx="0" cy="25483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1C389BF3-7EB1-72FE-8265-A225042219CB}"/>
              </a:ext>
            </a:extLst>
          </p:cNvPr>
          <p:cNvCxnSpPr/>
          <p:nvPr/>
        </p:nvCxnSpPr>
        <p:spPr>
          <a:xfrm>
            <a:off x="8610600" y="2653259"/>
            <a:ext cx="0" cy="23984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D6040CBE-C857-C478-D789-2AE230C8A29C}"/>
              </a:ext>
            </a:extLst>
          </p:cNvPr>
          <p:cNvCxnSpPr/>
          <p:nvPr/>
        </p:nvCxnSpPr>
        <p:spPr>
          <a:xfrm>
            <a:off x="3402767" y="2653259"/>
            <a:ext cx="519284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E099783-603F-181F-F982-61FCE2D07F88}"/>
              </a:ext>
            </a:extLst>
          </p:cNvPr>
          <p:cNvSpPr txBox="1"/>
          <p:nvPr/>
        </p:nvSpPr>
        <p:spPr>
          <a:xfrm>
            <a:off x="2209800" y="5897325"/>
            <a:ext cx="844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</a:rPr>
              <a:t>** </a:t>
            </a:r>
            <a:r>
              <a:rPr lang="zh-TW" altLang="en-US" dirty="0">
                <a:latin typeface="微軟正黑體" panose="020B0604030504040204" pitchFamily="34" charset="-120"/>
              </a:rPr>
              <a:t>找出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會員編號為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‘b0905555’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的會員，列出其姓名及介紹者的會員編號和姓名 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13524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98C3D0-5884-41C8-9A89-FCAFAD36D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spc="600">
                <a:effectLst/>
                <a:latin typeface="微軟正黑體" pitchFamily="34" charset="-120"/>
                <a:ea typeface="微軟正黑體" pitchFamily="34" charset="-120"/>
              </a:rPr>
              <a:t>基本的</a:t>
            </a:r>
            <a:r>
              <a:rPr lang="en-US" altLang="zh-TW" sz="4000" spc="600">
                <a:effectLst/>
                <a:latin typeface="微軟正黑體" pitchFamily="34" charset="-120"/>
                <a:ea typeface="微軟正黑體" pitchFamily="34" charset="-120"/>
              </a:rPr>
              <a:t>SQL</a:t>
            </a:r>
            <a:r>
              <a:rPr lang="zh-TW" altLang="en-US" sz="4000" spc="600">
                <a:effectLst/>
                <a:latin typeface="微軟正黑體" pitchFamily="34" charset="-120"/>
                <a:ea typeface="微軟正黑體" pitchFamily="34" charset="-120"/>
              </a:rPr>
              <a:t>查詢語法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9075415-513C-4FE5-A84A-EA2109114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星號（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：取出資料表的所有屬性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lnSpc>
                <a:spcPct val="110000"/>
              </a:lnSpc>
              <a:buNone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 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*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FROM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Product;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10000"/>
              </a:lnSpc>
            </a:pP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沒有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子句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：沒有條件設限 </a:t>
            </a:r>
            <a:r>
              <a:rPr lang="en-US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(project operator)</a:t>
            </a:r>
            <a:endParaRPr lang="en-US" altLang="zh-TW" sz="2000" b="1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lnSpc>
                <a:spcPct val="110000"/>
              </a:lnSpc>
              <a:buNone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 </a:t>
            </a:r>
            <a:r>
              <a:rPr lang="en-US" altLang="zh-TW" sz="2000" b="1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name FROM Member;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10000"/>
              </a:lnSpc>
            </a:pP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DISTINCT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重複的記錄只保留一筆</a:t>
            </a:r>
          </a:p>
          <a:p>
            <a:pPr lvl="2">
              <a:lnSpc>
                <a:spcPct val="110000"/>
              </a:lnSpc>
              <a:buNone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 </a:t>
            </a:r>
            <a:r>
              <a:rPr lang="en-US" altLang="zh-TW" sz="20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DISTINCT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name FROM Member; 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10000"/>
              </a:lnSpc>
            </a:pP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欄位值的比較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&lt;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&lt;=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!=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&lt;&gt; 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10000"/>
              </a:lnSpc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IS NULL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是否空值 </a:t>
            </a:r>
          </a:p>
          <a:p>
            <a:pPr lvl="1">
              <a:lnSpc>
                <a:spcPct val="110000"/>
              </a:lnSpc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BETWEEN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區間</a:t>
            </a:r>
          </a:p>
          <a:p>
            <a:pPr lvl="2">
              <a:lnSpc>
                <a:spcPct val="110000"/>
              </a:lnSpc>
              <a:buNone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 * FROM Product  WHERE </a:t>
            </a:r>
            <a:r>
              <a:rPr lang="en-US" altLang="zh-TW" sz="2000" b="1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unitPrice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BETWEEN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100 </a:t>
            </a:r>
            <a:r>
              <a:rPr lang="en-US" altLang="zh-TW" sz="2000" b="1" dirty="0">
                <a:solidFill>
                  <a:schemeClr val="tx1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AND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999;</a:t>
            </a:r>
          </a:p>
          <a:p>
            <a:r>
              <a:rPr lang="en-US" altLang="zh-TW" sz="2600" b="1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LIKE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比較子：比較文字欄位的部分字串值</a:t>
            </a:r>
          </a:p>
          <a:p>
            <a:pPr lvl="1">
              <a:lnSpc>
                <a:spcPct val="120000"/>
              </a:lnSpc>
            </a:pPr>
            <a:r>
              <a:rPr lang="en-US" altLang="zh-TW" sz="2400" b="1" dirty="0">
                <a:solidFill>
                  <a:srgbClr val="0000FF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  <a:r>
              <a:rPr lang="zh-TW" altLang="en-US" sz="2400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表示</a:t>
            </a:r>
            <a:r>
              <a:rPr lang="zh-TW" altLang="en-US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任意字串</a:t>
            </a:r>
          </a:p>
          <a:p>
            <a:pPr lvl="1">
              <a:lnSpc>
                <a:spcPct val="120000"/>
              </a:lnSpc>
            </a:pPr>
            <a:r>
              <a:rPr lang="en-US" altLang="zh-TW" sz="2400" b="1" dirty="0">
                <a:solidFill>
                  <a:srgbClr val="0000FF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_</a:t>
            </a:r>
            <a:r>
              <a:rPr lang="zh-TW" altLang="en-US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表示</a:t>
            </a:r>
            <a:r>
              <a:rPr lang="zh-TW" altLang="en-US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任意字元  </a:t>
            </a:r>
          </a:p>
          <a:p>
            <a:pPr lvl="2">
              <a:lnSpc>
                <a:spcPct val="110000"/>
              </a:lnSpc>
              <a:buNone/>
            </a:pPr>
            <a:endParaRPr lang="en-US" altLang="zh-TW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8B48618-C894-4F0B-B3D5-82B073234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543DC-48CE-4553-8E74-9C046DAFA24D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E2F7A01-04CA-4433-90B3-DAD012DC7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0614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72B9AA-B07F-4602-A614-06EE40E6E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E8BDD8B-54BC-4B7E-9A8E-378758CB42E4}"/>
              </a:ext>
            </a:extLst>
          </p:cNvPr>
          <p:cNvSpPr txBox="1"/>
          <p:nvPr/>
        </p:nvSpPr>
        <p:spPr>
          <a:xfrm>
            <a:off x="0" y="1319753"/>
            <a:ext cx="7013543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buNone/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*</a:t>
            </a:r>
            <a:endParaRPr lang="en-US" altLang="zh-TW" sz="2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buNone/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Member</a:t>
            </a:r>
            <a:endParaRPr lang="en-US" altLang="zh-TW" sz="2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buNone/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address</a:t>
            </a:r>
            <a:r>
              <a:rPr lang="en-US" altLang="zh-TW" sz="2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LIKE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'</a:t>
            </a:r>
            <a:r>
              <a:rPr lang="en-US" altLang="zh-TW" sz="2400" dirty="0">
                <a:solidFill>
                  <a:schemeClr val="tx1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高雄市</a:t>
            </a:r>
            <a:r>
              <a:rPr lang="en-US" altLang="zh-TW" sz="2400" dirty="0">
                <a:solidFill>
                  <a:schemeClr val="tx1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';</a:t>
            </a:r>
          </a:p>
          <a:p>
            <a:pPr lvl="1">
              <a:buNone/>
            </a:pPr>
            <a:endParaRPr lang="en-US" altLang="zh-TW" sz="28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buNone/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*</a:t>
            </a:r>
            <a:endParaRPr lang="en-US" altLang="zh-TW" sz="2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buNone/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Member</a:t>
            </a:r>
            <a:endParaRPr lang="en-US" altLang="zh-TW" sz="2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buNone/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pId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LIKE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charset="0"/>
              </a:rPr>
              <a:t>'</a:t>
            </a:r>
            <a:r>
              <a:rPr lang="en-US" altLang="zh-TW" sz="2400" dirty="0">
                <a:solidFill>
                  <a:schemeClr val="tx1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_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en-US" altLang="zh-TW" sz="2400" dirty="0">
                <a:solidFill>
                  <a:schemeClr val="tx1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'; </a:t>
            </a: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4B5971B-505E-4EE9-A499-86E16BEED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71734-B71E-4364-B47C-1B9E1EE63246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5F11600-8DBA-44D4-8322-6353FB121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47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27499A6-EB27-41AA-A7A6-B2F389184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2" y="205083"/>
            <a:ext cx="797801" cy="79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813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830106F-B96A-402C-8E0B-5CBEEF2DD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Date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Time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的型態值</a:t>
            </a:r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2A60D65-3FDE-4647-8098-E34499465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Date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Time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的型態值不易直接表達，傳統作法是將之轉成字串，或將字串轉成日期時間型態，再做比較 </a:t>
            </a:r>
            <a:endParaRPr lang="en-US" altLang="zh-TW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b="1">
                <a:latin typeface="微軟正黑體" panose="020B0604030504040204" pitchFamily="34" charset="-120"/>
              </a:rPr>
              <a:t>日期字串格式</a:t>
            </a:r>
            <a:r>
              <a:rPr lang="en-US" altLang="zh-TW" b="1">
                <a:latin typeface="微軟正黑體" panose="020B0604030504040204" pitchFamily="34" charset="-120"/>
              </a:rPr>
              <a:t>:</a:t>
            </a:r>
            <a:r>
              <a:rPr lang="zh-TW" altLang="en-US" b="1">
                <a:latin typeface="微軟正黑體" panose="020B0604030504040204" pitchFamily="34" charset="-120"/>
              </a:rPr>
              <a:t> </a:t>
            </a:r>
            <a:r>
              <a:rPr lang="en-US" altLang="zh-TW" b="1">
                <a:latin typeface="微軟正黑體" panose="020B0604030504040204" pitchFamily="34" charset="-120"/>
              </a:rPr>
              <a:t>yyyy-mm-dd</a:t>
            </a:r>
          </a:p>
          <a:p>
            <a:pPr lvl="1"/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Date(birthday) &gt; date(‘1975-01-01’)</a:t>
            </a:r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現在大部分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DBMS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都允許將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Date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Time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型態的欄位與字串直接比較</a:t>
            </a:r>
            <a:endParaRPr lang="zh-TW" altLang="en-US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E05C063-A2D0-4C25-8538-E203186B0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DF7FD-D384-45EE-8E17-3020415E9979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8D44317-19CD-473F-8233-EAC0116E2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799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E828B0-D5F9-4924-9F72-C4163E4BD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記錄排序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6049156-D24C-4230-8F81-1266D56E7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ORDER BY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：設定查詢結果資料表裡記錄的排列次序</a:t>
            </a:r>
          </a:p>
          <a:p>
            <a:pPr lvl="1">
              <a:lnSpc>
                <a:spcPct val="80000"/>
              </a:lnSpc>
            </a:pPr>
            <a:r>
              <a:rPr lang="en-US" altLang="zh-TW" sz="2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DESC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代表由大到小</a:t>
            </a:r>
          </a:p>
          <a:p>
            <a:pPr lvl="1">
              <a:lnSpc>
                <a:spcPct val="80000"/>
              </a:lnSpc>
            </a:pPr>
            <a:r>
              <a:rPr lang="en-US" altLang="zh-TW" sz="2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ASC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代表由小到大（</a:t>
            </a:r>
            <a:r>
              <a:rPr lang="zh-TW" altLang="en-US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預設）</a:t>
            </a:r>
            <a:endParaRPr lang="en-US" altLang="zh-TW" sz="22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80000"/>
              </a:lnSpc>
            </a:pPr>
            <a:r>
              <a:rPr lang="zh-TW" altLang="en-US" sz="2600">
                <a:latin typeface="微軟正黑體" panose="020B0604030504040204" pitchFamily="34" charset="-120"/>
                <a:ea typeface="微軟正黑體" panose="020B0604030504040204" pitchFamily="34" charset="-120"/>
              </a:rPr>
              <a:t>練習範例</a:t>
            </a:r>
            <a:endParaRPr lang="zh-TW" altLang="en-US" sz="2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zh-TW" b="1">
                <a:solidFill>
                  <a:srgbClr val="0000FF"/>
                </a:solidFill>
              </a:rPr>
              <a:t>SELECT</a:t>
            </a:r>
            <a:r>
              <a:rPr lang="en-US" altLang="zh-TW">
                <a:solidFill>
                  <a:schemeClr val="tx1"/>
                </a:solidFill>
              </a:rPr>
              <a:t> mId, pId, name</a:t>
            </a:r>
            <a:endParaRPr lang="en-US" altLang="zh-TW" b="1">
              <a:solidFill>
                <a:schemeClr val="tx1"/>
              </a:solidFill>
            </a:endParaRP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zh-TW" b="1">
                <a:solidFill>
                  <a:srgbClr val="0000FF"/>
                </a:solidFill>
              </a:rPr>
              <a:t>FROM</a:t>
            </a:r>
            <a:r>
              <a:rPr lang="en-US" altLang="zh-TW">
                <a:solidFill>
                  <a:schemeClr val="tx1"/>
                </a:solidFill>
              </a:rPr>
              <a:t> Member</a:t>
            </a:r>
            <a:endParaRPr lang="en-US" altLang="zh-TW" b="1">
              <a:solidFill>
                <a:schemeClr val="tx1"/>
              </a:solidFill>
            </a:endParaRP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zh-TW" b="1">
                <a:solidFill>
                  <a:srgbClr val="0000FF"/>
                </a:solidFill>
              </a:rPr>
              <a:t>ORDER BY</a:t>
            </a:r>
            <a:r>
              <a:rPr lang="en-US" altLang="zh-TW">
                <a:solidFill>
                  <a:srgbClr val="0000FF"/>
                </a:solidFill>
              </a:rPr>
              <a:t> </a:t>
            </a:r>
            <a:r>
              <a:rPr lang="en-US" altLang="zh-TW">
                <a:solidFill>
                  <a:schemeClr val="tx1"/>
                </a:solidFill>
              </a:rPr>
              <a:t>name;</a:t>
            </a:r>
          </a:p>
          <a:p>
            <a:pPr marL="457200" lvl="1" indent="0">
              <a:lnSpc>
                <a:spcPct val="80000"/>
              </a:lnSpc>
              <a:buNone/>
            </a:pPr>
            <a:endParaRPr lang="en-US" altLang="zh-TW">
              <a:solidFill>
                <a:schemeClr val="tx1"/>
              </a:solidFill>
            </a:endParaRP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zh-TW" b="1">
                <a:solidFill>
                  <a:srgbClr val="0000FF"/>
                </a:solidFill>
              </a:rPr>
              <a:t>SELECT</a:t>
            </a:r>
            <a:r>
              <a:rPr lang="en-US" altLang="zh-TW">
                <a:solidFill>
                  <a:schemeClr val="tx1"/>
                </a:solidFill>
              </a:rPr>
              <a:t> mId, pId, name</a:t>
            </a:r>
            <a:endParaRPr lang="en-US" altLang="zh-TW" b="1">
              <a:solidFill>
                <a:schemeClr val="tx1"/>
              </a:solidFill>
            </a:endParaRP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zh-TW" b="1">
                <a:solidFill>
                  <a:srgbClr val="0000FF"/>
                </a:solidFill>
              </a:rPr>
              <a:t>FROM</a:t>
            </a:r>
            <a:r>
              <a:rPr lang="en-US" altLang="zh-TW">
                <a:solidFill>
                  <a:schemeClr val="tx1"/>
                </a:solidFill>
              </a:rPr>
              <a:t> Member</a:t>
            </a:r>
            <a:endParaRPr lang="en-US" altLang="zh-TW" b="1">
              <a:solidFill>
                <a:schemeClr val="tx1"/>
              </a:solidFill>
            </a:endParaRP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zh-TW" b="1">
                <a:solidFill>
                  <a:srgbClr val="0000FF"/>
                </a:solidFill>
              </a:rPr>
              <a:t>ORDER BY</a:t>
            </a:r>
            <a:r>
              <a:rPr lang="en-US" altLang="zh-TW">
                <a:solidFill>
                  <a:srgbClr val="0000FF"/>
                </a:solidFill>
              </a:rPr>
              <a:t> </a:t>
            </a:r>
            <a:r>
              <a:rPr lang="en-US" altLang="zh-TW">
                <a:solidFill>
                  <a:schemeClr val="tx1"/>
                </a:solidFill>
              </a:rPr>
              <a:t>name </a:t>
            </a:r>
            <a:r>
              <a:rPr lang="en-US" altLang="zh-TW" b="1">
                <a:solidFill>
                  <a:srgbClr val="C00000"/>
                </a:solidFill>
              </a:rPr>
              <a:t>DESC</a:t>
            </a:r>
            <a:r>
              <a:rPr lang="en-US" altLang="zh-TW">
                <a:solidFill>
                  <a:schemeClr val="tx1"/>
                </a:solidFill>
              </a:rPr>
              <a:t>;</a:t>
            </a:r>
          </a:p>
          <a:p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49B7B2C-5930-47F2-9389-3E3C6513B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22684-E94F-48DD-9ACB-1C48B15B3DD3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EA6EFEB-9652-4833-ACAA-6455366B2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49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A319D37-4A64-4F26-A39E-BE9E925F7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2" y="205083"/>
            <a:ext cx="797801" cy="79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941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TW" altLang="en-US" sz="3200" spc="600" dirty="0">
                <a:latin typeface="微軟正黑體" pitchFamily="34" charset="-120"/>
                <a:cs typeface="+mn-cs"/>
              </a:rPr>
              <a:t>集合運算式 </a:t>
            </a:r>
          </a:p>
        </p:txBody>
      </p:sp>
      <p:sp>
        <p:nvSpPr>
          <p:cNvPr id="410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838200" y="914401"/>
            <a:ext cx="10515600" cy="5394919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80000"/>
              </a:lnSpc>
            </a:pPr>
            <a:r>
              <a:rPr lang="zh-TW" altLang="en-US" dirty="0">
                <a:latin typeface="微軟正黑體" panose="020B0604030504040204" pitchFamily="34" charset="-120"/>
              </a:rPr>
              <a:t>相乘</a:t>
            </a:r>
            <a:r>
              <a:rPr lang="en-US" altLang="zh-TW" dirty="0">
                <a:latin typeface="微軟正黑體" panose="020B0604030504040204" pitchFamily="34" charset="-120"/>
              </a:rPr>
              <a:t> (Cartesian product)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TW" altLang="en-US" sz="1400" dirty="0">
                <a:latin typeface="微軟正黑體" panose="020B0604030504040204" pitchFamily="34" charset="-120"/>
              </a:rPr>
              <a:t>          </a:t>
            </a:r>
            <a:r>
              <a:rPr lang="en-US" altLang="zh-TW" sz="1900" dirty="0">
                <a:solidFill>
                  <a:schemeClr val="tx1"/>
                </a:solidFill>
                <a:latin typeface="微軟正黑體" panose="020B0604030504040204" pitchFamily="34" charset="-120"/>
              </a:rPr>
              <a:t>SELECT </a:t>
            </a:r>
            <a:r>
              <a:rPr lang="en-US" altLang="zh-TW" sz="1900" dirty="0" err="1">
                <a:solidFill>
                  <a:schemeClr val="tx1"/>
                </a:solidFill>
                <a:latin typeface="微軟正黑體" panose="020B0604030504040204" pitchFamily="34" charset="-120"/>
              </a:rPr>
              <a:t>mId</a:t>
            </a:r>
            <a:r>
              <a:rPr lang="en-US" altLang="zh-TW" sz="1900" dirty="0">
                <a:solidFill>
                  <a:schemeClr val="tx1"/>
                </a:solidFill>
                <a:latin typeface="微軟正黑體" panose="020B0604030504040204" pitchFamily="34" charset="-120"/>
              </a:rPr>
              <a:t>, </a:t>
            </a:r>
            <a:r>
              <a:rPr lang="en-US" altLang="zh-TW" sz="1900" dirty="0" err="1">
                <a:solidFill>
                  <a:schemeClr val="tx1"/>
                </a:solidFill>
                <a:latin typeface="微軟正黑體" panose="020B0604030504040204" pitchFamily="34" charset="-120"/>
              </a:rPr>
              <a:t>pNo</a:t>
            </a:r>
            <a:endParaRPr lang="en-US" altLang="zh-TW" sz="1900" dirty="0">
              <a:solidFill>
                <a:schemeClr val="tx1"/>
              </a:solidFill>
              <a:latin typeface="微軟正黑體" panose="020B0604030504040204" pitchFamily="34" charset="-12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TW" altLang="en-US" sz="1900" dirty="0">
                <a:solidFill>
                  <a:schemeClr val="tx1"/>
                </a:solidFill>
                <a:latin typeface="微軟正黑體" panose="020B0604030504040204" pitchFamily="34" charset="-120"/>
              </a:rPr>
              <a:t>       </a:t>
            </a:r>
            <a:r>
              <a:rPr lang="en-US" altLang="zh-TW" sz="1900" dirty="0">
                <a:solidFill>
                  <a:schemeClr val="tx1"/>
                </a:solidFill>
                <a:latin typeface="微軟正黑體" panose="020B0604030504040204" pitchFamily="34" charset="-120"/>
              </a:rPr>
              <a:t>FROM Member, Product; 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TW" dirty="0">
              <a:latin typeface="微軟正黑體" panose="020B0604030504040204" pitchFamily="34" charset="-120"/>
            </a:endParaRPr>
          </a:p>
          <a:p>
            <a:pPr eaLnBrk="1" hangingPunct="1">
              <a:lnSpc>
                <a:spcPct val="120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交集、聯集、差集等運算子則分別用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INTERSECT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UNION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，和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EXCEPT </a:t>
            </a:r>
            <a:endParaRPr lang="en-US" altLang="zh-TW" sz="1800" dirty="0">
              <a:latin typeface="微軟正黑體" panose="020B0604030504040204" pitchFamily="34" charset="-120"/>
            </a:endParaRPr>
          </a:p>
          <a:p>
            <a:pPr marL="457200" lvl="1" indent="0" eaLnBrk="1" hangingPunct="1">
              <a:lnSpc>
                <a:spcPct val="120000"/>
              </a:lnSpc>
              <a:buNone/>
            </a:pPr>
            <a:r>
              <a:rPr lang="zh-TW" altLang="en-US" sz="2200" b="1" dirty="0">
                <a:latin typeface="微軟正黑體" panose="020B0604030504040204" pitchFamily="34" charset="-120"/>
              </a:rPr>
              <a:t>實例</a:t>
            </a:r>
            <a:r>
              <a:rPr lang="en-US" altLang="zh-TW" sz="2200" b="1" dirty="0">
                <a:latin typeface="微軟正黑體" panose="020B0604030504040204" pitchFamily="34" charset="-120"/>
              </a:rPr>
              <a:t>: </a:t>
            </a:r>
            <a:r>
              <a:rPr lang="zh-TW" altLang="en-US" sz="2200" b="1" dirty="0">
                <a:latin typeface="微軟正黑體" panose="020B0604030504040204" pitchFamily="34" charset="-120"/>
              </a:rPr>
              <a:t>找出所有瀏覽過或購買過「系統分析理論與實務」的會員之會員編號和會員姓名。</a:t>
            </a:r>
            <a:endParaRPr lang="zh-TW" altLang="en-US" sz="1900" dirty="0">
              <a:latin typeface="微軟正黑體" panose="020B0604030504040204" pitchFamily="34" charset="-120"/>
            </a:endParaRP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1900" b="1" dirty="0">
                <a:latin typeface="微軟正黑體" panose="020B0604030504040204" pitchFamily="34" charset="-120"/>
              </a:rPr>
              <a:t>SELECT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M.mId</a:t>
            </a:r>
            <a:r>
              <a:rPr lang="en-US" altLang="zh-TW" sz="1900" dirty="0">
                <a:latin typeface="微軟正黑體" panose="020B0604030504040204" pitchFamily="34" charset="-120"/>
              </a:rPr>
              <a:t>, M.name</a:t>
            </a:r>
            <a:endParaRPr lang="en-US" altLang="zh-TW" sz="1900" b="1" dirty="0">
              <a:latin typeface="微軟正黑體" panose="020B0604030504040204" pitchFamily="34" charset="-120"/>
            </a:endParaRP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1900" b="1" dirty="0">
                <a:latin typeface="微軟正黑體" panose="020B0604030504040204" pitchFamily="34" charset="-120"/>
              </a:rPr>
              <a:t>FROM</a:t>
            </a:r>
            <a:r>
              <a:rPr lang="en-US" altLang="zh-TW" sz="1900" dirty="0">
                <a:latin typeface="微軟正黑體" panose="020B0604030504040204" pitchFamily="34" charset="-120"/>
              </a:rPr>
              <a:t> Product</a:t>
            </a:r>
            <a:r>
              <a:rPr lang="en-US" altLang="zh-TW" sz="1900" b="1" dirty="0">
                <a:latin typeface="微軟正黑體" panose="020B0604030504040204" pitchFamily="34" charset="-120"/>
              </a:rPr>
              <a:t> AS</a:t>
            </a:r>
            <a:r>
              <a:rPr lang="en-US" altLang="zh-TW" sz="1900" dirty="0">
                <a:latin typeface="微軟正黑體" panose="020B0604030504040204" pitchFamily="34" charset="-120"/>
              </a:rPr>
              <a:t> P, Browse </a:t>
            </a:r>
            <a:r>
              <a:rPr lang="en-US" altLang="zh-TW" sz="1900" b="1" dirty="0">
                <a:latin typeface="微軟正黑體" panose="020B0604030504040204" pitchFamily="34" charset="-120"/>
              </a:rPr>
              <a:t>AS</a:t>
            </a:r>
            <a:r>
              <a:rPr lang="en-US" altLang="zh-TW" sz="1900" dirty="0">
                <a:latin typeface="微軟正黑體" panose="020B0604030504040204" pitchFamily="34" charset="-120"/>
              </a:rPr>
              <a:t> B, Member</a:t>
            </a:r>
            <a:r>
              <a:rPr lang="en-US" altLang="zh-TW" sz="1900" b="1" dirty="0">
                <a:latin typeface="微軟正黑體" panose="020B0604030504040204" pitchFamily="34" charset="-120"/>
              </a:rPr>
              <a:t> AS </a:t>
            </a:r>
            <a:r>
              <a:rPr lang="en-US" altLang="zh-TW" sz="1900" dirty="0">
                <a:latin typeface="微軟正黑體" panose="020B0604030504040204" pitchFamily="34" charset="-120"/>
              </a:rPr>
              <a:t>M</a:t>
            </a:r>
            <a:endParaRPr lang="en-US" altLang="zh-TW" sz="1900" b="1" dirty="0">
              <a:latin typeface="微軟正黑體" panose="020B0604030504040204" pitchFamily="34" charset="-120"/>
            </a:endParaRP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1900" b="1" dirty="0">
                <a:latin typeface="微軟正黑體" panose="020B0604030504040204" pitchFamily="34" charset="-120"/>
              </a:rPr>
              <a:t>WHERE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pName</a:t>
            </a:r>
            <a:r>
              <a:rPr lang="en-US" altLang="zh-TW" sz="1900" dirty="0">
                <a:latin typeface="微軟正黑體" panose="020B0604030504040204" pitchFamily="34" charset="-120"/>
              </a:rPr>
              <a:t> = </a:t>
            </a:r>
            <a:r>
              <a:rPr lang="en-US" altLang="zh-TW" sz="1900" dirty="0">
                <a:latin typeface="微軟正黑體" panose="020B0604030504040204" pitchFamily="34" charset="-120"/>
                <a:cs typeface="Times New Roman" pitchFamily="18" charset="0"/>
              </a:rPr>
              <a:t>‘</a:t>
            </a:r>
            <a:r>
              <a:rPr lang="zh-TW" altLang="en-US" sz="1900" dirty="0">
                <a:latin typeface="微軟正黑體" panose="020B0604030504040204" pitchFamily="34" charset="-120"/>
              </a:rPr>
              <a:t>系統分析理論與實務</a:t>
            </a:r>
            <a:r>
              <a:rPr lang="en-US" altLang="zh-TW" sz="1900" dirty="0">
                <a:latin typeface="微軟正黑體" panose="020B0604030504040204" pitchFamily="34" charset="-120"/>
              </a:rPr>
              <a:t>’</a:t>
            </a:r>
            <a:r>
              <a:rPr lang="en-US" altLang="zh-TW" sz="1900" b="1" dirty="0">
                <a:latin typeface="微軟正黑體" panose="020B0604030504040204" pitchFamily="34" charset="-120"/>
              </a:rPr>
              <a:t>AND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P.pNo</a:t>
            </a:r>
            <a:r>
              <a:rPr lang="en-US" altLang="zh-TW" sz="1900" dirty="0">
                <a:latin typeface="微軟正黑體" panose="020B0604030504040204" pitchFamily="34" charset="-120"/>
              </a:rPr>
              <a:t> =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B.pNo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  <a:r>
              <a:rPr lang="en-US" altLang="zh-TW" sz="1900" b="1" dirty="0">
                <a:latin typeface="微軟正黑體" panose="020B0604030504040204" pitchFamily="34" charset="-120"/>
              </a:rPr>
              <a:t>AND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B.mId</a:t>
            </a:r>
            <a:r>
              <a:rPr lang="en-US" altLang="zh-TW" sz="1900" dirty="0">
                <a:latin typeface="微軟正黑體" panose="020B0604030504040204" pitchFamily="34" charset="-120"/>
              </a:rPr>
              <a:t> =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M.mId</a:t>
            </a:r>
            <a:endParaRPr lang="en-US" altLang="zh-TW" sz="1900" b="1" dirty="0">
              <a:latin typeface="微軟正黑體" panose="020B0604030504040204" pitchFamily="34" charset="-120"/>
            </a:endParaRP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1900" b="1" dirty="0">
                <a:solidFill>
                  <a:srgbClr val="0000FF"/>
                </a:solidFill>
                <a:latin typeface="微軟正黑體" panose="020B0604030504040204" pitchFamily="34" charset="-120"/>
              </a:rPr>
              <a:t>UNION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1900" b="1" dirty="0">
                <a:latin typeface="微軟正黑體" panose="020B0604030504040204" pitchFamily="34" charset="-120"/>
              </a:rPr>
              <a:t>SELECT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M.mId</a:t>
            </a:r>
            <a:r>
              <a:rPr lang="en-US" altLang="zh-TW" sz="1900" dirty="0">
                <a:latin typeface="微軟正黑體" panose="020B0604030504040204" pitchFamily="34" charset="-120"/>
              </a:rPr>
              <a:t>, M.name</a:t>
            </a:r>
            <a:endParaRPr lang="en-US" altLang="zh-TW" sz="1900" b="1" dirty="0">
              <a:latin typeface="微軟正黑體" panose="020B0604030504040204" pitchFamily="34" charset="-120"/>
            </a:endParaRP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1900" b="1" dirty="0">
                <a:latin typeface="微軟正黑體" panose="020B0604030504040204" pitchFamily="34" charset="-120"/>
              </a:rPr>
              <a:t>FROM</a:t>
            </a:r>
            <a:r>
              <a:rPr lang="en-US" altLang="zh-TW" sz="1900" dirty="0">
                <a:latin typeface="微軟正黑體" panose="020B0604030504040204" pitchFamily="34" charset="-120"/>
              </a:rPr>
              <a:t> Product </a:t>
            </a:r>
            <a:r>
              <a:rPr lang="en-US" altLang="zh-TW" sz="1900" b="1" dirty="0">
                <a:latin typeface="微軟正黑體" panose="020B0604030504040204" pitchFamily="34" charset="-120"/>
              </a:rPr>
              <a:t>AS </a:t>
            </a:r>
            <a:r>
              <a:rPr lang="en-US" altLang="zh-TW" sz="1900" dirty="0">
                <a:latin typeface="微軟正黑體" panose="020B0604030504040204" pitchFamily="34" charset="-120"/>
              </a:rPr>
              <a:t>P, Record </a:t>
            </a:r>
            <a:r>
              <a:rPr lang="en-US" altLang="zh-TW" sz="1900" b="1" dirty="0">
                <a:latin typeface="微軟正黑體" panose="020B0604030504040204" pitchFamily="34" charset="-120"/>
              </a:rPr>
              <a:t>AS</a:t>
            </a:r>
            <a:r>
              <a:rPr lang="en-US" altLang="zh-TW" sz="1900" dirty="0">
                <a:latin typeface="微軟正黑體" panose="020B0604030504040204" pitchFamily="34" charset="-120"/>
              </a:rPr>
              <a:t> R, `Transaction` </a:t>
            </a:r>
            <a:r>
              <a:rPr lang="en-US" altLang="zh-TW" sz="1900" b="1" dirty="0">
                <a:latin typeface="微軟正黑體" panose="020B0604030504040204" pitchFamily="34" charset="-120"/>
              </a:rPr>
              <a:t>AS </a:t>
            </a:r>
            <a:r>
              <a:rPr lang="en-US" altLang="zh-TW" sz="1900" dirty="0">
                <a:latin typeface="微軟正黑體" panose="020B0604030504040204" pitchFamily="34" charset="-120"/>
              </a:rPr>
              <a:t>T, Member </a:t>
            </a:r>
            <a:r>
              <a:rPr lang="en-US" altLang="zh-TW" sz="1900" b="1" dirty="0">
                <a:latin typeface="微軟正黑體" panose="020B0604030504040204" pitchFamily="34" charset="-120"/>
              </a:rPr>
              <a:t>AS</a:t>
            </a:r>
            <a:r>
              <a:rPr lang="en-US" altLang="zh-TW" sz="1900" dirty="0">
                <a:latin typeface="微軟正黑體" panose="020B0604030504040204" pitchFamily="34" charset="-120"/>
              </a:rPr>
              <a:t> M</a:t>
            </a:r>
            <a:endParaRPr lang="en-US" altLang="zh-TW" sz="1900" b="1" dirty="0">
              <a:latin typeface="微軟正黑體" panose="020B0604030504040204" pitchFamily="34" charset="-120"/>
            </a:endParaRP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1900" b="1" dirty="0">
                <a:latin typeface="微軟正黑體" panose="020B0604030504040204" pitchFamily="34" charset="-120"/>
              </a:rPr>
              <a:t>WHERE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pName</a:t>
            </a:r>
            <a:r>
              <a:rPr lang="en-US" altLang="zh-TW" sz="1900" dirty="0">
                <a:latin typeface="微軟正黑體" panose="020B0604030504040204" pitchFamily="34" charset="-120"/>
              </a:rPr>
              <a:t> = </a:t>
            </a:r>
            <a:r>
              <a:rPr lang="en-US" altLang="zh-TW" sz="1900" dirty="0">
                <a:latin typeface="微軟正黑體" panose="020B0604030504040204" pitchFamily="34" charset="-120"/>
                <a:cs typeface="Times New Roman" pitchFamily="18" charset="0"/>
              </a:rPr>
              <a:t>‘</a:t>
            </a:r>
            <a:r>
              <a:rPr lang="zh-TW" altLang="en-US" sz="1900" dirty="0">
                <a:latin typeface="微軟正黑體" panose="020B0604030504040204" pitchFamily="34" charset="-120"/>
              </a:rPr>
              <a:t>系統分析理論與實務</a:t>
            </a:r>
            <a:r>
              <a:rPr lang="en-US" altLang="zh-TW" sz="1900" dirty="0">
                <a:latin typeface="微軟正黑體" panose="020B0604030504040204" pitchFamily="34" charset="-120"/>
                <a:cs typeface="Times New Roman" pitchFamily="18" charset="0"/>
              </a:rPr>
              <a:t>’</a:t>
            </a:r>
            <a:r>
              <a:rPr lang="en-US" altLang="zh-TW" sz="1900" b="1" dirty="0">
                <a:latin typeface="微軟正黑體" panose="020B0604030504040204" pitchFamily="34" charset="-120"/>
              </a:rPr>
              <a:t>AND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P.pNo</a:t>
            </a:r>
            <a:r>
              <a:rPr lang="en-US" altLang="zh-TW" sz="1900" dirty="0">
                <a:latin typeface="微軟正黑體" panose="020B0604030504040204" pitchFamily="34" charset="-120"/>
              </a:rPr>
              <a:t> =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R.pNo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  <a:r>
              <a:rPr lang="en-US" altLang="zh-TW" sz="1900" b="1" dirty="0">
                <a:latin typeface="微軟正黑體" panose="020B0604030504040204" pitchFamily="34" charset="-120"/>
              </a:rPr>
              <a:t>AND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R.tNo</a:t>
            </a:r>
            <a:r>
              <a:rPr lang="en-US" altLang="zh-TW" sz="1900" dirty="0">
                <a:latin typeface="微軟正黑體" panose="020B0604030504040204" pitchFamily="34" charset="-120"/>
              </a:rPr>
              <a:t> =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T.tNo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1900" b="1" dirty="0">
                <a:latin typeface="微軟正黑體" panose="020B0604030504040204" pitchFamily="34" charset="-120"/>
              </a:rPr>
              <a:t>AND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T.transMid</a:t>
            </a:r>
            <a:r>
              <a:rPr lang="en-US" altLang="zh-TW" sz="1900" dirty="0">
                <a:latin typeface="微軟正黑體" panose="020B0604030504040204" pitchFamily="34" charset="-120"/>
              </a:rPr>
              <a:t> =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M.mId</a:t>
            </a:r>
            <a:r>
              <a:rPr lang="en-US" altLang="zh-TW" sz="1900" dirty="0">
                <a:latin typeface="微軟正黑體" panose="020B0604030504040204" pitchFamily="34" charset="-120"/>
              </a:rPr>
              <a:t>;</a:t>
            </a:r>
          </a:p>
          <a:p>
            <a:pPr lvl="1" eaLnBrk="1" hangingPunct="1">
              <a:lnSpc>
                <a:spcPct val="80000"/>
              </a:lnSpc>
            </a:pPr>
            <a:endParaRPr lang="en-US" altLang="zh-TW" sz="1400" dirty="0"/>
          </a:p>
        </p:txBody>
      </p:sp>
      <p:sp>
        <p:nvSpPr>
          <p:cNvPr id="4102" name="Rectangle 8"/>
          <p:cNvSpPr>
            <a:spLocks noChangeArrowheads="1"/>
          </p:cNvSpPr>
          <p:nvPr/>
        </p:nvSpPr>
        <p:spPr bwMode="auto">
          <a:xfrm>
            <a:off x="1524001" y="20489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4103" name="Rectangle 10"/>
          <p:cNvSpPr>
            <a:spLocks noChangeArrowheads="1"/>
          </p:cNvSpPr>
          <p:nvPr/>
        </p:nvSpPr>
        <p:spPr bwMode="auto">
          <a:xfrm>
            <a:off x="1524001" y="152030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4105" name="Oval 12"/>
          <p:cNvSpPr>
            <a:spLocks noChangeArrowheads="1"/>
          </p:cNvSpPr>
          <p:nvPr/>
        </p:nvSpPr>
        <p:spPr bwMode="auto">
          <a:xfrm>
            <a:off x="1298261" y="4323856"/>
            <a:ext cx="1008509" cy="345608"/>
          </a:xfrm>
          <a:prstGeom prst="ellipse">
            <a:avLst/>
          </a:prstGeom>
          <a:noFill/>
          <a:ln>
            <a:solidFill>
              <a:srgbClr val="C00000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50</a:t>
            </a:fld>
            <a:endParaRPr kumimoji="0" lang="en-US"/>
          </a:p>
        </p:txBody>
      </p:sp>
      <p:sp>
        <p:nvSpPr>
          <p:cNvPr id="13" name="頁尾版面配置區 19"/>
          <p:cNvSpPr>
            <a:spLocks noGrp="1"/>
          </p:cNvSpPr>
          <p:nvPr>
            <p:ph type="ftr" sz="quarter" idx="11"/>
          </p:nvPr>
        </p:nvSpPr>
        <p:spPr>
          <a:xfrm>
            <a:off x="4648200" y="6356351"/>
            <a:ext cx="2895600" cy="365125"/>
          </a:xfrm>
        </p:spPr>
        <p:txBody>
          <a:bodyPr/>
          <a:lstStyle/>
          <a:p>
            <a:r>
              <a:rPr kumimoji="0" lang="en-US" altLang="zh-TW" dirty="0"/>
              <a:t>Copyright </a:t>
            </a:r>
            <a:r>
              <a:rPr kumimoji="0" lang="zh-TW" altLang="en-US" dirty="0"/>
              <a:t>黃三益</a:t>
            </a:r>
            <a:r>
              <a:rPr kumimoji="0" lang="en-US" altLang="zh-TW" dirty="0"/>
              <a:t>2023</a:t>
            </a:r>
          </a:p>
          <a:p>
            <a:r>
              <a:rPr kumimoji="0" lang="zh-TW" altLang="en-US" dirty="0"/>
              <a:t>資料庫的核心理論與實務第八版 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348400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200" spc="600" dirty="0">
                <a:latin typeface="微軟正黑體" pitchFamily="34" charset="-120"/>
                <a:cs typeface="+mn-cs"/>
              </a:rPr>
              <a:t>Bag</a:t>
            </a:r>
            <a:r>
              <a:rPr lang="zh-TW" altLang="en-US" sz="3200" spc="600" dirty="0">
                <a:latin typeface="微軟正黑體" pitchFamily="34" charset="-120"/>
                <a:cs typeface="+mn-cs"/>
              </a:rPr>
              <a:t>運算式</a:t>
            </a:r>
          </a:p>
        </p:txBody>
      </p:sp>
      <p:sp>
        <p:nvSpPr>
          <p:cNvPr id="5125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包括</a:t>
            </a:r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UNION ALL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EXCEPT ALL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INTERSECT ALL</a:t>
            </a:r>
            <a:endParaRPr lang="en-US" altLang="zh-TW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R1 </a:t>
            </a:r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UNION ALL 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：結合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R1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跟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R2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的所有記錄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不去除重複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R1 </a:t>
            </a:r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EXCEPT ALL 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：若一個記錄在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R1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出現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k1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次但在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出現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次，且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K1&gt;K2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，則最後的結果裡該記錄出現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charset="0"/>
              </a:rPr>
              <a:t>−K2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  <a:cs typeface="Arial" charset="0"/>
              </a:rPr>
              <a:t>次。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  <a:cs typeface="Arial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R1 </a:t>
            </a:r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INTERSECT ALL 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：若一個記錄在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R1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出現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k1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次但在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出現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次，則最後的結果裡該記錄出現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Min(K1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charset="0"/>
              </a:rPr>
              <a:t>, K2)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charset="0"/>
              </a:rPr>
              <a:t>次。</a:t>
            </a:r>
          </a:p>
          <a:p>
            <a:pPr eaLnBrk="1" hangingPunct="1">
              <a:lnSpc>
                <a:spcPct val="150000"/>
              </a:lnSpc>
            </a:pPr>
            <a:endParaRPr lang="zh-TW" altLang="en-US" dirty="0"/>
          </a:p>
          <a:p>
            <a:pPr eaLnBrk="1" hangingPunct="1">
              <a:lnSpc>
                <a:spcPct val="150000"/>
              </a:lnSpc>
            </a:pPr>
            <a:endParaRPr lang="en-US" altLang="zh-TW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51</a:t>
            </a:fld>
            <a:endParaRPr kumimoji="0" lang="en-US"/>
          </a:p>
        </p:txBody>
      </p:sp>
      <p:sp>
        <p:nvSpPr>
          <p:cNvPr id="9" name="頁尾版面配置區 19"/>
          <p:cNvSpPr>
            <a:spLocks noGrp="1"/>
          </p:cNvSpPr>
          <p:nvPr>
            <p:ph type="ftr" sz="quarter" idx="11"/>
          </p:nvPr>
        </p:nvSpPr>
        <p:spPr>
          <a:xfrm>
            <a:off x="4648200" y="6356351"/>
            <a:ext cx="2895600" cy="365125"/>
          </a:xfrm>
        </p:spPr>
        <p:txBody>
          <a:bodyPr/>
          <a:lstStyle/>
          <a:p>
            <a:r>
              <a:rPr kumimoji="0" lang="en-US" altLang="zh-TW" dirty="0"/>
              <a:t>Copyright </a:t>
            </a:r>
            <a:r>
              <a:rPr kumimoji="0" lang="zh-TW" altLang="en-US" dirty="0"/>
              <a:t>黃三益</a:t>
            </a:r>
            <a:r>
              <a:rPr kumimoji="0" lang="en-US" altLang="zh-TW" dirty="0"/>
              <a:t>2023</a:t>
            </a:r>
          </a:p>
          <a:p>
            <a:r>
              <a:rPr kumimoji="0" lang="zh-TW" altLang="en-US" dirty="0"/>
              <a:t>資料庫的核心理論與實務第八版 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565624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頁尾版面配置區 19"/>
          <p:cNvSpPr>
            <a:spLocks noGrp="1"/>
          </p:cNvSpPr>
          <p:nvPr>
            <p:ph type="ftr" sz="quarter" idx="11"/>
          </p:nvPr>
        </p:nvSpPr>
        <p:spPr>
          <a:xfrm>
            <a:off x="6980626" y="6475769"/>
            <a:ext cx="2895600" cy="365125"/>
          </a:xfrm>
        </p:spPr>
        <p:txBody>
          <a:bodyPr/>
          <a:lstStyle/>
          <a:p>
            <a:r>
              <a:rPr kumimoji="0" lang="en-US" altLang="zh-TW" dirty="0"/>
              <a:t>Copyright </a:t>
            </a:r>
            <a:r>
              <a:rPr kumimoji="0" lang="zh-TW" altLang="en-US" dirty="0"/>
              <a:t>黃三益</a:t>
            </a:r>
            <a:r>
              <a:rPr kumimoji="0" lang="en-US" altLang="zh-TW" dirty="0"/>
              <a:t>2023</a:t>
            </a:r>
          </a:p>
          <a:p>
            <a:r>
              <a:rPr kumimoji="0" lang="zh-TW" altLang="en-US" dirty="0"/>
              <a:t>資料庫的核心理論與實務第八版 </a:t>
            </a:r>
            <a:endParaRPr kumimoji="0" lang="en-US" dirty="0"/>
          </a:p>
        </p:txBody>
      </p:sp>
      <p:sp>
        <p:nvSpPr>
          <p:cNvPr id="512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200" spc="600" dirty="0">
                <a:latin typeface="微軟正黑體" pitchFamily="34" charset="-120"/>
                <a:cs typeface="+mn-cs"/>
              </a:rPr>
              <a:t>Bag</a:t>
            </a:r>
            <a:r>
              <a:rPr lang="zh-TW" altLang="en-US" sz="3200" spc="600" dirty="0">
                <a:latin typeface="微軟正黑體" pitchFamily="34" charset="-120"/>
                <a:cs typeface="+mn-cs"/>
              </a:rPr>
              <a:t>運算式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52</a:t>
            </a:fld>
            <a:endParaRPr kumimoji="0" lang="en-US"/>
          </a:p>
        </p:txBody>
      </p:sp>
      <p:graphicFrame>
        <p:nvGraphicFramePr>
          <p:cNvPr id="7" name="Group 553"/>
          <p:cNvGraphicFramePr>
            <a:graphicFrameLocks noGrp="1"/>
          </p:cNvGraphicFramePr>
          <p:nvPr/>
        </p:nvGraphicFramePr>
        <p:xfrm>
          <a:off x="2627041" y="1556792"/>
          <a:ext cx="1919287" cy="2743200"/>
        </p:xfrm>
        <a:graphic>
          <a:graphicData uri="http://schemas.openxmlformats.org/drawingml/2006/table">
            <a:tbl>
              <a:tblPr/>
              <a:tblGrid>
                <a:gridCol w="639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a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d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Group 554"/>
          <p:cNvGraphicFramePr>
            <a:graphicFrameLocks noGrp="1"/>
          </p:cNvGraphicFramePr>
          <p:nvPr/>
        </p:nvGraphicFramePr>
        <p:xfrm>
          <a:off x="5303912" y="1412776"/>
          <a:ext cx="3198812" cy="5486400"/>
        </p:xfrm>
        <a:graphic>
          <a:graphicData uri="http://schemas.openxmlformats.org/drawingml/2006/table">
            <a:tbl>
              <a:tblPr/>
              <a:tblGrid>
                <a:gridCol w="639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97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97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a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a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d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5" name="Line 546"/>
          <p:cNvSpPr>
            <a:spLocks noChangeShapeType="1"/>
          </p:cNvSpPr>
          <p:nvPr/>
        </p:nvSpPr>
        <p:spPr bwMode="auto">
          <a:xfrm flipV="1">
            <a:off x="4859688" y="5056318"/>
            <a:ext cx="431800" cy="908250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6" name="Line 547"/>
          <p:cNvSpPr>
            <a:spLocks noChangeShapeType="1"/>
          </p:cNvSpPr>
          <p:nvPr/>
        </p:nvSpPr>
        <p:spPr bwMode="auto">
          <a:xfrm flipH="1" flipV="1">
            <a:off x="6960096" y="2492896"/>
            <a:ext cx="648792" cy="3880742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7" name="Line 548"/>
          <p:cNvSpPr>
            <a:spLocks noChangeShapeType="1"/>
          </p:cNvSpPr>
          <p:nvPr/>
        </p:nvSpPr>
        <p:spPr bwMode="auto">
          <a:xfrm flipH="1" flipV="1">
            <a:off x="8184231" y="3356993"/>
            <a:ext cx="1440161" cy="1076275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1" name="圓角矩形 20"/>
          <p:cNvSpPr/>
          <p:nvPr/>
        </p:nvSpPr>
        <p:spPr>
          <a:xfrm>
            <a:off x="2670347" y="4479246"/>
            <a:ext cx="473660" cy="40907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微軟正黑體" pitchFamily="34" charset="-120"/>
                <a:ea typeface="微軟正黑體" pitchFamily="34" charset="-120"/>
              </a:rPr>
              <a:t>R</a:t>
            </a:r>
            <a:endParaRPr lang="zh-TW" altLang="en-US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2" name="圓角矩形 21"/>
          <p:cNvSpPr/>
          <p:nvPr/>
        </p:nvSpPr>
        <p:spPr>
          <a:xfrm>
            <a:off x="4058945" y="4479246"/>
            <a:ext cx="473660" cy="40907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微軟正黑體" pitchFamily="34" charset="-120"/>
                <a:ea typeface="微軟正黑體" pitchFamily="34" charset="-120"/>
              </a:rPr>
              <a:t>S</a:t>
            </a:r>
            <a:endParaRPr lang="zh-TW" altLang="en-US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3" name="圓角矩形 22"/>
          <p:cNvSpPr/>
          <p:nvPr/>
        </p:nvSpPr>
        <p:spPr>
          <a:xfrm>
            <a:off x="3416267" y="5964568"/>
            <a:ext cx="1709858" cy="40907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rgbClr val="FFFF00"/>
                </a:solidFill>
              </a:rPr>
              <a:t>R</a:t>
            </a:r>
            <a:r>
              <a:rPr lang="en-US" altLang="zh-TW" dirty="0"/>
              <a:t> </a:t>
            </a:r>
            <a:r>
              <a:rPr lang="en-US" altLang="zh-TW" b="1" dirty="0"/>
              <a:t>UNION ALL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FF00"/>
                </a:solidFill>
              </a:rPr>
              <a:t>S</a:t>
            </a:r>
          </a:p>
        </p:txBody>
      </p:sp>
      <p:sp>
        <p:nvSpPr>
          <p:cNvPr id="24" name="圓角矩形 23"/>
          <p:cNvSpPr/>
          <p:nvPr/>
        </p:nvSpPr>
        <p:spPr>
          <a:xfrm>
            <a:off x="6703698" y="5964568"/>
            <a:ext cx="1810380" cy="40907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rgbClr val="FFFF00"/>
                </a:solidFill>
              </a:rPr>
              <a:t>R</a:t>
            </a:r>
            <a:r>
              <a:rPr lang="en-US" altLang="zh-TW" dirty="0"/>
              <a:t> </a:t>
            </a:r>
            <a:r>
              <a:rPr lang="en-US" altLang="zh-TW" b="1" dirty="0"/>
              <a:t>EXCEPT ALL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FF00"/>
                </a:solidFill>
              </a:rPr>
              <a:t>S</a:t>
            </a:r>
          </a:p>
        </p:txBody>
      </p:sp>
      <p:sp>
        <p:nvSpPr>
          <p:cNvPr id="25" name="圓角矩形 24"/>
          <p:cNvSpPr/>
          <p:nvPr/>
        </p:nvSpPr>
        <p:spPr>
          <a:xfrm>
            <a:off x="8459146" y="4479246"/>
            <a:ext cx="2180530" cy="40907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rgbClr val="FFFF00"/>
                </a:solidFill>
              </a:rPr>
              <a:t>R</a:t>
            </a:r>
            <a:r>
              <a:rPr lang="en-US" altLang="zh-TW" dirty="0"/>
              <a:t> </a:t>
            </a:r>
            <a:r>
              <a:rPr lang="en-US" altLang="zh-TW" b="1" dirty="0"/>
              <a:t>INTERSECT ALL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FF00"/>
                </a:solidFill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283515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352915-C7E7-4DF3-91BC-C1B092CBE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巢狀查詢句</a:t>
            </a:r>
            <a:r>
              <a:rPr lang="en-US" altLang="zh-TW" sz="2800">
                <a:latin typeface="微軟正黑體" panose="020B0604030504040204" pitchFamily="34" charset="-120"/>
              </a:rPr>
              <a:t>(</a:t>
            </a:r>
            <a:r>
              <a:rPr lang="zh-TW" altLang="en-US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zh-TW" altLang="en-US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子句或</a:t>
            </a:r>
            <a:r>
              <a:rPr lang="en-US" altLang="zh-TW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zh-TW" altLang="en-US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子句裡容納另一個查詢子句</a:t>
            </a:r>
            <a:r>
              <a:rPr lang="en-US" altLang="zh-TW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80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76C7F5-92B1-4AA3-AB35-DF9AB0808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46136"/>
            <a:ext cx="10856495" cy="5130827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子句裡的查詢子句</a:t>
            </a:r>
          </a:p>
          <a:p>
            <a:pPr marL="0" indent="0">
              <a:buNone/>
            </a:pP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zh-TW" altLang="en-US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列出「系統分析理論與實務」的作者姓名</a:t>
            </a:r>
            <a:endParaRPr lang="en-US" altLang="zh-TW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lvl="1" indent="0">
              <a:buNone/>
            </a:pP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name</a:t>
            </a:r>
            <a:endParaRPr lang="en-US" altLang="zh-TW" b="1">
              <a:latin typeface="微軟正黑體" panose="020B0604030504040204" pitchFamily="34" charset="-120"/>
            </a:endParaRPr>
          </a:p>
          <a:p>
            <a:pPr marL="457200" lvl="1" indent="0">
              <a:buNone/>
            </a:pP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 (</a:t>
            </a:r>
            <a:r>
              <a:rPr lang="en-US" altLang="zh-TW" b="1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* </a:t>
            </a:r>
            <a:r>
              <a:rPr lang="en-US" altLang="zh-TW" b="1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Product </a:t>
            </a:r>
            <a:r>
              <a:rPr lang="en-US" altLang="zh-TW" b="1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pName = 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'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系統分析理論與實務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'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) AS </a:t>
            </a:r>
            <a:r>
              <a:rPr lang="en-US" altLang="zh-TW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en-US" altLang="zh-TW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Author</a:t>
            </a:r>
          </a:p>
          <a:p>
            <a:pPr marL="457200" lvl="1" indent="0">
              <a:buNone/>
            </a:pP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P.pNo = Author.pNo;</a:t>
            </a:r>
          </a:p>
          <a:p>
            <a:r>
              <a:rPr lang="zh-TW" altLang="en-US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zh-TW" altLang="en-US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子句裡的查詢子句</a:t>
            </a:r>
            <a:endParaRPr lang="en-US" altLang="zh-TW" sz="2400" b="1">
              <a:solidFill>
                <a:srgbClr val="0070C0"/>
              </a:solidFill>
              <a:latin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zh-TW" altLang="en-US" sz="2400" b="1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列出所有購買過「系統分析理論與實務」的會員之會員編號和會員姓名</a:t>
            </a:r>
            <a:endParaRPr lang="en-US" altLang="zh-TW" sz="2400" b="1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lvl="1" indent="0">
              <a:buNone/>
              <a:defRPr/>
            </a:pPr>
            <a:r>
              <a:rPr lang="en-US" altLang="zh-TW" sz="2100" b="1">
                <a:solidFill>
                  <a:srgbClr val="0000FF"/>
                </a:solidFill>
                <a:latin typeface="微軟正黑體" panose="020B0604030504040204" pitchFamily="34" charset="-120"/>
              </a:rPr>
              <a:t>SELECT</a:t>
            </a:r>
            <a:r>
              <a:rPr lang="en-US" altLang="zh-TW" sz="2100" b="1">
                <a:latin typeface="微軟正黑體" panose="020B0604030504040204" pitchFamily="34" charset="-120"/>
              </a:rPr>
              <a:t> mId, name</a:t>
            </a:r>
          </a:p>
          <a:p>
            <a:pPr marL="457200" lvl="1" indent="0">
              <a:buNone/>
              <a:defRPr/>
            </a:pPr>
            <a:r>
              <a:rPr lang="en-US" altLang="zh-TW" sz="2100" b="1">
                <a:solidFill>
                  <a:srgbClr val="0000FF"/>
                </a:solidFill>
                <a:latin typeface="微軟正黑體" panose="020B0604030504040204" pitchFamily="34" charset="-120"/>
              </a:rPr>
              <a:t>FROM</a:t>
            </a:r>
            <a:r>
              <a:rPr lang="en-US" altLang="zh-TW" sz="2100" b="1">
                <a:latin typeface="微軟正黑體" panose="020B0604030504040204" pitchFamily="34" charset="-120"/>
              </a:rPr>
              <a:t> Member</a:t>
            </a:r>
          </a:p>
          <a:p>
            <a:pPr marL="457200" lvl="1" indent="0">
              <a:buNone/>
              <a:defRPr/>
            </a:pPr>
            <a:r>
              <a:rPr lang="en-US" altLang="zh-TW" sz="2100" b="1">
                <a:solidFill>
                  <a:srgbClr val="0000FF"/>
                </a:solidFill>
                <a:latin typeface="微軟正黑體" panose="020B0604030504040204" pitchFamily="34" charset="-120"/>
              </a:rPr>
              <a:t>WHERE</a:t>
            </a:r>
            <a:r>
              <a:rPr lang="en-US" altLang="zh-TW" sz="2100" b="1">
                <a:latin typeface="微軟正黑體" panose="020B0604030504040204" pitchFamily="34" charset="-120"/>
              </a:rPr>
              <a:t> mId </a:t>
            </a:r>
            <a:r>
              <a:rPr lang="en-US" altLang="zh-TW" sz="2100" b="1">
                <a:solidFill>
                  <a:srgbClr val="C00000"/>
                </a:solidFill>
                <a:latin typeface="微軟正黑體" panose="020B0604030504040204" pitchFamily="34" charset="-120"/>
              </a:rPr>
              <a:t>IN </a:t>
            </a:r>
          </a:p>
          <a:p>
            <a:pPr marL="457200" lvl="1" indent="0">
              <a:buNone/>
              <a:defRPr/>
            </a:pPr>
            <a:r>
              <a:rPr lang="en-US" altLang="zh-TW" sz="2100" b="1">
                <a:latin typeface="微軟正黑體" panose="020B0604030504040204" pitchFamily="34" charset="-120"/>
              </a:rPr>
              <a:t>(</a:t>
            </a:r>
          </a:p>
          <a:p>
            <a:pPr marL="457200" lvl="1" indent="0">
              <a:buNone/>
              <a:defRPr/>
            </a:pPr>
            <a:r>
              <a:rPr lang="en-US" altLang="zh-TW" sz="2100" b="1">
                <a:latin typeface="微軟正黑體" panose="020B0604030504040204" pitchFamily="34" charset="-120"/>
              </a:rPr>
              <a:t>   SELECT transMid</a:t>
            </a:r>
          </a:p>
          <a:p>
            <a:pPr marL="457200" lvl="1" indent="0">
              <a:buNone/>
              <a:defRPr/>
            </a:pPr>
            <a:r>
              <a:rPr lang="en-US" altLang="zh-TW" sz="2100" b="1">
                <a:latin typeface="微軟正黑體" panose="020B0604030504040204" pitchFamily="34" charset="-120"/>
              </a:rPr>
              <a:t> </a:t>
            </a:r>
            <a:r>
              <a:rPr lang="zh-TW" altLang="en-US" sz="2100" b="1">
                <a:latin typeface="微軟正黑體" panose="020B0604030504040204" pitchFamily="34" charset="-120"/>
              </a:rPr>
              <a:t>   </a:t>
            </a:r>
            <a:r>
              <a:rPr lang="en-US" altLang="zh-TW" sz="2100" b="1">
                <a:latin typeface="微軟正黑體" panose="020B0604030504040204" pitchFamily="34" charset="-120"/>
              </a:rPr>
              <a:t>FROM Product AS P, Record AS R, Transaction AS</a:t>
            </a:r>
            <a:r>
              <a:rPr lang="zh-TW" altLang="en-US" sz="2100" b="1">
                <a:latin typeface="微軟正黑體" panose="020B0604030504040204" pitchFamily="34" charset="-120"/>
              </a:rPr>
              <a:t> </a:t>
            </a:r>
            <a:r>
              <a:rPr lang="en-US" altLang="zh-TW" sz="2100" b="1">
                <a:latin typeface="微軟正黑體" panose="020B0604030504040204" pitchFamily="34" charset="-120"/>
              </a:rPr>
              <a:t>T</a:t>
            </a:r>
          </a:p>
          <a:p>
            <a:pPr marL="457200" lvl="1" indent="0">
              <a:buNone/>
              <a:defRPr/>
            </a:pPr>
            <a:r>
              <a:rPr lang="zh-TW" altLang="en-US" sz="2100" b="1">
                <a:latin typeface="微軟正黑體" panose="020B0604030504040204" pitchFamily="34" charset="-120"/>
              </a:rPr>
              <a:t>   </a:t>
            </a:r>
            <a:r>
              <a:rPr lang="en-US" altLang="zh-TW" sz="2100" b="1">
                <a:latin typeface="微軟正黑體" panose="020B0604030504040204" pitchFamily="34" charset="-120"/>
              </a:rPr>
              <a:t> WHERE pName= '</a:t>
            </a:r>
            <a:r>
              <a:rPr lang="zh-TW" altLang="en-US" sz="2100" b="1">
                <a:latin typeface="微軟正黑體" panose="020B0604030504040204" pitchFamily="34" charset="-120"/>
              </a:rPr>
              <a:t>系統分析理論與實務</a:t>
            </a:r>
            <a:r>
              <a:rPr lang="en-US" altLang="zh-TW" sz="2100" b="1">
                <a:latin typeface="微軟正黑體" panose="020B0604030504040204" pitchFamily="34" charset="-120"/>
              </a:rPr>
              <a:t>'</a:t>
            </a:r>
            <a:r>
              <a:rPr lang="zh-TW" altLang="en-US" sz="2100" b="1">
                <a:latin typeface="微軟正黑體" panose="020B0604030504040204" pitchFamily="34" charset="-120"/>
              </a:rPr>
              <a:t> </a:t>
            </a:r>
            <a:endParaRPr lang="en-US" altLang="zh-TW" sz="2100" b="1">
              <a:latin typeface="微軟正黑體" panose="020B0604030504040204" pitchFamily="34" charset="-120"/>
            </a:endParaRPr>
          </a:p>
          <a:p>
            <a:pPr marL="457200" lvl="1" indent="0">
              <a:buNone/>
              <a:defRPr/>
            </a:pPr>
            <a:r>
              <a:rPr lang="en-US" altLang="zh-TW" sz="2100" b="1">
                <a:latin typeface="微軟正黑體" panose="020B0604030504040204" pitchFamily="34" charset="-120"/>
              </a:rPr>
              <a:t>    AND  P.pNo = R.pNo AND R.tNo = T.tNo</a:t>
            </a:r>
          </a:p>
          <a:p>
            <a:pPr marL="457200" lvl="1" indent="0">
              <a:buNone/>
              <a:defRPr/>
            </a:pPr>
            <a:r>
              <a:rPr lang="en-US" altLang="zh-TW" sz="2100" b="1">
                <a:latin typeface="微軟正黑體" panose="020B0604030504040204" pitchFamily="34" charset="-120"/>
              </a:rPr>
              <a:t>);</a:t>
            </a:r>
          </a:p>
          <a:p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4E7A9F-5260-42DE-8216-107411049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DF9CD-7CBC-4AB1-8834-785FFDC79F24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75FA25B-8355-49D1-9276-9E7C74D14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53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940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670ED7F-607E-4DF3-971A-CED7DD1EB8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Backup slides</a:t>
            </a:r>
            <a:endParaRPr lang="zh-TW" altLang="en-US"/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C4A68082-8FA1-4714-B480-B6F5399B47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8805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509F3B-B4D5-484F-BD9A-D565DB288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Sqlite3</a:t>
            </a:r>
            <a:r>
              <a:rPr lang="zh-TW" altLang="en-US"/>
              <a:t>安裝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6B34FC-83B9-48EB-BAA2-AF5D2C396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/>
              <a:t>sqlite3</a:t>
            </a:r>
            <a:r>
              <a:rPr lang="zh-TW" altLang="en-US"/>
              <a:t>網頁</a:t>
            </a:r>
            <a:r>
              <a:rPr lang="en-US" altLang="zh-TW"/>
              <a:t>:</a:t>
            </a:r>
            <a:r>
              <a:rPr lang="zh-TW" altLang="en-US"/>
              <a:t> </a:t>
            </a:r>
            <a:r>
              <a:rPr lang="en-US" altLang="zh-TW"/>
              <a:t>https://www.sqlite.org/index.html</a:t>
            </a:r>
          </a:p>
          <a:p>
            <a:r>
              <a:rPr lang="zh-TW" altLang="en-US"/>
              <a:t>下載</a:t>
            </a:r>
            <a:r>
              <a:rPr lang="en-US" altLang="zh-TW"/>
              <a:t>sqlite3: </a:t>
            </a:r>
            <a:r>
              <a:rPr lang="en-US" altLang="zh-TW">
                <a:hlinkClick r:id="rId2"/>
              </a:rPr>
              <a:t>https://www.sqlite.org/download.html</a:t>
            </a:r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r>
              <a:rPr lang="zh-TW" altLang="en-US"/>
              <a:t>安裝</a:t>
            </a:r>
            <a:r>
              <a:rPr lang="en-US" altLang="zh-TW"/>
              <a:t>sqlite3</a:t>
            </a:r>
          </a:p>
          <a:p>
            <a:pPr lvl="1"/>
            <a:r>
              <a:rPr lang="zh-TW" altLang="en-US"/>
              <a:t>在 </a:t>
            </a:r>
            <a:r>
              <a:rPr lang="en-US" altLang="zh-TW"/>
              <a:t>c: </a:t>
            </a:r>
            <a:r>
              <a:rPr lang="zh-TW" altLang="en-US"/>
              <a:t>根目錄建立一個 </a:t>
            </a:r>
            <a:r>
              <a:rPr lang="en-US" altLang="zh-TW"/>
              <a:t>sqlite3</a:t>
            </a:r>
            <a:r>
              <a:rPr lang="zh-TW" altLang="en-US"/>
              <a:t> 資料夾</a:t>
            </a:r>
            <a:endParaRPr lang="en-US" altLang="zh-TW"/>
          </a:p>
          <a:p>
            <a:pPr lvl="1"/>
            <a:r>
              <a:rPr lang="zh-TW" altLang="en-US"/>
              <a:t>將</a:t>
            </a:r>
            <a:r>
              <a:rPr lang="en-US" altLang="zh-TW"/>
              <a:t>sqlite3.exe, sqlite3.def, sqlite3.dll</a:t>
            </a:r>
            <a:r>
              <a:rPr lang="zh-TW" altLang="en-US"/>
              <a:t>複製到 </a:t>
            </a:r>
            <a:r>
              <a:rPr lang="en-US" altLang="zh-TW"/>
              <a:t>c:\sqlite3</a:t>
            </a:r>
            <a:r>
              <a:rPr lang="zh-TW" altLang="en-US"/>
              <a:t> 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0E20616-36D2-4320-A7E1-3243B5C29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86578"/>
            <a:ext cx="10515600" cy="2849942"/>
          </a:xfrm>
          <a:prstGeom prst="rect">
            <a:avLst/>
          </a:prstGeom>
        </p:spPr>
      </p:pic>
      <p:sp>
        <p:nvSpPr>
          <p:cNvPr id="6" name="語音泡泡: 圓角矩形 5">
            <a:extLst>
              <a:ext uri="{FF2B5EF4-FFF2-40B4-BE49-F238E27FC236}">
                <a16:creationId xmlns:a16="http://schemas.microsoft.com/office/drawing/2014/main" id="{D2542265-73B0-4EF9-9B6E-CA3632496514}"/>
              </a:ext>
            </a:extLst>
          </p:cNvPr>
          <p:cNvSpPr/>
          <p:nvPr/>
        </p:nvSpPr>
        <p:spPr>
          <a:xfrm>
            <a:off x="6961632" y="2804160"/>
            <a:ext cx="2791968" cy="1060704"/>
          </a:xfrm>
          <a:prstGeom prst="wedgeRoundRectCallout">
            <a:avLst>
              <a:gd name="adj1" fmla="val -78475"/>
              <a:gd name="adj2" fmla="val 48707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rgbClr val="C00000"/>
                </a:solidFill>
              </a:rPr>
              <a:t>sqlit3.def</a:t>
            </a:r>
          </a:p>
          <a:p>
            <a:pPr algn="ctr"/>
            <a:r>
              <a:rPr lang="en-US" altLang="zh-TW">
                <a:solidFill>
                  <a:srgbClr val="C00000"/>
                </a:solidFill>
              </a:rPr>
              <a:t>sqlite3.dll</a:t>
            </a:r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7" name="語音泡泡: 圓角矩形 6">
            <a:extLst>
              <a:ext uri="{FF2B5EF4-FFF2-40B4-BE49-F238E27FC236}">
                <a16:creationId xmlns:a16="http://schemas.microsoft.com/office/drawing/2014/main" id="{F8290812-28DF-40B4-9244-25823E0584E6}"/>
              </a:ext>
            </a:extLst>
          </p:cNvPr>
          <p:cNvSpPr/>
          <p:nvPr/>
        </p:nvSpPr>
        <p:spPr>
          <a:xfrm>
            <a:off x="9015984" y="5076389"/>
            <a:ext cx="2791968" cy="1060704"/>
          </a:xfrm>
          <a:prstGeom prst="wedgeRoundRectCallout">
            <a:avLst>
              <a:gd name="adj1" fmla="val -75418"/>
              <a:gd name="adj2" fmla="val -86925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sqlite3.exe</a:t>
            </a:r>
          </a:p>
          <a:p>
            <a:pPr algn="ctr"/>
            <a:r>
              <a:rPr lang="en-US" altLang="zh-TW">
                <a:solidFill>
                  <a:srgbClr val="C00000"/>
                </a:solidFill>
              </a:rPr>
              <a:t>sqldiff.exe</a:t>
            </a:r>
          </a:p>
          <a:p>
            <a:pPr algn="ctr"/>
            <a:r>
              <a:rPr lang="en-US" altLang="zh-TW">
                <a:solidFill>
                  <a:schemeClr val="tx1"/>
                </a:solidFill>
              </a:rPr>
              <a:t>sqlite3._analyzer.exe</a:t>
            </a:r>
          </a:p>
          <a:p>
            <a:pPr algn="ctr"/>
            <a:r>
              <a:rPr lang="en-US" altLang="zh-TW">
                <a:solidFill>
                  <a:schemeClr val="tx1"/>
                </a:solidFill>
              </a:rPr>
              <a:t>sqlite3_rsync.exe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8" name="日期版面配置區 7">
            <a:extLst>
              <a:ext uri="{FF2B5EF4-FFF2-40B4-BE49-F238E27FC236}">
                <a16:creationId xmlns:a16="http://schemas.microsoft.com/office/drawing/2014/main" id="{1C631621-2BF4-4E7B-91F1-BF7A27CF9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41DC-00D3-45BF-AFCE-20713A31B6E3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00BADC1-BCF0-4DCA-8559-C06B7601D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55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8153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33733D-AD79-4380-B491-61EEE342D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6EE3FF8-27B5-4D20-8276-D73362DB2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將 </a:t>
            </a:r>
            <a:r>
              <a:rPr lang="en-US" altLang="zh-TW"/>
              <a:t>c:\sqlite3 </a:t>
            </a:r>
            <a:r>
              <a:rPr lang="zh-TW" altLang="en-US"/>
              <a:t>設定於系統</a:t>
            </a:r>
            <a:r>
              <a:rPr lang="en-US" altLang="zh-TW"/>
              <a:t>path</a:t>
            </a:r>
            <a:r>
              <a:rPr lang="zh-TW" altLang="en-US"/>
              <a:t>中</a:t>
            </a:r>
            <a:endParaRPr lang="en-US" altLang="zh-TW"/>
          </a:p>
          <a:p>
            <a:pPr lvl="1"/>
            <a:r>
              <a:rPr lang="en-US" altLang="zh-TW"/>
              <a:t>Wondows </a:t>
            </a:r>
            <a:r>
              <a:rPr lang="zh-TW" altLang="en-US"/>
              <a:t>設定 </a:t>
            </a:r>
            <a:r>
              <a:rPr lang="en-US" altLang="zh-TW">
                <a:sym typeface="Wingdings" panose="05000000000000000000" pitchFamily="2" charset="2"/>
              </a:rPr>
              <a:t> </a:t>
            </a:r>
            <a:r>
              <a:rPr lang="zh-TW" altLang="en-US">
                <a:sym typeface="Wingdings" panose="05000000000000000000" pitchFamily="2" charset="2"/>
              </a:rPr>
              <a:t>系統 </a:t>
            </a:r>
            <a:r>
              <a:rPr lang="en-US" altLang="zh-TW">
                <a:sym typeface="Wingdings" panose="05000000000000000000" pitchFamily="2" charset="2"/>
              </a:rPr>
              <a:t> </a:t>
            </a:r>
            <a:r>
              <a:rPr lang="zh-TW" altLang="en-US">
                <a:sym typeface="Wingdings" panose="05000000000000000000" pitchFamily="2" charset="2"/>
              </a:rPr>
              <a:t>關於 </a:t>
            </a:r>
            <a:r>
              <a:rPr lang="en-US" altLang="zh-TW">
                <a:sym typeface="Wingdings" panose="05000000000000000000" pitchFamily="2" charset="2"/>
              </a:rPr>
              <a:t> </a:t>
            </a:r>
            <a:r>
              <a:rPr lang="zh-TW" altLang="en-US">
                <a:sym typeface="Wingdings" panose="05000000000000000000" pitchFamily="2" charset="2"/>
              </a:rPr>
              <a:t>進階系統設定 </a:t>
            </a:r>
            <a:r>
              <a:rPr lang="en-US" altLang="zh-TW">
                <a:sym typeface="Wingdings" panose="05000000000000000000" pitchFamily="2" charset="2"/>
              </a:rPr>
              <a:t> </a:t>
            </a:r>
            <a:r>
              <a:rPr lang="zh-TW" altLang="en-US">
                <a:sym typeface="Wingdings" panose="05000000000000000000" pitchFamily="2" charset="2"/>
              </a:rPr>
              <a:t>環境變數</a:t>
            </a:r>
            <a:endParaRPr lang="en-US" altLang="zh-TW">
              <a:sym typeface="Wingdings" panose="05000000000000000000" pitchFamily="2" charset="2"/>
            </a:endParaRPr>
          </a:p>
          <a:p>
            <a:pPr lvl="1"/>
            <a:r>
              <a:rPr lang="zh-TW" altLang="en-US">
                <a:sym typeface="Wingdings" panose="05000000000000000000" pitchFamily="2" charset="2"/>
              </a:rPr>
              <a:t>系統變數 </a:t>
            </a:r>
            <a:r>
              <a:rPr lang="en-US" altLang="zh-TW">
                <a:sym typeface="Wingdings" panose="05000000000000000000" pitchFamily="2" charset="2"/>
              </a:rPr>
              <a:t>path </a:t>
            </a:r>
            <a:r>
              <a:rPr lang="zh-TW" altLang="en-US">
                <a:sym typeface="Wingdings" panose="05000000000000000000" pitchFamily="2" charset="2"/>
              </a:rPr>
              <a:t>新增 </a:t>
            </a:r>
            <a:r>
              <a:rPr lang="en-US" altLang="zh-TW">
                <a:sym typeface="Wingdings" panose="05000000000000000000" pitchFamily="2" charset="2"/>
              </a:rPr>
              <a:t>c:\sqlite3</a:t>
            </a:r>
          </a:p>
          <a:p>
            <a:pPr lvl="1"/>
            <a:r>
              <a:rPr lang="zh-TW" altLang="en-US">
                <a:sym typeface="Wingdings" panose="05000000000000000000" pitchFamily="2" charset="2"/>
              </a:rPr>
              <a:t>重新開機</a:t>
            </a:r>
            <a:endParaRPr lang="en-US" altLang="zh-TW">
              <a:sym typeface="Wingdings" panose="05000000000000000000" pitchFamily="2" charset="2"/>
            </a:endParaRPr>
          </a:p>
          <a:p>
            <a:r>
              <a:rPr lang="zh-TW" altLang="en-US">
                <a:sym typeface="Wingdings" panose="05000000000000000000" pitchFamily="2" charset="2"/>
              </a:rPr>
              <a:t>在 </a:t>
            </a:r>
            <a:r>
              <a:rPr lang="en-US" altLang="zh-TW">
                <a:sym typeface="Wingdings" panose="05000000000000000000" pitchFamily="2" charset="2"/>
              </a:rPr>
              <a:t>windows </a:t>
            </a:r>
            <a:r>
              <a:rPr lang="zh-TW" altLang="en-US">
                <a:sym typeface="Wingdings" panose="05000000000000000000" pitchFamily="2" charset="2"/>
              </a:rPr>
              <a:t>命令列模式</a:t>
            </a:r>
            <a:endParaRPr lang="en-US" altLang="zh-TW">
              <a:sym typeface="Wingdings" panose="05000000000000000000" pitchFamily="2" charset="2"/>
            </a:endParaRPr>
          </a:p>
          <a:p>
            <a:pPr lvl="1"/>
            <a:endParaRPr lang="en-US" altLang="zh-TW">
              <a:sym typeface="Wingdings" panose="05000000000000000000" pitchFamily="2" charset="2"/>
            </a:endParaRPr>
          </a:p>
          <a:p>
            <a:pPr lvl="1"/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E620170-BFC8-41CA-9AA1-F4F688841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027" y="3058566"/>
            <a:ext cx="9891945" cy="1842617"/>
          </a:xfrm>
          <a:prstGeom prst="rect">
            <a:avLst/>
          </a:prstGeom>
        </p:spPr>
      </p:pic>
      <p:sp>
        <p:nvSpPr>
          <p:cNvPr id="8" name="日期版面配置區 7">
            <a:extLst>
              <a:ext uri="{FF2B5EF4-FFF2-40B4-BE49-F238E27FC236}">
                <a16:creationId xmlns:a16="http://schemas.microsoft.com/office/drawing/2014/main" id="{62239409-C764-4590-9E1B-8102621FE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28DFC-1BE7-4B02-B481-32DF7A513402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2BB5C6B-47BA-4FD7-8627-B303DD6BF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56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2236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可能是文字的圖形">
            <a:extLst>
              <a:ext uri="{FF2B5EF4-FFF2-40B4-BE49-F238E27FC236}">
                <a16:creationId xmlns:a16="http://schemas.microsoft.com/office/drawing/2014/main" id="{575D5DD6-4B1A-4C00-B624-53B51A9EF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6197" y="260350"/>
            <a:ext cx="4886325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6526E0B-5035-41DD-9200-CFDFA0DEA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8BE6-38D9-490D-9133-7D18B74162FE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2573ABF-801D-493B-B632-6F8E6A3AA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57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130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1BCD29-4035-46B7-92F8-FDA8E68C5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課堂練習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64C274E-867C-43E7-8C88-9BBF4EE71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請依教科書圖</a:t>
            </a:r>
            <a:r>
              <a:rPr lang="en-US" altLang="zh-TW"/>
              <a:t>6-1</a:t>
            </a:r>
            <a:r>
              <a:rPr lang="zh-TW" altLang="en-US"/>
              <a:t>定義範例資料表綱目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280F285-550E-4F1C-9B62-9F9F6E20FC6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59" t="10271" b="2451"/>
          <a:stretch/>
        </p:blipFill>
        <p:spPr>
          <a:xfrm>
            <a:off x="6445133" y="1539115"/>
            <a:ext cx="3660159" cy="510955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6627262-805A-4231-8722-E4ECEF6D308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3" b="4133"/>
          <a:stretch/>
        </p:blipFill>
        <p:spPr>
          <a:xfrm>
            <a:off x="2086708" y="1531878"/>
            <a:ext cx="3660161" cy="5116795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7A8201A-F36E-4E14-A51C-A321DED77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95AF5-EAD1-4369-A1E3-ACA13EDCE993}" type="datetime1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68F3DED-FE7C-46C4-919F-C2828CF6E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58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7005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2754</TotalTime>
  <Words>4948</Words>
  <Application>Microsoft Macintosh PowerPoint</Application>
  <PresentationFormat>寬螢幕</PresentationFormat>
  <Paragraphs>737</Paragraphs>
  <Slides>58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14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58</vt:i4>
      </vt:variant>
    </vt:vector>
  </HeadingPairs>
  <TitlesOfParts>
    <vt:vector size="73" baseType="lpstr">
      <vt:lpstr>微軟正黑體</vt:lpstr>
      <vt:lpstr>微軟正黑體</vt:lpstr>
      <vt:lpstr>Google Sans Text</vt:lpstr>
      <vt:lpstr>Noto Sans TC</vt:lpstr>
      <vt:lpstr>Arial</vt:lpstr>
      <vt:lpstr>Calibri</vt:lpstr>
      <vt:lpstr>Comic Sans MS</vt:lpstr>
      <vt:lpstr>Consolas</vt:lpstr>
      <vt:lpstr>Georgia</vt:lpstr>
      <vt:lpstr>Lato</vt:lpstr>
      <vt:lpstr>Nunito</vt:lpstr>
      <vt:lpstr>Times New Roman</vt:lpstr>
      <vt:lpstr>Wingdings</vt:lpstr>
      <vt:lpstr>Wingdings 2</vt:lpstr>
      <vt:lpstr>Office 佈景主題</vt:lpstr>
      <vt:lpstr>Sql語sqlite資料庫引擎</vt:lpstr>
      <vt:lpstr>關聯式資料庫(Relational Database)</vt:lpstr>
      <vt:lpstr>常見的關連式資料庫管理系統</vt:lpstr>
      <vt:lpstr>Sqlite3資料庫管理系統</vt:lpstr>
      <vt:lpstr>實驗室電腦啟動sqlite3</vt:lpstr>
      <vt:lpstr>系統操作指令 （點指令）</vt:lpstr>
      <vt:lpstr>Structured Query Language (SQL)</vt:lpstr>
      <vt:lpstr>SQL的資料模式與關連模式</vt:lpstr>
      <vt:lpstr>SQL提供三種指令</vt:lpstr>
      <vt:lpstr>DDL常用語法</vt:lpstr>
      <vt:lpstr>member 資料表</vt:lpstr>
      <vt:lpstr>定義資料表</vt:lpstr>
      <vt:lpstr>SQL所提供的常用定義域型態</vt:lpstr>
      <vt:lpstr>PowerPoint 簡報</vt:lpstr>
      <vt:lpstr>PowerPoint 簡報</vt:lpstr>
      <vt:lpstr>Sqlite3資料型別</vt:lpstr>
      <vt:lpstr>Date&amp;Time表示</vt:lpstr>
      <vt:lpstr>PowerPoint 簡報</vt:lpstr>
      <vt:lpstr>限制情況</vt:lpstr>
      <vt:lpstr>啟動sqlite3及建立資料表 ‘Transaction’</vt:lpstr>
      <vt:lpstr>PowerPoint 簡報</vt:lpstr>
      <vt:lpstr>輸入練習</vt:lpstr>
      <vt:lpstr>PowerPoint 簡報</vt:lpstr>
      <vt:lpstr>PowerPoint 簡報</vt:lpstr>
      <vt:lpstr>輸入練習</vt:lpstr>
      <vt:lpstr>查詢資料表結構(schema)</vt:lpstr>
      <vt:lpstr>刪除資料表定義</vt:lpstr>
      <vt:lpstr>修改資料表定義</vt:lpstr>
      <vt:lpstr>DML 指令 </vt:lpstr>
      <vt:lpstr>新增紀錄</vt:lpstr>
      <vt:lpstr>Insert 多筆資料</vt:lpstr>
      <vt:lpstr>讀取sql指令並執行</vt:lpstr>
      <vt:lpstr>sqlite3讀取csv檔資料新增至資料表</vt:lpstr>
      <vt:lpstr>練習</vt:lpstr>
      <vt:lpstr>修改資料</vt:lpstr>
      <vt:lpstr>刪除資料</vt:lpstr>
      <vt:lpstr>輸出結果</vt:lpstr>
      <vt:lpstr>將資料庫儲存成.db</vt:lpstr>
      <vt:lpstr>練習</vt:lpstr>
      <vt:lpstr>基本的SQL查詢語法</vt:lpstr>
      <vt:lpstr>SQL的查詢句基本格式</vt:lpstr>
      <vt:lpstr>PowerPoint 簡報</vt:lpstr>
      <vt:lpstr>PowerPoint 簡報</vt:lpstr>
      <vt:lpstr>使用資料表名稱的縮寫</vt:lpstr>
      <vt:lpstr>PowerPoint 簡報</vt:lpstr>
      <vt:lpstr>基本的SQL查詢語法</vt:lpstr>
      <vt:lpstr>PowerPoint 簡報</vt:lpstr>
      <vt:lpstr>Date和Time的型態值</vt:lpstr>
      <vt:lpstr>記錄排序</vt:lpstr>
      <vt:lpstr>集合運算式 </vt:lpstr>
      <vt:lpstr>Bag運算式</vt:lpstr>
      <vt:lpstr>Bag運算式</vt:lpstr>
      <vt:lpstr>巢狀查詢句(在FROM子句或WHERE子句裡容納另一個查詢子句)</vt:lpstr>
      <vt:lpstr>Backup slides</vt:lpstr>
      <vt:lpstr>Sqlite3安裝</vt:lpstr>
      <vt:lpstr>PowerPoint 簡報</vt:lpstr>
      <vt:lpstr>PowerPoint 簡報</vt:lpstr>
      <vt:lpstr>課堂練習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鍾定揚 12376046 Daniel</dc:creator>
  <cp:lastModifiedBy>Jainshone Chung</cp:lastModifiedBy>
  <cp:revision>89</cp:revision>
  <cp:lastPrinted>2024-11-18T14:26:59Z</cp:lastPrinted>
  <dcterms:created xsi:type="dcterms:W3CDTF">2024-11-09T14:41:49Z</dcterms:created>
  <dcterms:modified xsi:type="dcterms:W3CDTF">2025-11-08T13:08:02Z</dcterms:modified>
</cp:coreProperties>
</file>