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257" r:id="rId4"/>
    <p:sldId id="281" r:id="rId5"/>
    <p:sldId id="259" r:id="rId6"/>
    <p:sldId id="278" r:id="rId7"/>
    <p:sldId id="260" r:id="rId8"/>
    <p:sldId id="261" r:id="rId9"/>
    <p:sldId id="262" r:id="rId10"/>
    <p:sldId id="263" r:id="rId11"/>
    <p:sldId id="287" r:id="rId12"/>
    <p:sldId id="282" r:id="rId13"/>
    <p:sldId id="264" r:id="rId14"/>
    <p:sldId id="289" r:id="rId15"/>
    <p:sldId id="288" r:id="rId16"/>
    <p:sldId id="265" r:id="rId17"/>
    <p:sldId id="266" r:id="rId18"/>
    <p:sldId id="290" r:id="rId19"/>
    <p:sldId id="267" r:id="rId20"/>
    <p:sldId id="292" r:id="rId21"/>
    <p:sldId id="293" r:id="rId22"/>
    <p:sldId id="294" r:id="rId23"/>
    <p:sldId id="295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80" r:id="rId33"/>
    <p:sldId id="276" r:id="rId34"/>
    <p:sldId id="277" r:id="rId35"/>
    <p:sldId id="284" r:id="rId36"/>
    <p:sldId id="283" r:id="rId37"/>
    <p:sldId id="286" r:id="rId38"/>
    <p:sldId id="285" r:id="rId39"/>
    <p:sldId id="296" r:id="rId40"/>
  </p:sldIdLst>
  <p:sldSz cx="12192000" cy="6858000"/>
  <p:notesSz cx="6792913" cy="99250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inshone Chung" initials="JC" lastIdx="1" clrIdx="0">
    <p:extLst>
      <p:ext uri="{19B8F6BF-5375-455C-9EA6-DF929625EA0E}">
        <p15:presenceInfo xmlns:p15="http://schemas.microsoft.com/office/powerpoint/2012/main" userId="19a969be222b86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5B9BD5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43" autoAdjust="0"/>
    <p:restoredTop sz="72908" autoAdjust="0"/>
  </p:normalViewPr>
  <p:slideViewPr>
    <p:cSldViewPr snapToGrid="0">
      <p:cViewPr varScale="1">
        <p:scale>
          <a:sx n="114" d="100"/>
          <a:sy n="114" d="100"/>
        </p:scale>
        <p:origin x="23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E848D-7BC9-4F05-B5DA-3C3DA321D6C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81FE14E6-26B8-4DC6-A9C9-13C8C425F92B}">
      <dgm:prSet phldrT="[文字]"/>
      <dgm:spPr>
        <a:solidFill>
          <a:srgbClr val="C00000"/>
        </a:solidFill>
      </dgm:spPr>
      <dgm:t>
        <a:bodyPr/>
        <a:lstStyle/>
        <a:p>
          <a:r>
            <a:rPr lang="zh-TW" altLang="en-US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概念塑模</a:t>
          </a:r>
        </a:p>
      </dgm:t>
    </dgm:pt>
    <dgm:pt modelId="{1891F977-4E92-4C98-AFF0-C75A7842D9ED}" type="parTrans" cxnId="{7AF7889D-49E1-41D9-9DF8-434795B3BFC7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B7402662-FD46-4FCF-BDEB-74960FCE55E9}" type="sibTrans" cxnId="{7AF7889D-49E1-41D9-9DF8-434795B3BFC7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352F8AC1-C0F7-417E-8537-088B062EAFA5}">
      <dgm:prSet phldrT="[文字]"/>
      <dgm:spPr>
        <a:solidFill>
          <a:srgbClr val="00B0F0"/>
        </a:solidFill>
      </dgm:spPr>
      <dgm:t>
        <a:bodyPr/>
        <a:lstStyle/>
        <a:p>
          <a:r>
            <a:rPr lang="zh-TW" altLang="en-US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邏輯塑模</a:t>
          </a:r>
        </a:p>
      </dgm:t>
    </dgm:pt>
    <dgm:pt modelId="{3E520A57-0A27-4295-BD3E-6BE91B4B1869}" type="parTrans" cxnId="{415FA686-5FF0-4C0A-ACA0-FD7D0F9EEF0E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BAD6F667-21F4-4593-A98B-C4B9FE1AED3E}" type="sibTrans" cxnId="{415FA686-5FF0-4C0A-ACA0-FD7D0F9EEF0E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2178E9CA-0B82-4640-9EB0-B54B5E0DE15B}">
      <dgm:prSet phldrT="[文字]"/>
      <dgm:spPr>
        <a:solidFill>
          <a:srgbClr val="7030A0"/>
        </a:solidFill>
      </dgm:spPr>
      <dgm:t>
        <a:bodyPr/>
        <a:lstStyle/>
        <a:p>
          <a:r>
            <a:rPr lang="zh-TW" altLang="en-US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實體塑模</a:t>
          </a:r>
        </a:p>
      </dgm:t>
    </dgm:pt>
    <dgm:pt modelId="{6D7DD763-F979-4A43-B3C1-A11FBB96B768}" type="parTrans" cxnId="{098D6ADA-6EA0-4179-A263-BE61D08FE0EB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F005BF15-798B-43F6-8AD9-865D86226DE0}" type="sibTrans" cxnId="{098D6ADA-6EA0-4179-A263-BE61D08FE0EB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5F7B8C2D-E0AB-4345-A0AA-8F6DE32A6454}" type="pres">
      <dgm:prSet presAssocID="{BDAE848D-7BC9-4F05-B5DA-3C3DA321D6C8}" presName="CompostProcess" presStyleCnt="0">
        <dgm:presLayoutVars>
          <dgm:dir/>
          <dgm:resizeHandles val="exact"/>
        </dgm:presLayoutVars>
      </dgm:prSet>
      <dgm:spPr/>
    </dgm:pt>
    <dgm:pt modelId="{647601EF-BCFC-4E5D-9A29-6A827CCEAF08}" type="pres">
      <dgm:prSet presAssocID="{BDAE848D-7BC9-4F05-B5DA-3C3DA321D6C8}" presName="arrow" presStyleLbl="bgShp" presStyleIdx="0" presStyleCnt="1"/>
      <dgm:spPr/>
    </dgm:pt>
    <dgm:pt modelId="{D8B2A5B9-8995-4C34-9443-F0091B901C3A}" type="pres">
      <dgm:prSet presAssocID="{BDAE848D-7BC9-4F05-B5DA-3C3DA321D6C8}" presName="linearProcess" presStyleCnt="0"/>
      <dgm:spPr/>
    </dgm:pt>
    <dgm:pt modelId="{DB42F0F9-2559-4043-B687-93D8BE0DFE30}" type="pres">
      <dgm:prSet presAssocID="{81FE14E6-26B8-4DC6-A9C9-13C8C425F92B}" presName="textNode" presStyleLbl="node1" presStyleIdx="0" presStyleCnt="3">
        <dgm:presLayoutVars>
          <dgm:bulletEnabled val="1"/>
        </dgm:presLayoutVars>
      </dgm:prSet>
      <dgm:spPr/>
    </dgm:pt>
    <dgm:pt modelId="{3C16E706-C38D-4306-8A9D-B6C63E89C125}" type="pres">
      <dgm:prSet presAssocID="{B7402662-FD46-4FCF-BDEB-74960FCE55E9}" presName="sibTrans" presStyleCnt="0"/>
      <dgm:spPr/>
    </dgm:pt>
    <dgm:pt modelId="{07D2B7FF-A5B2-4A13-B239-04A19890CAA3}" type="pres">
      <dgm:prSet presAssocID="{352F8AC1-C0F7-417E-8537-088B062EAFA5}" presName="textNode" presStyleLbl="node1" presStyleIdx="1" presStyleCnt="3">
        <dgm:presLayoutVars>
          <dgm:bulletEnabled val="1"/>
        </dgm:presLayoutVars>
      </dgm:prSet>
      <dgm:spPr/>
    </dgm:pt>
    <dgm:pt modelId="{3AB572DD-E6D5-48C6-B153-B50C42897BB6}" type="pres">
      <dgm:prSet presAssocID="{BAD6F667-21F4-4593-A98B-C4B9FE1AED3E}" presName="sibTrans" presStyleCnt="0"/>
      <dgm:spPr/>
    </dgm:pt>
    <dgm:pt modelId="{734B81CD-449E-4736-95E2-B29FDDDB050A}" type="pres">
      <dgm:prSet presAssocID="{2178E9CA-0B82-4640-9EB0-B54B5E0DE15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766EFC31-6467-4F77-A9A5-86E8E75FA2D6}" type="presOf" srcId="{81FE14E6-26B8-4DC6-A9C9-13C8C425F92B}" destId="{DB42F0F9-2559-4043-B687-93D8BE0DFE30}" srcOrd="0" destOrd="0" presId="urn:microsoft.com/office/officeart/2005/8/layout/hProcess9"/>
    <dgm:cxn modelId="{F9521C3A-9D24-4BEB-A81C-C809E6E76FBE}" type="presOf" srcId="{352F8AC1-C0F7-417E-8537-088B062EAFA5}" destId="{07D2B7FF-A5B2-4A13-B239-04A19890CAA3}" srcOrd="0" destOrd="0" presId="urn:microsoft.com/office/officeart/2005/8/layout/hProcess9"/>
    <dgm:cxn modelId="{3DCE873C-2901-424E-B9B8-5F0ECE76A730}" type="presOf" srcId="{BDAE848D-7BC9-4F05-B5DA-3C3DA321D6C8}" destId="{5F7B8C2D-E0AB-4345-A0AA-8F6DE32A6454}" srcOrd="0" destOrd="0" presId="urn:microsoft.com/office/officeart/2005/8/layout/hProcess9"/>
    <dgm:cxn modelId="{C2DE5F40-3811-4A1A-95C9-429C769ADF78}" type="presOf" srcId="{2178E9CA-0B82-4640-9EB0-B54B5E0DE15B}" destId="{734B81CD-449E-4736-95E2-B29FDDDB050A}" srcOrd="0" destOrd="0" presId="urn:microsoft.com/office/officeart/2005/8/layout/hProcess9"/>
    <dgm:cxn modelId="{415FA686-5FF0-4C0A-ACA0-FD7D0F9EEF0E}" srcId="{BDAE848D-7BC9-4F05-B5DA-3C3DA321D6C8}" destId="{352F8AC1-C0F7-417E-8537-088B062EAFA5}" srcOrd="1" destOrd="0" parTransId="{3E520A57-0A27-4295-BD3E-6BE91B4B1869}" sibTransId="{BAD6F667-21F4-4593-A98B-C4B9FE1AED3E}"/>
    <dgm:cxn modelId="{7AF7889D-49E1-41D9-9DF8-434795B3BFC7}" srcId="{BDAE848D-7BC9-4F05-B5DA-3C3DA321D6C8}" destId="{81FE14E6-26B8-4DC6-A9C9-13C8C425F92B}" srcOrd="0" destOrd="0" parTransId="{1891F977-4E92-4C98-AFF0-C75A7842D9ED}" sibTransId="{B7402662-FD46-4FCF-BDEB-74960FCE55E9}"/>
    <dgm:cxn modelId="{098D6ADA-6EA0-4179-A263-BE61D08FE0EB}" srcId="{BDAE848D-7BC9-4F05-B5DA-3C3DA321D6C8}" destId="{2178E9CA-0B82-4640-9EB0-B54B5E0DE15B}" srcOrd="2" destOrd="0" parTransId="{6D7DD763-F979-4A43-B3C1-A11FBB96B768}" sibTransId="{F005BF15-798B-43F6-8AD9-865D86226DE0}"/>
    <dgm:cxn modelId="{4A90FDC5-9269-493D-9D3C-1CF125F9BC04}" type="presParOf" srcId="{5F7B8C2D-E0AB-4345-A0AA-8F6DE32A6454}" destId="{647601EF-BCFC-4E5D-9A29-6A827CCEAF08}" srcOrd="0" destOrd="0" presId="urn:microsoft.com/office/officeart/2005/8/layout/hProcess9"/>
    <dgm:cxn modelId="{B27BEA70-F10B-4E42-A0EE-C86DABE9EEFD}" type="presParOf" srcId="{5F7B8C2D-E0AB-4345-A0AA-8F6DE32A6454}" destId="{D8B2A5B9-8995-4C34-9443-F0091B901C3A}" srcOrd="1" destOrd="0" presId="urn:microsoft.com/office/officeart/2005/8/layout/hProcess9"/>
    <dgm:cxn modelId="{B533793A-430A-4303-A00F-DFCB5BC09E00}" type="presParOf" srcId="{D8B2A5B9-8995-4C34-9443-F0091B901C3A}" destId="{DB42F0F9-2559-4043-B687-93D8BE0DFE30}" srcOrd="0" destOrd="0" presId="urn:microsoft.com/office/officeart/2005/8/layout/hProcess9"/>
    <dgm:cxn modelId="{4D14CE81-40B3-4487-A9E6-AF3580D5E537}" type="presParOf" srcId="{D8B2A5B9-8995-4C34-9443-F0091B901C3A}" destId="{3C16E706-C38D-4306-8A9D-B6C63E89C125}" srcOrd="1" destOrd="0" presId="urn:microsoft.com/office/officeart/2005/8/layout/hProcess9"/>
    <dgm:cxn modelId="{59634E41-A8A0-48B4-ABFB-6A4B6A385DE6}" type="presParOf" srcId="{D8B2A5B9-8995-4C34-9443-F0091B901C3A}" destId="{07D2B7FF-A5B2-4A13-B239-04A19890CAA3}" srcOrd="2" destOrd="0" presId="urn:microsoft.com/office/officeart/2005/8/layout/hProcess9"/>
    <dgm:cxn modelId="{7626FC60-447B-46A5-89B7-EA53E31570D9}" type="presParOf" srcId="{D8B2A5B9-8995-4C34-9443-F0091B901C3A}" destId="{3AB572DD-E6D5-48C6-B153-B50C42897BB6}" srcOrd="3" destOrd="0" presId="urn:microsoft.com/office/officeart/2005/8/layout/hProcess9"/>
    <dgm:cxn modelId="{97219775-EC6C-458F-8ADC-7D6E64257216}" type="presParOf" srcId="{D8B2A5B9-8995-4C34-9443-F0091B901C3A}" destId="{734B81CD-449E-4736-95E2-B29FDDDB050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E96F77-8C03-4081-9FBD-46723A8BE84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B9374A80-1E83-41F8-B7D4-E306869CE75B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定義域限制</a:t>
          </a:r>
        </a:p>
      </dgm:t>
    </dgm:pt>
    <dgm:pt modelId="{0A409258-3790-4D37-ADDB-9E67EB5BBE41}" type="parTrans" cxnId="{F4939B30-9983-49C9-94DF-86E941C8C81C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5EF66BA-9C75-4DDA-9254-956251A56D9B}" type="sibTrans" cxnId="{F4939B30-9983-49C9-94DF-86E941C8C81C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8FC0075-78FA-4D7B-8579-54DA5C0A0CC1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關聯鍵限制</a:t>
          </a:r>
        </a:p>
      </dgm:t>
    </dgm:pt>
    <dgm:pt modelId="{99F3A27E-E329-4036-AEB4-E44F9EB0FF4D}" type="parTrans" cxnId="{B472427E-A153-4791-931F-ED7B3092FDFB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9D2E30A-B25A-4F6E-9A62-29B147D88B4B}" type="sibTrans" cxnId="{B472427E-A153-4791-931F-ED7B3092FDFB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7BE4EE7-A602-42DC-8FB1-45AE2DF838EA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實體完整限制</a:t>
          </a:r>
        </a:p>
      </dgm:t>
    </dgm:pt>
    <dgm:pt modelId="{ADA0048F-C974-48C9-B090-B8B934A278EA}" type="parTrans" cxnId="{99889FCE-AD0C-4908-8555-F52ADD2BCCA5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3D49FDD-D981-457D-B976-0201C4DD812D}" type="sibTrans" cxnId="{99889FCE-AD0C-4908-8555-F52ADD2BCCA5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4DA419A-A408-4B25-BA61-6AB7CF6E5B11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參考完整限制</a:t>
          </a:r>
        </a:p>
      </dgm:t>
    </dgm:pt>
    <dgm:pt modelId="{85EDCFC1-C4B9-4075-8DB8-2C06470A1E0C}" type="parTrans" cxnId="{0572CD48-24DD-4407-8705-E1873FF2FC07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6B9084D-3DC1-4D3F-9F1F-99981D506480}" type="sibTrans" cxnId="{0572CD48-24DD-4407-8705-E1873FF2FC07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DCCDE86-FA4E-412B-A1F1-5472258463A7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語意完整限制</a:t>
          </a:r>
        </a:p>
      </dgm:t>
    </dgm:pt>
    <dgm:pt modelId="{25E65EF0-F5D9-4C76-B169-82B9D87916A6}" type="parTrans" cxnId="{7BCABAB2-F9C7-48BC-95A5-20E138B60B9E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D783A15-3FCD-4BBC-B5D3-1A423B5C10EA}" type="sibTrans" cxnId="{7BCABAB2-F9C7-48BC-95A5-20E138B60B9E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0474912-2F98-4C49-85FF-F9A6CDC57647}" type="pres">
      <dgm:prSet presAssocID="{9FE96F77-8C03-4081-9FBD-46723A8BE84A}" presName="linear" presStyleCnt="0">
        <dgm:presLayoutVars>
          <dgm:dir/>
          <dgm:animLvl val="lvl"/>
          <dgm:resizeHandles val="exact"/>
        </dgm:presLayoutVars>
      </dgm:prSet>
      <dgm:spPr/>
    </dgm:pt>
    <dgm:pt modelId="{CD090DFC-6791-443A-BE02-7C1ADCF0DA5A}" type="pres">
      <dgm:prSet presAssocID="{B9374A80-1E83-41F8-B7D4-E306869CE75B}" presName="parentLin" presStyleCnt="0"/>
      <dgm:spPr/>
    </dgm:pt>
    <dgm:pt modelId="{C28A52BE-E2C8-408E-B650-CDB25110B250}" type="pres">
      <dgm:prSet presAssocID="{B9374A80-1E83-41F8-B7D4-E306869CE75B}" presName="parentLeftMargin" presStyleLbl="node1" presStyleIdx="0" presStyleCnt="5"/>
      <dgm:spPr/>
    </dgm:pt>
    <dgm:pt modelId="{30DE28B3-E7BB-41BD-AF0A-328BE64F040C}" type="pres">
      <dgm:prSet presAssocID="{B9374A80-1E83-41F8-B7D4-E306869CE75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209FFD0-3C9D-4F1C-B04C-BF9F9D1B54C4}" type="pres">
      <dgm:prSet presAssocID="{B9374A80-1E83-41F8-B7D4-E306869CE75B}" presName="negativeSpace" presStyleCnt="0"/>
      <dgm:spPr/>
    </dgm:pt>
    <dgm:pt modelId="{58A2C521-354F-4D53-84F6-87617668D47A}" type="pres">
      <dgm:prSet presAssocID="{B9374A80-1E83-41F8-B7D4-E306869CE75B}" presName="childText" presStyleLbl="conFgAcc1" presStyleIdx="0" presStyleCnt="5">
        <dgm:presLayoutVars>
          <dgm:bulletEnabled val="1"/>
        </dgm:presLayoutVars>
      </dgm:prSet>
      <dgm:spPr/>
    </dgm:pt>
    <dgm:pt modelId="{A36D8DEC-91B8-4403-B74E-B7F2BB9879FC}" type="pres">
      <dgm:prSet presAssocID="{95EF66BA-9C75-4DDA-9254-956251A56D9B}" presName="spaceBetweenRectangles" presStyleCnt="0"/>
      <dgm:spPr/>
    </dgm:pt>
    <dgm:pt modelId="{043FA2F0-2DA8-47F4-9EDA-D0000C8E2893}" type="pres">
      <dgm:prSet presAssocID="{A8FC0075-78FA-4D7B-8579-54DA5C0A0CC1}" presName="parentLin" presStyleCnt="0"/>
      <dgm:spPr/>
    </dgm:pt>
    <dgm:pt modelId="{B59B49DE-0237-49AB-A9AF-314B1CA821FB}" type="pres">
      <dgm:prSet presAssocID="{A8FC0075-78FA-4D7B-8579-54DA5C0A0CC1}" presName="parentLeftMargin" presStyleLbl="node1" presStyleIdx="0" presStyleCnt="5"/>
      <dgm:spPr/>
    </dgm:pt>
    <dgm:pt modelId="{BB8CCD8C-0E2F-4CBB-9673-44D4B35D2851}" type="pres">
      <dgm:prSet presAssocID="{A8FC0075-78FA-4D7B-8579-54DA5C0A0CC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E9003BD-F2FC-41F6-AE35-249701522718}" type="pres">
      <dgm:prSet presAssocID="{A8FC0075-78FA-4D7B-8579-54DA5C0A0CC1}" presName="negativeSpace" presStyleCnt="0"/>
      <dgm:spPr/>
    </dgm:pt>
    <dgm:pt modelId="{EB63801E-0A43-49C3-9B74-494BF29BDA23}" type="pres">
      <dgm:prSet presAssocID="{A8FC0075-78FA-4D7B-8579-54DA5C0A0CC1}" presName="childText" presStyleLbl="conFgAcc1" presStyleIdx="1" presStyleCnt="5">
        <dgm:presLayoutVars>
          <dgm:bulletEnabled val="1"/>
        </dgm:presLayoutVars>
      </dgm:prSet>
      <dgm:spPr/>
    </dgm:pt>
    <dgm:pt modelId="{E3FE36EA-1468-4FC3-90D3-DE694DD8D45A}" type="pres">
      <dgm:prSet presAssocID="{39D2E30A-B25A-4F6E-9A62-29B147D88B4B}" presName="spaceBetweenRectangles" presStyleCnt="0"/>
      <dgm:spPr/>
    </dgm:pt>
    <dgm:pt modelId="{37F14CEE-A5B7-4E4B-8988-A74AA1864C4D}" type="pres">
      <dgm:prSet presAssocID="{97BE4EE7-A602-42DC-8FB1-45AE2DF838EA}" presName="parentLin" presStyleCnt="0"/>
      <dgm:spPr/>
    </dgm:pt>
    <dgm:pt modelId="{A42A3079-0581-4CBC-BC2A-AA900AD89DFB}" type="pres">
      <dgm:prSet presAssocID="{97BE4EE7-A602-42DC-8FB1-45AE2DF838EA}" presName="parentLeftMargin" presStyleLbl="node1" presStyleIdx="1" presStyleCnt="5"/>
      <dgm:spPr/>
    </dgm:pt>
    <dgm:pt modelId="{D1961611-2796-41AD-A0CA-5372433A01DF}" type="pres">
      <dgm:prSet presAssocID="{97BE4EE7-A602-42DC-8FB1-45AE2DF838E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00CC912-666B-45DE-9C9F-E30542CAA750}" type="pres">
      <dgm:prSet presAssocID="{97BE4EE7-A602-42DC-8FB1-45AE2DF838EA}" presName="negativeSpace" presStyleCnt="0"/>
      <dgm:spPr/>
    </dgm:pt>
    <dgm:pt modelId="{4AFE315A-7EE1-41B5-B4A2-75F462530CDE}" type="pres">
      <dgm:prSet presAssocID="{97BE4EE7-A602-42DC-8FB1-45AE2DF838EA}" presName="childText" presStyleLbl="conFgAcc1" presStyleIdx="2" presStyleCnt="5">
        <dgm:presLayoutVars>
          <dgm:bulletEnabled val="1"/>
        </dgm:presLayoutVars>
      </dgm:prSet>
      <dgm:spPr/>
    </dgm:pt>
    <dgm:pt modelId="{8694DBD2-14BC-4974-BB78-9563CB86F50B}" type="pres">
      <dgm:prSet presAssocID="{D3D49FDD-D981-457D-B976-0201C4DD812D}" presName="spaceBetweenRectangles" presStyleCnt="0"/>
      <dgm:spPr/>
    </dgm:pt>
    <dgm:pt modelId="{3937DAF4-ECBE-4785-9E25-A52DE68F2CE6}" type="pres">
      <dgm:prSet presAssocID="{64DA419A-A408-4B25-BA61-6AB7CF6E5B11}" presName="parentLin" presStyleCnt="0"/>
      <dgm:spPr/>
    </dgm:pt>
    <dgm:pt modelId="{50CCF9BB-8C6B-4898-A42E-AA54D4DBEA38}" type="pres">
      <dgm:prSet presAssocID="{64DA419A-A408-4B25-BA61-6AB7CF6E5B11}" presName="parentLeftMargin" presStyleLbl="node1" presStyleIdx="2" presStyleCnt="5"/>
      <dgm:spPr/>
    </dgm:pt>
    <dgm:pt modelId="{43409D6B-5219-4959-A849-16C3F2A3469E}" type="pres">
      <dgm:prSet presAssocID="{64DA419A-A408-4B25-BA61-6AB7CF6E5B1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0ED0BB6-59BF-46C0-912C-9A91C67D8283}" type="pres">
      <dgm:prSet presAssocID="{64DA419A-A408-4B25-BA61-6AB7CF6E5B11}" presName="negativeSpace" presStyleCnt="0"/>
      <dgm:spPr/>
    </dgm:pt>
    <dgm:pt modelId="{3246EBF9-2D79-47EF-9D1F-780B677F065B}" type="pres">
      <dgm:prSet presAssocID="{64DA419A-A408-4B25-BA61-6AB7CF6E5B11}" presName="childText" presStyleLbl="conFgAcc1" presStyleIdx="3" presStyleCnt="5">
        <dgm:presLayoutVars>
          <dgm:bulletEnabled val="1"/>
        </dgm:presLayoutVars>
      </dgm:prSet>
      <dgm:spPr/>
    </dgm:pt>
    <dgm:pt modelId="{8314A3B8-0017-4526-B932-3A3D8D55F42E}" type="pres">
      <dgm:prSet presAssocID="{36B9084D-3DC1-4D3F-9F1F-99981D506480}" presName="spaceBetweenRectangles" presStyleCnt="0"/>
      <dgm:spPr/>
    </dgm:pt>
    <dgm:pt modelId="{B228E427-EB6D-46B3-9607-C57DA8821CB8}" type="pres">
      <dgm:prSet presAssocID="{8DCCDE86-FA4E-412B-A1F1-5472258463A7}" presName="parentLin" presStyleCnt="0"/>
      <dgm:spPr/>
    </dgm:pt>
    <dgm:pt modelId="{CF0E018A-438F-4F9B-9902-026AB212970E}" type="pres">
      <dgm:prSet presAssocID="{8DCCDE86-FA4E-412B-A1F1-5472258463A7}" presName="parentLeftMargin" presStyleLbl="node1" presStyleIdx="3" presStyleCnt="5"/>
      <dgm:spPr/>
    </dgm:pt>
    <dgm:pt modelId="{A5449588-FEC1-4E5C-95D1-EC57418DB75A}" type="pres">
      <dgm:prSet presAssocID="{8DCCDE86-FA4E-412B-A1F1-5472258463A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72AACC9-7546-45CA-BE46-82E4F426E310}" type="pres">
      <dgm:prSet presAssocID="{8DCCDE86-FA4E-412B-A1F1-5472258463A7}" presName="negativeSpace" presStyleCnt="0"/>
      <dgm:spPr/>
    </dgm:pt>
    <dgm:pt modelId="{B66FFA0E-58B5-4E4D-984A-E411ED360CB5}" type="pres">
      <dgm:prSet presAssocID="{8DCCDE86-FA4E-412B-A1F1-5472258463A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D073B15-6C34-4E6D-A963-5FAD050DA3B1}" type="presOf" srcId="{A8FC0075-78FA-4D7B-8579-54DA5C0A0CC1}" destId="{BB8CCD8C-0E2F-4CBB-9673-44D4B35D2851}" srcOrd="1" destOrd="0" presId="urn:microsoft.com/office/officeart/2005/8/layout/list1"/>
    <dgm:cxn modelId="{A1FBD417-752A-4676-B736-B0A8B99F5B9C}" type="presOf" srcId="{64DA419A-A408-4B25-BA61-6AB7CF6E5B11}" destId="{43409D6B-5219-4959-A849-16C3F2A3469E}" srcOrd="1" destOrd="0" presId="urn:microsoft.com/office/officeart/2005/8/layout/list1"/>
    <dgm:cxn modelId="{F4939B30-9983-49C9-94DF-86E941C8C81C}" srcId="{9FE96F77-8C03-4081-9FBD-46723A8BE84A}" destId="{B9374A80-1E83-41F8-B7D4-E306869CE75B}" srcOrd="0" destOrd="0" parTransId="{0A409258-3790-4D37-ADDB-9E67EB5BBE41}" sibTransId="{95EF66BA-9C75-4DDA-9254-956251A56D9B}"/>
    <dgm:cxn modelId="{96FC3038-ADC7-4A27-B383-91BFE03C675E}" type="presOf" srcId="{8DCCDE86-FA4E-412B-A1F1-5472258463A7}" destId="{CF0E018A-438F-4F9B-9902-026AB212970E}" srcOrd="0" destOrd="0" presId="urn:microsoft.com/office/officeart/2005/8/layout/list1"/>
    <dgm:cxn modelId="{0572CD48-24DD-4407-8705-E1873FF2FC07}" srcId="{9FE96F77-8C03-4081-9FBD-46723A8BE84A}" destId="{64DA419A-A408-4B25-BA61-6AB7CF6E5B11}" srcOrd="3" destOrd="0" parTransId="{85EDCFC1-C4B9-4075-8DB8-2C06470A1E0C}" sibTransId="{36B9084D-3DC1-4D3F-9F1F-99981D506480}"/>
    <dgm:cxn modelId="{48BA744D-8C02-4046-B0E6-E24B2BAE9CF2}" type="presOf" srcId="{B9374A80-1E83-41F8-B7D4-E306869CE75B}" destId="{C28A52BE-E2C8-408E-B650-CDB25110B250}" srcOrd="0" destOrd="0" presId="urn:microsoft.com/office/officeart/2005/8/layout/list1"/>
    <dgm:cxn modelId="{A1A87053-65E5-4FE6-8F50-975FA9764B1E}" type="presOf" srcId="{64DA419A-A408-4B25-BA61-6AB7CF6E5B11}" destId="{50CCF9BB-8C6B-4898-A42E-AA54D4DBEA38}" srcOrd="0" destOrd="0" presId="urn:microsoft.com/office/officeart/2005/8/layout/list1"/>
    <dgm:cxn modelId="{1783C775-DD83-4B0A-A01E-4DD30C9A4381}" type="presOf" srcId="{8DCCDE86-FA4E-412B-A1F1-5472258463A7}" destId="{A5449588-FEC1-4E5C-95D1-EC57418DB75A}" srcOrd="1" destOrd="0" presId="urn:microsoft.com/office/officeart/2005/8/layout/list1"/>
    <dgm:cxn modelId="{5070F877-2436-4DC7-911E-6F067C010972}" type="presOf" srcId="{9FE96F77-8C03-4081-9FBD-46723A8BE84A}" destId="{50474912-2F98-4C49-85FF-F9A6CDC57647}" srcOrd="0" destOrd="0" presId="urn:microsoft.com/office/officeart/2005/8/layout/list1"/>
    <dgm:cxn modelId="{4A00937A-E5DF-44BE-B0C9-1989AF36C803}" type="presOf" srcId="{97BE4EE7-A602-42DC-8FB1-45AE2DF838EA}" destId="{D1961611-2796-41AD-A0CA-5372433A01DF}" srcOrd="1" destOrd="0" presId="urn:microsoft.com/office/officeart/2005/8/layout/list1"/>
    <dgm:cxn modelId="{900A437C-7033-4A14-A3CE-5AC807B5652C}" type="presOf" srcId="{97BE4EE7-A602-42DC-8FB1-45AE2DF838EA}" destId="{A42A3079-0581-4CBC-BC2A-AA900AD89DFB}" srcOrd="0" destOrd="0" presId="urn:microsoft.com/office/officeart/2005/8/layout/list1"/>
    <dgm:cxn modelId="{B472427E-A153-4791-931F-ED7B3092FDFB}" srcId="{9FE96F77-8C03-4081-9FBD-46723A8BE84A}" destId="{A8FC0075-78FA-4D7B-8579-54DA5C0A0CC1}" srcOrd="1" destOrd="0" parTransId="{99F3A27E-E329-4036-AEB4-E44F9EB0FF4D}" sibTransId="{39D2E30A-B25A-4F6E-9A62-29B147D88B4B}"/>
    <dgm:cxn modelId="{79A1FA9B-A3D4-47FE-B0C7-E918E24774FB}" type="presOf" srcId="{B9374A80-1E83-41F8-B7D4-E306869CE75B}" destId="{30DE28B3-E7BB-41BD-AF0A-328BE64F040C}" srcOrd="1" destOrd="0" presId="urn:microsoft.com/office/officeart/2005/8/layout/list1"/>
    <dgm:cxn modelId="{075A3DA1-F5D3-4858-84A7-0B962080E92C}" type="presOf" srcId="{A8FC0075-78FA-4D7B-8579-54DA5C0A0CC1}" destId="{B59B49DE-0237-49AB-A9AF-314B1CA821FB}" srcOrd="0" destOrd="0" presId="urn:microsoft.com/office/officeart/2005/8/layout/list1"/>
    <dgm:cxn modelId="{7BCABAB2-F9C7-48BC-95A5-20E138B60B9E}" srcId="{9FE96F77-8C03-4081-9FBD-46723A8BE84A}" destId="{8DCCDE86-FA4E-412B-A1F1-5472258463A7}" srcOrd="4" destOrd="0" parTransId="{25E65EF0-F5D9-4C76-B169-82B9D87916A6}" sibTransId="{CD783A15-3FCD-4BBC-B5D3-1A423B5C10EA}"/>
    <dgm:cxn modelId="{99889FCE-AD0C-4908-8555-F52ADD2BCCA5}" srcId="{9FE96F77-8C03-4081-9FBD-46723A8BE84A}" destId="{97BE4EE7-A602-42DC-8FB1-45AE2DF838EA}" srcOrd="2" destOrd="0" parTransId="{ADA0048F-C974-48C9-B090-B8B934A278EA}" sibTransId="{D3D49FDD-D981-457D-B976-0201C4DD812D}"/>
    <dgm:cxn modelId="{6D226FF3-977C-4101-805A-D2C0C49E3CFF}" type="presParOf" srcId="{50474912-2F98-4C49-85FF-F9A6CDC57647}" destId="{CD090DFC-6791-443A-BE02-7C1ADCF0DA5A}" srcOrd="0" destOrd="0" presId="urn:microsoft.com/office/officeart/2005/8/layout/list1"/>
    <dgm:cxn modelId="{9C4E7373-CE0F-40F5-9792-6916E0126B76}" type="presParOf" srcId="{CD090DFC-6791-443A-BE02-7C1ADCF0DA5A}" destId="{C28A52BE-E2C8-408E-B650-CDB25110B250}" srcOrd="0" destOrd="0" presId="urn:microsoft.com/office/officeart/2005/8/layout/list1"/>
    <dgm:cxn modelId="{F10F4D52-2BFD-458D-899D-9BD4EA11D482}" type="presParOf" srcId="{CD090DFC-6791-443A-BE02-7C1ADCF0DA5A}" destId="{30DE28B3-E7BB-41BD-AF0A-328BE64F040C}" srcOrd="1" destOrd="0" presId="urn:microsoft.com/office/officeart/2005/8/layout/list1"/>
    <dgm:cxn modelId="{B93486C8-3912-4F18-AED7-5C2D3A234094}" type="presParOf" srcId="{50474912-2F98-4C49-85FF-F9A6CDC57647}" destId="{D209FFD0-3C9D-4F1C-B04C-BF9F9D1B54C4}" srcOrd="1" destOrd="0" presId="urn:microsoft.com/office/officeart/2005/8/layout/list1"/>
    <dgm:cxn modelId="{7653D687-14D6-4836-A58D-A52F36A78E1F}" type="presParOf" srcId="{50474912-2F98-4C49-85FF-F9A6CDC57647}" destId="{58A2C521-354F-4D53-84F6-87617668D47A}" srcOrd="2" destOrd="0" presId="urn:microsoft.com/office/officeart/2005/8/layout/list1"/>
    <dgm:cxn modelId="{BAD0D879-3266-4E18-9B6A-D87FFFCF939C}" type="presParOf" srcId="{50474912-2F98-4C49-85FF-F9A6CDC57647}" destId="{A36D8DEC-91B8-4403-B74E-B7F2BB9879FC}" srcOrd="3" destOrd="0" presId="urn:microsoft.com/office/officeart/2005/8/layout/list1"/>
    <dgm:cxn modelId="{A608E113-8C66-40F6-93C9-4805E3587A25}" type="presParOf" srcId="{50474912-2F98-4C49-85FF-F9A6CDC57647}" destId="{043FA2F0-2DA8-47F4-9EDA-D0000C8E2893}" srcOrd="4" destOrd="0" presId="urn:microsoft.com/office/officeart/2005/8/layout/list1"/>
    <dgm:cxn modelId="{E38ED1CB-85CF-4D65-91A0-1A1DAC1AF2E0}" type="presParOf" srcId="{043FA2F0-2DA8-47F4-9EDA-D0000C8E2893}" destId="{B59B49DE-0237-49AB-A9AF-314B1CA821FB}" srcOrd="0" destOrd="0" presId="urn:microsoft.com/office/officeart/2005/8/layout/list1"/>
    <dgm:cxn modelId="{C462D016-47AA-4595-A8EF-68F281BE9680}" type="presParOf" srcId="{043FA2F0-2DA8-47F4-9EDA-D0000C8E2893}" destId="{BB8CCD8C-0E2F-4CBB-9673-44D4B35D2851}" srcOrd="1" destOrd="0" presId="urn:microsoft.com/office/officeart/2005/8/layout/list1"/>
    <dgm:cxn modelId="{2B015BDB-49DC-45EB-80F7-736FA921070C}" type="presParOf" srcId="{50474912-2F98-4C49-85FF-F9A6CDC57647}" destId="{7E9003BD-F2FC-41F6-AE35-249701522718}" srcOrd="5" destOrd="0" presId="urn:microsoft.com/office/officeart/2005/8/layout/list1"/>
    <dgm:cxn modelId="{23C9A462-42E6-4549-85E6-3326D84EBA68}" type="presParOf" srcId="{50474912-2F98-4C49-85FF-F9A6CDC57647}" destId="{EB63801E-0A43-49C3-9B74-494BF29BDA23}" srcOrd="6" destOrd="0" presId="urn:microsoft.com/office/officeart/2005/8/layout/list1"/>
    <dgm:cxn modelId="{0A5A70AB-306C-4FAA-BEE5-3929F2BC8C9F}" type="presParOf" srcId="{50474912-2F98-4C49-85FF-F9A6CDC57647}" destId="{E3FE36EA-1468-4FC3-90D3-DE694DD8D45A}" srcOrd="7" destOrd="0" presId="urn:microsoft.com/office/officeart/2005/8/layout/list1"/>
    <dgm:cxn modelId="{0D3A8EA6-19DA-4CEF-8B5B-1F4B5C016B7A}" type="presParOf" srcId="{50474912-2F98-4C49-85FF-F9A6CDC57647}" destId="{37F14CEE-A5B7-4E4B-8988-A74AA1864C4D}" srcOrd="8" destOrd="0" presId="urn:microsoft.com/office/officeart/2005/8/layout/list1"/>
    <dgm:cxn modelId="{A94A83C8-6E5A-4D23-905F-53B3981D0DA6}" type="presParOf" srcId="{37F14CEE-A5B7-4E4B-8988-A74AA1864C4D}" destId="{A42A3079-0581-4CBC-BC2A-AA900AD89DFB}" srcOrd="0" destOrd="0" presId="urn:microsoft.com/office/officeart/2005/8/layout/list1"/>
    <dgm:cxn modelId="{D787F746-F760-48E3-AD54-A0F17CC1E96B}" type="presParOf" srcId="{37F14CEE-A5B7-4E4B-8988-A74AA1864C4D}" destId="{D1961611-2796-41AD-A0CA-5372433A01DF}" srcOrd="1" destOrd="0" presId="urn:microsoft.com/office/officeart/2005/8/layout/list1"/>
    <dgm:cxn modelId="{ACE9C34F-50B1-48BE-BB3B-9D2F06AD8266}" type="presParOf" srcId="{50474912-2F98-4C49-85FF-F9A6CDC57647}" destId="{500CC912-666B-45DE-9C9F-E30542CAA750}" srcOrd="9" destOrd="0" presId="urn:microsoft.com/office/officeart/2005/8/layout/list1"/>
    <dgm:cxn modelId="{99BDE653-F1DB-4520-9C70-13832CAB9E01}" type="presParOf" srcId="{50474912-2F98-4C49-85FF-F9A6CDC57647}" destId="{4AFE315A-7EE1-41B5-B4A2-75F462530CDE}" srcOrd="10" destOrd="0" presId="urn:microsoft.com/office/officeart/2005/8/layout/list1"/>
    <dgm:cxn modelId="{E24257A3-B56C-4B6E-A068-30F8A1498EBE}" type="presParOf" srcId="{50474912-2F98-4C49-85FF-F9A6CDC57647}" destId="{8694DBD2-14BC-4974-BB78-9563CB86F50B}" srcOrd="11" destOrd="0" presId="urn:microsoft.com/office/officeart/2005/8/layout/list1"/>
    <dgm:cxn modelId="{77750F22-BEF3-4C05-AA16-E6DC206C5703}" type="presParOf" srcId="{50474912-2F98-4C49-85FF-F9A6CDC57647}" destId="{3937DAF4-ECBE-4785-9E25-A52DE68F2CE6}" srcOrd="12" destOrd="0" presId="urn:microsoft.com/office/officeart/2005/8/layout/list1"/>
    <dgm:cxn modelId="{401BA77D-C8E4-450A-8DF0-7B6C5B240E30}" type="presParOf" srcId="{3937DAF4-ECBE-4785-9E25-A52DE68F2CE6}" destId="{50CCF9BB-8C6B-4898-A42E-AA54D4DBEA38}" srcOrd="0" destOrd="0" presId="urn:microsoft.com/office/officeart/2005/8/layout/list1"/>
    <dgm:cxn modelId="{044CFF9A-698E-4A4A-8C9E-9794F77B319F}" type="presParOf" srcId="{3937DAF4-ECBE-4785-9E25-A52DE68F2CE6}" destId="{43409D6B-5219-4959-A849-16C3F2A3469E}" srcOrd="1" destOrd="0" presId="urn:microsoft.com/office/officeart/2005/8/layout/list1"/>
    <dgm:cxn modelId="{88B730C9-7FA5-4215-957A-BAB060F13040}" type="presParOf" srcId="{50474912-2F98-4C49-85FF-F9A6CDC57647}" destId="{40ED0BB6-59BF-46C0-912C-9A91C67D8283}" srcOrd="13" destOrd="0" presId="urn:microsoft.com/office/officeart/2005/8/layout/list1"/>
    <dgm:cxn modelId="{1EE8B000-DAF8-4755-8EAA-0EB914322D2F}" type="presParOf" srcId="{50474912-2F98-4C49-85FF-F9A6CDC57647}" destId="{3246EBF9-2D79-47EF-9D1F-780B677F065B}" srcOrd="14" destOrd="0" presId="urn:microsoft.com/office/officeart/2005/8/layout/list1"/>
    <dgm:cxn modelId="{F0ED4CE1-6230-4B42-8046-95DC0AD3A587}" type="presParOf" srcId="{50474912-2F98-4C49-85FF-F9A6CDC57647}" destId="{8314A3B8-0017-4526-B932-3A3D8D55F42E}" srcOrd="15" destOrd="0" presId="urn:microsoft.com/office/officeart/2005/8/layout/list1"/>
    <dgm:cxn modelId="{1A02DFC4-C1F7-4963-8EAF-D6BDE550A365}" type="presParOf" srcId="{50474912-2F98-4C49-85FF-F9A6CDC57647}" destId="{B228E427-EB6D-46B3-9607-C57DA8821CB8}" srcOrd="16" destOrd="0" presId="urn:microsoft.com/office/officeart/2005/8/layout/list1"/>
    <dgm:cxn modelId="{B80CAF17-FF45-4B56-A556-7898E2DA27BC}" type="presParOf" srcId="{B228E427-EB6D-46B3-9607-C57DA8821CB8}" destId="{CF0E018A-438F-4F9B-9902-026AB212970E}" srcOrd="0" destOrd="0" presId="urn:microsoft.com/office/officeart/2005/8/layout/list1"/>
    <dgm:cxn modelId="{57ED2AB4-DE57-4CC2-A9A9-9B28615D886C}" type="presParOf" srcId="{B228E427-EB6D-46B3-9607-C57DA8821CB8}" destId="{A5449588-FEC1-4E5C-95D1-EC57418DB75A}" srcOrd="1" destOrd="0" presId="urn:microsoft.com/office/officeart/2005/8/layout/list1"/>
    <dgm:cxn modelId="{F6447584-6DB3-42ED-80CD-EA03DA31559A}" type="presParOf" srcId="{50474912-2F98-4C49-85FF-F9A6CDC57647}" destId="{D72AACC9-7546-45CA-BE46-82E4F426E310}" srcOrd="17" destOrd="0" presId="urn:microsoft.com/office/officeart/2005/8/layout/list1"/>
    <dgm:cxn modelId="{F573BDB9-E19D-4364-BA4C-536B25C503A3}" type="presParOf" srcId="{50474912-2F98-4C49-85FF-F9A6CDC57647}" destId="{B66FFA0E-58B5-4E4D-984A-E411ED360CB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601EF-BCFC-4E5D-9A29-6A827CCEAF08}">
      <dsp:nvSpPr>
        <dsp:cNvPr id="0" name=""/>
        <dsp:cNvSpPr/>
      </dsp:nvSpPr>
      <dsp:spPr>
        <a:xfrm>
          <a:off x="555902" y="0"/>
          <a:ext cx="6300232" cy="31115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2F0F9-2559-4043-B687-93D8BE0DFE30}">
      <dsp:nvSpPr>
        <dsp:cNvPr id="0" name=""/>
        <dsp:cNvSpPr/>
      </dsp:nvSpPr>
      <dsp:spPr>
        <a:xfrm>
          <a:off x="4365" y="933450"/>
          <a:ext cx="2324450" cy="124460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7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概念塑模</a:t>
          </a:r>
        </a:p>
      </dsp:txBody>
      <dsp:txXfrm>
        <a:off x="65121" y="994206"/>
        <a:ext cx="2202938" cy="1123088"/>
      </dsp:txXfrm>
    </dsp:sp>
    <dsp:sp modelId="{07D2B7FF-A5B2-4A13-B239-04A19890CAA3}">
      <dsp:nvSpPr>
        <dsp:cNvPr id="0" name=""/>
        <dsp:cNvSpPr/>
      </dsp:nvSpPr>
      <dsp:spPr>
        <a:xfrm>
          <a:off x="2543793" y="933450"/>
          <a:ext cx="2324450" cy="124460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7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邏輯塑模</a:t>
          </a:r>
        </a:p>
      </dsp:txBody>
      <dsp:txXfrm>
        <a:off x="2604549" y="994206"/>
        <a:ext cx="2202938" cy="1123088"/>
      </dsp:txXfrm>
    </dsp:sp>
    <dsp:sp modelId="{734B81CD-449E-4736-95E2-B29FDDDB050A}">
      <dsp:nvSpPr>
        <dsp:cNvPr id="0" name=""/>
        <dsp:cNvSpPr/>
      </dsp:nvSpPr>
      <dsp:spPr>
        <a:xfrm>
          <a:off x="5083222" y="933450"/>
          <a:ext cx="2324450" cy="1244600"/>
        </a:xfrm>
        <a:prstGeom prst="round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7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實體塑模</a:t>
          </a:r>
        </a:p>
      </dsp:txBody>
      <dsp:txXfrm>
        <a:off x="5143978" y="994206"/>
        <a:ext cx="2202938" cy="1123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A2C521-354F-4D53-84F6-87617668D47A}">
      <dsp:nvSpPr>
        <dsp:cNvPr id="0" name=""/>
        <dsp:cNvSpPr/>
      </dsp:nvSpPr>
      <dsp:spPr>
        <a:xfrm>
          <a:off x="0" y="35280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E28B3-E7BB-41BD-AF0A-328BE64F040C}">
      <dsp:nvSpPr>
        <dsp:cNvPr id="0" name=""/>
        <dsp:cNvSpPr/>
      </dsp:nvSpPr>
      <dsp:spPr>
        <a:xfrm>
          <a:off x="525780" y="72369"/>
          <a:ext cx="736092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9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定義域限制</a:t>
          </a:r>
        </a:p>
      </dsp:txBody>
      <dsp:txXfrm>
        <a:off x="553160" y="99749"/>
        <a:ext cx="7306160" cy="506120"/>
      </dsp:txXfrm>
    </dsp:sp>
    <dsp:sp modelId="{EB63801E-0A43-49C3-9B74-494BF29BDA23}">
      <dsp:nvSpPr>
        <dsp:cNvPr id="0" name=""/>
        <dsp:cNvSpPr/>
      </dsp:nvSpPr>
      <dsp:spPr>
        <a:xfrm>
          <a:off x="0" y="121464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CCD8C-0E2F-4CBB-9673-44D4B35D2851}">
      <dsp:nvSpPr>
        <dsp:cNvPr id="0" name=""/>
        <dsp:cNvSpPr/>
      </dsp:nvSpPr>
      <dsp:spPr>
        <a:xfrm>
          <a:off x="525780" y="934209"/>
          <a:ext cx="7360920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9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關聯鍵限制</a:t>
          </a:r>
        </a:p>
      </dsp:txBody>
      <dsp:txXfrm>
        <a:off x="553160" y="961589"/>
        <a:ext cx="7306160" cy="506120"/>
      </dsp:txXfrm>
    </dsp:sp>
    <dsp:sp modelId="{4AFE315A-7EE1-41B5-B4A2-75F462530CDE}">
      <dsp:nvSpPr>
        <dsp:cNvPr id="0" name=""/>
        <dsp:cNvSpPr/>
      </dsp:nvSpPr>
      <dsp:spPr>
        <a:xfrm>
          <a:off x="0" y="207648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961611-2796-41AD-A0CA-5372433A01DF}">
      <dsp:nvSpPr>
        <dsp:cNvPr id="0" name=""/>
        <dsp:cNvSpPr/>
      </dsp:nvSpPr>
      <dsp:spPr>
        <a:xfrm>
          <a:off x="525780" y="1796049"/>
          <a:ext cx="7360920" cy="56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9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實體完整限制</a:t>
          </a:r>
        </a:p>
      </dsp:txBody>
      <dsp:txXfrm>
        <a:off x="553160" y="1823429"/>
        <a:ext cx="7306160" cy="506120"/>
      </dsp:txXfrm>
    </dsp:sp>
    <dsp:sp modelId="{3246EBF9-2D79-47EF-9D1F-780B677F065B}">
      <dsp:nvSpPr>
        <dsp:cNvPr id="0" name=""/>
        <dsp:cNvSpPr/>
      </dsp:nvSpPr>
      <dsp:spPr>
        <a:xfrm>
          <a:off x="0" y="293832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409D6B-5219-4959-A849-16C3F2A3469E}">
      <dsp:nvSpPr>
        <dsp:cNvPr id="0" name=""/>
        <dsp:cNvSpPr/>
      </dsp:nvSpPr>
      <dsp:spPr>
        <a:xfrm>
          <a:off x="525780" y="2657889"/>
          <a:ext cx="7360920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9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參考完整限制</a:t>
          </a:r>
        </a:p>
      </dsp:txBody>
      <dsp:txXfrm>
        <a:off x="553160" y="2685269"/>
        <a:ext cx="7306160" cy="506120"/>
      </dsp:txXfrm>
    </dsp:sp>
    <dsp:sp modelId="{B66FFA0E-58B5-4E4D-984A-E411ED360CB5}">
      <dsp:nvSpPr>
        <dsp:cNvPr id="0" name=""/>
        <dsp:cNvSpPr/>
      </dsp:nvSpPr>
      <dsp:spPr>
        <a:xfrm>
          <a:off x="0" y="380016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49588-FEC1-4E5C-95D1-EC57418DB75A}">
      <dsp:nvSpPr>
        <dsp:cNvPr id="0" name=""/>
        <dsp:cNvSpPr/>
      </dsp:nvSpPr>
      <dsp:spPr>
        <a:xfrm>
          <a:off x="525780" y="3519729"/>
          <a:ext cx="7360920" cy="5608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9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語意完整限制</a:t>
          </a:r>
        </a:p>
      </dsp:txBody>
      <dsp:txXfrm>
        <a:off x="553160" y="3547109"/>
        <a:ext cx="730616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F4539-3E8C-48B3-996C-4E6253417F80}" type="datetimeFigureOut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086D4-26E0-43D0-BD82-B947BAB521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61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Transaction(</a:t>
            </a:r>
            <a:r>
              <a:rPr lang="en-US" altLang="zh-TW" u="sng" dirty="0" err="1"/>
              <a:t>tNO</a:t>
            </a:r>
            <a:r>
              <a:rPr lang="en-US" altLang="zh-TW" dirty="0"/>
              <a:t>, </a:t>
            </a:r>
            <a:r>
              <a:rPr lang="en-US" altLang="zh-TW" u="sng" dirty="0" err="1"/>
              <a:t>mID</a:t>
            </a:r>
            <a:r>
              <a:rPr lang="en-US" altLang="zh-TW" dirty="0"/>
              <a:t>, </a:t>
            </a:r>
            <a:r>
              <a:rPr lang="en-US" altLang="zh-TW" u="sng" dirty="0" err="1"/>
              <a:t>cartTime</a:t>
            </a:r>
            <a:r>
              <a:rPr lang="en-US" altLang="zh-TW" dirty="0"/>
              <a:t>, method, </a:t>
            </a:r>
            <a:r>
              <a:rPr lang="en-US" altLang="zh-TW" dirty="0" err="1"/>
              <a:t>transTime</a:t>
            </a:r>
            <a:r>
              <a:rPr lang="en-US" altLang="zh-TW" dirty="0"/>
              <a:t>, </a:t>
            </a:r>
            <a:r>
              <a:rPr lang="en-US" altLang="zh-TW" dirty="0" err="1"/>
              <a:t>bankID</a:t>
            </a:r>
            <a:r>
              <a:rPr lang="en-US" altLang="zh-TW" dirty="0"/>
              <a:t>, </a:t>
            </a:r>
            <a:r>
              <a:rPr lang="en-US" altLang="zh-TW" dirty="0" err="1"/>
              <a:t>bankName</a:t>
            </a:r>
            <a:r>
              <a:rPr lang="en-US" altLang="zh-TW" dirty="0"/>
              <a:t>, </a:t>
            </a:r>
            <a:r>
              <a:rPr lang="en-US" altLang="zh-TW" dirty="0" err="1"/>
              <a:t>cardType</a:t>
            </a:r>
            <a:r>
              <a:rPr lang="en-US" altLang="zh-TW" dirty="0"/>
              <a:t>, </a:t>
            </a:r>
            <a:r>
              <a:rPr lang="en-US" altLang="zh-TW" dirty="0" err="1"/>
              <a:t>cardID</a:t>
            </a:r>
            <a:r>
              <a:rPr lang="en-US" altLang="zh-TW" dirty="0"/>
              <a:t>, due)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Cart(</a:t>
            </a:r>
            <a:r>
              <a:rPr lang="en-US" altLang="zh-TW" u="sng" dirty="0" err="1"/>
              <a:t>mID</a:t>
            </a:r>
            <a:r>
              <a:rPr lang="en-US" altLang="zh-TW" dirty="0"/>
              <a:t>, </a:t>
            </a:r>
            <a:r>
              <a:rPr lang="en-US" altLang="zh-TW" u="sng" dirty="0" err="1"/>
              <a:t>cartTime</a:t>
            </a:r>
            <a:r>
              <a:rPr lang="en-US" altLang="zh-TW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Member(</a:t>
            </a:r>
            <a:r>
              <a:rPr lang="en-US" altLang="zh-TW" u="sng" dirty="0" err="1"/>
              <a:t>mID</a:t>
            </a:r>
            <a:r>
              <a:rPr lang="en-US" altLang="zh-TW" dirty="0"/>
              <a:t>, </a:t>
            </a:r>
            <a:r>
              <a:rPr lang="en-US" altLang="zh-TW" dirty="0" err="1"/>
              <a:t>pID</a:t>
            </a:r>
            <a:r>
              <a:rPr lang="en-US" altLang="zh-TW" dirty="0"/>
              <a:t>, name, </a:t>
            </a:r>
            <a:r>
              <a:rPr lang="en-US" altLang="zh-TW" dirty="0" err="1"/>
              <a:t>bdate</a:t>
            </a:r>
            <a:r>
              <a:rPr lang="en-US" altLang="zh-TW" dirty="0"/>
              <a:t>, phone, address, email, </a:t>
            </a:r>
            <a:r>
              <a:rPr lang="en-US" altLang="zh-TW" dirty="0" err="1"/>
              <a:t>introductor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086D4-26E0-43D0-BD82-B947BAB52183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4640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Member(</a:t>
            </a:r>
            <a:r>
              <a:rPr lang="en-US" altLang="zh-TW" u="sng" dirty="0" err="1"/>
              <a:t>mID</a:t>
            </a:r>
            <a:r>
              <a:rPr lang="en-US" altLang="zh-TW" dirty="0"/>
              <a:t>, </a:t>
            </a:r>
            <a:r>
              <a:rPr lang="en-US" altLang="zh-TW" dirty="0" err="1"/>
              <a:t>pID</a:t>
            </a:r>
            <a:r>
              <a:rPr lang="en-US" altLang="zh-TW" dirty="0"/>
              <a:t>, name, </a:t>
            </a:r>
            <a:r>
              <a:rPr lang="en-US" altLang="zh-TW" dirty="0" err="1"/>
              <a:t>bdate</a:t>
            </a:r>
            <a:r>
              <a:rPr lang="en-US" altLang="zh-TW" dirty="0"/>
              <a:t>, phone, address, email, </a:t>
            </a:r>
            <a:r>
              <a:rPr lang="en-US" altLang="zh-TW" dirty="0" err="1"/>
              <a:t>introductor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Transaction(</a:t>
            </a:r>
            <a:r>
              <a:rPr lang="en-US" altLang="zh-TW" u="sng" dirty="0" err="1"/>
              <a:t>tNO</a:t>
            </a:r>
            <a:r>
              <a:rPr lang="en-US" altLang="zh-TW" dirty="0"/>
              <a:t>, </a:t>
            </a:r>
            <a:r>
              <a:rPr lang="en-US" altLang="zh-TW" u="sng" dirty="0"/>
              <a:t>MID</a:t>
            </a:r>
            <a:r>
              <a:rPr lang="en-US" altLang="zh-TW" dirty="0"/>
              <a:t>, method, </a:t>
            </a:r>
            <a:r>
              <a:rPr lang="en-US" altLang="zh-TW" dirty="0" err="1"/>
              <a:t>transTime</a:t>
            </a:r>
            <a:r>
              <a:rPr lang="en-US" altLang="zh-TW" dirty="0"/>
              <a:t>, </a:t>
            </a:r>
            <a:r>
              <a:rPr lang="en-US" altLang="zh-TW" dirty="0" err="1"/>
              <a:t>bankID</a:t>
            </a:r>
            <a:r>
              <a:rPr lang="en-US" altLang="zh-TW" dirty="0"/>
              <a:t>, </a:t>
            </a:r>
            <a:r>
              <a:rPr lang="en-US" altLang="zh-TW" dirty="0" err="1"/>
              <a:t>bankName</a:t>
            </a:r>
            <a:r>
              <a:rPr lang="en-US" altLang="zh-TW" dirty="0"/>
              <a:t>, </a:t>
            </a:r>
            <a:r>
              <a:rPr lang="en-US" altLang="zh-TW" dirty="0" err="1"/>
              <a:t>cardType</a:t>
            </a:r>
            <a:r>
              <a:rPr lang="en-US" altLang="zh-TW" dirty="0"/>
              <a:t>, </a:t>
            </a:r>
            <a:r>
              <a:rPr lang="en-US" altLang="zh-TW" dirty="0" err="1"/>
              <a:t>cardID</a:t>
            </a:r>
            <a:r>
              <a:rPr lang="en-US" altLang="zh-TW" dirty="0"/>
              <a:t>, due)</a:t>
            </a:r>
          </a:p>
          <a:p>
            <a:endParaRPr lang="en-US" altLang="zh-TW" dirty="0"/>
          </a:p>
          <a:p>
            <a:r>
              <a:rPr lang="zh-TW" altLang="en-US" dirty="0"/>
              <a:t>客戶不一定會確認交易</a:t>
            </a:r>
            <a:endParaRPr lang="en-US" altLang="zh-TW" dirty="0"/>
          </a:p>
          <a:p>
            <a:r>
              <a:rPr lang="zh-TW" altLang="en-US" dirty="0"/>
              <a:t>客戶也可能確認多筆交易</a:t>
            </a:r>
            <a:endParaRPr lang="en-US" altLang="zh-TW" dirty="0"/>
          </a:p>
          <a:p>
            <a:r>
              <a:rPr lang="zh-TW" altLang="en-US" dirty="0"/>
              <a:t>交易一定由某個會員確認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086D4-26E0-43D0-BD82-B947BAB52183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910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/>
              <a:t>Class(</a:t>
            </a:r>
            <a:r>
              <a:rPr kumimoji="1" lang="en-US" altLang="zh-TW" u="sng"/>
              <a:t>cid</a:t>
            </a:r>
            <a:r>
              <a:rPr kumimoji="1" lang="en-US" altLang="zh-TW"/>
              <a:t>, tid semester, desp)</a:t>
            </a:r>
          </a:p>
          <a:p>
            <a:r>
              <a:rPr kumimoji="1" lang="en-US" altLang="zh-TW"/>
              <a:t>Teacher(tid, name)</a:t>
            </a:r>
          </a:p>
          <a:p>
            <a:r>
              <a:rPr kumimoji="1" lang="en-US" altLang="zh-TW"/>
              <a:t>Textbook(</a:t>
            </a:r>
            <a:r>
              <a:rPr kumimoji="1" lang="en-US" altLang="zh-TW" u="sng"/>
              <a:t>cid</a:t>
            </a:r>
            <a:r>
              <a:rPr kumimoji="1" lang="en-US" altLang="zh-TW"/>
              <a:t>, title, publisher)</a:t>
            </a:r>
          </a:p>
          <a:p>
            <a:r>
              <a:rPr kumimoji="1" lang="en-US" altLang="zh-TW"/>
              <a:t>Author(</a:t>
            </a:r>
            <a:r>
              <a:rPr kumimoji="1" lang="en-US" altLang="zh-TW" u="sng"/>
              <a:t>cid</a:t>
            </a:r>
            <a:r>
              <a:rPr kumimoji="1" lang="en-US" altLang="zh-TW"/>
              <a:t>, </a:t>
            </a:r>
            <a:r>
              <a:rPr kumimoji="1" lang="en-US" altLang="zh-TW" u="sng"/>
              <a:t>title</a:t>
            </a:r>
            <a:r>
              <a:rPr kumimoji="1" lang="en-US" altLang="zh-TW"/>
              <a:t>, name)</a:t>
            </a:r>
          </a:p>
          <a:p>
            <a:r>
              <a:rPr kumimoji="1" lang="en-US" altLang="zh-TW"/>
              <a:t>Room(</a:t>
            </a:r>
            <a:r>
              <a:rPr kumimoji="1" lang="en-US" altLang="zh-TW" u="sng"/>
              <a:t>cid, rid</a:t>
            </a:r>
            <a:r>
              <a:rPr kumimoji="1" lang="en-US" altLang="zh-TW"/>
              <a:t>, loc)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086D4-26E0-43D0-BD82-B947BAB52183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1370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/>
              <a:t>Class(</a:t>
            </a:r>
            <a:r>
              <a:rPr kumimoji="1" lang="en-US" altLang="zh-TW" u="sng"/>
              <a:t>cid</a:t>
            </a:r>
            <a:r>
              <a:rPr kumimoji="1" lang="en-US" altLang="zh-TW"/>
              <a:t>, tid semester, desp)</a:t>
            </a:r>
          </a:p>
          <a:p>
            <a:r>
              <a:rPr kumimoji="1" lang="en-US" altLang="zh-TW"/>
              <a:t>Teacher(tid, name)</a:t>
            </a:r>
          </a:p>
          <a:p>
            <a:r>
              <a:rPr kumimoji="1" lang="en-US" altLang="zh-TW"/>
              <a:t>Textbook(</a:t>
            </a:r>
            <a:r>
              <a:rPr kumimoji="1" lang="en-US" altLang="zh-TW" u="sng"/>
              <a:t>cid</a:t>
            </a:r>
            <a:r>
              <a:rPr kumimoji="1" lang="en-US" altLang="zh-TW"/>
              <a:t>, </a:t>
            </a:r>
            <a:r>
              <a:rPr kumimoji="1" lang="en-US" altLang="zh-TW" u="sng"/>
              <a:t>title</a:t>
            </a:r>
            <a:r>
              <a:rPr kumimoji="1" lang="en-US" altLang="zh-TW"/>
              <a:t>, publisher)</a:t>
            </a:r>
          </a:p>
          <a:p>
            <a:r>
              <a:rPr kumimoji="1" lang="en-US" altLang="zh-TW"/>
              <a:t>Author(</a:t>
            </a:r>
            <a:r>
              <a:rPr kumimoji="1" lang="en-US" altLang="zh-TW" u="sng"/>
              <a:t>cid</a:t>
            </a:r>
            <a:r>
              <a:rPr kumimoji="1" lang="en-US" altLang="zh-TW"/>
              <a:t>, </a:t>
            </a:r>
            <a:r>
              <a:rPr kumimoji="1" lang="en-US" altLang="zh-TW" u="sng"/>
              <a:t>title</a:t>
            </a:r>
            <a:r>
              <a:rPr kumimoji="1" lang="en-US" altLang="zh-TW"/>
              <a:t>, name)</a:t>
            </a:r>
          </a:p>
          <a:p>
            <a:r>
              <a:rPr kumimoji="1" lang="en-US" altLang="zh-TW"/>
              <a:t>Room(</a:t>
            </a:r>
            <a:r>
              <a:rPr kumimoji="1" lang="en-US" altLang="zh-TW" u="sng"/>
              <a:t>cid, rid</a:t>
            </a:r>
            <a:r>
              <a:rPr kumimoji="1" lang="en-US" altLang="zh-TW"/>
              <a:t>, loc)</a:t>
            </a:r>
            <a:endParaRPr kumimoji="1" lang="zh-TW" altLang="en-US"/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086D4-26E0-43D0-BD82-B947BAB52183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361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8578-D0EB-194F-BA35-5B1B8C9346C8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33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50228"/>
            <a:ext cx="10515600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59407"/>
            <a:ext cx="10515600" cy="471755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0" y="6496870"/>
            <a:ext cx="2743200" cy="365125"/>
          </a:xfrm>
        </p:spPr>
        <p:txBody>
          <a:bodyPr/>
          <a:lstStyle/>
          <a:p>
            <a:fld id="{53F2AB75-FAB0-544B-9CEE-6B0B0065D044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484758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448800" y="6484759"/>
            <a:ext cx="2743200" cy="365125"/>
          </a:xfrm>
        </p:spPr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88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7D52-17B3-4744-8DBF-7FF7504FBA49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967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F946-2F55-414A-8FE8-781763862449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97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76B3-74B5-B246-A5CB-164D2F72EC65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073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4CDF-0627-5C42-8967-5BF822916F73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52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10262-3A72-9E4B-B99E-7B0C2C69B20F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51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F9320-583C-F846-8202-4E7BE2AE721F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57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5A4C-8ED7-E843-AD3C-6B8928EE6653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38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D2EDC-C5E5-B941-856A-D3A57AAB79D5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5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3367-2DED-8B4D-AE1B-65AFBFE70682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15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C39B-9761-1F4E-8394-BA5D8721F2EA}" type="datetime1">
              <a:rPr lang="zh-TW" altLang="en-US" smtClean="0"/>
              <a:t>2025/10/3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57F5E-6C98-43E8-A195-AA10F6DE7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1442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0070C0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9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關聯模式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altLang="zh-TW"/>
              <a:t>Relation model</a:t>
            </a:r>
          </a:p>
          <a:p>
            <a:r>
              <a:rPr lang="en-US" altLang="zh-TW"/>
              <a:t>2025/9/30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0E514-3EC9-DA31-ECD9-5CD747CA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800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66886605"/>
              </p:ext>
            </p:extLst>
          </p:nvPr>
        </p:nvGraphicFramePr>
        <p:xfrm>
          <a:off x="2296224" y="1204889"/>
          <a:ext cx="7412038" cy="3111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流程圖: 多重文件 4"/>
          <p:cNvSpPr/>
          <p:nvPr/>
        </p:nvSpPr>
        <p:spPr>
          <a:xfrm>
            <a:off x="356287" y="2201636"/>
            <a:ext cx="1260389" cy="1118007"/>
          </a:xfrm>
          <a:prstGeom prst="flowChartMultidocumen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7"/>
          <a:srcRect b="15958"/>
          <a:stretch/>
        </p:blipFill>
        <p:spPr>
          <a:xfrm>
            <a:off x="9821633" y="1900519"/>
            <a:ext cx="2370367" cy="1515737"/>
          </a:xfrm>
          <a:prstGeom prst="rect">
            <a:avLst/>
          </a:prstGeom>
        </p:spPr>
      </p:pic>
      <p:sp>
        <p:nvSpPr>
          <p:cNvPr id="12" name="向右箭號 11"/>
          <p:cNvSpPr/>
          <p:nvPr/>
        </p:nvSpPr>
        <p:spPr>
          <a:xfrm>
            <a:off x="1727814" y="2760640"/>
            <a:ext cx="457272" cy="49427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9829728" y="2760640"/>
            <a:ext cx="457272" cy="49427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321183" y="3385415"/>
            <a:ext cx="1359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mic Sans MS" panose="030F0702030302020204" pitchFamily="66" charset="0"/>
              </a:rPr>
              <a:t>Interview</a:t>
            </a:r>
          </a:p>
          <a:p>
            <a:r>
              <a:rPr lang="en-US" altLang="zh-TW" dirty="0">
                <a:latin typeface="Comic Sans MS" panose="030F0702030302020204" pitchFamily="66" charset="0"/>
              </a:rPr>
              <a:t>Documents</a:t>
            </a:r>
            <a:endParaRPr lang="zh-TW" altLang="en-US" dirty="0">
              <a:latin typeface="Comic Sans MS" panose="030F0702030302020204" pitchFamily="66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612570" y="341625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/>
              <a:t>實體關聯模型</a:t>
            </a:r>
            <a:endParaRPr lang="en-US" altLang="zh-TW" b="1" dirty="0"/>
          </a:p>
          <a:p>
            <a:pPr algn="ctr"/>
            <a:r>
              <a:rPr lang="en-US" altLang="zh-TW" b="1" dirty="0"/>
              <a:t>ERM</a:t>
            </a:r>
            <a:endParaRPr lang="zh-TW" altLang="en-US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185686" y="3475975"/>
            <a:ext cx="1820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/>
              <a:t>關聯模式</a:t>
            </a:r>
            <a:endParaRPr lang="en-US" altLang="zh-TW" b="1" dirty="0"/>
          </a:p>
          <a:p>
            <a:pPr algn="ctr"/>
            <a:r>
              <a:rPr lang="en-US" altLang="zh-TW" b="1" dirty="0"/>
              <a:t>Relational Model</a:t>
            </a:r>
            <a:endParaRPr lang="zh-TW" altLang="en-US" b="1" dirty="0"/>
          </a:p>
        </p:txBody>
      </p:sp>
      <p:sp>
        <p:nvSpPr>
          <p:cNvPr id="26" name="圓角矩形圖說文字 25"/>
          <p:cNvSpPr/>
          <p:nvPr/>
        </p:nvSpPr>
        <p:spPr>
          <a:xfrm>
            <a:off x="5236346" y="4967361"/>
            <a:ext cx="2755641" cy="1412033"/>
          </a:xfrm>
          <a:prstGeom prst="wedgeRoundRectCallout">
            <a:avLst>
              <a:gd name="adj1" fmla="val -14738"/>
              <a:gd name="adj2" fmla="val -11239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關聯模式由英國裔</a:t>
            </a:r>
            <a:r>
              <a:rPr lang="en-US" altLang="zh-TW" dirty="0" err="1"/>
              <a:t>Codd</a:t>
            </a:r>
            <a:r>
              <a:rPr lang="zh-TW" altLang="en-US" dirty="0"/>
              <a:t>博士提出，嚴謹易懂，是</a:t>
            </a:r>
            <a:r>
              <a:rPr lang="en-US" altLang="zh-TW" dirty="0"/>
              <a:t>DBMS</a:t>
            </a:r>
            <a:r>
              <a:rPr lang="zh-TW" altLang="en-US" dirty="0"/>
              <a:t>最常用的資料模式。</a:t>
            </a:r>
            <a:r>
              <a:rPr lang="en-US" altLang="zh-TW" dirty="0" err="1"/>
              <a:t>Codd</a:t>
            </a:r>
            <a:r>
              <a:rPr lang="zh-TW" altLang="en-US" dirty="0"/>
              <a:t>於</a:t>
            </a:r>
            <a:r>
              <a:rPr lang="en-US" altLang="zh-TW" dirty="0"/>
              <a:t>1980</a:t>
            </a:r>
            <a:r>
              <a:rPr lang="zh-TW" altLang="en-US" dirty="0"/>
              <a:t>年獲頒</a:t>
            </a:r>
            <a:r>
              <a:rPr lang="en-US" altLang="zh-TW" dirty="0"/>
              <a:t>ACM Turing Award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4ADD24-171E-92B6-E30C-39BE82B2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94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關聯模式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/>
              <a:t>基本元素</a:t>
            </a:r>
            <a:r>
              <a:rPr lang="en-US" altLang="zh-TW" sz="2000" dirty="0"/>
              <a:t>:</a:t>
            </a:r>
            <a:r>
              <a:rPr lang="zh-TW" altLang="en-US" sz="2000" dirty="0"/>
              <a:t> </a:t>
            </a:r>
            <a:r>
              <a:rPr lang="zh-TW" altLang="en-US" sz="2000" dirty="0">
                <a:solidFill>
                  <a:srgbClr val="00B0F0"/>
                </a:solidFill>
              </a:rPr>
              <a:t>關聯</a:t>
            </a:r>
            <a:r>
              <a:rPr lang="en-US" altLang="zh-TW" sz="2000" dirty="0">
                <a:solidFill>
                  <a:srgbClr val="00B0F0"/>
                </a:solidFill>
              </a:rPr>
              <a:t>(relation) </a:t>
            </a:r>
            <a:r>
              <a:rPr lang="en-US" altLang="zh-TW" sz="2000" dirty="0">
                <a:sym typeface="Wingdings" panose="05000000000000000000" pitchFamily="2" charset="2"/>
              </a:rPr>
              <a:t> </a:t>
            </a:r>
            <a:r>
              <a:rPr lang="zh-TW" alt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資料表</a:t>
            </a:r>
            <a:endParaRPr lang="en-US" altLang="zh-TW" sz="20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ym typeface="Wingdings" panose="05000000000000000000" pitchFamily="2" charset="2"/>
              </a:rPr>
              <a:t>資料表</a:t>
            </a:r>
            <a:endParaRPr lang="en-US" altLang="zh-TW" sz="2000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zh-TW" altLang="en-US" dirty="0">
                <a:sym typeface="Wingdings" panose="05000000000000000000" pitchFamily="2" charset="2"/>
              </a:rPr>
              <a:t>行</a:t>
            </a:r>
            <a:r>
              <a:rPr lang="en-US" altLang="zh-TW" dirty="0">
                <a:sym typeface="Wingdings" panose="05000000000000000000" pitchFamily="2" charset="2"/>
              </a:rPr>
              <a:t>(column):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zh-TW" altLang="en-US" dirty="0">
                <a:solidFill>
                  <a:srgbClr val="00B050"/>
                </a:solidFill>
                <a:sym typeface="Wingdings" panose="05000000000000000000" pitchFamily="2" charset="2"/>
              </a:rPr>
              <a:t>屬性值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(</a:t>
            </a:r>
            <a:r>
              <a:rPr lang="en-US" altLang="zh-TW" dirty="0" err="1">
                <a:solidFill>
                  <a:srgbClr val="00B050"/>
                </a:solidFill>
                <a:sym typeface="Wingdings" panose="05000000000000000000" pitchFamily="2" charset="2"/>
              </a:rPr>
              <a:t>Atrributes</a:t>
            </a:r>
            <a:r>
              <a:rPr lang="en-US" altLang="zh-TW" dirty="0">
                <a:solidFill>
                  <a:srgbClr val="00B050"/>
                </a:solidFill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en-US" dirty="0">
                <a:sym typeface="Wingdings" panose="05000000000000000000" pitchFamily="2" charset="2"/>
              </a:rPr>
              <a:t>列</a:t>
            </a:r>
            <a:r>
              <a:rPr lang="en-US" altLang="zh-TW" dirty="0">
                <a:sym typeface="Wingdings" panose="05000000000000000000" pitchFamily="2" charset="2"/>
              </a:rPr>
              <a:t>(Tuple): </a:t>
            </a:r>
            <a:r>
              <a:rPr lang="zh-TW" altLang="en-US" dirty="0">
                <a:sym typeface="Wingdings" panose="05000000000000000000" pitchFamily="2" charset="2"/>
              </a:rPr>
              <a:t>描述真實世界中一個實體或關係的</a:t>
            </a:r>
            <a:r>
              <a:rPr lang="zh-TW" altLang="en-US">
                <a:sym typeface="Wingdings" panose="05000000000000000000" pitchFamily="2" charset="2"/>
              </a:rPr>
              <a:t>屬性值 </a:t>
            </a:r>
            <a:r>
              <a:rPr lang="en-US" altLang="zh-TW">
                <a:sym typeface="Wingdings" panose="05000000000000000000" pitchFamily="2" charset="2"/>
              </a:rPr>
              <a:t>(</a:t>
            </a:r>
            <a:r>
              <a:rPr lang="zh-TW" altLang="en-US">
                <a:sym typeface="Wingdings" panose="05000000000000000000" pitchFamily="2" charset="2"/>
              </a:rPr>
              <a:t>一筆紀錄</a:t>
            </a:r>
            <a:r>
              <a:rPr lang="en-US" altLang="zh-TW">
                <a:sym typeface="Wingdings" panose="05000000000000000000" pitchFamily="2" charset="2"/>
              </a:rPr>
              <a:t>)</a:t>
            </a:r>
            <a:endParaRPr lang="en-US" altLang="zh-TW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ym typeface="Wingdings" panose="05000000000000000000" pitchFamily="2" charset="2"/>
              </a:rPr>
              <a:t>關聯定義</a:t>
            </a:r>
            <a:r>
              <a:rPr lang="en-US" altLang="zh-TW" sz="2000" dirty="0">
                <a:sym typeface="Wingdings" panose="05000000000000000000" pitchFamily="2" charset="2"/>
              </a:rPr>
              <a:t>:</a:t>
            </a:r>
            <a:r>
              <a:rPr lang="zh-TW" altLang="en-US" sz="2000" dirty="0">
                <a:sym typeface="Wingdings" panose="05000000000000000000" pitchFamily="2" charset="2"/>
              </a:rPr>
              <a:t> </a:t>
            </a:r>
            <a:r>
              <a:rPr lang="zh-TW" alt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關聯綱目</a:t>
            </a:r>
            <a:r>
              <a:rPr lang="en-US" altLang="zh-TW" sz="2000" dirty="0">
                <a:solidFill>
                  <a:srgbClr val="C00000"/>
                </a:solidFill>
                <a:sym typeface="Wingdings" panose="05000000000000000000" pitchFamily="2" charset="2"/>
              </a:rPr>
              <a:t>(relation schema)</a:t>
            </a:r>
          </a:p>
          <a:p>
            <a:pPr lvl="1">
              <a:lnSpc>
                <a:spcPct val="150000"/>
              </a:lnSpc>
            </a:pPr>
            <a:r>
              <a:rPr lang="zh-TW" altLang="en-US" dirty="0">
                <a:sym typeface="Wingdings" panose="05000000000000000000" pitchFamily="2" charset="2"/>
              </a:rPr>
              <a:t>關聯名稱、關聯屬性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zh-TW" altLang="en-US" dirty="0">
                <a:sym typeface="Wingdings" panose="05000000000000000000" pitchFamily="2" charset="2"/>
              </a:rPr>
              <a:t>表示法</a:t>
            </a:r>
            <a:r>
              <a:rPr lang="en-US" altLang="zh-TW" dirty="0">
                <a:sym typeface="Wingdings" panose="05000000000000000000" pitchFamily="2" charset="2"/>
              </a:rPr>
              <a:t>: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sym typeface="Wingdings" panose="05000000000000000000" pitchFamily="2" charset="2"/>
              </a:rPr>
              <a:t>R(A</a:t>
            </a:r>
            <a:r>
              <a:rPr lang="en-US" altLang="zh-TW" b="1" baseline="-25000" dirty="0">
                <a:solidFill>
                  <a:srgbClr val="C00000"/>
                </a:solidFill>
                <a:sym typeface="Wingdings" panose="05000000000000000000" pitchFamily="2" charset="2"/>
              </a:rPr>
              <a:t>1</a:t>
            </a:r>
            <a:r>
              <a:rPr lang="en-US" altLang="zh-TW" b="1" dirty="0">
                <a:solidFill>
                  <a:srgbClr val="C00000"/>
                </a:solidFill>
                <a:sym typeface="Wingdings" panose="05000000000000000000" pitchFamily="2" charset="2"/>
              </a:rPr>
              <a:t>, A</a:t>
            </a:r>
            <a:r>
              <a:rPr lang="en-US" altLang="zh-TW" b="1" baseline="-25000" dirty="0">
                <a:solidFill>
                  <a:srgbClr val="C00000"/>
                </a:solidFill>
                <a:sym typeface="Wingdings" panose="05000000000000000000" pitchFamily="2" charset="2"/>
              </a:rPr>
              <a:t>2</a:t>
            </a:r>
            <a:r>
              <a:rPr lang="en-US" altLang="zh-TW" b="1" dirty="0">
                <a:solidFill>
                  <a:srgbClr val="C00000"/>
                </a:solidFill>
                <a:sym typeface="Wingdings" panose="05000000000000000000" pitchFamily="2" charset="2"/>
              </a:rPr>
              <a:t>, …, A</a:t>
            </a:r>
            <a:r>
              <a:rPr lang="en-US" altLang="zh-TW" b="1" baseline="-25000" dirty="0">
                <a:solidFill>
                  <a:srgbClr val="C00000"/>
                </a:solidFill>
                <a:sym typeface="Wingdings" panose="05000000000000000000" pitchFamily="2" charset="2"/>
              </a:rPr>
              <a:t>n</a:t>
            </a:r>
            <a:r>
              <a:rPr lang="en-US" altLang="zh-TW" b="1" dirty="0">
                <a:solidFill>
                  <a:srgbClr val="C00000"/>
                </a:solidFill>
                <a:sym typeface="Wingdings" panose="05000000000000000000" pitchFamily="2" charset="2"/>
              </a:rPr>
              <a:t>)</a:t>
            </a:r>
          </a:p>
          <a:p>
            <a:pPr lvl="2">
              <a:lnSpc>
                <a:spcPct val="100000"/>
              </a:lnSpc>
            </a:pPr>
            <a:r>
              <a:rPr lang="en-US" altLang="zh-TW" sz="2000" dirty="0">
                <a:sym typeface="Wingdings" panose="05000000000000000000" pitchFamily="2" charset="2"/>
              </a:rPr>
              <a:t>R: </a:t>
            </a:r>
            <a:r>
              <a:rPr lang="zh-TW" altLang="en-US" sz="2000" dirty="0">
                <a:sym typeface="Wingdings" panose="05000000000000000000" pitchFamily="2" charset="2"/>
              </a:rPr>
              <a:t>關聯名稱</a:t>
            </a:r>
            <a:endParaRPr lang="en-US" altLang="zh-TW" sz="2000" dirty="0"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</a:pPr>
            <a:r>
              <a:rPr lang="en-US" altLang="zh-TW" sz="2000" dirty="0">
                <a:sym typeface="Wingdings" panose="05000000000000000000" pitchFamily="2" charset="2"/>
              </a:rPr>
              <a:t>A</a:t>
            </a:r>
            <a:r>
              <a:rPr lang="en-US" altLang="zh-TW" sz="2000" baseline="-25000" dirty="0">
                <a:sym typeface="Wingdings" panose="05000000000000000000" pitchFamily="2" charset="2"/>
              </a:rPr>
              <a:t>1</a:t>
            </a:r>
            <a:r>
              <a:rPr lang="en-US" altLang="zh-TW" sz="2000" dirty="0">
                <a:sym typeface="Wingdings" panose="05000000000000000000" pitchFamily="2" charset="2"/>
              </a:rPr>
              <a:t>, A</a:t>
            </a:r>
            <a:r>
              <a:rPr lang="en-US" altLang="zh-TW" sz="2000" baseline="-25000" dirty="0">
                <a:sym typeface="Wingdings" panose="05000000000000000000" pitchFamily="2" charset="2"/>
              </a:rPr>
              <a:t>2</a:t>
            </a:r>
            <a:r>
              <a:rPr lang="en-US" altLang="zh-TW" sz="2000" dirty="0">
                <a:sym typeface="Wingdings" panose="05000000000000000000" pitchFamily="2" charset="2"/>
              </a:rPr>
              <a:t>, …, A</a:t>
            </a:r>
            <a:r>
              <a:rPr lang="en-US" altLang="zh-TW" sz="2000" baseline="-25000" dirty="0">
                <a:sym typeface="Wingdings" panose="05000000000000000000" pitchFamily="2" charset="2"/>
              </a:rPr>
              <a:t>n</a:t>
            </a:r>
            <a:r>
              <a:rPr lang="en-US" altLang="zh-TW" sz="2000" dirty="0">
                <a:sym typeface="Wingdings" panose="05000000000000000000" pitchFamily="2" charset="2"/>
              </a:rPr>
              <a:t>: n</a:t>
            </a:r>
            <a:r>
              <a:rPr lang="zh-TW" altLang="en-US" sz="2000" dirty="0">
                <a:sym typeface="Wingdings" panose="05000000000000000000" pitchFamily="2" charset="2"/>
              </a:rPr>
              <a:t>個屬性</a:t>
            </a:r>
            <a:endParaRPr lang="en-US" altLang="zh-TW" sz="20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7929153-04CF-3A30-6A6C-72D06ED4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227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2D3D298-A9E5-4078-EE8F-C03A37B2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6C6A81-478E-0870-B6D9-0DB12C74C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069650"/>
            <a:ext cx="10950288" cy="537158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622FA7A-473E-38CC-4FFF-68C972AA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682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  <a:ea typeface="微軟正黑體" pitchFamily="34" charset="-120"/>
              </a:rPr>
              <a:t>關聯模式的定義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TW" altLang="en-US" sz="2400" dirty="0"/>
              <a:t>一個資料庫由數個</a:t>
            </a:r>
            <a:r>
              <a:rPr lang="zh-TW" altLang="en-US" sz="2400" b="1" dirty="0">
                <a:solidFill>
                  <a:srgbClr val="C00000"/>
                </a:solidFill>
              </a:rPr>
              <a:t>關聯</a:t>
            </a:r>
            <a:r>
              <a:rPr lang="zh-TW" altLang="en-US" sz="2400" dirty="0"/>
              <a:t>所成的集合</a:t>
            </a:r>
          </a:p>
          <a:p>
            <a:pPr>
              <a:lnSpc>
                <a:spcPct val="100000"/>
              </a:lnSpc>
            </a:pPr>
            <a:r>
              <a:rPr lang="zh-TW" altLang="en-US" sz="2400" dirty="0"/>
              <a:t>一個</a:t>
            </a:r>
            <a:r>
              <a:rPr lang="zh-TW" altLang="en-US" sz="2400" b="1" u="sng" dirty="0">
                <a:solidFill>
                  <a:srgbClr val="C00000"/>
                </a:solidFill>
              </a:rPr>
              <a:t>資料庫綱目</a:t>
            </a:r>
            <a:r>
              <a:rPr lang="zh-TW" altLang="en-US" sz="2400" dirty="0"/>
              <a:t>由數個</a:t>
            </a:r>
            <a:r>
              <a:rPr lang="zh-TW" altLang="en-US" sz="2400" u="sng" dirty="0"/>
              <a:t>關聯綱目</a:t>
            </a:r>
            <a:r>
              <a:rPr lang="zh-TW" altLang="en-US" sz="2400" dirty="0"/>
              <a:t>組成</a:t>
            </a:r>
          </a:p>
          <a:p>
            <a:pPr>
              <a:lnSpc>
                <a:spcPct val="100000"/>
              </a:lnSpc>
            </a:pPr>
            <a:r>
              <a:rPr lang="zh-TW" altLang="en-US" sz="2400" dirty="0"/>
              <a:t>一個關聯必須有一個</a:t>
            </a:r>
            <a:r>
              <a:rPr lang="zh-TW" altLang="en-US" sz="2400" dirty="0">
                <a:solidFill>
                  <a:srgbClr val="C00000"/>
                </a:solidFill>
              </a:rPr>
              <a:t>關聯綱目</a:t>
            </a:r>
            <a:endParaRPr lang="en-US" altLang="zh-TW" sz="24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/>
              <a:t>一個關聯綱目包括一個</a:t>
            </a:r>
            <a:r>
              <a:rPr lang="zh-TW" altLang="en-US" sz="2400" u="sng" dirty="0">
                <a:solidFill>
                  <a:srgbClr val="00B0F0"/>
                </a:solidFill>
              </a:rPr>
              <a:t>關聯名稱</a:t>
            </a:r>
            <a:r>
              <a:rPr lang="zh-TW" altLang="en-US" sz="2400" dirty="0"/>
              <a:t>和數個</a:t>
            </a:r>
            <a:r>
              <a:rPr lang="zh-TW" altLang="en-US" sz="2400" u="sng" dirty="0">
                <a:solidFill>
                  <a:srgbClr val="00B0F0"/>
                </a:solidFill>
              </a:rPr>
              <a:t>屬性</a:t>
            </a:r>
            <a:r>
              <a:rPr lang="zh-TW" altLang="en-US" sz="2400" dirty="0"/>
              <a:t>的定義</a:t>
            </a:r>
          </a:p>
          <a:p>
            <a:pPr>
              <a:lnSpc>
                <a:spcPct val="100000"/>
              </a:lnSpc>
            </a:pPr>
            <a:r>
              <a:rPr lang="zh-TW" altLang="en-US" sz="2400" dirty="0"/>
              <a:t>一個屬性包括一個</a:t>
            </a:r>
            <a:r>
              <a:rPr lang="zh-TW" altLang="en-US" sz="2400" u="sng" dirty="0"/>
              <a:t>屬性名稱</a:t>
            </a:r>
            <a:r>
              <a:rPr lang="zh-TW" altLang="en-US" sz="2400" dirty="0"/>
              <a:t>和一個</a:t>
            </a:r>
            <a:r>
              <a:rPr lang="zh-TW" altLang="en-US" sz="2400" u="sng" dirty="0"/>
              <a:t>定義域</a:t>
            </a:r>
          </a:p>
          <a:p>
            <a:pPr>
              <a:lnSpc>
                <a:spcPct val="100000"/>
              </a:lnSpc>
            </a:pPr>
            <a:r>
              <a:rPr lang="zh-TW" altLang="en-US" sz="2400" dirty="0"/>
              <a:t>一個關聯由</a:t>
            </a:r>
            <a:r>
              <a:rPr lang="zh-TW" altLang="en-US" sz="2400" dirty="0">
                <a:solidFill>
                  <a:srgbClr val="00B0F0"/>
                </a:solidFill>
              </a:rPr>
              <a:t>數個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C00000"/>
                </a:solidFill>
              </a:rPr>
              <a:t>n-</a:t>
            </a:r>
            <a:r>
              <a:rPr lang="zh-TW" altLang="en-US" sz="2400" dirty="0">
                <a:solidFill>
                  <a:srgbClr val="C00000"/>
                </a:solidFill>
              </a:rPr>
              <a:t>序列值</a:t>
            </a:r>
            <a:r>
              <a:rPr lang="zh-TW" altLang="en-US" sz="2400" dirty="0"/>
              <a:t>（</a:t>
            </a:r>
            <a:r>
              <a:rPr lang="en-US" altLang="zh-TW" sz="2400" dirty="0"/>
              <a:t>n-tuple</a:t>
            </a:r>
            <a:r>
              <a:rPr lang="zh-TW" altLang="en-US" sz="2400" dirty="0"/>
              <a:t>）所成的集合</a:t>
            </a:r>
            <a:r>
              <a:rPr lang="en-US" altLang="zh-TW" sz="2400" dirty="0"/>
              <a:t>, n </a:t>
            </a:r>
            <a:r>
              <a:rPr lang="zh-TW" altLang="en-US" sz="2400" dirty="0"/>
              <a:t>為關聯綱目的屬性個數</a:t>
            </a:r>
          </a:p>
          <a:p>
            <a:pPr>
              <a:lnSpc>
                <a:spcPct val="100000"/>
              </a:lnSpc>
            </a:pPr>
            <a:r>
              <a:rPr lang="zh-TW" altLang="en-US" sz="2400" dirty="0"/>
              <a:t>一筆序列值記載一串</a:t>
            </a:r>
            <a:r>
              <a:rPr lang="zh-TW" altLang="en-US" sz="2400" b="1" dirty="0">
                <a:solidFill>
                  <a:srgbClr val="C00000"/>
                </a:solidFill>
              </a:rPr>
              <a:t>屬性值</a:t>
            </a:r>
          </a:p>
          <a:p>
            <a:pPr>
              <a:lnSpc>
                <a:spcPct val="100000"/>
              </a:lnSpc>
            </a:pPr>
            <a:r>
              <a:rPr lang="zh-TW" altLang="en-US" sz="2400" dirty="0"/>
              <a:t>每一個屬性值都是簡單且單值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5483AC0-044B-B5DB-470E-3175C5A20127}"/>
              </a:ext>
            </a:extLst>
          </p:cNvPr>
          <p:cNvSpPr txBox="1"/>
          <p:nvPr/>
        </p:nvSpPr>
        <p:spPr>
          <a:xfrm>
            <a:off x="7817224" y="1375791"/>
            <a:ext cx="28600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200" b="1" dirty="0">
                <a:highlight>
                  <a:srgbClr val="FFFF00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關聯 ≋ 資料表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29A3CE-D33C-2A93-39E1-2659723E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099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113627"/>
            <a:ext cx="6362700" cy="6645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490702" y="482600"/>
            <a:ext cx="553998" cy="347787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線上購物系統資料庫綱目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0798FEE-2392-E22A-E532-7D0197D64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001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  <a:ea typeface="微軟正黑體" pitchFamily="34" charset="-120"/>
              </a:rPr>
              <a:t>關聯模式的定義</a:t>
            </a:r>
            <a:r>
              <a:rPr lang="en-US" altLang="zh-TW" spc="600" dirty="0">
                <a:latin typeface="微軟正黑體" pitchFamily="34" charset="-120"/>
                <a:ea typeface="微軟正黑體" pitchFamily="34" charset="-120"/>
              </a:rPr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在一個關聯中，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序列值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是沒有順序的</a:t>
            </a:r>
            <a:endParaRPr lang="en-US" altLang="zh-TW" sz="2400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在一個關聯中，</a:t>
            </a:r>
            <a:r>
              <a:rPr lang="zh-TW" altLang="en-US" sz="2400" u="sng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兩筆序列值不可一模一樣</a:t>
            </a:r>
            <a:r>
              <a:rPr lang="zh-TW" altLang="en-US" u="sng" dirty="0">
                <a:solidFill>
                  <a:srgbClr val="C00000"/>
                </a:solidFill>
                <a:latin typeface="微軟正黑體" panose="020B0604030504040204" pitchFamily="34" charset="-120"/>
              </a:rPr>
              <a:t>（重複）</a:t>
            </a:r>
            <a:endParaRPr lang="en-US" altLang="zh-TW" sz="2400" u="sng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一筆序列值中的</a:t>
            </a:r>
            <a:r>
              <a:rPr lang="zh-TW" altLang="en-US" sz="2400" u="sng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屬性值</a:t>
            </a: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是有順序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依關聯綱目定義時的屬性順序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</a:p>
          <a:p>
            <a:pPr lvl="1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只要能對應序列值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(tuple)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中的值和它們相對應的屬性，次序並不重要</a:t>
            </a:r>
          </a:p>
          <a:p>
            <a:pPr>
              <a:lnSpc>
                <a:spcPct val="150000"/>
              </a:lnSpc>
            </a:pPr>
            <a:r>
              <a:rPr lang="zh-TW" altLang="en-US" sz="2400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複合與多值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的屬性不能出現在關聯中</a:t>
            </a:r>
          </a:p>
          <a:p>
            <a:pPr>
              <a:lnSpc>
                <a:spcPct val="150000"/>
              </a:lnSpc>
            </a:pPr>
            <a:endParaRPr lang="zh-TW" altLang="en-US" sz="2400" dirty="0"/>
          </a:p>
        </p:txBody>
      </p:sp>
      <p:sp>
        <p:nvSpPr>
          <p:cNvPr id="4" name="爆炸 2 3"/>
          <p:cNvSpPr/>
          <p:nvPr/>
        </p:nvSpPr>
        <p:spPr>
          <a:xfrm>
            <a:off x="6096000" y="3825380"/>
            <a:ext cx="5371750" cy="2982392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清松手寫體3" panose="00000500000000000000" pitchFamily="2" charset="-120"/>
                <a:ea typeface="清松手寫體3" panose="00000500000000000000" pitchFamily="2" charset="-120"/>
              </a:rPr>
              <a:t>集合在數學上的定義表示集合中的元素沒有順序，對於關聯</a:t>
            </a:r>
            <a:r>
              <a:rPr lang="en-US" altLang="zh-TW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清松手寫體3" panose="00000500000000000000" pitchFamily="2" charset="-120"/>
                <a:ea typeface="清松手寫體3" panose="00000500000000000000" pitchFamily="2" charset="-120"/>
              </a:rPr>
              <a:t>(</a:t>
            </a:r>
            <a:r>
              <a:rPr lang="zh-TW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清松手寫體3" panose="00000500000000000000" pitchFamily="2" charset="-120"/>
                <a:ea typeface="清松手寫體3" panose="00000500000000000000" pitchFamily="2" charset="-120"/>
              </a:rPr>
              <a:t>資料表</a:t>
            </a:r>
            <a:r>
              <a:rPr lang="en-US" altLang="zh-TW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清松手寫體3" panose="00000500000000000000" pitchFamily="2" charset="-120"/>
                <a:ea typeface="清松手寫體3" panose="00000500000000000000" pitchFamily="2" charset="-120"/>
              </a:rPr>
              <a:t>)</a:t>
            </a:r>
            <a:r>
              <a:rPr lang="zh-TW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清松手寫體3" panose="00000500000000000000" pitchFamily="2" charset="-120"/>
                <a:ea typeface="清松手寫體3" panose="00000500000000000000" pitchFamily="2" charset="-120"/>
              </a:rPr>
              <a:t>中的序列值，其順序是不重要的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D50879-7465-D630-0BC8-05F20680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29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資料庫一致性</a:t>
            </a: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序列值必須滿足某些</a:t>
            </a:r>
            <a:r>
              <a:rPr lang="zh-TW" altLang="en-US" b="1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限制（</a:t>
            </a:r>
            <a:r>
              <a:rPr lang="en-US" altLang="zh-TW" b="1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constraint</a:t>
            </a:r>
            <a:r>
              <a:rPr lang="zh-TW" altLang="en-US" b="1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）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。如果一資料庫的所有關聯裡的序列值都滿足這些限制，我們就稱該資料庫是「一致的」</a:t>
            </a:r>
            <a:endParaRPr lang="en-US" altLang="zh-TW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98DC2A-864A-803E-DBEA-68176372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56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關聯模式的限制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06806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008BEF7-4720-3207-0345-4E6FE907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0100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pPr lvl="0"/>
            <a:r>
              <a:rPr lang="zh-TW" altLang="en-US" dirty="0"/>
              <a:t>定義域限制</a:t>
            </a:r>
            <a:r>
              <a:rPr lang="en-US" altLang="zh-TW" dirty="0"/>
              <a:t>(Domain constraint)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每一個</a:t>
            </a:r>
            <a:r>
              <a:rPr lang="zh-TW" altLang="en-US" dirty="0">
                <a:solidFill>
                  <a:srgbClr val="00B0F0"/>
                </a:solidFill>
              </a:rPr>
              <a:t>屬性值</a:t>
            </a:r>
            <a:r>
              <a:rPr lang="zh-TW" altLang="en-US" dirty="0"/>
              <a:t>必須是該屬性定義域的「</a:t>
            </a:r>
            <a:r>
              <a:rPr lang="zh-TW" altLang="en-US" dirty="0">
                <a:solidFill>
                  <a:srgbClr val="7030A0"/>
                </a:solidFill>
              </a:rPr>
              <a:t>單一</a:t>
            </a:r>
            <a:r>
              <a:rPr lang="zh-TW" altLang="en-US">
                <a:solidFill>
                  <a:srgbClr val="7030A0"/>
                </a:solidFill>
              </a:rPr>
              <a:t>值</a:t>
            </a:r>
            <a:r>
              <a:rPr lang="zh-TW" altLang="en-US"/>
              <a:t>」</a:t>
            </a:r>
            <a:endParaRPr lang="en-US" altLang="zh-TW"/>
          </a:p>
          <a:p>
            <a:pPr lvl="1">
              <a:lnSpc>
                <a:spcPct val="150000"/>
              </a:lnSpc>
            </a:pPr>
            <a:r>
              <a:rPr lang="zh-TW" altLang="en-US"/>
              <a:t>不能出現又</a:t>
            </a:r>
            <a:r>
              <a:rPr lang="en-US" altLang="zh-TW"/>
              <a:t>A</a:t>
            </a:r>
            <a:r>
              <a:rPr lang="zh-TW" altLang="en-US"/>
              <a:t>又</a:t>
            </a:r>
            <a:r>
              <a:rPr lang="en-US" altLang="zh-TW"/>
              <a:t>B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例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PID</a:t>
            </a:r>
            <a:r>
              <a:rPr lang="zh-TW" altLang="en-US" dirty="0"/>
              <a:t>為人員編號，定義為「</a:t>
            </a:r>
            <a:r>
              <a:rPr lang="en-US" altLang="zh-TW" dirty="0"/>
              <a:t>A999999999</a:t>
            </a:r>
            <a:r>
              <a:rPr lang="zh-TW" altLang="en-US" dirty="0"/>
              <a:t>」，其中第一個字元為</a:t>
            </a:r>
            <a:r>
              <a:rPr lang="zh-TW" altLang="en-US" dirty="0">
                <a:solidFill>
                  <a:srgbClr val="C00000"/>
                </a:solidFill>
              </a:rPr>
              <a:t>大寫字母</a:t>
            </a:r>
            <a:r>
              <a:rPr lang="zh-TW" altLang="en-US" dirty="0"/>
              <a:t>，後有</a:t>
            </a:r>
            <a:r>
              <a:rPr lang="en-US" altLang="zh-TW" dirty="0">
                <a:solidFill>
                  <a:srgbClr val="C00000"/>
                </a:solidFill>
              </a:rPr>
              <a:t>9</a:t>
            </a:r>
            <a:r>
              <a:rPr lang="zh-TW" altLang="en-US" dirty="0">
                <a:solidFill>
                  <a:srgbClr val="C00000"/>
                </a:solidFill>
              </a:rPr>
              <a:t>個數字</a:t>
            </a:r>
            <a:endParaRPr lang="en-US" altLang="zh-TW" dirty="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altLang="zh-TW" dirty="0"/>
              <a:t>D123454321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>
                <a:sym typeface="Wingdings" panose="05000000000000000000" pitchFamily="2" charset="2"/>
              </a:rPr>
              <a:t>正確</a:t>
            </a:r>
            <a:endParaRPr lang="en-US" altLang="zh-TW" dirty="0"/>
          </a:p>
          <a:p>
            <a:pPr lvl="2">
              <a:lnSpc>
                <a:spcPct val="150000"/>
              </a:lnSpc>
            </a:pPr>
            <a:r>
              <a:rPr lang="en-US" altLang="zh-TW" dirty="0"/>
              <a:t>a123456321</a:t>
            </a:r>
          </a:p>
          <a:p>
            <a:pPr lvl="2">
              <a:lnSpc>
                <a:spcPct val="150000"/>
              </a:lnSpc>
            </a:pPr>
            <a:r>
              <a:rPr lang="en-US" altLang="zh-TW" dirty="0"/>
              <a:t>H123x56789</a:t>
            </a:r>
          </a:p>
          <a:p>
            <a:pPr lvl="2">
              <a:lnSpc>
                <a:spcPct val="150000"/>
              </a:lnSpc>
            </a:pPr>
            <a:r>
              <a:rPr lang="en-US" altLang="zh-TW" dirty="0"/>
              <a:t>B123_45678</a:t>
            </a:r>
            <a:endParaRPr lang="zh-TW" altLang="en-US" dirty="0"/>
          </a:p>
        </p:txBody>
      </p:sp>
      <p:sp>
        <p:nvSpPr>
          <p:cNvPr id="4" name="右大括弧 3"/>
          <p:cNvSpPr/>
          <p:nvPr/>
        </p:nvSpPr>
        <p:spPr>
          <a:xfrm>
            <a:off x="3284043" y="4031115"/>
            <a:ext cx="442381" cy="1503876"/>
          </a:xfrm>
          <a:prstGeom prst="rightBrace">
            <a:avLst>
              <a:gd name="adj1" fmla="val 8333"/>
              <a:gd name="adj2" fmla="val 49296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866012" y="458299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/>
              <a:t>錯誤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9BFCC7-F267-55DC-4133-87146482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26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A32EF3-863F-4978-B18D-08155FAE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9321D0A-789A-426E-BE7F-8CC673175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5560" y="-2593"/>
            <a:ext cx="12858262" cy="686059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E33B032-02ED-45A6-A6F6-07360B80B9BA}"/>
              </a:ext>
            </a:extLst>
          </p:cNvPr>
          <p:cNvSpPr txBox="1"/>
          <p:nvPr/>
        </p:nvSpPr>
        <p:spPr>
          <a:xfrm flipH="1">
            <a:off x="5616008" y="3548543"/>
            <a:ext cx="1976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>
                <a:solidFill>
                  <a:srgbClr val="C00000"/>
                </a:solidFill>
              </a:rPr>
              <a:t>Keys in DB</a:t>
            </a:r>
            <a:endParaRPr lang="zh-TW" altLang="en-US" sz="28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98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B3B41E-C1E8-452C-BB64-C061DBEB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資料庫鍵值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E87887-EDDE-41DC-B644-97073BF7E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/>
              <a:t>超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級</a:t>
            </a:r>
            <a:r>
              <a:rPr lang="zh-TW" altLang="en-US" sz="2400"/>
              <a:t>鍵 </a:t>
            </a:r>
            <a:r>
              <a:rPr lang="en-US" altLang="zh-TW" sz="2400" dirty="0"/>
              <a:t>(super key)</a:t>
            </a:r>
          </a:p>
          <a:p>
            <a:pPr lvl="1"/>
            <a:r>
              <a:rPr lang="zh-TW" altLang="en-US" sz="2000" dirty="0"/>
              <a:t>若有二個或二個以上的欄位組合起來，</a:t>
            </a:r>
            <a:r>
              <a:rPr lang="zh-TW" altLang="en-US" sz="2000" b="1" dirty="0">
                <a:solidFill>
                  <a:srgbClr val="C00000"/>
                </a:solidFill>
              </a:rPr>
              <a:t>作為唯一識別資料的屬性</a:t>
            </a:r>
            <a:r>
              <a:rPr lang="zh-TW" altLang="en-US" sz="2000" dirty="0"/>
              <a:t>（關鍵屬性）</a:t>
            </a:r>
            <a:endParaRPr lang="en-US" altLang="zh-TW" sz="2000" dirty="0"/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關聯鍵是該關聯的一個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最小超級鍵</a:t>
            </a:r>
            <a:endParaRPr lang="en-US" altLang="zh-TW" sz="24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/>
              <a:t>主鍵 </a:t>
            </a:r>
            <a:r>
              <a:rPr lang="en-US" altLang="zh-TW" sz="2400" dirty="0"/>
              <a:t>(primary key)</a:t>
            </a:r>
          </a:p>
          <a:p>
            <a:pPr lvl="1"/>
            <a:r>
              <a:rPr lang="zh-TW" altLang="en-US" sz="2000" dirty="0"/>
              <a:t>具「唯一性」的屬性，但</a:t>
            </a:r>
            <a:r>
              <a:rPr lang="zh-TW" altLang="en-US" sz="2000" b="1" dirty="0">
                <a:solidFill>
                  <a:srgbClr val="C00000"/>
                </a:solidFill>
              </a:rPr>
              <a:t>不可有重複值及不可為空值</a:t>
            </a:r>
            <a:endParaRPr lang="en-US" altLang="zh-TW" sz="2000" b="1" dirty="0">
              <a:solidFill>
                <a:srgbClr val="C00000"/>
              </a:solidFill>
            </a:endParaRPr>
          </a:p>
          <a:p>
            <a:r>
              <a:rPr lang="zh-TW" altLang="en-US" sz="2400" dirty="0"/>
              <a:t>複合鍵 </a:t>
            </a:r>
            <a:r>
              <a:rPr lang="en-US" altLang="zh-TW" sz="2400" dirty="0"/>
              <a:t>(composite key)</a:t>
            </a:r>
          </a:p>
          <a:p>
            <a:pPr lvl="1"/>
            <a:r>
              <a:rPr lang="zh-TW" altLang="en-US" sz="2000" dirty="0"/>
              <a:t>由二個或二個欄位以上所組成的主鍵</a:t>
            </a:r>
            <a:endParaRPr lang="en-US" altLang="zh-TW" sz="2000" dirty="0"/>
          </a:p>
          <a:p>
            <a:r>
              <a:rPr lang="zh-TW" altLang="en-US" sz="2400" dirty="0"/>
              <a:t>候選鍵 </a:t>
            </a:r>
            <a:r>
              <a:rPr lang="en-US" altLang="zh-TW" sz="2400" dirty="0"/>
              <a:t>(candidate key)</a:t>
            </a:r>
          </a:p>
          <a:p>
            <a:pPr lvl="1"/>
            <a:r>
              <a:rPr lang="zh-TW" altLang="en-US" sz="2000" dirty="0"/>
              <a:t>符合</a:t>
            </a:r>
            <a:r>
              <a:rPr lang="zh-TW" altLang="en-US" sz="2000" b="1" dirty="0">
                <a:solidFill>
                  <a:srgbClr val="C00000"/>
                </a:solidFill>
              </a:rPr>
              <a:t>唯一性</a:t>
            </a:r>
            <a:r>
              <a:rPr lang="zh-TW" altLang="en-US" sz="2000" dirty="0"/>
              <a:t>及</a:t>
            </a:r>
            <a:r>
              <a:rPr lang="zh-TW" altLang="en-US" sz="2000" b="1" dirty="0">
                <a:solidFill>
                  <a:srgbClr val="C00000"/>
                </a:solidFill>
              </a:rPr>
              <a:t>最小性</a:t>
            </a:r>
            <a:r>
              <a:rPr lang="zh-TW" altLang="en-US" sz="2000" dirty="0"/>
              <a:t>的屬性</a:t>
            </a:r>
            <a:endParaRPr lang="en-US" altLang="zh-TW" sz="2000" dirty="0"/>
          </a:p>
          <a:p>
            <a:r>
              <a:rPr lang="zh-TW" altLang="en-US" sz="2400" dirty="0"/>
              <a:t>外部鍵 </a:t>
            </a:r>
            <a:r>
              <a:rPr lang="en-US" altLang="zh-TW" sz="2400" dirty="0"/>
              <a:t>(foreign key)</a:t>
            </a:r>
          </a:p>
          <a:p>
            <a:pPr lvl="1"/>
            <a:r>
              <a:rPr lang="zh-TW" altLang="en-US" sz="2000" b="1" dirty="0">
                <a:solidFill>
                  <a:srgbClr val="0070C0"/>
                </a:solidFill>
              </a:rPr>
              <a:t>二個資料表進行關聯時，需透過「</a:t>
            </a:r>
            <a:r>
              <a:rPr lang="zh-TW" altLang="en-US" sz="2000" b="1" dirty="0">
                <a:solidFill>
                  <a:srgbClr val="C00000"/>
                </a:solidFill>
              </a:rPr>
              <a:t>外部鍵</a:t>
            </a:r>
            <a:r>
              <a:rPr lang="zh-TW" altLang="en-US" sz="2000" b="1" dirty="0">
                <a:solidFill>
                  <a:srgbClr val="0070C0"/>
                </a:solidFill>
              </a:rPr>
              <a:t>」參考「</a:t>
            </a:r>
            <a:r>
              <a:rPr lang="zh-TW" altLang="en-US" sz="2000" b="1" dirty="0">
                <a:solidFill>
                  <a:srgbClr val="C00000"/>
                </a:solidFill>
              </a:rPr>
              <a:t>主鍵</a:t>
            </a:r>
            <a:r>
              <a:rPr lang="zh-TW" altLang="en-US" sz="2000" b="1" dirty="0">
                <a:solidFill>
                  <a:srgbClr val="0070C0"/>
                </a:solidFill>
              </a:rPr>
              <a:t>」來建立連結</a:t>
            </a:r>
            <a:endParaRPr lang="en-US" altLang="zh-TW" sz="2000" b="1" dirty="0">
              <a:solidFill>
                <a:srgbClr val="0070C0"/>
              </a:solidFill>
            </a:endParaRPr>
          </a:p>
          <a:p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90FABD-3910-338D-7B59-58977959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843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關聯鍵限制 </a:t>
            </a:r>
            <a:r>
              <a:rPr lang="en-US" altLang="zh-TW" dirty="0"/>
              <a:t>(key constraint)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超級鍵（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Superkey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）：由該關聯的</a:t>
            </a: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一或數個</a:t>
            </a:r>
            <a:r>
              <a:rPr lang="zh-TW" altLang="en-US" sz="2400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所組成，沒有任何兩筆序列值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屬性值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完全相同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sId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name,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bDate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}, {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sId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}, {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}…</a:t>
            </a:r>
          </a:p>
          <a:p>
            <a:pPr>
              <a:lnSpc>
                <a:spcPct val="11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關聯鍵是該關聯的一個最小超級鍵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sId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name,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bDate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}﹑{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bDate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address}﹑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{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sId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}﹑{ </a:t>
            </a:r>
            <a:r>
              <a:rPr lang="en-US" altLang="zh-TW" sz="200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}…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超級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鍵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sId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}, {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}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鍵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lvl="2">
              <a:lnSpc>
                <a:spcPct val="110000"/>
              </a:lnSpc>
              <a:spcBef>
                <a:spcPts val="1000"/>
              </a:spcBef>
            </a:pPr>
            <a:r>
              <a:rPr lang="zh-TW" altLang="en-US" sz="2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一個關聯可有多個關聯鍵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，但至少要</a:t>
            </a:r>
            <a:r>
              <a:rPr lang="zh-TW" altLang="en-US" sz="2400" b="1" u="sng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有一個關聯鍵，最具意義者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稱為「主鍵」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(primary key)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，其他的關聯鍵稱為</a:t>
            </a:r>
            <a:r>
              <a:rPr lang="zh-TW" altLang="en-US" sz="24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次要鍵</a:t>
            </a:r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(secondary </a:t>
            </a:r>
            <a:r>
              <a:rPr lang="en-US" altLang="zh-TW" sz="2400" b="1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key)</a:t>
            </a:r>
            <a:endParaRPr lang="en-US" altLang="zh-TW" sz="24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14156" t="43079" r="13948" b="12839"/>
          <a:stretch/>
        </p:blipFill>
        <p:spPr>
          <a:xfrm>
            <a:off x="6761579" y="2162535"/>
            <a:ext cx="5102228" cy="1534626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B9776D3-C13A-B0E8-B45D-CE37A1EE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981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CCE06E1-429E-46CE-8698-C6DB0DEB8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780" y="2235200"/>
            <a:ext cx="9144000" cy="2387600"/>
          </a:xfrm>
          <a:custGeom>
            <a:avLst/>
            <a:gdLst>
              <a:gd name="connsiteX0" fmla="*/ 0 w 9144000"/>
              <a:gd name="connsiteY0" fmla="*/ 0 h 2387600"/>
              <a:gd name="connsiteX1" fmla="*/ 388620 w 9144000"/>
              <a:gd name="connsiteY1" fmla="*/ 0 h 2387600"/>
              <a:gd name="connsiteX2" fmla="*/ 685800 w 9144000"/>
              <a:gd name="connsiteY2" fmla="*/ 0 h 2387600"/>
              <a:gd name="connsiteX3" fmla="*/ 1074420 w 9144000"/>
              <a:gd name="connsiteY3" fmla="*/ 0 h 2387600"/>
              <a:gd name="connsiteX4" fmla="*/ 1645920 w 9144000"/>
              <a:gd name="connsiteY4" fmla="*/ 0 h 2387600"/>
              <a:gd name="connsiteX5" fmla="*/ 2308860 w 9144000"/>
              <a:gd name="connsiteY5" fmla="*/ 0 h 2387600"/>
              <a:gd name="connsiteX6" fmla="*/ 2788920 w 9144000"/>
              <a:gd name="connsiteY6" fmla="*/ 0 h 2387600"/>
              <a:gd name="connsiteX7" fmla="*/ 3086100 w 9144000"/>
              <a:gd name="connsiteY7" fmla="*/ 0 h 2387600"/>
              <a:gd name="connsiteX8" fmla="*/ 3474720 w 9144000"/>
              <a:gd name="connsiteY8" fmla="*/ 0 h 2387600"/>
              <a:gd name="connsiteX9" fmla="*/ 4046220 w 9144000"/>
              <a:gd name="connsiteY9" fmla="*/ 0 h 2387600"/>
              <a:gd name="connsiteX10" fmla="*/ 4434840 w 9144000"/>
              <a:gd name="connsiteY10" fmla="*/ 0 h 2387600"/>
              <a:gd name="connsiteX11" fmla="*/ 5006340 w 9144000"/>
              <a:gd name="connsiteY11" fmla="*/ 0 h 2387600"/>
              <a:gd name="connsiteX12" fmla="*/ 5760720 w 9144000"/>
              <a:gd name="connsiteY12" fmla="*/ 0 h 2387600"/>
              <a:gd name="connsiteX13" fmla="*/ 6057900 w 9144000"/>
              <a:gd name="connsiteY13" fmla="*/ 0 h 2387600"/>
              <a:gd name="connsiteX14" fmla="*/ 6812280 w 9144000"/>
              <a:gd name="connsiteY14" fmla="*/ 0 h 2387600"/>
              <a:gd name="connsiteX15" fmla="*/ 7475220 w 9144000"/>
              <a:gd name="connsiteY15" fmla="*/ 0 h 2387600"/>
              <a:gd name="connsiteX16" fmla="*/ 8138160 w 9144000"/>
              <a:gd name="connsiteY16" fmla="*/ 0 h 2387600"/>
              <a:gd name="connsiteX17" fmla="*/ 9144000 w 9144000"/>
              <a:gd name="connsiteY17" fmla="*/ 0 h 2387600"/>
              <a:gd name="connsiteX18" fmla="*/ 9144000 w 9144000"/>
              <a:gd name="connsiteY18" fmla="*/ 573024 h 2387600"/>
              <a:gd name="connsiteX19" fmla="*/ 9144000 w 9144000"/>
              <a:gd name="connsiteY19" fmla="*/ 1098296 h 2387600"/>
              <a:gd name="connsiteX20" fmla="*/ 9144000 w 9144000"/>
              <a:gd name="connsiteY20" fmla="*/ 1695196 h 2387600"/>
              <a:gd name="connsiteX21" fmla="*/ 9144000 w 9144000"/>
              <a:gd name="connsiteY21" fmla="*/ 2387600 h 2387600"/>
              <a:gd name="connsiteX22" fmla="*/ 8755380 w 9144000"/>
              <a:gd name="connsiteY22" fmla="*/ 2387600 h 2387600"/>
              <a:gd name="connsiteX23" fmla="*/ 8275320 w 9144000"/>
              <a:gd name="connsiteY23" fmla="*/ 2387600 h 2387600"/>
              <a:gd name="connsiteX24" fmla="*/ 7612380 w 9144000"/>
              <a:gd name="connsiteY24" fmla="*/ 2387600 h 2387600"/>
              <a:gd name="connsiteX25" fmla="*/ 7223760 w 9144000"/>
              <a:gd name="connsiteY25" fmla="*/ 2387600 h 2387600"/>
              <a:gd name="connsiteX26" fmla="*/ 6926580 w 9144000"/>
              <a:gd name="connsiteY26" fmla="*/ 2387600 h 2387600"/>
              <a:gd name="connsiteX27" fmla="*/ 6172200 w 9144000"/>
              <a:gd name="connsiteY27" fmla="*/ 2387600 h 2387600"/>
              <a:gd name="connsiteX28" fmla="*/ 5783580 w 9144000"/>
              <a:gd name="connsiteY28" fmla="*/ 2387600 h 2387600"/>
              <a:gd name="connsiteX29" fmla="*/ 5394960 w 9144000"/>
              <a:gd name="connsiteY29" fmla="*/ 2387600 h 2387600"/>
              <a:gd name="connsiteX30" fmla="*/ 4914900 w 9144000"/>
              <a:gd name="connsiteY30" fmla="*/ 2387600 h 2387600"/>
              <a:gd name="connsiteX31" fmla="*/ 4160520 w 9144000"/>
              <a:gd name="connsiteY31" fmla="*/ 2387600 h 2387600"/>
              <a:gd name="connsiteX32" fmla="*/ 3863340 w 9144000"/>
              <a:gd name="connsiteY32" fmla="*/ 2387600 h 2387600"/>
              <a:gd name="connsiteX33" fmla="*/ 3108960 w 9144000"/>
              <a:gd name="connsiteY33" fmla="*/ 2387600 h 2387600"/>
              <a:gd name="connsiteX34" fmla="*/ 2720340 w 9144000"/>
              <a:gd name="connsiteY34" fmla="*/ 2387600 h 2387600"/>
              <a:gd name="connsiteX35" fmla="*/ 1965960 w 9144000"/>
              <a:gd name="connsiteY35" fmla="*/ 2387600 h 2387600"/>
              <a:gd name="connsiteX36" fmla="*/ 1394460 w 9144000"/>
              <a:gd name="connsiteY36" fmla="*/ 2387600 h 2387600"/>
              <a:gd name="connsiteX37" fmla="*/ 1005840 w 9144000"/>
              <a:gd name="connsiteY37" fmla="*/ 2387600 h 2387600"/>
              <a:gd name="connsiteX38" fmla="*/ 617220 w 9144000"/>
              <a:gd name="connsiteY38" fmla="*/ 2387600 h 2387600"/>
              <a:gd name="connsiteX39" fmla="*/ 0 w 9144000"/>
              <a:gd name="connsiteY39" fmla="*/ 2387600 h 2387600"/>
              <a:gd name="connsiteX40" fmla="*/ 0 w 9144000"/>
              <a:gd name="connsiteY40" fmla="*/ 1814576 h 2387600"/>
              <a:gd name="connsiteX41" fmla="*/ 0 w 9144000"/>
              <a:gd name="connsiteY41" fmla="*/ 1169924 h 2387600"/>
              <a:gd name="connsiteX42" fmla="*/ 0 w 9144000"/>
              <a:gd name="connsiteY42" fmla="*/ 573024 h 2387600"/>
              <a:gd name="connsiteX43" fmla="*/ 0 w 9144000"/>
              <a:gd name="connsiteY43" fmla="*/ 0 h 238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144000" h="2387600" fill="none" extrusionOk="0">
                <a:moveTo>
                  <a:pt x="0" y="0"/>
                </a:moveTo>
                <a:cubicBezTo>
                  <a:pt x="106608" y="-33909"/>
                  <a:pt x="219645" y="31638"/>
                  <a:pt x="388620" y="0"/>
                </a:cubicBezTo>
                <a:cubicBezTo>
                  <a:pt x="557595" y="-31638"/>
                  <a:pt x="588785" y="12078"/>
                  <a:pt x="685800" y="0"/>
                </a:cubicBezTo>
                <a:cubicBezTo>
                  <a:pt x="782815" y="-12078"/>
                  <a:pt x="951564" y="33472"/>
                  <a:pt x="1074420" y="0"/>
                </a:cubicBezTo>
                <a:cubicBezTo>
                  <a:pt x="1197276" y="-33472"/>
                  <a:pt x="1516004" y="30917"/>
                  <a:pt x="1645920" y="0"/>
                </a:cubicBezTo>
                <a:cubicBezTo>
                  <a:pt x="1775836" y="-30917"/>
                  <a:pt x="2166483" y="49121"/>
                  <a:pt x="2308860" y="0"/>
                </a:cubicBezTo>
                <a:cubicBezTo>
                  <a:pt x="2451237" y="-49121"/>
                  <a:pt x="2685986" y="25424"/>
                  <a:pt x="2788920" y="0"/>
                </a:cubicBezTo>
                <a:cubicBezTo>
                  <a:pt x="2891854" y="-25424"/>
                  <a:pt x="2993690" y="6999"/>
                  <a:pt x="3086100" y="0"/>
                </a:cubicBezTo>
                <a:cubicBezTo>
                  <a:pt x="3178510" y="-6999"/>
                  <a:pt x="3370843" y="29439"/>
                  <a:pt x="3474720" y="0"/>
                </a:cubicBezTo>
                <a:cubicBezTo>
                  <a:pt x="3578597" y="-29439"/>
                  <a:pt x="3772544" y="26887"/>
                  <a:pt x="4046220" y="0"/>
                </a:cubicBezTo>
                <a:cubicBezTo>
                  <a:pt x="4319896" y="-26887"/>
                  <a:pt x="4313902" y="37991"/>
                  <a:pt x="4434840" y="0"/>
                </a:cubicBezTo>
                <a:cubicBezTo>
                  <a:pt x="4555778" y="-37991"/>
                  <a:pt x="4742198" y="43082"/>
                  <a:pt x="5006340" y="0"/>
                </a:cubicBezTo>
                <a:cubicBezTo>
                  <a:pt x="5270482" y="-43082"/>
                  <a:pt x="5578888" y="6481"/>
                  <a:pt x="5760720" y="0"/>
                </a:cubicBezTo>
                <a:cubicBezTo>
                  <a:pt x="5942552" y="-6481"/>
                  <a:pt x="5917355" y="30942"/>
                  <a:pt x="6057900" y="0"/>
                </a:cubicBezTo>
                <a:cubicBezTo>
                  <a:pt x="6198445" y="-30942"/>
                  <a:pt x="6640648" y="3942"/>
                  <a:pt x="6812280" y="0"/>
                </a:cubicBezTo>
                <a:cubicBezTo>
                  <a:pt x="6983912" y="-3942"/>
                  <a:pt x="7247156" y="7745"/>
                  <a:pt x="7475220" y="0"/>
                </a:cubicBezTo>
                <a:cubicBezTo>
                  <a:pt x="7703284" y="-7745"/>
                  <a:pt x="7969906" y="35031"/>
                  <a:pt x="8138160" y="0"/>
                </a:cubicBezTo>
                <a:cubicBezTo>
                  <a:pt x="8306414" y="-35031"/>
                  <a:pt x="8901700" y="15776"/>
                  <a:pt x="9144000" y="0"/>
                </a:cubicBezTo>
                <a:cubicBezTo>
                  <a:pt x="9166838" y="246716"/>
                  <a:pt x="9131112" y="293792"/>
                  <a:pt x="9144000" y="573024"/>
                </a:cubicBezTo>
                <a:cubicBezTo>
                  <a:pt x="9156888" y="852256"/>
                  <a:pt x="9126177" y="942335"/>
                  <a:pt x="9144000" y="1098296"/>
                </a:cubicBezTo>
                <a:cubicBezTo>
                  <a:pt x="9161823" y="1254257"/>
                  <a:pt x="9076753" y="1572578"/>
                  <a:pt x="9144000" y="1695196"/>
                </a:cubicBezTo>
                <a:cubicBezTo>
                  <a:pt x="9211247" y="1817814"/>
                  <a:pt x="9114226" y="2116273"/>
                  <a:pt x="9144000" y="2387600"/>
                </a:cubicBezTo>
                <a:cubicBezTo>
                  <a:pt x="8952307" y="2400054"/>
                  <a:pt x="8940742" y="2372156"/>
                  <a:pt x="8755380" y="2387600"/>
                </a:cubicBezTo>
                <a:cubicBezTo>
                  <a:pt x="8570018" y="2403044"/>
                  <a:pt x="8435832" y="2347627"/>
                  <a:pt x="8275320" y="2387600"/>
                </a:cubicBezTo>
                <a:cubicBezTo>
                  <a:pt x="8114808" y="2427573"/>
                  <a:pt x="7834984" y="2317873"/>
                  <a:pt x="7612380" y="2387600"/>
                </a:cubicBezTo>
                <a:cubicBezTo>
                  <a:pt x="7389776" y="2457327"/>
                  <a:pt x="7357114" y="2353794"/>
                  <a:pt x="7223760" y="2387600"/>
                </a:cubicBezTo>
                <a:cubicBezTo>
                  <a:pt x="7090406" y="2421406"/>
                  <a:pt x="7053388" y="2382916"/>
                  <a:pt x="6926580" y="2387600"/>
                </a:cubicBezTo>
                <a:cubicBezTo>
                  <a:pt x="6799772" y="2392284"/>
                  <a:pt x="6365155" y="2317314"/>
                  <a:pt x="6172200" y="2387600"/>
                </a:cubicBezTo>
                <a:cubicBezTo>
                  <a:pt x="5979245" y="2457886"/>
                  <a:pt x="5936821" y="2387423"/>
                  <a:pt x="5783580" y="2387600"/>
                </a:cubicBezTo>
                <a:cubicBezTo>
                  <a:pt x="5630339" y="2387777"/>
                  <a:pt x="5555204" y="2347437"/>
                  <a:pt x="5394960" y="2387600"/>
                </a:cubicBezTo>
                <a:cubicBezTo>
                  <a:pt x="5234716" y="2427763"/>
                  <a:pt x="5125950" y="2364292"/>
                  <a:pt x="4914900" y="2387600"/>
                </a:cubicBezTo>
                <a:cubicBezTo>
                  <a:pt x="4703850" y="2410908"/>
                  <a:pt x="4339163" y="2341171"/>
                  <a:pt x="4160520" y="2387600"/>
                </a:cubicBezTo>
                <a:cubicBezTo>
                  <a:pt x="3981877" y="2434029"/>
                  <a:pt x="3992718" y="2365950"/>
                  <a:pt x="3863340" y="2387600"/>
                </a:cubicBezTo>
                <a:cubicBezTo>
                  <a:pt x="3733962" y="2409250"/>
                  <a:pt x="3340550" y="2334572"/>
                  <a:pt x="3108960" y="2387600"/>
                </a:cubicBezTo>
                <a:cubicBezTo>
                  <a:pt x="2877370" y="2440628"/>
                  <a:pt x="2840024" y="2384845"/>
                  <a:pt x="2720340" y="2387600"/>
                </a:cubicBezTo>
                <a:cubicBezTo>
                  <a:pt x="2600656" y="2390355"/>
                  <a:pt x="2194722" y="2318131"/>
                  <a:pt x="1965960" y="2387600"/>
                </a:cubicBezTo>
                <a:cubicBezTo>
                  <a:pt x="1737198" y="2457069"/>
                  <a:pt x="1527093" y="2352020"/>
                  <a:pt x="1394460" y="2387600"/>
                </a:cubicBezTo>
                <a:cubicBezTo>
                  <a:pt x="1261827" y="2423180"/>
                  <a:pt x="1142734" y="2370177"/>
                  <a:pt x="1005840" y="2387600"/>
                </a:cubicBezTo>
                <a:cubicBezTo>
                  <a:pt x="868946" y="2405023"/>
                  <a:pt x="776870" y="2351821"/>
                  <a:pt x="617220" y="2387600"/>
                </a:cubicBezTo>
                <a:cubicBezTo>
                  <a:pt x="457570" y="2423379"/>
                  <a:pt x="268856" y="2362004"/>
                  <a:pt x="0" y="2387600"/>
                </a:cubicBezTo>
                <a:cubicBezTo>
                  <a:pt x="-2502" y="2219839"/>
                  <a:pt x="55695" y="2018920"/>
                  <a:pt x="0" y="1814576"/>
                </a:cubicBezTo>
                <a:cubicBezTo>
                  <a:pt x="-55695" y="1610232"/>
                  <a:pt x="60120" y="1357852"/>
                  <a:pt x="0" y="1169924"/>
                </a:cubicBezTo>
                <a:cubicBezTo>
                  <a:pt x="-60120" y="981996"/>
                  <a:pt x="29095" y="743533"/>
                  <a:pt x="0" y="573024"/>
                </a:cubicBezTo>
                <a:cubicBezTo>
                  <a:pt x="-29095" y="402515"/>
                  <a:pt x="52903" y="157214"/>
                  <a:pt x="0" y="0"/>
                </a:cubicBezTo>
                <a:close/>
              </a:path>
              <a:path w="9144000" h="2387600" stroke="0" extrusionOk="0">
                <a:moveTo>
                  <a:pt x="0" y="0"/>
                </a:moveTo>
                <a:cubicBezTo>
                  <a:pt x="221328" y="-42909"/>
                  <a:pt x="399631" y="28268"/>
                  <a:pt x="662940" y="0"/>
                </a:cubicBezTo>
                <a:cubicBezTo>
                  <a:pt x="926249" y="-28268"/>
                  <a:pt x="915392" y="6770"/>
                  <a:pt x="1051560" y="0"/>
                </a:cubicBezTo>
                <a:cubicBezTo>
                  <a:pt x="1187728" y="-6770"/>
                  <a:pt x="1347956" y="38384"/>
                  <a:pt x="1440180" y="0"/>
                </a:cubicBezTo>
                <a:cubicBezTo>
                  <a:pt x="1532404" y="-38384"/>
                  <a:pt x="1895574" y="76649"/>
                  <a:pt x="2103120" y="0"/>
                </a:cubicBezTo>
                <a:cubicBezTo>
                  <a:pt x="2310666" y="-76649"/>
                  <a:pt x="2572543" y="13123"/>
                  <a:pt x="2766060" y="0"/>
                </a:cubicBezTo>
                <a:cubicBezTo>
                  <a:pt x="2959577" y="-13123"/>
                  <a:pt x="2942634" y="26840"/>
                  <a:pt x="3063240" y="0"/>
                </a:cubicBezTo>
                <a:cubicBezTo>
                  <a:pt x="3183846" y="-26840"/>
                  <a:pt x="3437096" y="52616"/>
                  <a:pt x="3634740" y="0"/>
                </a:cubicBezTo>
                <a:cubicBezTo>
                  <a:pt x="3832384" y="-52616"/>
                  <a:pt x="3912193" y="15677"/>
                  <a:pt x="4114800" y="0"/>
                </a:cubicBezTo>
                <a:cubicBezTo>
                  <a:pt x="4317407" y="-15677"/>
                  <a:pt x="4335698" y="5188"/>
                  <a:pt x="4503420" y="0"/>
                </a:cubicBezTo>
                <a:cubicBezTo>
                  <a:pt x="4671142" y="-5188"/>
                  <a:pt x="4653608" y="542"/>
                  <a:pt x="4800600" y="0"/>
                </a:cubicBezTo>
                <a:cubicBezTo>
                  <a:pt x="4947592" y="-542"/>
                  <a:pt x="5238512" y="66143"/>
                  <a:pt x="5463540" y="0"/>
                </a:cubicBezTo>
                <a:cubicBezTo>
                  <a:pt x="5688568" y="-66143"/>
                  <a:pt x="6026965" y="78579"/>
                  <a:pt x="6217920" y="0"/>
                </a:cubicBezTo>
                <a:cubicBezTo>
                  <a:pt x="6408875" y="-78579"/>
                  <a:pt x="6723259" y="48096"/>
                  <a:pt x="6880860" y="0"/>
                </a:cubicBezTo>
                <a:cubicBezTo>
                  <a:pt x="7038461" y="-48096"/>
                  <a:pt x="7336578" y="42659"/>
                  <a:pt x="7452360" y="0"/>
                </a:cubicBezTo>
                <a:cubicBezTo>
                  <a:pt x="7568142" y="-42659"/>
                  <a:pt x="7956510" y="53804"/>
                  <a:pt x="8206740" y="0"/>
                </a:cubicBezTo>
                <a:cubicBezTo>
                  <a:pt x="8456970" y="-53804"/>
                  <a:pt x="8515992" y="7805"/>
                  <a:pt x="8595360" y="0"/>
                </a:cubicBezTo>
                <a:cubicBezTo>
                  <a:pt x="8674728" y="-7805"/>
                  <a:pt x="8896436" y="19498"/>
                  <a:pt x="9144000" y="0"/>
                </a:cubicBezTo>
                <a:cubicBezTo>
                  <a:pt x="9186218" y="218284"/>
                  <a:pt x="9116886" y="415303"/>
                  <a:pt x="9144000" y="644652"/>
                </a:cubicBezTo>
                <a:cubicBezTo>
                  <a:pt x="9171114" y="874001"/>
                  <a:pt x="9141414" y="987239"/>
                  <a:pt x="9144000" y="1289304"/>
                </a:cubicBezTo>
                <a:cubicBezTo>
                  <a:pt x="9146586" y="1591369"/>
                  <a:pt x="9080076" y="2071460"/>
                  <a:pt x="9144000" y="2387600"/>
                </a:cubicBezTo>
                <a:cubicBezTo>
                  <a:pt x="8827580" y="2447390"/>
                  <a:pt x="8761180" y="2376974"/>
                  <a:pt x="8481060" y="2387600"/>
                </a:cubicBezTo>
                <a:cubicBezTo>
                  <a:pt x="8200940" y="2398226"/>
                  <a:pt x="8201320" y="2381355"/>
                  <a:pt x="8092440" y="2387600"/>
                </a:cubicBezTo>
                <a:cubicBezTo>
                  <a:pt x="7983560" y="2393845"/>
                  <a:pt x="7783276" y="2382923"/>
                  <a:pt x="7703820" y="2387600"/>
                </a:cubicBezTo>
                <a:cubicBezTo>
                  <a:pt x="7624364" y="2392277"/>
                  <a:pt x="7300750" y="2359309"/>
                  <a:pt x="7040880" y="2387600"/>
                </a:cubicBezTo>
                <a:cubicBezTo>
                  <a:pt x="6781010" y="2415891"/>
                  <a:pt x="6804690" y="2380025"/>
                  <a:pt x="6652260" y="2387600"/>
                </a:cubicBezTo>
                <a:cubicBezTo>
                  <a:pt x="6499830" y="2395175"/>
                  <a:pt x="6082317" y="2368056"/>
                  <a:pt x="5897880" y="2387600"/>
                </a:cubicBezTo>
                <a:cubicBezTo>
                  <a:pt x="5713443" y="2407144"/>
                  <a:pt x="5597866" y="2366668"/>
                  <a:pt x="5509260" y="2387600"/>
                </a:cubicBezTo>
                <a:cubicBezTo>
                  <a:pt x="5420654" y="2408532"/>
                  <a:pt x="4911370" y="2339108"/>
                  <a:pt x="4754880" y="2387600"/>
                </a:cubicBezTo>
                <a:cubicBezTo>
                  <a:pt x="4598390" y="2436092"/>
                  <a:pt x="4400062" y="2374829"/>
                  <a:pt x="4183380" y="2387600"/>
                </a:cubicBezTo>
                <a:cubicBezTo>
                  <a:pt x="3966698" y="2400371"/>
                  <a:pt x="3794978" y="2341608"/>
                  <a:pt x="3520440" y="2387600"/>
                </a:cubicBezTo>
                <a:cubicBezTo>
                  <a:pt x="3245902" y="2433592"/>
                  <a:pt x="3156900" y="2380468"/>
                  <a:pt x="2857500" y="2387600"/>
                </a:cubicBezTo>
                <a:cubicBezTo>
                  <a:pt x="2558100" y="2394732"/>
                  <a:pt x="2335674" y="2334874"/>
                  <a:pt x="2194560" y="2387600"/>
                </a:cubicBezTo>
                <a:cubicBezTo>
                  <a:pt x="2053446" y="2440326"/>
                  <a:pt x="1876861" y="2382628"/>
                  <a:pt x="1623060" y="2387600"/>
                </a:cubicBezTo>
                <a:cubicBezTo>
                  <a:pt x="1369259" y="2392572"/>
                  <a:pt x="1102127" y="2335985"/>
                  <a:pt x="868680" y="2387600"/>
                </a:cubicBezTo>
                <a:cubicBezTo>
                  <a:pt x="635233" y="2439215"/>
                  <a:pt x="265950" y="2382735"/>
                  <a:pt x="0" y="2387600"/>
                </a:cubicBezTo>
                <a:cubicBezTo>
                  <a:pt x="-26950" y="2180021"/>
                  <a:pt x="18150" y="1985985"/>
                  <a:pt x="0" y="1862328"/>
                </a:cubicBezTo>
                <a:cubicBezTo>
                  <a:pt x="-18150" y="1738671"/>
                  <a:pt x="45418" y="1464586"/>
                  <a:pt x="0" y="1313180"/>
                </a:cubicBezTo>
                <a:cubicBezTo>
                  <a:pt x="-45418" y="1161774"/>
                  <a:pt x="566" y="895654"/>
                  <a:pt x="0" y="764032"/>
                </a:cubicBezTo>
                <a:cubicBezTo>
                  <a:pt x="-566" y="632410"/>
                  <a:pt x="66775" y="358821"/>
                  <a:pt x="0" y="0"/>
                </a:cubicBezTo>
                <a:close/>
              </a:path>
            </a:pathLst>
          </a:custGeom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616545911">
                  <ask:type>
                    <ask:lineSketchScribble/>
                  </ask:type>
                </ask:lineSketchStyleProps>
              </a:ext>
            </a:extLst>
          </a:ln>
        </p:spPr>
        <p:txBody>
          <a:bodyPr anchor="ctr">
            <a:noAutofit/>
          </a:bodyPr>
          <a:lstStyle/>
          <a:p>
            <a:pPr algn="l"/>
            <a:r>
              <a:rPr lang="zh-TW" altLang="en-US" sz="2800" b="1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關聯鍵限制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指的是資料庫裡的每一關聯，</a:t>
            </a:r>
            <a:r>
              <a:rPr lang="zh-TW" altLang="en-US" sz="28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沒有任兩個序列值的關聯鍵值是相同的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>
                <a:latin typeface="微軟正黑體" pitchFamily="34" charset="-120"/>
                <a:ea typeface="微軟正黑體" pitchFamily="34" charset="-120"/>
              </a:rPr>
              <a:t>例如</a:t>
            </a:r>
            <a:r>
              <a:rPr lang="en-US" altLang="zh-TW" sz="2800">
                <a:latin typeface="微軟正黑體" pitchFamily="34" charset="-120"/>
                <a:ea typeface="微軟正黑體" pitchFamily="34" charset="-120"/>
              </a:rPr>
              <a:t>Student</a:t>
            </a:r>
            <a:r>
              <a:rPr lang="zh-TW" altLang="en-US" sz="2800">
                <a:latin typeface="微軟正黑體" pitchFamily="34" charset="-120"/>
                <a:ea typeface="微軟正黑體" pitchFamily="34" charset="-120"/>
              </a:rPr>
              <a:t>關聯裡有兩筆序列值的學號</a:t>
            </a:r>
            <a:r>
              <a:rPr lang="en-US" altLang="zh-TW" sz="280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2800">
                <a:latin typeface="微軟正黑體" pitchFamily="34" charset="-120"/>
                <a:ea typeface="微軟正黑體" pitchFamily="34" charset="-120"/>
              </a:rPr>
              <a:t>主鍵</a:t>
            </a:r>
            <a:r>
              <a:rPr lang="en-US" altLang="zh-TW" sz="280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2800">
                <a:latin typeface="微軟正黑體" pitchFamily="34" charset="-120"/>
                <a:ea typeface="微軟正黑體" pitchFamily="34" charset="-120"/>
              </a:rPr>
              <a:t>或身分證字號（次要鍵）相同，即違反關聯鍵限制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9A9657-58BE-46DD-A545-B6FC953E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445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217B00-26D3-40D0-BD1A-C06D09F59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 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07DB636-86B9-49D9-BC67-9C19475F4F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405366"/>
              </p:ext>
            </p:extLst>
          </p:nvPr>
        </p:nvGraphicFramePr>
        <p:xfrm>
          <a:off x="838200" y="1458913"/>
          <a:ext cx="10515600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497594003"/>
                    </a:ext>
                  </a:extLst>
                </a:gridCol>
                <a:gridCol w="1437838">
                  <a:extLst>
                    <a:ext uri="{9D8B030D-6E8A-4147-A177-3AD203B41FA5}">
                      <a16:colId xmlns:a16="http://schemas.microsoft.com/office/drawing/2014/main" val="2155532031"/>
                    </a:ext>
                  </a:extLst>
                </a:gridCol>
                <a:gridCol w="998290">
                  <a:extLst>
                    <a:ext uri="{9D8B030D-6E8A-4147-A177-3AD203B41FA5}">
                      <a16:colId xmlns:a16="http://schemas.microsoft.com/office/drawing/2014/main" val="3920134219"/>
                    </a:ext>
                  </a:extLst>
                </a:gridCol>
                <a:gridCol w="1507222">
                  <a:extLst>
                    <a:ext uri="{9D8B030D-6E8A-4147-A177-3AD203B41FA5}">
                      <a16:colId xmlns:a16="http://schemas.microsoft.com/office/drawing/2014/main" val="114654947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13622554"/>
                    </a:ext>
                  </a:extLst>
                </a:gridCol>
                <a:gridCol w="1054042">
                  <a:extLst>
                    <a:ext uri="{9D8B030D-6E8A-4147-A177-3AD203B41FA5}">
                      <a16:colId xmlns:a16="http://schemas.microsoft.com/office/drawing/2014/main" val="1734596455"/>
                    </a:ext>
                  </a:extLst>
                </a:gridCol>
                <a:gridCol w="1574858">
                  <a:extLst>
                    <a:ext uri="{9D8B030D-6E8A-4147-A177-3AD203B41FA5}">
                      <a16:colId xmlns:a16="http://schemas.microsoft.com/office/drawing/2014/main" val="141095811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26548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身分字號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手機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生日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系所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導師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10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11275010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A123546222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陳懷安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0919341287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95-11-02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台北市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人智系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T005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4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11275168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A211987156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劉曉琦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0920765990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95-08-09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桃園市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資管系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M112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1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11324111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A112098674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王大發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0928111876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95-02-26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新北市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人智系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T005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732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11233876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A109876136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白章強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0945123765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95-08-09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基隆市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資工系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C007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51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11233098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A201298282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張小月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0956123789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95-02-01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桃園市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人智系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T003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773063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651D32-1E4D-4EB0-98D2-245B2BAB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725B09A-F638-4567-9AEF-A1F982349943}"/>
              </a:ext>
            </a:extLst>
          </p:cNvPr>
          <p:cNvSpPr txBox="1"/>
          <p:nvPr/>
        </p:nvSpPr>
        <p:spPr>
          <a:xfrm>
            <a:off x="1399842" y="4176597"/>
            <a:ext cx="93923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學號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身分字號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姓名，手機，生日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姓名，生日，地址，系所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}…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zh-TW" altLang="en-US" sz="20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超級鍵</a:t>
            </a:r>
            <a:endParaRPr lang="en-US" altLang="zh-TW" sz="2000" b="1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學號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身分字號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}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 </a:t>
            </a:r>
            <a:r>
              <a:rPr lang="zh-TW" altLang="en-US" sz="20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關聯鍵</a:t>
            </a:r>
            <a:endParaRPr lang="en-US" altLang="zh-TW" sz="2000" b="1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學號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}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 </a:t>
            </a: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主鍵</a:t>
            </a:r>
            <a:endParaRPr lang="en-US" altLang="zh-TW" sz="2000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身分字號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}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 </a:t>
            </a:r>
            <a:r>
              <a:rPr lang="zh-TW" altLang="en-US" sz="20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候選鍵</a:t>
            </a:r>
            <a:endParaRPr lang="en-US" altLang="zh-TW" sz="2000" b="1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學號，身分字號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}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 </a:t>
            </a:r>
            <a:r>
              <a:rPr lang="zh-TW" altLang="en-US" sz="20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複合鍵</a:t>
            </a:r>
            <a:endParaRPr lang="en-US" altLang="zh-TW" sz="2000" b="1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anose="05000000000000000000" pitchFamily="2" charset="2"/>
            </a:endParaRP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{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導師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}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 </a:t>
            </a:r>
            <a:r>
              <a:rPr lang="zh-TW" altLang="en-US" sz="2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外部鍵 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可用來參考另一個資料表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18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實體完整限制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(Entity Integrity constraint)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每一關聯的每一筆序列值的</a:t>
            </a:r>
            <a:r>
              <a:rPr lang="zh-TW" altLang="en-US" u="sng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主鍵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值不得為「空值」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(Null)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次要鍵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值可為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空值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E067C4-0754-14AF-55F8-C0B54E8D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47FCB75-40F3-414A-B51C-F6762476C6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2770128"/>
              </p:ext>
            </p:extLst>
          </p:nvPr>
        </p:nvGraphicFramePr>
        <p:xfrm>
          <a:off x="947257" y="2817755"/>
          <a:ext cx="10515600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497594003"/>
                    </a:ext>
                  </a:extLst>
                </a:gridCol>
                <a:gridCol w="1437838">
                  <a:extLst>
                    <a:ext uri="{9D8B030D-6E8A-4147-A177-3AD203B41FA5}">
                      <a16:colId xmlns:a16="http://schemas.microsoft.com/office/drawing/2014/main" val="2155532031"/>
                    </a:ext>
                  </a:extLst>
                </a:gridCol>
                <a:gridCol w="998290">
                  <a:extLst>
                    <a:ext uri="{9D8B030D-6E8A-4147-A177-3AD203B41FA5}">
                      <a16:colId xmlns:a16="http://schemas.microsoft.com/office/drawing/2014/main" val="3920134219"/>
                    </a:ext>
                  </a:extLst>
                </a:gridCol>
                <a:gridCol w="1507222">
                  <a:extLst>
                    <a:ext uri="{9D8B030D-6E8A-4147-A177-3AD203B41FA5}">
                      <a16:colId xmlns:a16="http://schemas.microsoft.com/office/drawing/2014/main" val="114654947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13622554"/>
                    </a:ext>
                  </a:extLst>
                </a:gridCol>
                <a:gridCol w="1054042">
                  <a:extLst>
                    <a:ext uri="{9D8B030D-6E8A-4147-A177-3AD203B41FA5}">
                      <a16:colId xmlns:a16="http://schemas.microsoft.com/office/drawing/2014/main" val="1734596455"/>
                    </a:ext>
                  </a:extLst>
                </a:gridCol>
                <a:gridCol w="1574858">
                  <a:extLst>
                    <a:ext uri="{9D8B030D-6E8A-4147-A177-3AD203B41FA5}">
                      <a16:colId xmlns:a16="http://schemas.microsoft.com/office/drawing/2014/main" val="141095811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26548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學號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身分字號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手機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生日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系所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導師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10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11275010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A123546222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陳懷安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0919341287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95-11-02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台北市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人智系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T005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4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A211987156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劉曉琦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0920765990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95-08-09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桃園市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資管系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M112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14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11324111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A112098674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王大發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0928111876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95-02-26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新北市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人智系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T005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732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11233876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白章強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0945123765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95-08-09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基隆市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資工系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C007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51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11233098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A201298282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張小月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0956123789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95-02-01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桃園市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人智系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T003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773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714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參考完整限制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(Referential integrity constraint)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關聯模式最重要的一個限制，用來表示關聯間的關係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透過某些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稱為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</a:t>
            </a:r>
            <a:r>
              <a:rPr lang="zh-TW" altLang="en-US">
                <a:solidFill>
                  <a:srgbClr val="C00000"/>
                </a:solidFill>
                <a:latin typeface="微軟正黑體" panose="020B0604030504040204" pitchFamily="34" charset="-120"/>
              </a:rPr>
              <a:t>來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鍵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(Foreign key, FK)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的屬性來表示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40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外來鍵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必須參考到某一個關聯的主鍵</a:t>
            </a:r>
            <a:endParaRPr lang="en-US" altLang="zh-TW" sz="24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參考完整限制指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序列值裡</a:t>
            </a:r>
            <a:r>
              <a:rPr lang="zh-TW" altLang="en-US" sz="240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的外來鍵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值，如果不是空值，則該值必須存在於其所參考的關聯之主鍵值裡</a:t>
            </a:r>
            <a:endParaRPr lang="zh-TW" altLang="en-US" sz="2400" dirty="0">
              <a:solidFill>
                <a:srgbClr val="C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829240"/>
              </p:ext>
            </p:extLst>
          </p:nvPr>
        </p:nvGraphicFramePr>
        <p:xfrm>
          <a:off x="291353" y="4049702"/>
          <a:ext cx="2956767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85589">
                  <a:extLst>
                    <a:ext uri="{9D8B030D-6E8A-4147-A177-3AD203B41FA5}">
                      <a16:colId xmlns:a16="http://schemas.microsoft.com/office/drawing/2014/main" val="3507882474"/>
                    </a:ext>
                  </a:extLst>
                </a:gridCol>
                <a:gridCol w="985589">
                  <a:extLst>
                    <a:ext uri="{9D8B030D-6E8A-4147-A177-3AD203B41FA5}">
                      <a16:colId xmlns:a16="http://schemas.microsoft.com/office/drawing/2014/main" val="2997706305"/>
                    </a:ext>
                  </a:extLst>
                </a:gridCol>
                <a:gridCol w="985589">
                  <a:extLst>
                    <a:ext uri="{9D8B030D-6E8A-4147-A177-3AD203B41FA5}">
                      <a16:colId xmlns:a16="http://schemas.microsoft.com/office/drawing/2014/main" val="1529966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u="sng" dirty="0" err="1"/>
                        <a:t>sId</a:t>
                      </a:r>
                      <a:endParaRPr lang="zh-TW" altLang="en-US" sz="14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semester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/>
                        <a:t>classID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017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1147001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2024F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47112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1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1047055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2024F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47500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804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1147003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2024F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47112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564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999215"/>
              </p:ext>
            </p:extLst>
          </p:nvPr>
        </p:nvGraphicFramePr>
        <p:xfrm>
          <a:off x="3794967" y="5258957"/>
          <a:ext cx="3550814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87704">
                  <a:extLst>
                    <a:ext uri="{9D8B030D-6E8A-4147-A177-3AD203B41FA5}">
                      <a16:colId xmlns:a16="http://schemas.microsoft.com/office/drawing/2014/main" val="3507882474"/>
                    </a:ext>
                  </a:extLst>
                </a:gridCol>
                <a:gridCol w="887197">
                  <a:extLst>
                    <a:ext uri="{9D8B030D-6E8A-4147-A177-3AD203B41FA5}">
                      <a16:colId xmlns:a16="http://schemas.microsoft.com/office/drawing/2014/main" val="1893254201"/>
                    </a:ext>
                  </a:extLst>
                </a:gridCol>
                <a:gridCol w="836438">
                  <a:extLst>
                    <a:ext uri="{9D8B030D-6E8A-4147-A177-3AD203B41FA5}">
                      <a16:colId xmlns:a16="http://schemas.microsoft.com/office/drawing/2014/main" val="2997706305"/>
                    </a:ext>
                  </a:extLst>
                </a:gridCol>
                <a:gridCol w="939475">
                  <a:extLst>
                    <a:ext uri="{9D8B030D-6E8A-4147-A177-3AD203B41FA5}">
                      <a16:colId xmlns:a16="http://schemas.microsoft.com/office/drawing/2014/main" val="1529966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u="sng" dirty="0" err="1"/>
                        <a:t>cId</a:t>
                      </a:r>
                      <a:endParaRPr lang="zh-TW" altLang="en-US" sz="14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title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credits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/>
                        <a:t>tId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017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47112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AI</a:t>
                      </a:r>
                      <a:r>
                        <a:rPr lang="zh-TW" altLang="en-US" sz="1400" dirty="0"/>
                        <a:t>導論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2024F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t001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1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47213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程式</a:t>
                      </a:r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2024F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/>
                        <a:t>t003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804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47500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演算法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2024F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t110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564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9130847"/>
              </p:ext>
            </p:extLst>
          </p:nvPr>
        </p:nvGraphicFramePr>
        <p:xfrm>
          <a:off x="7488400" y="3564623"/>
          <a:ext cx="441224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376">
                  <a:extLst>
                    <a:ext uri="{9D8B030D-6E8A-4147-A177-3AD203B41FA5}">
                      <a16:colId xmlns:a16="http://schemas.microsoft.com/office/drawing/2014/main" val="2417129469"/>
                    </a:ext>
                  </a:extLst>
                </a:gridCol>
                <a:gridCol w="659339">
                  <a:extLst>
                    <a:ext uri="{9D8B030D-6E8A-4147-A177-3AD203B41FA5}">
                      <a16:colId xmlns:a16="http://schemas.microsoft.com/office/drawing/2014/main" val="2727237604"/>
                    </a:ext>
                  </a:extLst>
                </a:gridCol>
                <a:gridCol w="642855">
                  <a:extLst>
                    <a:ext uri="{9D8B030D-6E8A-4147-A177-3AD203B41FA5}">
                      <a16:colId xmlns:a16="http://schemas.microsoft.com/office/drawing/2014/main" val="4120569495"/>
                    </a:ext>
                  </a:extLst>
                </a:gridCol>
                <a:gridCol w="1149219">
                  <a:extLst>
                    <a:ext uri="{9D8B030D-6E8A-4147-A177-3AD203B41FA5}">
                      <a16:colId xmlns:a16="http://schemas.microsoft.com/office/drawing/2014/main" val="293577998"/>
                    </a:ext>
                  </a:extLst>
                </a:gridCol>
                <a:gridCol w="919458">
                  <a:extLst>
                    <a:ext uri="{9D8B030D-6E8A-4147-A177-3AD203B41FA5}">
                      <a16:colId xmlns:a16="http://schemas.microsoft.com/office/drawing/2014/main" val="506411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u="sng" dirty="0"/>
                        <a:t>Teacher</a:t>
                      </a:r>
                      <a:r>
                        <a:rPr lang="en-US" altLang="zh-TW" sz="1400" u="sng" baseline="0" dirty="0"/>
                        <a:t> ID</a:t>
                      </a:r>
                      <a:endParaRPr lang="zh-TW" altLang="en-US" sz="14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Room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Phone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affliction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4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t001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Jason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r001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0911987654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專聘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699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t002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Tim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r605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0912564234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兼聘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1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t003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David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r402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0988191423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專聘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175644"/>
                  </a:ext>
                </a:extLst>
              </a:tr>
            </a:tbl>
          </a:graphicData>
        </a:graphic>
      </p:graphicFrame>
      <p:cxnSp>
        <p:nvCxnSpPr>
          <p:cNvPr id="11" name="直線單箭頭接點 10"/>
          <p:cNvCxnSpPr>
            <a:cxnSpLocks/>
          </p:cNvCxnSpPr>
          <p:nvPr/>
        </p:nvCxnSpPr>
        <p:spPr>
          <a:xfrm>
            <a:off x="2987427" y="5398593"/>
            <a:ext cx="807540" cy="3866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cxnSpLocks/>
          </p:cNvCxnSpPr>
          <p:nvPr/>
        </p:nvCxnSpPr>
        <p:spPr>
          <a:xfrm flipV="1">
            <a:off x="6945419" y="5029567"/>
            <a:ext cx="696952" cy="120141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400800" y="6387353"/>
            <a:ext cx="944981" cy="35496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7416051" y="637252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C00000"/>
                </a:solidFill>
              </a:rPr>
              <a:t>違反參考完整限制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1A78996-9A61-055C-921B-58C02C3B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0928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0B8D89-6F19-4D99-9DC7-86DAD230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語意完整限制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C997C5-F214-40E8-BDE9-BFEBB73D9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交易總金額超過</a:t>
            </a:r>
            <a:r>
              <a:rPr lang="en-US" altLang="zh-TW"/>
              <a:t>1000</a:t>
            </a:r>
            <a:r>
              <a:rPr lang="zh-TW" altLang="en-US"/>
              <a:t>元才能使用信用卡付帳</a:t>
            </a:r>
            <a:endParaRPr lang="en-US" altLang="zh-TW"/>
          </a:p>
          <a:p>
            <a:r>
              <a:rPr lang="zh-TW" altLang="en-US"/>
              <a:t>信用卡到期日必須超過交易</a:t>
            </a:r>
            <a:r>
              <a:rPr lang="en-US" altLang="zh-TW"/>
              <a:t>6</a:t>
            </a:r>
            <a:r>
              <a:rPr lang="zh-TW" altLang="en-US"/>
              <a:t>個月以上</a:t>
            </a:r>
            <a:endParaRPr lang="en-US" altLang="zh-TW"/>
          </a:p>
          <a:p>
            <a:r>
              <a:rPr lang="zh-TW" altLang="en-US"/>
              <a:t>可用程式來限制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24B599-5259-45A9-AC15-65B8F96D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52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  <a:ea typeface="微軟正黑體" pitchFamily="34" charset="-120"/>
              </a:rPr>
              <a:t>關聯模式的資料更新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更新（</a:t>
            </a: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Update</a:t>
            </a:r>
            <a:r>
              <a:rPr lang="zh-TW" altLang="en-US" sz="2400" b="1">
                <a:latin typeface="微軟正黑體" pitchFamily="34" charset="-120"/>
                <a:ea typeface="微軟正黑體" pitchFamily="34" charset="-120"/>
              </a:rPr>
              <a:t>）資料庫三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種運算：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Insert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）一筆序列值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Delete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）一筆序列值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Modify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）一筆序列值裡的某個屬性值 </a:t>
            </a:r>
          </a:p>
          <a:p>
            <a:pPr>
              <a:lnSpc>
                <a:spcPct val="100000"/>
              </a:lnSpc>
            </a:pP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不管是何種運算，都不可以違反任何關聯模式</a:t>
            </a:r>
            <a:r>
              <a:rPr lang="zh-TW" altLang="en-US" sz="2400" b="1">
                <a:latin typeface="微軟正黑體" pitchFamily="34" charset="-120"/>
                <a:ea typeface="微軟正黑體" pitchFamily="34" charset="-120"/>
              </a:rPr>
              <a:t>的限制</a:t>
            </a:r>
            <a:endParaRPr lang="en-US" altLang="zh-TW" sz="2400" b="1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>
                <a:latin typeface="微軟正黑體" pitchFamily="34" charset="-120"/>
              </a:rPr>
              <a:t>新增一筆序列值時，任何一種限制都有可能違反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7F81BE-FA81-E9F5-E60D-8B0B6CDA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762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1">
            <a:extLst>
              <a:ext uri="{FF2B5EF4-FFF2-40B4-BE49-F238E27FC236}">
                <a16:creationId xmlns:a16="http://schemas.microsoft.com/office/drawing/2014/main" id="{75F2ED5D-34C4-488E-83DE-B523E74D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78"/>
            <a:ext cx="10515600" cy="972102"/>
          </a:xfrm>
        </p:spPr>
        <p:txBody>
          <a:bodyPr/>
          <a:lstStyle/>
          <a:p>
            <a:r>
              <a:rPr lang="zh-TW" altLang="en-US"/>
              <a:t>新增一筆紀錄違反完整限制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1288B2-64D4-40CD-A79F-CD25B7B9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CFA3930C-6D74-4B0C-A36B-93F9C667A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91" y="1083279"/>
            <a:ext cx="7051601" cy="183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0">
            <a:extLst>
              <a:ext uri="{FF2B5EF4-FFF2-40B4-BE49-F238E27FC236}">
                <a16:creationId xmlns:a16="http://schemas.microsoft.com/office/drawing/2014/main" id="{4FD69225-312E-45FF-B685-2094EDBC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91" y="3712060"/>
            <a:ext cx="7127673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A4828CF-1F56-4A36-9CDF-9FDAD1FF2CD1}"/>
              </a:ext>
            </a:extLst>
          </p:cNvPr>
          <p:cNvSpPr txBox="1"/>
          <p:nvPr/>
        </p:nvSpPr>
        <p:spPr>
          <a:xfrm>
            <a:off x="1620255" y="3282652"/>
            <a:ext cx="5896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新增一筆紀錄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{“920101“, “</a:t>
            </a:r>
            <a:r>
              <a:rPr lang="en-US" altLang="zh-TW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a0911357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”, “cert”, …}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E384EC1-E988-4DC2-99E6-876DF4757D37}"/>
              </a:ext>
            </a:extLst>
          </p:cNvPr>
          <p:cNvCxnSpPr/>
          <p:nvPr/>
        </p:nvCxnSpPr>
        <p:spPr>
          <a:xfrm flipV="1">
            <a:off x="1988191" y="2920120"/>
            <a:ext cx="0" cy="2954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2141D61-A27E-447E-8B02-F885BC842C2E}"/>
              </a:ext>
            </a:extLst>
          </p:cNvPr>
          <p:cNvSpPr txBox="1"/>
          <p:nvPr/>
        </p:nvSpPr>
        <p:spPr>
          <a:xfrm>
            <a:off x="7571995" y="3282652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會員資料表中不存在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a0911357</a:t>
            </a:r>
            <a:r>
              <a:rPr lang="zh-TW" altLang="en-US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ECAC8A9-9A5E-40CC-8A5F-6D2EEB2FC6D2}"/>
              </a:ext>
            </a:extLst>
          </p:cNvPr>
          <p:cNvSpPr txBox="1"/>
          <p:nvPr/>
        </p:nvSpPr>
        <p:spPr>
          <a:xfrm>
            <a:off x="1510017" y="5798145"/>
            <a:ext cx="7508148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處理方式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342900" indent="-342900">
              <a:buAutoNum type="arabicPeriod"/>
            </a:pP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不允許新增該筆資料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DBMS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修正新增資料為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{“920101“,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Null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, “cert”, …}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6496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F1C40D7-2198-4009-82B1-E0B32CE5A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860"/>
            <a:ext cx="10515600" cy="924376"/>
          </a:xfrm>
        </p:spPr>
        <p:txBody>
          <a:bodyPr/>
          <a:lstStyle/>
          <a:p>
            <a:r>
              <a:rPr lang="zh-TW" altLang="en-US" sz="4000" b="1">
                <a:latin typeface="微軟正黑體" pitchFamily="34" charset="-120"/>
                <a:ea typeface="微軟正黑體" pitchFamily="34" charset="-120"/>
              </a:rPr>
              <a:t>刪除一筆序列值會違反參考完整限制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C1260-6F03-4D3B-B036-277F0538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6" name="Picture 17">
            <a:extLst>
              <a:ext uri="{FF2B5EF4-FFF2-40B4-BE49-F238E27FC236}">
                <a16:creationId xmlns:a16="http://schemas.microsoft.com/office/drawing/2014/main" id="{6C4DB86D-2DA0-4DA7-9A3D-7767D48A7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952" y="1108446"/>
            <a:ext cx="7051601" cy="183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E659F8D-AC39-4CE3-B85C-934A30F927A9}"/>
              </a:ext>
            </a:extLst>
          </p:cNvPr>
          <p:cNvSpPr/>
          <p:nvPr/>
        </p:nvSpPr>
        <p:spPr>
          <a:xfrm>
            <a:off x="2139193" y="1795244"/>
            <a:ext cx="6316910" cy="209725"/>
          </a:xfrm>
          <a:prstGeom prst="rect">
            <a:avLst/>
          </a:prstGeom>
          <a:solidFill>
            <a:srgbClr val="5B9BD5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5E71E07A-B152-45D5-A077-5E71E986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117" y="3013497"/>
            <a:ext cx="3810443" cy="145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8F3F9DD7-0895-40D9-8A3F-0F8CF39F1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602" y="3013497"/>
            <a:ext cx="3810443" cy="2436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979F057-B0D3-48F4-88E9-A606965EFC43}"/>
              </a:ext>
            </a:extLst>
          </p:cNvPr>
          <p:cNvSpPr/>
          <p:nvPr/>
        </p:nvSpPr>
        <p:spPr>
          <a:xfrm>
            <a:off x="2181137" y="3421521"/>
            <a:ext cx="2877424" cy="206280"/>
          </a:xfrm>
          <a:prstGeom prst="rect">
            <a:avLst/>
          </a:prstGeom>
          <a:solidFill>
            <a:srgbClr val="FF0000">
              <a:alpha val="1803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34A368-4FBC-4BFF-B3E6-37CF3176D22E}"/>
              </a:ext>
            </a:extLst>
          </p:cNvPr>
          <p:cNvSpPr/>
          <p:nvPr/>
        </p:nvSpPr>
        <p:spPr>
          <a:xfrm>
            <a:off x="6123963" y="4592536"/>
            <a:ext cx="2936148" cy="587230"/>
          </a:xfrm>
          <a:prstGeom prst="rect">
            <a:avLst/>
          </a:prstGeom>
          <a:solidFill>
            <a:srgbClr val="FF0000">
              <a:alpha val="1686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1E3E00F-C8F8-4CBE-BB8C-7957AFD06B4A}"/>
              </a:ext>
            </a:extLst>
          </p:cNvPr>
          <p:cNvSpPr txBox="1"/>
          <p:nvPr/>
        </p:nvSpPr>
        <p:spPr>
          <a:xfrm>
            <a:off x="649528" y="4690150"/>
            <a:ext cx="5167620" cy="203132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92666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」交易，造成購物車資料表中一筆紀錄無法參考，紀錄資料表中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筆記錄無法參考。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處理方式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不允許刪除「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92666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」紀錄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購物車資料表及記錄資料表中相關紀錄需刪除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將購物車資料表及記錄資料表中相關紀錄的值設為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Null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B97A5E5-23C6-47F8-9F31-5CF670652889}"/>
              </a:ext>
            </a:extLst>
          </p:cNvPr>
          <p:cNvCxnSpPr/>
          <p:nvPr/>
        </p:nvCxnSpPr>
        <p:spPr>
          <a:xfrm>
            <a:off x="1971413" y="1900106"/>
            <a:ext cx="66391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65485CC-1AB9-4B4C-A616-091625220197}"/>
              </a:ext>
            </a:extLst>
          </p:cNvPr>
          <p:cNvSpPr txBox="1"/>
          <p:nvPr/>
        </p:nvSpPr>
        <p:spPr>
          <a:xfrm>
            <a:off x="9337087" y="3818167"/>
            <a:ext cx="2340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連鎖刪除</a:t>
            </a:r>
            <a:endParaRPr lang="en-US" altLang="zh-TW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Cascading Deletion</a:t>
            </a:r>
            <a:endParaRPr lang="zh-TW" altLang="en-US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319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808B7BC-1357-4302-ACAE-95457A21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228"/>
            <a:ext cx="10515600" cy="889339"/>
          </a:xfrm>
        </p:spPr>
        <p:txBody>
          <a:bodyPr>
            <a:noAutofit/>
          </a:bodyPr>
          <a:lstStyle/>
          <a:p>
            <a:r>
              <a:rPr lang="zh-TW" altLang="en-US" sz="2800"/>
              <a:t>練習</a:t>
            </a:r>
            <a:r>
              <a:rPr lang="en-US" altLang="zh-TW" sz="2800"/>
              <a:t>:</a:t>
            </a:r>
            <a:r>
              <a:rPr lang="zh-TW" altLang="en-US" sz="2800"/>
              <a:t> 根據「會員關聯」判斷以下新增資料是否造成</a:t>
            </a:r>
            <a:r>
              <a:rPr lang="en-US" altLang="zh-TW" sz="2800"/>
              <a:t>(i)</a:t>
            </a:r>
            <a:r>
              <a:rPr lang="zh-TW" altLang="en-US" sz="2800"/>
              <a:t> 關聯鍵限制 </a:t>
            </a:r>
            <a:r>
              <a:rPr lang="en-US" altLang="zh-TW" sz="2800"/>
              <a:t>(ii) </a:t>
            </a:r>
            <a:r>
              <a:rPr lang="zh-TW" altLang="en-US" sz="2800"/>
              <a:t>實體完整限制 </a:t>
            </a:r>
            <a:r>
              <a:rPr lang="en-US" altLang="zh-TW" sz="2800"/>
              <a:t>(iii) </a:t>
            </a:r>
            <a:r>
              <a:rPr lang="zh-TW" altLang="en-US" sz="2800"/>
              <a:t>參考完整限制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2964798-C1F9-4D30-884E-7B34A1431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846"/>
            <a:ext cx="10515600" cy="5145117"/>
          </a:xfrm>
        </p:spPr>
        <p:txBody>
          <a:bodyPr/>
          <a:lstStyle/>
          <a:p>
            <a:r>
              <a:rPr lang="en-US" altLang="zh-TW"/>
              <a:t>(Null, “A220234543”, “Dave”, 2001-12-20, “07-5252000”, “</a:t>
            </a:r>
            <a:r>
              <a:rPr lang="zh-TW" altLang="en-US"/>
              <a:t>高雄市中正一路</a:t>
            </a:r>
            <a:r>
              <a:rPr lang="en-US" altLang="zh-TW"/>
              <a:t>1</a:t>
            </a:r>
            <a:r>
              <a:rPr lang="zh-TW" altLang="en-US"/>
              <a:t>號</a:t>
            </a:r>
            <a:r>
              <a:rPr lang="en-US" altLang="zh-TW"/>
              <a:t>”, “abc@yahoo.com.tw”, “b090555”)</a:t>
            </a:r>
          </a:p>
          <a:p>
            <a:r>
              <a:rPr lang="en-US" altLang="zh-TW"/>
              <a:t>(“c0927777”, “Y22023454”, “John”, 2001-1-1, “02-2832123”, “</a:t>
            </a:r>
            <a:r>
              <a:rPr lang="zh-TW" altLang="en-US"/>
              <a:t>台北市勝利路</a:t>
            </a:r>
            <a:r>
              <a:rPr lang="en-US" altLang="zh-TW"/>
              <a:t>5</a:t>
            </a:r>
            <a:r>
              <a:rPr lang="zh-TW" altLang="en-US"/>
              <a:t>號</a:t>
            </a:r>
            <a:r>
              <a:rPr lang="en-US" altLang="zh-TW"/>
              <a:t>”, “john@gmail.com”, “b090555”)</a:t>
            </a:r>
          </a:p>
          <a:p>
            <a:r>
              <a:rPr lang="en-US" altLang="zh-TW"/>
              <a:t>(“c0927788”, “A220123456”, “Mary”, 2000-12-25, “04-1234567”, “</a:t>
            </a:r>
            <a:r>
              <a:rPr lang="zh-TW" altLang="en-US"/>
              <a:t>台中市向上路</a:t>
            </a:r>
            <a:r>
              <a:rPr lang="en-US" altLang="zh-TW"/>
              <a:t>78</a:t>
            </a:r>
            <a:r>
              <a:rPr lang="zh-TW" altLang="en-US"/>
              <a:t>號</a:t>
            </a:r>
            <a:r>
              <a:rPr lang="en-US" altLang="zh-TW"/>
              <a:t>”, “ma001@mcu.edu.tw”, “b0505588”)</a:t>
            </a:r>
          </a:p>
          <a:p>
            <a:r>
              <a:rPr lang="en-US" altLang="zh-TW"/>
              <a:t>(“c0927789”, “C220234567”, “Jeny”, 2001-3-8, “02-2765212”, “</a:t>
            </a:r>
            <a:r>
              <a:rPr lang="zh-TW" altLang="en-US"/>
              <a:t>台北市愛國一路</a:t>
            </a:r>
            <a:r>
              <a:rPr lang="en-US" altLang="zh-TW"/>
              <a:t>10</a:t>
            </a:r>
            <a:r>
              <a:rPr lang="zh-TW" altLang="en-US"/>
              <a:t>號</a:t>
            </a:r>
            <a:r>
              <a:rPr lang="en-US" altLang="zh-TW"/>
              <a:t>”, “jeny.wang@yahoo.com”, “b0905555”)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C3DF6D-CFBA-4292-84F6-B1EB71746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6" name="Picture 20">
            <a:extLst>
              <a:ext uri="{FF2B5EF4-FFF2-40B4-BE49-F238E27FC236}">
                <a16:creationId xmlns:a16="http://schemas.microsoft.com/office/drawing/2014/main" id="{91CB2E1D-4454-43CC-9B98-5330D3D94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906" y="4469042"/>
            <a:ext cx="7127673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49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5FAA29-2482-497A-8E59-BB361110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練習</a:t>
            </a:r>
            <a:r>
              <a:rPr lang="en-US" altLang="zh-TW"/>
              <a:t>:</a:t>
            </a:r>
            <a:r>
              <a:rPr lang="zh-TW" altLang="en-US"/>
              <a:t> 若刪除 </a:t>
            </a:r>
            <a:r>
              <a:rPr lang="en-US" altLang="zh-TW"/>
              <a:t>“c0927777” </a:t>
            </a:r>
            <a:r>
              <a:rPr lang="zh-TW" altLang="en-US"/>
              <a:t>的會員資料，是否會違反參考完整限制</a:t>
            </a:r>
            <a:r>
              <a:rPr lang="en-US" altLang="zh-TW"/>
              <a:t>?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F7E24C-535D-40D9-987F-EDD82B09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E4878BB6-DFCE-42FA-A280-255BA4CFC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80" y="1690688"/>
            <a:ext cx="7051601" cy="183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647B749D-16A7-4A77-91B5-81F71000E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72" y="4058363"/>
            <a:ext cx="4124651" cy="157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1">
            <a:extLst>
              <a:ext uri="{FF2B5EF4-FFF2-40B4-BE49-F238E27FC236}">
                <a16:creationId xmlns:a16="http://schemas.microsoft.com/office/drawing/2014/main" id="{2146A47B-C62B-4581-B395-4F631D09A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082" y="4058363"/>
            <a:ext cx="3896133" cy="229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6698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/>
          <a:lstStyle/>
          <a:p>
            <a:r>
              <a:rPr lang="zh-TW" altLang="en-US" b="1" spc="600" dirty="0">
                <a:latin typeface="微軟正黑體" pitchFamily="34" charset="-120"/>
                <a:ea typeface="微軟正黑體" pitchFamily="34" charset="-120"/>
              </a:rPr>
              <a:t>實體關係圖轉成關聯模式資料庫綱目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5DA0294-EDC6-EB83-C7F0-5863D819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343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實體型態產生關聯綱目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一個強實體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可獨立存在，不須依賴其他屬性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屬性轉換為資料表的屬性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（欄） ，選取其中一個屬性為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關鍵屬性</a:t>
            </a:r>
            <a:endParaRPr lang="en-US" altLang="zh-TW" sz="26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33400" indent="-5334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若有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複合屬性則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</a:rPr>
              <a:t>將其子屬性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展開成簡單屬性</a:t>
            </a:r>
            <a:endParaRPr lang="en-US" altLang="zh-TW" sz="26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76" y="3079927"/>
            <a:ext cx="4188315" cy="3097036"/>
          </a:xfrm>
          <a:prstGeom prst="rect">
            <a:avLst/>
          </a:prstGeom>
        </p:spPr>
      </p:pic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509" y="4126376"/>
            <a:ext cx="6742176" cy="613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D0726-4F24-2E10-AA0A-A4A08110F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B79C79-2EA8-4FC5-9DEB-BE05496AC5CA}"/>
              </a:ext>
            </a:extLst>
          </p:cNvPr>
          <p:cNvSpPr/>
          <p:nvPr/>
        </p:nvSpPr>
        <p:spPr>
          <a:xfrm>
            <a:off x="9211112" y="5398593"/>
            <a:ext cx="1166069" cy="453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付款方式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156B7FB-D387-466A-AB1C-1B245A3E78A3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8573549" y="4667644"/>
            <a:ext cx="1220598" cy="730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5319E49-1F39-4F3A-A3E1-04825C323774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9311781" y="4667645"/>
            <a:ext cx="482366" cy="730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71A5999-38A0-4E9F-BCB2-7B53C483261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9794147" y="4667645"/>
            <a:ext cx="297460" cy="730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08C9375F-C2D5-412D-898D-A0E8A1FC60B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9794147" y="4628445"/>
            <a:ext cx="1077286" cy="770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82F2BE2-2967-4058-ADC4-6082D091521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9794147" y="4675757"/>
            <a:ext cx="1760989" cy="72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336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多值屬性產生關聯綱目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80000"/>
              </a:lnSpc>
            </a:pP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由所有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組成屬性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和一個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外部鍵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sz="2600" u="sng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參考到原隸屬實體型態之關聯綱目的主鍵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）組成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b="37884"/>
          <a:stretch/>
        </p:blipFill>
        <p:spPr>
          <a:xfrm>
            <a:off x="1243584" y="3023905"/>
            <a:ext cx="4325112" cy="268366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t="65996"/>
          <a:stretch/>
        </p:blipFill>
        <p:spPr>
          <a:xfrm>
            <a:off x="6298692" y="3484876"/>
            <a:ext cx="4325112" cy="1469116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95012B-CA81-EC0D-9387-AE820670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A8F63C0-D25B-2F58-78FF-602B7B990535}"/>
              </a:ext>
            </a:extLst>
          </p:cNvPr>
          <p:cNvSpPr txBox="1"/>
          <p:nvPr/>
        </p:nvSpPr>
        <p:spPr>
          <a:xfrm>
            <a:off x="6562165" y="57075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/>
              <a:t>外來鍵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DA020B0-65B3-CE01-5798-EDDDDDC21A0B}"/>
              </a:ext>
            </a:extLst>
          </p:cNvPr>
          <p:cNvSpPr txBox="1"/>
          <p:nvPr/>
        </p:nvSpPr>
        <p:spPr>
          <a:xfrm>
            <a:off x="8461248" y="56809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自有屬性</a:t>
            </a: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B7E02EF0-CE72-1AD3-75D4-37209513C202}"/>
              </a:ext>
            </a:extLst>
          </p:cNvPr>
          <p:cNvCxnSpPr>
            <a:stCxn id="7" idx="0"/>
          </p:cNvCxnSpPr>
          <p:nvPr/>
        </p:nvCxnSpPr>
        <p:spPr>
          <a:xfrm flipV="1">
            <a:off x="7000747" y="5037609"/>
            <a:ext cx="438581" cy="669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A6D271C-E331-04F9-E7D3-81FD9D9FBAE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8695765" y="5037608"/>
            <a:ext cx="319481" cy="643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4A2145B4-E44F-ACFA-503E-CBD9C1469D73}"/>
              </a:ext>
            </a:extLst>
          </p:cNvPr>
          <p:cNvSpPr/>
          <p:nvPr/>
        </p:nvSpPr>
        <p:spPr>
          <a:xfrm>
            <a:off x="8032376" y="4219434"/>
            <a:ext cx="1290918" cy="81817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9409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弱實體型態產生關聯綱目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綱目屬性：所有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組成屬性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和（數個</a:t>
            </a:r>
            <a:r>
              <a:rPr lang="zh-TW" altLang="en-US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60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外來鍵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sz="26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參考到每一主實體型態之關聯綱目的主鍵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marL="533400" indent="-5334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主鍵：</a:t>
            </a:r>
            <a:r>
              <a:rPr lang="zh-TW" altLang="en-US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部分鍵</a:t>
            </a:r>
            <a:r>
              <a:rPr lang="en-US" altLang="zh-TW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(partial key)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屬性和</a:t>
            </a:r>
            <a:r>
              <a:rPr lang="zh-TW" altLang="en-US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</a:t>
            </a:r>
            <a:r>
              <a:rPr lang="zh-TW" altLang="en-US" sz="260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外來鍵</a:t>
            </a:r>
            <a:r>
              <a:rPr lang="en-US" altLang="zh-TW" sz="2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(foreign key)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的組合</a:t>
            </a: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90A483-A9FB-466E-BE0C-1C7BE785D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36" y="3974703"/>
            <a:ext cx="4173690" cy="134320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A0D2AE6-2120-40E5-B5CB-AC7530658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962" y="4033210"/>
            <a:ext cx="3206135" cy="122618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56EDDC1-AA32-4BE7-9211-B645DD493783}"/>
              </a:ext>
            </a:extLst>
          </p:cNvPr>
          <p:cNvSpPr txBox="1"/>
          <p:nvPr/>
        </p:nvSpPr>
        <p:spPr>
          <a:xfrm>
            <a:off x="5330312" y="55750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部分鍵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AFB43C3-3351-45D5-AC0E-BC13FB37AE1A}"/>
              </a:ext>
            </a:extLst>
          </p:cNvPr>
          <p:cNvCxnSpPr>
            <a:cxnSpLocks/>
          </p:cNvCxnSpPr>
          <p:nvPr/>
        </p:nvCxnSpPr>
        <p:spPr>
          <a:xfrm>
            <a:off x="5508850" y="5136003"/>
            <a:ext cx="260044" cy="363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0EB6C54-CB68-40DE-A3D4-0E5EC9429B2F}"/>
              </a:ext>
            </a:extLst>
          </p:cNvPr>
          <p:cNvSpPr/>
          <p:nvPr/>
        </p:nvSpPr>
        <p:spPr>
          <a:xfrm>
            <a:off x="7363326" y="4646303"/>
            <a:ext cx="1774087" cy="67160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FDDF749-41AA-4472-91F7-B2C68616D166}"/>
              </a:ext>
            </a:extLst>
          </p:cNvPr>
          <p:cNvSpPr txBox="1"/>
          <p:nvPr/>
        </p:nvSpPr>
        <p:spPr>
          <a:xfrm>
            <a:off x="7927203" y="576547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主鍵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B322E91-5056-4F78-BBE5-AE7447A29E86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flipH="1">
            <a:off x="8250369" y="5317906"/>
            <a:ext cx="1" cy="4475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7AF571-A132-B45B-D708-07C2311F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990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如果將預算此一弱實體型態當成計畫的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多值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複合屬性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D1CC61D-9407-478B-BC54-403E400B8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76" y="3393007"/>
            <a:ext cx="3700607" cy="19181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FB6FF4E-4D1A-4B8B-AE86-47C57DAE5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7" y="3393007"/>
            <a:ext cx="4163335" cy="16109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579EE77-8131-4F14-A924-ED2C0BE18221}"/>
              </a:ext>
            </a:extLst>
          </p:cNvPr>
          <p:cNvSpPr/>
          <p:nvPr/>
        </p:nvSpPr>
        <p:spPr>
          <a:xfrm>
            <a:off x="3182112" y="4072128"/>
            <a:ext cx="1176528" cy="609600"/>
          </a:xfrm>
          <a:prstGeom prst="rect">
            <a:avLst/>
          </a:prstGeom>
          <a:solidFill>
            <a:srgbClr val="FFFF00">
              <a:alpha val="1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F6EA8A-6865-F560-8AC2-67A23380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570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1:1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之關係型態（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dirty="0"/>
          </a:p>
        </p:txBody>
      </p:sp>
      <p:pic>
        <p:nvPicPr>
          <p:cNvPr id="4" name="圖片 6" descr="圖04-11.jpg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48"/>
          <a:stretch/>
        </p:blipFill>
        <p:spPr bwMode="auto">
          <a:xfrm>
            <a:off x="1594242" y="1392134"/>
            <a:ext cx="9003516" cy="495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8083827" y="920401"/>
            <a:ext cx="4084773" cy="17851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0" lvl="1"/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選擇一個</a:t>
            </a:r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完全參與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此關係型態</a:t>
            </a:r>
            <a:endParaRPr lang="en-US" altLang="zh-TW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/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之實體型態（假定選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），在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</a:p>
          <a:p>
            <a:pPr marL="0" lvl="1"/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的關聯綱目中加上一個參考到</a:t>
            </a:r>
            <a:endParaRPr lang="en-US" altLang="zh-TW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/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的外來鍵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，若此關係型態有</a:t>
            </a:r>
            <a:endParaRPr lang="en-US" altLang="zh-TW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/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屬性，則將這些屬性加到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260600" y="1582120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</a:rPr>
              <a:t>R</a:t>
            </a:r>
            <a:endParaRPr lang="zh-TW" altLang="en-US" sz="2400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696200" y="167256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</a:rPr>
              <a:t>S</a:t>
            </a:r>
            <a:endParaRPr lang="zh-TW" altLang="en-US" sz="2400" dirty="0">
              <a:solidFill>
                <a:srgbClr val="C0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BF229E7-7054-EFB3-EAC0-356BD2A9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74AEC90-2F04-4CC6-BBD2-8AB2BC25A154}"/>
              </a:ext>
            </a:extLst>
          </p:cNvPr>
          <p:cNvSpPr/>
          <p:nvPr/>
        </p:nvSpPr>
        <p:spPr>
          <a:xfrm>
            <a:off x="3380763" y="5670958"/>
            <a:ext cx="2004969" cy="6123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30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1:N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之關係型態（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585227"/>
              </p:ext>
            </p:extLst>
          </p:nvPr>
        </p:nvGraphicFramePr>
        <p:xfrm>
          <a:off x="927100" y="1506540"/>
          <a:ext cx="7569765" cy="5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r:id="rId4" imgW="7389876" imgH="5124069" progId="">
                  <p:embed/>
                </p:oleObj>
              </mc:Choice>
              <mc:Fallback>
                <p:oleObj r:id="rId4" imgW="7389876" imgH="5124069" progId="">
                  <p:embed/>
                  <p:pic>
                    <p:nvPicPr>
                      <p:cNvPr id="2" name="物件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1506540"/>
                        <a:ext cx="7569765" cy="5249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064500" y="1046999"/>
            <a:ext cx="396019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選擇基數為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的實體型態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（選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），並在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的關聯綱目中加上一個</a:t>
            </a:r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參考到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的外部鍵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，若此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關係型態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有屬性，則將這些屬性加到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6388100" y="2222500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</a:rPr>
              <a:t>R</a:t>
            </a:r>
            <a:endParaRPr lang="zh-TW" altLang="en-US" sz="2400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536700" y="260127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</a:rPr>
              <a:t>S</a:t>
            </a:r>
            <a:endParaRPr lang="zh-TW" altLang="en-US" sz="2400" dirty="0">
              <a:solidFill>
                <a:srgbClr val="C0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5292CEE-6F39-0404-B766-9E700E0F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74EAEB1D-9C75-4553-91CF-1D69FEF8E3A3}"/>
              </a:ext>
            </a:extLst>
          </p:cNvPr>
          <p:cNvSpPr/>
          <p:nvPr/>
        </p:nvSpPr>
        <p:spPr>
          <a:xfrm>
            <a:off x="3615655" y="2700943"/>
            <a:ext cx="351378" cy="31909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0B37E57-0483-4AD5-A2E4-360A08454E7F}"/>
              </a:ext>
            </a:extLst>
          </p:cNvPr>
          <p:cNvSpPr/>
          <p:nvPr/>
        </p:nvSpPr>
        <p:spPr>
          <a:xfrm>
            <a:off x="4821332" y="2668629"/>
            <a:ext cx="351378" cy="3190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2875780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M:N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之關係型態（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065118"/>
              </p:ext>
            </p:extLst>
          </p:nvPr>
        </p:nvGraphicFramePr>
        <p:xfrm>
          <a:off x="838200" y="1690688"/>
          <a:ext cx="7258354" cy="492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r:id="rId3" imgW="7054596" imgH="4787798" progId="">
                  <p:embed/>
                </p:oleObj>
              </mc:Choice>
              <mc:Fallback>
                <p:oleObj r:id="rId3" imgW="7054596" imgH="4787798" progId="">
                  <p:embed/>
                  <p:pic>
                    <p:nvPicPr>
                      <p:cNvPr id="2" name="物件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90688"/>
                        <a:ext cx="7258354" cy="49260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445500" y="1679576"/>
            <a:ext cx="3527044" cy="17851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lvl="1"/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將關係定義成關聯，屬性包含所有關係型態的屬性 及兩個外部鍵（分別參考到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的主鍵），主鍵為兩個外部鍵的組合 </a:t>
            </a:r>
          </a:p>
        </p:txBody>
      </p:sp>
      <p:sp>
        <p:nvSpPr>
          <p:cNvPr id="6" name="矩形 5"/>
          <p:cNvSpPr/>
          <p:nvPr/>
        </p:nvSpPr>
        <p:spPr>
          <a:xfrm>
            <a:off x="3340100" y="1536700"/>
            <a:ext cx="2171700" cy="18034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3C8A079-889C-4EF6-FBEA-B089C899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21E0410-FB08-4968-A69D-6757177615AF}"/>
              </a:ext>
            </a:extLst>
          </p:cNvPr>
          <p:cNvSpPr/>
          <p:nvPr/>
        </p:nvSpPr>
        <p:spPr>
          <a:xfrm>
            <a:off x="1719743" y="4840448"/>
            <a:ext cx="1620357" cy="562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151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23" y="251460"/>
            <a:ext cx="10058400" cy="638389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840843" y="251460"/>
            <a:ext cx="3733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en-US" altLang="zh-TW" sz="2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draw.io</a:t>
            </a:r>
            <a:r>
              <a:rPr lang="zh-TW" altLang="en-US" sz="2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產生資料庫綱要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5704B8A-A424-6B0C-0A51-E471A073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647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元的關係型態（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 &gt; 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210028"/>
              </p:ext>
            </p:extLst>
          </p:nvPr>
        </p:nvGraphicFramePr>
        <p:xfrm>
          <a:off x="4246562" y="1855787"/>
          <a:ext cx="3698875" cy="309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r:id="rId3" imgW="3699358" imgH="3097987" progId="">
                  <p:embed/>
                </p:oleObj>
              </mc:Choice>
              <mc:Fallback>
                <p:oleObj r:id="rId3" imgW="3699358" imgH="3097987" progId="">
                  <p:embed/>
                  <p:pic>
                    <p:nvPicPr>
                      <p:cNvPr id="7" name="物件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562" y="1855787"/>
                        <a:ext cx="3698875" cy="309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851473"/>
              </p:ext>
            </p:extLst>
          </p:nvPr>
        </p:nvGraphicFramePr>
        <p:xfrm>
          <a:off x="2387599" y="5538788"/>
          <a:ext cx="7416800" cy="640034"/>
        </p:xfrm>
        <a:graphic>
          <a:graphicData uri="http://schemas.openxmlformats.org/drawingml/2006/table">
            <a:tbl>
              <a:tblPr/>
              <a:tblGrid>
                <a:gridCol w="148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4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76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載運</a:t>
                      </a:r>
                      <a:endParaRPr kumimoji="1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Carries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進貨時間</a:t>
                      </a: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cargoTime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供應商識別號</a:t>
                      </a:r>
                      <a:endParaRPr kumimoji="1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sId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商品編號</a:t>
                      </a: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pNo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載運數量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loadAmount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689100" y="1855787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N:N:N</a:t>
            </a:r>
            <a:endParaRPr lang="zh-TW" altLang="en-US" sz="2400" b="1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02A76D6-EF1A-4FA9-B23D-D110071B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1DDDF8A-296F-49F4-AEDE-8B19BD014EDC}"/>
              </a:ext>
            </a:extLst>
          </p:cNvPr>
          <p:cNvSpPr/>
          <p:nvPr/>
        </p:nvSpPr>
        <p:spPr>
          <a:xfrm>
            <a:off x="3816991" y="5427677"/>
            <a:ext cx="4546833" cy="87245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F98CD5-7D32-487C-8B5C-8E8BB2DCF996}"/>
              </a:ext>
            </a:extLst>
          </p:cNvPr>
          <p:cNvSpPr txBox="1"/>
          <p:nvPr/>
        </p:nvSpPr>
        <p:spPr>
          <a:xfrm>
            <a:off x="713102" y="3087149"/>
            <a:ext cx="3348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solidFill>
                  <a:srgbClr val="C00000"/>
                </a:solidFill>
              </a:rPr>
              <a:t>弱實體型態的基數比為 </a:t>
            </a:r>
            <a:r>
              <a:rPr lang="en-US" altLang="zh-TW">
                <a:solidFill>
                  <a:srgbClr val="C00000"/>
                </a:solidFill>
              </a:rPr>
              <a:t>N:N:N</a:t>
            </a:r>
          </a:p>
          <a:p>
            <a:r>
              <a:rPr lang="zh-TW" altLang="en-US">
                <a:solidFill>
                  <a:srgbClr val="C00000"/>
                </a:solidFill>
              </a:rPr>
              <a:t>建立關係的綱要並以</a:t>
            </a:r>
            <a:r>
              <a:rPr lang="en-US" altLang="zh-TW">
                <a:solidFill>
                  <a:srgbClr val="C00000"/>
                </a:solidFill>
              </a:rPr>
              <a:t>3</a:t>
            </a:r>
            <a:r>
              <a:rPr lang="zh-TW" altLang="en-US">
                <a:solidFill>
                  <a:srgbClr val="C00000"/>
                </a:solidFill>
              </a:rPr>
              <a:t>個外部鍵</a:t>
            </a:r>
            <a:endParaRPr lang="en-US" altLang="zh-TW">
              <a:solidFill>
                <a:srgbClr val="C00000"/>
              </a:solidFill>
            </a:endParaRPr>
          </a:p>
          <a:p>
            <a:r>
              <a:rPr lang="en-US" altLang="zh-TW">
                <a:solidFill>
                  <a:srgbClr val="C00000"/>
                </a:solidFill>
              </a:rPr>
              <a:t>(</a:t>
            </a:r>
            <a:r>
              <a:rPr lang="zh-TW" altLang="en-US">
                <a:solidFill>
                  <a:srgbClr val="C00000"/>
                </a:solidFill>
              </a:rPr>
              <a:t>複合鍵</a:t>
            </a:r>
            <a:r>
              <a:rPr lang="en-US" altLang="zh-TW">
                <a:solidFill>
                  <a:srgbClr val="C00000"/>
                </a:solidFill>
              </a:rPr>
              <a:t>)</a:t>
            </a:r>
            <a:r>
              <a:rPr lang="zh-TW" altLang="en-US">
                <a:solidFill>
                  <a:srgbClr val="C00000"/>
                </a:solidFill>
              </a:rPr>
              <a:t>為主鍵</a:t>
            </a:r>
          </a:p>
        </p:txBody>
      </p:sp>
    </p:spTree>
    <p:extLst>
      <p:ext uri="{BB962C8B-B14F-4D97-AF65-F5344CB8AC3E}">
        <p14:creationId xmlns:p14="http://schemas.microsoft.com/office/powerpoint/2010/main" val="32444540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N:N:1</a:t>
            </a:r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468948"/>
              </p:ext>
            </p:extLst>
          </p:nvPr>
        </p:nvGraphicFramePr>
        <p:xfrm>
          <a:off x="4402138" y="1936479"/>
          <a:ext cx="3816350" cy="317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r:id="rId3" imgW="4138803" imgH="3454527" progId="">
                  <p:embed/>
                </p:oleObj>
              </mc:Choice>
              <mc:Fallback>
                <p:oleObj r:id="rId3" imgW="4138803" imgH="3454527" progId="">
                  <p:embed/>
                  <p:pic>
                    <p:nvPicPr>
                      <p:cNvPr id="6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1936479"/>
                        <a:ext cx="3816350" cy="317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Group 4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933441"/>
              </p:ext>
            </p:extLst>
          </p:nvPr>
        </p:nvGraphicFramePr>
        <p:xfrm>
          <a:off x="2744788" y="5536929"/>
          <a:ext cx="7273925" cy="640034"/>
        </p:xfrm>
        <a:graphic>
          <a:graphicData uri="http://schemas.openxmlformats.org/drawingml/2006/table">
            <a:tbl>
              <a:tblPr/>
              <a:tblGrid>
                <a:gridCol w="1455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76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供應</a:t>
                      </a:r>
                      <a:endParaRPr kumimoji="1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Supplies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機器識別號</a:t>
                      </a:r>
                      <a:endParaRPr kumimoji="1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mId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零件識別號</a:t>
                      </a: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pId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供應商識別號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sId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載運數量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loadAmount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48A4B5-661A-1C49-494F-A6A7A2E9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B6FFC51-4E35-4C12-949A-3EC94E2CE331}"/>
              </a:ext>
            </a:extLst>
          </p:cNvPr>
          <p:cNvSpPr/>
          <p:nvPr/>
        </p:nvSpPr>
        <p:spPr>
          <a:xfrm>
            <a:off x="4127384" y="5494984"/>
            <a:ext cx="3045203" cy="7236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F710FEB-1C22-41CE-A5E9-4F1946F02AC0}"/>
              </a:ext>
            </a:extLst>
          </p:cNvPr>
          <p:cNvSpPr txBox="1"/>
          <p:nvPr/>
        </p:nvSpPr>
        <p:spPr>
          <a:xfrm>
            <a:off x="947956" y="2818701"/>
            <a:ext cx="3179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rgbClr val="C00000"/>
                </a:solidFill>
              </a:rPr>
              <a:t>n</a:t>
            </a:r>
            <a:r>
              <a:rPr lang="zh-TW" altLang="en-US">
                <a:solidFill>
                  <a:srgbClr val="C00000"/>
                </a:solidFill>
              </a:rPr>
              <a:t>元關係中，各實體型態的基數比不全為</a:t>
            </a:r>
            <a:r>
              <a:rPr lang="en-US" altLang="zh-TW">
                <a:solidFill>
                  <a:srgbClr val="C00000"/>
                </a:solidFill>
              </a:rPr>
              <a:t>N</a:t>
            </a:r>
            <a:r>
              <a:rPr lang="zh-TW" altLang="en-US">
                <a:solidFill>
                  <a:srgbClr val="C00000"/>
                </a:solidFill>
              </a:rPr>
              <a:t>，建立一個關係綱要，以基數為</a:t>
            </a:r>
            <a:r>
              <a:rPr lang="en-US" altLang="zh-TW">
                <a:solidFill>
                  <a:srgbClr val="C00000"/>
                </a:solidFill>
              </a:rPr>
              <a:t>N</a:t>
            </a:r>
            <a:r>
              <a:rPr lang="zh-TW" altLang="en-US">
                <a:solidFill>
                  <a:srgbClr val="C00000"/>
                </a:solidFill>
              </a:rPr>
              <a:t>的實體的主鍵的複合鍵為主鍵</a:t>
            </a:r>
          </a:p>
        </p:txBody>
      </p:sp>
    </p:spTree>
    <p:extLst>
      <p:ext uri="{BB962C8B-B14F-4D97-AF65-F5344CB8AC3E}">
        <p14:creationId xmlns:p14="http://schemas.microsoft.com/office/powerpoint/2010/main" val="2723876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83EF1C-B553-47D9-AB0C-909014BC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課程管理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93DFE4-AAAB-432C-BBD8-635A0E959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836"/>
            <a:ext cx="10515600" cy="560948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b="0" dirty="0"/>
              <a:t>記錄課程</a:t>
            </a:r>
            <a:r>
              <a:rPr lang="en-US" altLang="zh-TW" b="0" dirty="0"/>
              <a:t>(Course)</a:t>
            </a:r>
            <a:r>
              <a:rPr lang="zh-TW" altLang="en-US" b="0" dirty="0"/>
              <a:t>資訊</a:t>
            </a:r>
            <a:r>
              <a:rPr lang="en-US" altLang="zh-TW" b="0" dirty="0"/>
              <a:t>,</a:t>
            </a:r>
            <a:r>
              <a:rPr lang="zh-TW" altLang="en-US" b="0" dirty="0"/>
              <a:t>包括上課老師</a:t>
            </a:r>
            <a:r>
              <a:rPr lang="en-US" altLang="zh-TW" b="0" dirty="0"/>
              <a:t>[Teacher〕</a:t>
            </a:r>
            <a:r>
              <a:rPr lang="zh-TW" altLang="en-US" b="0" dirty="0"/>
              <a:t>、教室</a:t>
            </a:r>
            <a:r>
              <a:rPr lang="en-US" altLang="zh-TW" b="0" dirty="0"/>
              <a:t>(Room)</a:t>
            </a:r>
            <a:r>
              <a:rPr lang="zh-TW" altLang="en-US" b="0" dirty="0"/>
              <a:t>和教</a:t>
            </a:r>
            <a:br>
              <a:rPr lang="zh-TW" altLang="en-US" dirty="0"/>
            </a:br>
            <a:r>
              <a:rPr lang="zh-TW" altLang="en-US" b="0" dirty="0"/>
              <a:t>科書</a:t>
            </a:r>
            <a:r>
              <a:rPr lang="en-US" altLang="zh-TW" b="0" dirty="0"/>
              <a:t>〔Book〕</a:t>
            </a:r>
            <a:r>
              <a:rPr lang="zh-TW" altLang="en-US" b="0" dirty="0"/>
              <a:t>。其資料需求如下</a:t>
            </a:r>
            <a:r>
              <a:rPr lang="en-US" altLang="zh-TW" b="0" dirty="0"/>
              <a:t>:</a:t>
            </a:r>
          </a:p>
          <a:p>
            <a:pPr lvl="1">
              <a:lnSpc>
                <a:spcPct val="150000"/>
              </a:lnSpc>
            </a:pPr>
            <a:r>
              <a:rPr lang="zh-TW" altLang="en-US" b="0" dirty="0"/>
              <a:t>老師包括</a:t>
            </a:r>
            <a:r>
              <a:rPr lang="zh-TW" altLang="en-US" dirty="0"/>
              <a:t>教師邊</a:t>
            </a:r>
            <a:r>
              <a:rPr lang="zh-TW" altLang="en-US" b="0" dirty="0"/>
              <a:t>號</a:t>
            </a:r>
            <a:r>
              <a:rPr lang="en-US" altLang="zh-TW" b="0" dirty="0"/>
              <a:t>(</a:t>
            </a:r>
            <a:r>
              <a:rPr lang="en-US" altLang="zh-TW" b="0" dirty="0" err="1"/>
              <a:t>tID</a:t>
            </a:r>
            <a:r>
              <a:rPr lang="en-US" altLang="zh-TW" b="0" dirty="0"/>
              <a:t>)</a:t>
            </a:r>
            <a:r>
              <a:rPr lang="zh-TW" altLang="en-US" b="0" dirty="0"/>
              <a:t>和姓名</a:t>
            </a:r>
            <a:r>
              <a:rPr lang="en-US" altLang="zh-TW" b="0" dirty="0"/>
              <a:t>(name)</a:t>
            </a:r>
            <a:r>
              <a:rPr lang="zh-TW" altLang="en-US" b="0" dirty="0"/>
              <a:t>。</a:t>
            </a:r>
            <a:endParaRPr lang="en-US" altLang="zh-TW" b="0" dirty="0"/>
          </a:p>
          <a:p>
            <a:pPr lvl="1">
              <a:lnSpc>
                <a:spcPct val="150000"/>
              </a:lnSpc>
            </a:pPr>
            <a:r>
              <a:rPr lang="zh-TW" altLang="en-US" b="0" dirty="0"/>
              <a:t>課程包括課程編號</a:t>
            </a:r>
            <a:r>
              <a:rPr lang="en-US" altLang="zh-TW" b="0" dirty="0"/>
              <a:t>(</a:t>
            </a:r>
            <a:r>
              <a:rPr lang="en-US" altLang="zh-TW" b="0" dirty="0" err="1"/>
              <a:t>cId</a:t>
            </a:r>
            <a:r>
              <a:rPr lang="en-US" altLang="zh-TW" b="0" dirty="0"/>
              <a:t>)</a:t>
            </a:r>
            <a:r>
              <a:rPr lang="zh-TW" altLang="en-US" b="0" dirty="0"/>
              <a:t>、開課學期</a:t>
            </a:r>
            <a:r>
              <a:rPr lang="en-US" altLang="zh-TW" b="0" dirty="0"/>
              <a:t>(semester)</a:t>
            </a:r>
            <a:r>
              <a:rPr lang="zh-TW" altLang="en-US" b="0" dirty="0"/>
              <a:t>和課程敘述</a:t>
            </a:r>
            <a:r>
              <a:rPr lang="en-US" altLang="zh-TW" b="0" dirty="0"/>
              <a:t>(desc),</a:t>
            </a:r>
            <a:r>
              <a:rPr lang="zh-TW" altLang="en-US" b="0" dirty="0"/>
              <a:t>其中課程</a:t>
            </a:r>
            <a:br>
              <a:rPr lang="zh-TW" altLang="en-US" dirty="0"/>
            </a:br>
            <a:r>
              <a:rPr lang="zh-TW" altLang="en-US" b="0" dirty="0"/>
              <a:t>編號和開課學期合起來是唯一。</a:t>
            </a:r>
            <a:endParaRPr lang="en-US" altLang="zh-TW" b="0" dirty="0"/>
          </a:p>
          <a:p>
            <a:pPr lvl="1">
              <a:lnSpc>
                <a:spcPct val="150000"/>
              </a:lnSpc>
            </a:pPr>
            <a:r>
              <a:rPr lang="zh-TW" altLang="en-US" b="0" dirty="0"/>
              <a:t>教科書包括書名</a:t>
            </a:r>
            <a:r>
              <a:rPr lang="en-US" altLang="zh-TW" b="0" dirty="0"/>
              <a:t>(</a:t>
            </a:r>
            <a:r>
              <a:rPr lang="en-US" altLang="zh-TW" b="0" dirty="0" err="1"/>
              <a:t>bookName</a:t>
            </a:r>
            <a:r>
              <a:rPr lang="en-US" altLang="zh-TW" b="0" dirty="0"/>
              <a:t>)</a:t>
            </a:r>
            <a:r>
              <a:rPr lang="zh-TW" altLang="en-US" b="0" dirty="0"/>
              <a:t>、作者</a:t>
            </a:r>
            <a:r>
              <a:rPr lang="en-US" altLang="zh-TW" b="0" dirty="0"/>
              <a:t>(authors)</a:t>
            </a:r>
            <a:r>
              <a:rPr lang="zh-TW" altLang="en-US" b="0" dirty="0"/>
              <a:t>和出版社</a:t>
            </a:r>
            <a:r>
              <a:rPr lang="en-US" altLang="zh-TW" b="0" dirty="0"/>
              <a:t>(publisher),</a:t>
            </a:r>
            <a:r>
              <a:rPr lang="zh-TW" altLang="en-US" b="0" dirty="0"/>
              <a:t>其中作者</a:t>
            </a:r>
            <a:br>
              <a:rPr lang="zh-TW" altLang="en-US" dirty="0"/>
            </a:br>
            <a:r>
              <a:rPr lang="zh-TW" altLang="en-US" b="0" dirty="0"/>
              <a:t>可以有多位</a:t>
            </a:r>
            <a:r>
              <a:rPr lang="en-US" altLang="zh-TW" b="0" dirty="0"/>
              <a:t>,</a:t>
            </a:r>
            <a:r>
              <a:rPr lang="zh-TW" altLang="en-US" b="0" dirty="0"/>
              <a:t>沒有任一個屬性是唯一。但教科書一定要被至少一個課程採用。</a:t>
            </a:r>
            <a:endParaRPr lang="en-US" altLang="zh-TW" b="0" dirty="0"/>
          </a:p>
          <a:p>
            <a:pPr lvl="1">
              <a:lnSpc>
                <a:spcPct val="150000"/>
              </a:lnSpc>
            </a:pPr>
            <a:r>
              <a:rPr lang="zh-TW" altLang="en-US" b="0" dirty="0"/>
              <a:t>上課教室包括教室編號</a:t>
            </a:r>
            <a:r>
              <a:rPr lang="en-US" altLang="zh-TW" b="0" dirty="0"/>
              <a:t>(</a:t>
            </a:r>
            <a:r>
              <a:rPr lang="en-US" altLang="zh-TW" b="0" dirty="0" err="1"/>
              <a:t>rld</a:t>
            </a:r>
            <a:r>
              <a:rPr lang="en-US" altLang="zh-TW" b="0" dirty="0"/>
              <a:t>)</a:t>
            </a:r>
            <a:r>
              <a:rPr lang="zh-TW" altLang="en-US" b="0" dirty="0"/>
              <a:t>和地點</a:t>
            </a:r>
            <a:r>
              <a:rPr lang="en-US" altLang="zh-TW" b="0" dirty="0"/>
              <a:t>(</a:t>
            </a:r>
            <a:r>
              <a:rPr lang="en-US" altLang="zh-TW" b="0" dirty="0" err="1"/>
              <a:t>rLoc</a:t>
            </a:r>
            <a:r>
              <a:rPr lang="en-US" altLang="zh-TW" b="0" dirty="0"/>
              <a:t>)</a:t>
            </a:r>
            <a:r>
              <a:rPr lang="zh-TW" altLang="en-US" b="0" dirty="0"/>
              <a:t>。</a:t>
            </a:r>
            <a:endParaRPr lang="en-US" altLang="zh-TW" b="0" dirty="0"/>
          </a:p>
          <a:p>
            <a:pPr lvl="1">
              <a:lnSpc>
                <a:spcPct val="150000"/>
              </a:lnSpc>
            </a:pPr>
            <a:r>
              <a:rPr lang="zh-TW" altLang="en-US" b="0" dirty="0"/>
              <a:t>每一門課只能有一位授課老師。</a:t>
            </a:r>
            <a:endParaRPr lang="en-US" altLang="zh-TW" b="0" dirty="0"/>
          </a:p>
          <a:p>
            <a:pPr lvl="1">
              <a:lnSpc>
                <a:spcPct val="150000"/>
              </a:lnSpc>
            </a:pPr>
            <a:r>
              <a:rPr lang="zh-TW" altLang="en-US" b="0" dirty="0"/>
              <a:t>每一門課可以使用多本書當教科書</a:t>
            </a:r>
            <a:r>
              <a:rPr lang="en-US" altLang="zh-TW" b="0" dirty="0"/>
              <a:t>,</a:t>
            </a:r>
            <a:r>
              <a:rPr lang="zh-TW" altLang="en-US" b="0" dirty="0"/>
              <a:t>但這些書的書名必然不同。</a:t>
            </a:r>
            <a:endParaRPr lang="en-US" altLang="zh-TW" b="0" dirty="0"/>
          </a:p>
          <a:p>
            <a:pPr lvl="1">
              <a:lnSpc>
                <a:spcPct val="150000"/>
              </a:lnSpc>
            </a:pPr>
            <a:r>
              <a:rPr lang="zh-TW" altLang="en-US" b="0" dirty="0"/>
              <a:t>每一門課至少需要用到一間教室。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4B045A-87E6-A424-FC7E-8FB37FBC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483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DBC56F-FBE2-8F5B-7DFA-ABD87A03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36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86A98BD-78C9-7A36-D97E-381B6C1D8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97" y="330419"/>
            <a:ext cx="9238593" cy="612056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AC62750-A153-4462-AC16-19CC397E9243}"/>
              </a:ext>
            </a:extLst>
          </p:cNvPr>
          <p:cNvSpPr txBox="1"/>
          <p:nvPr/>
        </p:nvSpPr>
        <p:spPr>
          <a:xfrm>
            <a:off x="288567" y="235782"/>
            <a:ext cx="738664" cy="612056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6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請將以下</a:t>
            </a:r>
            <a:r>
              <a:rPr lang="en-US" altLang="zh-TW" sz="36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ERD</a:t>
            </a:r>
            <a:r>
              <a:rPr lang="zh-TW" altLang="en-US" sz="36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轉換成關聯綱要</a:t>
            </a:r>
          </a:p>
        </p:txBody>
      </p:sp>
    </p:spTree>
    <p:extLst>
      <p:ext uri="{BB962C8B-B14F-4D97-AF65-F5344CB8AC3E}">
        <p14:creationId xmlns:p14="http://schemas.microsoft.com/office/powerpoint/2010/main" val="18706084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43A4B4-E56D-48E4-A15E-8543E1BD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資料庫綱目</a:t>
            </a:r>
            <a:r>
              <a:rPr lang="en-US" altLang="zh-TW" dirty="0"/>
              <a:t>(Database schema)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0E01CD-3483-443B-974D-7DD76F3D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dirty="0"/>
              <a:t>教授</a:t>
            </a:r>
            <a:r>
              <a:rPr lang="en-US" altLang="zh-TW" dirty="0"/>
              <a:t>(</a:t>
            </a:r>
            <a:r>
              <a:rPr lang="zh-TW" altLang="en-US" u="sng" dirty="0">
                <a:solidFill>
                  <a:srgbClr val="C00000"/>
                </a:solidFill>
              </a:rPr>
              <a:t>教師編號</a:t>
            </a:r>
            <a:r>
              <a:rPr lang="zh-TW" altLang="en-US" dirty="0"/>
              <a:t>，姓名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課程</a:t>
            </a:r>
            <a:r>
              <a:rPr lang="en-US" altLang="zh-TW" dirty="0"/>
              <a:t>(</a:t>
            </a:r>
            <a:r>
              <a:rPr lang="zh-TW" altLang="en-US" u="sng" dirty="0">
                <a:solidFill>
                  <a:srgbClr val="C00000"/>
                </a:solidFill>
              </a:rPr>
              <a:t>課程編號</a:t>
            </a:r>
            <a:r>
              <a:rPr lang="en-US" altLang="zh-TW" dirty="0">
                <a:solidFill>
                  <a:srgbClr val="C00000"/>
                </a:solidFill>
              </a:rPr>
              <a:t>, </a:t>
            </a:r>
            <a:r>
              <a:rPr lang="zh-TW" altLang="en-US" u="sng" dirty="0">
                <a:solidFill>
                  <a:srgbClr val="C00000"/>
                </a:solidFill>
              </a:rPr>
              <a:t>學期</a:t>
            </a:r>
            <a:r>
              <a:rPr lang="en-US" altLang="zh-TW" dirty="0"/>
              <a:t>, </a:t>
            </a:r>
            <a:r>
              <a:rPr lang="zh-TW" altLang="en-US" dirty="0"/>
              <a:t>課程介紹</a:t>
            </a:r>
            <a:r>
              <a:rPr lang="en-US" altLang="zh-TW" dirty="0"/>
              <a:t>, </a:t>
            </a:r>
            <a:r>
              <a:rPr lang="zh-TW" altLang="en-US" u="sng" dirty="0">
                <a:solidFill>
                  <a:srgbClr val="00B050"/>
                </a:solidFill>
              </a:rPr>
              <a:t>教師編號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教科書</a:t>
            </a:r>
            <a:r>
              <a:rPr lang="en-US" altLang="zh-TW" dirty="0"/>
              <a:t>(</a:t>
            </a:r>
            <a:r>
              <a:rPr lang="zh-TW" altLang="en-US" u="sng" dirty="0">
                <a:solidFill>
                  <a:srgbClr val="C00000"/>
                </a:solidFill>
              </a:rPr>
              <a:t>課程編號</a:t>
            </a:r>
            <a:r>
              <a:rPr lang="zh-TW" altLang="en-US" dirty="0">
                <a:solidFill>
                  <a:srgbClr val="C00000"/>
                </a:solidFill>
              </a:rPr>
              <a:t>，</a:t>
            </a:r>
            <a:r>
              <a:rPr lang="zh-TW" altLang="en-US" u="sng" dirty="0">
                <a:solidFill>
                  <a:srgbClr val="C00000"/>
                </a:solidFill>
              </a:rPr>
              <a:t>學期</a:t>
            </a:r>
            <a:r>
              <a:rPr lang="zh-TW" altLang="en-US" dirty="0">
                <a:solidFill>
                  <a:srgbClr val="C00000"/>
                </a:solidFill>
              </a:rPr>
              <a:t>，</a:t>
            </a:r>
            <a:r>
              <a:rPr lang="zh-TW" altLang="en-US" u="sng" dirty="0">
                <a:solidFill>
                  <a:srgbClr val="C00000"/>
                </a:solidFill>
              </a:rPr>
              <a:t>書名</a:t>
            </a:r>
            <a:r>
              <a:rPr lang="zh-TW" altLang="en-US" dirty="0"/>
              <a:t>，出版商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weak entity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教科書作者</a:t>
            </a:r>
            <a:r>
              <a:rPr lang="en-US" altLang="zh-TW" dirty="0"/>
              <a:t>(</a:t>
            </a:r>
            <a:r>
              <a:rPr lang="zh-TW" altLang="en-US" u="sng" dirty="0">
                <a:solidFill>
                  <a:srgbClr val="C00000"/>
                </a:solidFill>
              </a:rPr>
              <a:t>課程編號</a:t>
            </a:r>
            <a:r>
              <a:rPr lang="zh-TW" altLang="en-US" dirty="0">
                <a:solidFill>
                  <a:srgbClr val="C00000"/>
                </a:solidFill>
              </a:rPr>
              <a:t>，</a:t>
            </a:r>
            <a:r>
              <a:rPr lang="zh-TW" altLang="en-US" u="sng" dirty="0">
                <a:solidFill>
                  <a:srgbClr val="C00000"/>
                </a:solidFill>
              </a:rPr>
              <a:t>學期</a:t>
            </a:r>
            <a:r>
              <a:rPr lang="zh-TW" altLang="en-US" dirty="0">
                <a:solidFill>
                  <a:srgbClr val="C00000"/>
                </a:solidFill>
              </a:rPr>
              <a:t>，</a:t>
            </a:r>
            <a:r>
              <a:rPr lang="zh-TW" altLang="en-US" u="sng" dirty="0">
                <a:solidFill>
                  <a:srgbClr val="C00000"/>
                </a:solidFill>
              </a:rPr>
              <a:t>書名</a:t>
            </a:r>
            <a:r>
              <a:rPr lang="zh-TW" altLang="en-US" dirty="0">
                <a:solidFill>
                  <a:srgbClr val="C00000"/>
                </a:solidFill>
              </a:rPr>
              <a:t>，</a:t>
            </a:r>
            <a:r>
              <a:rPr lang="zh-TW" altLang="en-US" u="sng" dirty="0">
                <a:solidFill>
                  <a:srgbClr val="C00000"/>
                </a:solidFill>
              </a:rPr>
              <a:t>作者姓名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指派</a:t>
            </a:r>
            <a:r>
              <a:rPr lang="en-US" altLang="zh-TW" dirty="0"/>
              <a:t>(</a:t>
            </a:r>
            <a:r>
              <a:rPr lang="zh-TW" altLang="en-US" u="sng" dirty="0">
                <a:solidFill>
                  <a:srgbClr val="00B050"/>
                </a:solidFill>
              </a:rPr>
              <a:t>課程編號</a:t>
            </a:r>
            <a:r>
              <a:rPr lang="zh-TW" altLang="en-US" dirty="0">
                <a:solidFill>
                  <a:srgbClr val="00B050"/>
                </a:solidFill>
              </a:rPr>
              <a:t>，</a:t>
            </a:r>
            <a:r>
              <a:rPr lang="zh-TW" altLang="en-US" u="sng" dirty="0">
                <a:solidFill>
                  <a:srgbClr val="00B050"/>
                </a:solidFill>
              </a:rPr>
              <a:t>學期</a:t>
            </a:r>
            <a:r>
              <a:rPr lang="zh-TW" altLang="en-US" dirty="0"/>
              <a:t>，</a:t>
            </a:r>
            <a:r>
              <a:rPr lang="zh-TW" altLang="en-US" u="sng" dirty="0">
                <a:solidFill>
                  <a:srgbClr val="00B050"/>
                </a:solidFill>
              </a:rPr>
              <a:t>教室編號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教室</a:t>
            </a:r>
            <a:r>
              <a:rPr lang="en-US" altLang="zh-TW" dirty="0"/>
              <a:t>(</a:t>
            </a:r>
            <a:r>
              <a:rPr lang="zh-TW" altLang="en-US" u="sng" dirty="0">
                <a:solidFill>
                  <a:srgbClr val="C00000"/>
                </a:solidFill>
              </a:rPr>
              <a:t>教室編號</a:t>
            </a:r>
            <a:r>
              <a:rPr lang="zh-TW" altLang="en-US" dirty="0"/>
              <a:t>，教室位置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DC9F19-4410-48C4-B70B-1C269CC6D08C}"/>
              </a:ext>
            </a:extLst>
          </p:cNvPr>
          <p:cNvSpPr/>
          <p:nvPr/>
        </p:nvSpPr>
        <p:spPr>
          <a:xfrm>
            <a:off x="1612232" y="1375791"/>
            <a:ext cx="1275347" cy="4530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4C63D8-8283-455D-B5FE-F76749C57398}"/>
              </a:ext>
            </a:extLst>
          </p:cNvPr>
          <p:cNvSpPr/>
          <p:nvPr/>
        </p:nvSpPr>
        <p:spPr>
          <a:xfrm>
            <a:off x="5065295" y="2201779"/>
            <a:ext cx="1311442" cy="4331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338A38-A6E3-4C09-950D-2FE01F5BE6B1}"/>
              </a:ext>
            </a:extLst>
          </p:cNvPr>
          <p:cNvSpPr/>
          <p:nvPr/>
        </p:nvSpPr>
        <p:spPr>
          <a:xfrm>
            <a:off x="2538663" y="3874168"/>
            <a:ext cx="2213811" cy="5173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8C6C34-6F85-46E2-A694-26F596AE3AC5}"/>
              </a:ext>
            </a:extLst>
          </p:cNvPr>
          <p:cNvSpPr/>
          <p:nvPr/>
        </p:nvSpPr>
        <p:spPr>
          <a:xfrm>
            <a:off x="1584157" y="4700338"/>
            <a:ext cx="2213811" cy="5173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3A6EFB29-7AA0-4C6D-811C-3ACA9AF52E4C}"/>
              </a:ext>
            </a:extLst>
          </p:cNvPr>
          <p:cNvCxnSpPr>
            <a:stCxn id="14" idx="0"/>
            <a:endCxn id="13" idx="2"/>
          </p:cNvCxnSpPr>
          <p:nvPr/>
        </p:nvCxnSpPr>
        <p:spPr>
          <a:xfrm rot="5400000" flipH="1" flipV="1">
            <a:off x="3013910" y="4068679"/>
            <a:ext cx="308812" cy="95450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FED4969-3A9A-438D-9FCB-2A6788D5065B}"/>
              </a:ext>
            </a:extLst>
          </p:cNvPr>
          <p:cNvCxnSpPr>
            <a:cxnSpLocks/>
          </p:cNvCxnSpPr>
          <p:nvPr/>
        </p:nvCxnSpPr>
        <p:spPr>
          <a:xfrm flipH="1">
            <a:off x="2691062" y="5217696"/>
            <a:ext cx="2061412" cy="3769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0F24975-723C-418D-9169-07284962BC09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2691062" y="1828800"/>
            <a:ext cx="3029954" cy="372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F7ADED-45FF-46B9-8ABC-2797F24B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152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2EE766A-6D8A-4854-93AA-5E22491E2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742" y="376410"/>
            <a:ext cx="9458516" cy="610517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71097B-53E1-DA85-403B-C4EC8273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614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16E0AD1-5778-471D-B452-486E965AF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525"/>
            <a:ext cx="9144000" cy="2387600"/>
          </a:xfrm>
        </p:spPr>
        <p:txBody>
          <a:bodyPr/>
          <a:lstStyle/>
          <a:p>
            <a:r>
              <a:rPr lang="zh-TW" altLang="en-US"/>
              <a:t>作業</a:t>
            </a: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694746EE-E841-49BB-BA2D-9C75CEE4F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6200"/>
            <a:ext cx="9144000" cy="1655762"/>
          </a:xfrm>
        </p:spPr>
        <p:txBody>
          <a:bodyPr/>
          <a:lstStyle/>
          <a:p>
            <a:pPr algn="l"/>
            <a:r>
              <a:rPr lang="en-US" altLang="zh-TW"/>
              <a:t>https://docs.google.com/forms/d/e/1FAIpQLSejBBeS-t7epvCKI_VccJkbI0WsuNr0oThB9IvfgmY3Cf60qw/viewform?usp=sharing&amp;ouid=105816750759456352955</a:t>
            </a:r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BF62136-42A0-493C-BFF1-86456C40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F5E-6C98-43E8-A195-AA10F6DE7B9F}" type="slidenum">
              <a:rPr lang="zh-TW" altLang="en-US" smtClean="0"/>
              <a:t>39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C287AEC-4B51-418C-8D8F-6056B59A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721" y="3795712"/>
            <a:ext cx="1810003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8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2512</Words>
  <Application>Microsoft Office PowerPoint</Application>
  <PresentationFormat>寬螢幕</PresentationFormat>
  <Paragraphs>413</Paragraphs>
  <Slides>39</Slides>
  <Notes>4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0</vt:i4>
      </vt:variant>
      <vt:variant>
        <vt:lpstr>投影片標題</vt:lpstr>
      </vt:variant>
      <vt:variant>
        <vt:i4>39</vt:i4>
      </vt:variant>
    </vt:vector>
  </HeadingPairs>
  <TitlesOfParts>
    <vt:vector size="47" baseType="lpstr">
      <vt:lpstr>清松手寫體3</vt:lpstr>
      <vt:lpstr>Microsoft JhengHei</vt:lpstr>
      <vt:lpstr>Microsoft JhengHei</vt:lpstr>
      <vt:lpstr>Arial</vt:lpstr>
      <vt:lpstr>Calibri</vt:lpstr>
      <vt:lpstr>Comic Sans MS</vt:lpstr>
      <vt:lpstr>Times New Roman</vt:lpstr>
      <vt:lpstr>Office 佈景主題</vt:lpstr>
      <vt:lpstr>關聯模式</vt:lpstr>
      <vt:lpstr>PowerPoint 簡報</vt:lpstr>
      <vt:lpstr>關聯模式</vt:lpstr>
      <vt:lpstr>關聯</vt:lpstr>
      <vt:lpstr>關聯模式的定義</vt:lpstr>
      <vt:lpstr>PowerPoint 簡報</vt:lpstr>
      <vt:lpstr>關聯模式的定義(Cont.)</vt:lpstr>
      <vt:lpstr>資料庫一致性</vt:lpstr>
      <vt:lpstr>關聯模式的限制</vt:lpstr>
      <vt:lpstr>定義域限制(Domain constraint)</vt:lpstr>
      <vt:lpstr>PowerPoint 簡報</vt:lpstr>
      <vt:lpstr>資料庫鍵值</vt:lpstr>
      <vt:lpstr>關聯鍵限制 (key constraint)</vt:lpstr>
      <vt:lpstr>關聯鍵限制指的是資料庫裡的每一關聯，沒有任兩個序列值的關聯鍵值是相同的(例如Student關聯裡有兩筆序列值的學號(主鍵)或身分證字號（次要鍵）相同，即違反關聯鍵限制)</vt:lpstr>
      <vt:lpstr> </vt:lpstr>
      <vt:lpstr>實體完整限制(Entity Integrity constraint)</vt:lpstr>
      <vt:lpstr>參考完整限制(Referential integrity constraint)</vt:lpstr>
      <vt:lpstr>語意完整限制</vt:lpstr>
      <vt:lpstr>關聯模式的資料更新</vt:lpstr>
      <vt:lpstr>新增一筆紀錄違反完整限制</vt:lpstr>
      <vt:lpstr>刪除一筆序列值會違反參考完整限制</vt:lpstr>
      <vt:lpstr>練習: 根據「會員關聯」判斷以下新增資料是否造成(i) 關聯鍵限制 (ii) 實體完整限制 (iii) 參考完整限制</vt:lpstr>
      <vt:lpstr>練習: 若刪除 “c0927777” 的會員資料，是否會違反參考完整限制?</vt:lpstr>
      <vt:lpstr>實體關係圖轉成關聯模式資料庫綱目</vt:lpstr>
      <vt:lpstr>實體型態產生關聯綱目</vt:lpstr>
      <vt:lpstr>多值屬性產生關聯綱目</vt:lpstr>
      <vt:lpstr>弱實體型態產生關聯綱目</vt:lpstr>
      <vt:lpstr>PowerPoint 簡報</vt:lpstr>
      <vt:lpstr>1:1 之關係型態（R與S）</vt:lpstr>
      <vt:lpstr>1:N 之關係型態（R與S）</vt:lpstr>
      <vt:lpstr>M:N 之關係型態（R與S）</vt:lpstr>
      <vt:lpstr>PowerPoint 簡報</vt:lpstr>
      <vt:lpstr>n元的關係型態（n &gt; 2）</vt:lpstr>
      <vt:lpstr>PowerPoint 簡報</vt:lpstr>
      <vt:lpstr>課程管理</vt:lpstr>
      <vt:lpstr>PowerPoint 簡報</vt:lpstr>
      <vt:lpstr>資料庫綱目(Database schema)</vt:lpstr>
      <vt:lpstr>PowerPoint 簡報</vt:lpstr>
      <vt:lpstr>作業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Jainshone Chung</dc:creator>
  <cp:lastModifiedBy>鍾定揚 12376046 Daniel</cp:lastModifiedBy>
  <cp:revision>77</cp:revision>
  <cp:lastPrinted>2024-10-07T15:15:55Z</cp:lastPrinted>
  <dcterms:created xsi:type="dcterms:W3CDTF">2024-09-28T05:36:56Z</dcterms:created>
  <dcterms:modified xsi:type="dcterms:W3CDTF">2025-10-03T01:26:16Z</dcterms:modified>
</cp:coreProperties>
</file>