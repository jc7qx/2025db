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9" r:id="rId4"/>
    <p:sldId id="258" r:id="rId5"/>
    <p:sldId id="260" r:id="rId6"/>
    <p:sldId id="284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5" r:id="rId19"/>
    <p:sldId id="286" r:id="rId20"/>
    <p:sldId id="273" r:id="rId21"/>
    <p:sldId id="288" r:id="rId22"/>
    <p:sldId id="282" r:id="rId23"/>
    <p:sldId id="274" r:id="rId24"/>
    <p:sldId id="287" r:id="rId25"/>
    <p:sldId id="275" r:id="rId26"/>
    <p:sldId id="276" r:id="rId27"/>
    <p:sldId id="277" r:id="rId28"/>
    <p:sldId id="280" r:id="rId29"/>
    <p:sldId id="281" r:id="rId30"/>
    <p:sldId id="279" r:id="rId31"/>
    <p:sldId id="262" r:id="rId32"/>
    <p:sldId id="278" r:id="rId33"/>
    <p:sldId id="283" r:id="rId34"/>
  </p:sldIdLst>
  <p:sldSz cx="12192000" cy="6858000"/>
  <p:notesSz cx="6792913" cy="99250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E6E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 autoAdjust="0"/>
    <p:restoredTop sz="94720" autoAdjust="0"/>
  </p:normalViewPr>
  <p:slideViewPr>
    <p:cSldViewPr snapToGrid="0">
      <p:cViewPr varScale="1">
        <p:scale>
          <a:sx n="57" d="100"/>
          <a:sy n="57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E848D-7BC9-4F05-B5DA-3C3DA321D6C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1FE14E6-26B8-4DC6-A9C9-13C8C425F92B}">
      <dgm:prSet phldrT="[文字]"/>
      <dgm:spPr>
        <a:solidFill>
          <a:srgbClr val="C00000"/>
        </a:solidFill>
      </dgm:spPr>
      <dgm:t>
        <a:bodyPr/>
        <a:lstStyle/>
        <a:p>
          <a:r>
            <a:rPr lang="zh-TW" alt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概念塑模</a:t>
          </a:r>
        </a:p>
      </dgm:t>
    </dgm:pt>
    <dgm:pt modelId="{1891F977-4E92-4C98-AFF0-C75A7842D9ED}" type="parTrans" cxnId="{7AF7889D-49E1-41D9-9DF8-434795B3BFC7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B7402662-FD46-4FCF-BDEB-74960FCE55E9}" type="sibTrans" cxnId="{7AF7889D-49E1-41D9-9DF8-434795B3BFC7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352F8AC1-C0F7-417E-8537-088B062EAFA5}">
      <dgm:prSet phldrT="[文字]"/>
      <dgm:spPr>
        <a:solidFill>
          <a:srgbClr val="00B0F0"/>
        </a:solidFill>
      </dgm:spPr>
      <dgm:t>
        <a:bodyPr/>
        <a:lstStyle/>
        <a:p>
          <a:r>
            <a:rPr lang="zh-TW" alt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邏輯塑模</a:t>
          </a:r>
        </a:p>
      </dgm:t>
    </dgm:pt>
    <dgm:pt modelId="{3E520A57-0A27-4295-BD3E-6BE91B4B1869}" type="parTrans" cxnId="{415FA686-5FF0-4C0A-ACA0-FD7D0F9EEF0E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BAD6F667-21F4-4593-A98B-C4B9FE1AED3E}" type="sibTrans" cxnId="{415FA686-5FF0-4C0A-ACA0-FD7D0F9EEF0E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2178E9CA-0B82-4640-9EB0-B54B5E0DE15B}">
      <dgm:prSet phldrT="[文字]"/>
      <dgm:spPr>
        <a:solidFill>
          <a:srgbClr val="7030A0"/>
        </a:solidFill>
      </dgm:spPr>
      <dgm:t>
        <a:bodyPr/>
        <a:lstStyle/>
        <a:p>
          <a:r>
            <a:rPr lang="zh-TW" alt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實體塑模</a:t>
          </a:r>
        </a:p>
      </dgm:t>
    </dgm:pt>
    <dgm:pt modelId="{6D7DD763-F979-4A43-B3C1-A11FBB96B768}" type="parTrans" cxnId="{098D6ADA-6EA0-4179-A263-BE61D08FE0EB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F005BF15-798B-43F6-8AD9-865D86226DE0}" type="sibTrans" cxnId="{098D6ADA-6EA0-4179-A263-BE61D08FE0EB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5F7B8C2D-E0AB-4345-A0AA-8F6DE32A6454}" type="pres">
      <dgm:prSet presAssocID="{BDAE848D-7BC9-4F05-B5DA-3C3DA321D6C8}" presName="CompostProcess" presStyleCnt="0">
        <dgm:presLayoutVars>
          <dgm:dir/>
          <dgm:resizeHandles val="exact"/>
        </dgm:presLayoutVars>
      </dgm:prSet>
      <dgm:spPr/>
    </dgm:pt>
    <dgm:pt modelId="{647601EF-BCFC-4E5D-9A29-6A827CCEAF08}" type="pres">
      <dgm:prSet presAssocID="{BDAE848D-7BC9-4F05-B5DA-3C3DA321D6C8}" presName="arrow" presStyleLbl="bgShp" presStyleIdx="0" presStyleCnt="1"/>
      <dgm:spPr/>
    </dgm:pt>
    <dgm:pt modelId="{D8B2A5B9-8995-4C34-9443-F0091B901C3A}" type="pres">
      <dgm:prSet presAssocID="{BDAE848D-7BC9-4F05-B5DA-3C3DA321D6C8}" presName="linearProcess" presStyleCnt="0"/>
      <dgm:spPr/>
    </dgm:pt>
    <dgm:pt modelId="{DB42F0F9-2559-4043-B687-93D8BE0DFE30}" type="pres">
      <dgm:prSet presAssocID="{81FE14E6-26B8-4DC6-A9C9-13C8C425F92B}" presName="textNode" presStyleLbl="node1" presStyleIdx="0" presStyleCnt="3">
        <dgm:presLayoutVars>
          <dgm:bulletEnabled val="1"/>
        </dgm:presLayoutVars>
      </dgm:prSet>
      <dgm:spPr/>
    </dgm:pt>
    <dgm:pt modelId="{3C16E706-C38D-4306-8A9D-B6C63E89C125}" type="pres">
      <dgm:prSet presAssocID="{B7402662-FD46-4FCF-BDEB-74960FCE55E9}" presName="sibTrans" presStyleCnt="0"/>
      <dgm:spPr/>
    </dgm:pt>
    <dgm:pt modelId="{07D2B7FF-A5B2-4A13-B239-04A19890CAA3}" type="pres">
      <dgm:prSet presAssocID="{352F8AC1-C0F7-417E-8537-088B062EAFA5}" presName="textNode" presStyleLbl="node1" presStyleIdx="1" presStyleCnt="3">
        <dgm:presLayoutVars>
          <dgm:bulletEnabled val="1"/>
        </dgm:presLayoutVars>
      </dgm:prSet>
      <dgm:spPr/>
    </dgm:pt>
    <dgm:pt modelId="{3AB572DD-E6D5-48C6-B153-B50C42897BB6}" type="pres">
      <dgm:prSet presAssocID="{BAD6F667-21F4-4593-A98B-C4B9FE1AED3E}" presName="sibTrans" presStyleCnt="0"/>
      <dgm:spPr/>
    </dgm:pt>
    <dgm:pt modelId="{734B81CD-449E-4736-95E2-B29FDDDB050A}" type="pres">
      <dgm:prSet presAssocID="{2178E9CA-0B82-4640-9EB0-B54B5E0DE15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66EFC31-6467-4F77-A9A5-86E8E75FA2D6}" type="presOf" srcId="{81FE14E6-26B8-4DC6-A9C9-13C8C425F92B}" destId="{DB42F0F9-2559-4043-B687-93D8BE0DFE30}" srcOrd="0" destOrd="0" presId="urn:microsoft.com/office/officeart/2005/8/layout/hProcess9"/>
    <dgm:cxn modelId="{F9521C3A-9D24-4BEB-A81C-C809E6E76FBE}" type="presOf" srcId="{352F8AC1-C0F7-417E-8537-088B062EAFA5}" destId="{07D2B7FF-A5B2-4A13-B239-04A19890CAA3}" srcOrd="0" destOrd="0" presId="urn:microsoft.com/office/officeart/2005/8/layout/hProcess9"/>
    <dgm:cxn modelId="{3DCE873C-2901-424E-B9B8-5F0ECE76A730}" type="presOf" srcId="{BDAE848D-7BC9-4F05-B5DA-3C3DA321D6C8}" destId="{5F7B8C2D-E0AB-4345-A0AA-8F6DE32A6454}" srcOrd="0" destOrd="0" presId="urn:microsoft.com/office/officeart/2005/8/layout/hProcess9"/>
    <dgm:cxn modelId="{C2DE5F40-3811-4A1A-95C9-429C769ADF78}" type="presOf" srcId="{2178E9CA-0B82-4640-9EB0-B54B5E0DE15B}" destId="{734B81CD-449E-4736-95E2-B29FDDDB050A}" srcOrd="0" destOrd="0" presId="urn:microsoft.com/office/officeart/2005/8/layout/hProcess9"/>
    <dgm:cxn modelId="{415FA686-5FF0-4C0A-ACA0-FD7D0F9EEF0E}" srcId="{BDAE848D-7BC9-4F05-B5DA-3C3DA321D6C8}" destId="{352F8AC1-C0F7-417E-8537-088B062EAFA5}" srcOrd="1" destOrd="0" parTransId="{3E520A57-0A27-4295-BD3E-6BE91B4B1869}" sibTransId="{BAD6F667-21F4-4593-A98B-C4B9FE1AED3E}"/>
    <dgm:cxn modelId="{7AF7889D-49E1-41D9-9DF8-434795B3BFC7}" srcId="{BDAE848D-7BC9-4F05-B5DA-3C3DA321D6C8}" destId="{81FE14E6-26B8-4DC6-A9C9-13C8C425F92B}" srcOrd="0" destOrd="0" parTransId="{1891F977-4E92-4C98-AFF0-C75A7842D9ED}" sibTransId="{B7402662-FD46-4FCF-BDEB-74960FCE55E9}"/>
    <dgm:cxn modelId="{098D6ADA-6EA0-4179-A263-BE61D08FE0EB}" srcId="{BDAE848D-7BC9-4F05-B5DA-3C3DA321D6C8}" destId="{2178E9CA-0B82-4640-9EB0-B54B5E0DE15B}" srcOrd="2" destOrd="0" parTransId="{6D7DD763-F979-4A43-B3C1-A11FBB96B768}" sibTransId="{F005BF15-798B-43F6-8AD9-865D86226DE0}"/>
    <dgm:cxn modelId="{4A90FDC5-9269-493D-9D3C-1CF125F9BC04}" type="presParOf" srcId="{5F7B8C2D-E0AB-4345-A0AA-8F6DE32A6454}" destId="{647601EF-BCFC-4E5D-9A29-6A827CCEAF08}" srcOrd="0" destOrd="0" presId="urn:microsoft.com/office/officeart/2005/8/layout/hProcess9"/>
    <dgm:cxn modelId="{B27BEA70-F10B-4E42-A0EE-C86DABE9EEFD}" type="presParOf" srcId="{5F7B8C2D-E0AB-4345-A0AA-8F6DE32A6454}" destId="{D8B2A5B9-8995-4C34-9443-F0091B901C3A}" srcOrd="1" destOrd="0" presId="urn:microsoft.com/office/officeart/2005/8/layout/hProcess9"/>
    <dgm:cxn modelId="{B533793A-430A-4303-A00F-DFCB5BC09E00}" type="presParOf" srcId="{D8B2A5B9-8995-4C34-9443-F0091B901C3A}" destId="{DB42F0F9-2559-4043-B687-93D8BE0DFE30}" srcOrd="0" destOrd="0" presId="urn:microsoft.com/office/officeart/2005/8/layout/hProcess9"/>
    <dgm:cxn modelId="{4D14CE81-40B3-4487-A9E6-AF3580D5E537}" type="presParOf" srcId="{D8B2A5B9-8995-4C34-9443-F0091B901C3A}" destId="{3C16E706-C38D-4306-8A9D-B6C63E89C125}" srcOrd="1" destOrd="0" presId="urn:microsoft.com/office/officeart/2005/8/layout/hProcess9"/>
    <dgm:cxn modelId="{59634E41-A8A0-48B4-ABFB-6A4B6A385DE6}" type="presParOf" srcId="{D8B2A5B9-8995-4C34-9443-F0091B901C3A}" destId="{07D2B7FF-A5B2-4A13-B239-04A19890CAA3}" srcOrd="2" destOrd="0" presId="urn:microsoft.com/office/officeart/2005/8/layout/hProcess9"/>
    <dgm:cxn modelId="{7626FC60-447B-46A5-89B7-EA53E31570D9}" type="presParOf" srcId="{D8B2A5B9-8995-4C34-9443-F0091B901C3A}" destId="{3AB572DD-E6D5-48C6-B153-B50C42897BB6}" srcOrd="3" destOrd="0" presId="urn:microsoft.com/office/officeart/2005/8/layout/hProcess9"/>
    <dgm:cxn modelId="{97219775-EC6C-458F-8ADC-7D6E64257216}" type="presParOf" srcId="{D8B2A5B9-8995-4C34-9443-F0091B901C3A}" destId="{734B81CD-449E-4736-95E2-B29FDDDB050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53D475-40A9-4887-BEF6-50B22F831CD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CB527BFD-4D84-4C4E-9BAC-11205BEFF2D3}">
      <dgm:prSet/>
      <dgm:spPr>
        <a:solidFill>
          <a:srgbClr val="C00000"/>
        </a:solidFill>
      </dgm:spPr>
      <dgm:t>
        <a:bodyPr/>
        <a:lstStyle/>
        <a:p>
          <a:pPr rtl="0"/>
          <a:r>
            <a:rPr lang="zh-TW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實體（</a:t>
          </a:r>
          <a:r>
            <a:rPr lang="en-US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Entity</a:t>
          </a:r>
          <a:r>
            <a:rPr lang="zh-TW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）</a:t>
          </a:r>
        </a:p>
      </dgm:t>
    </dgm:pt>
    <dgm:pt modelId="{6E16239B-52E9-48AA-872B-972F836CB9C4}" type="parTrans" cxnId="{9A593AF5-607B-4D55-9140-DD045520C006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02F88F63-F5AB-47C4-83B3-30D0233C3C42}" type="sibTrans" cxnId="{9A593AF5-607B-4D55-9140-DD045520C006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4DFA938A-CDD1-4BF2-B69A-E851069C59BC}">
      <dgm:prSet/>
      <dgm:spPr>
        <a:solidFill>
          <a:srgbClr val="00B0F0"/>
        </a:solidFill>
      </dgm:spPr>
      <dgm:t>
        <a:bodyPr/>
        <a:lstStyle/>
        <a:p>
          <a:pPr rtl="0"/>
          <a:r>
            <a:rPr lang="zh-TW" baseline="0">
              <a:latin typeface="Comic Sans MS" panose="030F0702030302020204" pitchFamily="66" charset="0"/>
              <a:ea typeface="微軟正黑體" panose="020B0604030504040204" pitchFamily="34" charset="-120"/>
            </a:rPr>
            <a:t>關係（</a:t>
          </a:r>
          <a:r>
            <a:rPr lang="en-US" baseline="0">
              <a:latin typeface="Comic Sans MS" panose="030F0702030302020204" pitchFamily="66" charset="0"/>
              <a:ea typeface="微軟正黑體" panose="020B0604030504040204" pitchFamily="34" charset="-120"/>
            </a:rPr>
            <a:t>Relationship</a:t>
          </a:r>
          <a:r>
            <a:rPr lang="zh-TW" baseline="0">
              <a:latin typeface="Comic Sans MS" panose="030F0702030302020204" pitchFamily="66" charset="0"/>
              <a:ea typeface="微軟正黑體" panose="020B0604030504040204" pitchFamily="34" charset="-120"/>
            </a:rPr>
            <a:t>）</a:t>
          </a:r>
        </a:p>
      </dgm:t>
    </dgm:pt>
    <dgm:pt modelId="{DCEAD1E5-4508-43D5-9E02-B137B2259D7A}" type="parTrans" cxnId="{4B1DDAF4-7A44-4593-97EB-7C6C34584712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9C6DACAD-789B-4A8C-AD11-0A80A0220D1D}" type="sibTrans" cxnId="{4B1DDAF4-7A44-4593-97EB-7C6C34584712}">
      <dgm:prSet/>
      <dgm:spPr/>
      <dgm:t>
        <a:bodyPr/>
        <a:lstStyle/>
        <a:p>
          <a:endParaRPr lang="zh-TW" altLang="en-US" baseline="0">
            <a:latin typeface="Comic Sans MS" panose="030F0702030302020204" pitchFamily="66" charset="0"/>
            <a:ea typeface="微軟正黑體" panose="020B0604030504040204" pitchFamily="34" charset="-120"/>
          </a:endParaRPr>
        </a:p>
      </dgm:t>
    </dgm:pt>
    <dgm:pt modelId="{D55E7656-7595-43B2-9EB9-19901DAFBB77}" type="pres">
      <dgm:prSet presAssocID="{FA53D475-40A9-4887-BEF6-50B22F831CDD}" presName="linear" presStyleCnt="0">
        <dgm:presLayoutVars>
          <dgm:dir/>
          <dgm:animLvl val="lvl"/>
          <dgm:resizeHandles val="exact"/>
        </dgm:presLayoutVars>
      </dgm:prSet>
      <dgm:spPr/>
    </dgm:pt>
    <dgm:pt modelId="{593B3609-65A5-4183-80D2-4C72B0CD3988}" type="pres">
      <dgm:prSet presAssocID="{CB527BFD-4D84-4C4E-9BAC-11205BEFF2D3}" presName="parentLin" presStyleCnt="0"/>
      <dgm:spPr/>
    </dgm:pt>
    <dgm:pt modelId="{C4FFC5F0-5CCD-468F-9175-2C700B3C5CA5}" type="pres">
      <dgm:prSet presAssocID="{CB527BFD-4D84-4C4E-9BAC-11205BEFF2D3}" presName="parentLeftMargin" presStyleLbl="node1" presStyleIdx="0" presStyleCnt="2"/>
      <dgm:spPr/>
    </dgm:pt>
    <dgm:pt modelId="{E7B5D012-F3B5-4237-9652-F5B81A5E0DE6}" type="pres">
      <dgm:prSet presAssocID="{CB527BFD-4D84-4C4E-9BAC-11205BEFF2D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E47D2F-81A8-44D8-ABD0-92FB138F77CA}" type="pres">
      <dgm:prSet presAssocID="{CB527BFD-4D84-4C4E-9BAC-11205BEFF2D3}" presName="negativeSpace" presStyleCnt="0"/>
      <dgm:spPr/>
    </dgm:pt>
    <dgm:pt modelId="{EDB7DA8C-74FC-4CCB-9666-6F5C4B4F84C0}" type="pres">
      <dgm:prSet presAssocID="{CB527BFD-4D84-4C4E-9BAC-11205BEFF2D3}" presName="childText" presStyleLbl="conFgAcc1" presStyleIdx="0" presStyleCnt="2">
        <dgm:presLayoutVars>
          <dgm:bulletEnabled val="1"/>
        </dgm:presLayoutVars>
      </dgm:prSet>
      <dgm:spPr/>
    </dgm:pt>
    <dgm:pt modelId="{B32EECAF-5DF9-41EF-AE43-C01AD5E39D4D}" type="pres">
      <dgm:prSet presAssocID="{02F88F63-F5AB-47C4-83B3-30D0233C3C42}" presName="spaceBetweenRectangles" presStyleCnt="0"/>
      <dgm:spPr/>
    </dgm:pt>
    <dgm:pt modelId="{B8D5429C-66D4-4140-A4B7-8A6EC875C02E}" type="pres">
      <dgm:prSet presAssocID="{4DFA938A-CDD1-4BF2-B69A-E851069C59BC}" presName="parentLin" presStyleCnt="0"/>
      <dgm:spPr/>
    </dgm:pt>
    <dgm:pt modelId="{D97D1133-470E-4E79-A80B-77721F8729B1}" type="pres">
      <dgm:prSet presAssocID="{4DFA938A-CDD1-4BF2-B69A-E851069C59BC}" presName="parentLeftMargin" presStyleLbl="node1" presStyleIdx="0" presStyleCnt="2"/>
      <dgm:spPr/>
    </dgm:pt>
    <dgm:pt modelId="{E497BCD6-4A28-4431-A648-09736D13D886}" type="pres">
      <dgm:prSet presAssocID="{4DFA938A-CDD1-4BF2-B69A-E851069C59B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06D1080-B6D1-41E3-8557-1DE91894DB81}" type="pres">
      <dgm:prSet presAssocID="{4DFA938A-CDD1-4BF2-B69A-E851069C59BC}" presName="negativeSpace" presStyleCnt="0"/>
      <dgm:spPr/>
    </dgm:pt>
    <dgm:pt modelId="{25FDF7DB-DC9C-4032-8A17-112DDD19DE37}" type="pres">
      <dgm:prSet presAssocID="{4DFA938A-CDD1-4BF2-B69A-E851069C59B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F78AC26-7256-4708-8D7B-293ADE676549}" type="presOf" srcId="{4DFA938A-CDD1-4BF2-B69A-E851069C59BC}" destId="{D97D1133-470E-4E79-A80B-77721F8729B1}" srcOrd="0" destOrd="0" presId="urn:microsoft.com/office/officeart/2005/8/layout/list1"/>
    <dgm:cxn modelId="{959F3627-3B57-466B-B6A9-B53DF561F190}" type="presOf" srcId="{CB527BFD-4D84-4C4E-9BAC-11205BEFF2D3}" destId="{C4FFC5F0-5CCD-468F-9175-2C700B3C5CA5}" srcOrd="0" destOrd="0" presId="urn:microsoft.com/office/officeart/2005/8/layout/list1"/>
    <dgm:cxn modelId="{50A6AAB3-176E-4648-B00D-EAF618C6C53B}" type="presOf" srcId="{4DFA938A-CDD1-4BF2-B69A-E851069C59BC}" destId="{E497BCD6-4A28-4431-A648-09736D13D886}" srcOrd="1" destOrd="0" presId="urn:microsoft.com/office/officeart/2005/8/layout/list1"/>
    <dgm:cxn modelId="{96A97FD1-81AD-4145-BFF4-99C5BBB6C060}" type="presOf" srcId="{FA53D475-40A9-4887-BEF6-50B22F831CDD}" destId="{D55E7656-7595-43B2-9EB9-19901DAFBB77}" srcOrd="0" destOrd="0" presId="urn:microsoft.com/office/officeart/2005/8/layout/list1"/>
    <dgm:cxn modelId="{8EBFBFE7-2469-4B47-8F96-20BAB887307C}" type="presOf" srcId="{CB527BFD-4D84-4C4E-9BAC-11205BEFF2D3}" destId="{E7B5D012-F3B5-4237-9652-F5B81A5E0DE6}" srcOrd="1" destOrd="0" presId="urn:microsoft.com/office/officeart/2005/8/layout/list1"/>
    <dgm:cxn modelId="{4B1DDAF4-7A44-4593-97EB-7C6C34584712}" srcId="{FA53D475-40A9-4887-BEF6-50B22F831CDD}" destId="{4DFA938A-CDD1-4BF2-B69A-E851069C59BC}" srcOrd="1" destOrd="0" parTransId="{DCEAD1E5-4508-43D5-9E02-B137B2259D7A}" sibTransId="{9C6DACAD-789B-4A8C-AD11-0A80A0220D1D}"/>
    <dgm:cxn modelId="{9A593AF5-607B-4D55-9140-DD045520C006}" srcId="{FA53D475-40A9-4887-BEF6-50B22F831CDD}" destId="{CB527BFD-4D84-4C4E-9BAC-11205BEFF2D3}" srcOrd="0" destOrd="0" parTransId="{6E16239B-52E9-48AA-872B-972F836CB9C4}" sibTransId="{02F88F63-F5AB-47C4-83B3-30D0233C3C42}"/>
    <dgm:cxn modelId="{526ED300-E246-4364-AFC3-971C93FA8CF1}" type="presParOf" srcId="{D55E7656-7595-43B2-9EB9-19901DAFBB77}" destId="{593B3609-65A5-4183-80D2-4C72B0CD3988}" srcOrd="0" destOrd="0" presId="urn:microsoft.com/office/officeart/2005/8/layout/list1"/>
    <dgm:cxn modelId="{A1DD8E61-692D-4076-B2B3-B87784B5FD67}" type="presParOf" srcId="{593B3609-65A5-4183-80D2-4C72B0CD3988}" destId="{C4FFC5F0-5CCD-468F-9175-2C700B3C5CA5}" srcOrd="0" destOrd="0" presId="urn:microsoft.com/office/officeart/2005/8/layout/list1"/>
    <dgm:cxn modelId="{A6CA55E0-3CE2-4FDE-BFD3-5FC85E7B5A98}" type="presParOf" srcId="{593B3609-65A5-4183-80D2-4C72B0CD3988}" destId="{E7B5D012-F3B5-4237-9652-F5B81A5E0DE6}" srcOrd="1" destOrd="0" presId="urn:microsoft.com/office/officeart/2005/8/layout/list1"/>
    <dgm:cxn modelId="{2BB7536F-2C8A-421F-AC6D-29CB6A03F841}" type="presParOf" srcId="{D55E7656-7595-43B2-9EB9-19901DAFBB77}" destId="{97E47D2F-81A8-44D8-ABD0-92FB138F77CA}" srcOrd="1" destOrd="0" presId="urn:microsoft.com/office/officeart/2005/8/layout/list1"/>
    <dgm:cxn modelId="{009E5ED6-9935-42CF-8F2C-56B1B9FFF2B1}" type="presParOf" srcId="{D55E7656-7595-43B2-9EB9-19901DAFBB77}" destId="{EDB7DA8C-74FC-4CCB-9666-6F5C4B4F84C0}" srcOrd="2" destOrd="0" presId="urn:microsoft.com/office/officeart/2005/8/layout/list1"/>
    <dgm:cxn modelId="{9BC9A741-A8C7-4357-AEE3-631681D18392}" type="presParOf" srcId="{D55E7656-7595-43B2-9EB9-19901DAFBB77}" destId="{B32EECAF-5DF9-41EF-AE43-C01AD5E39D4D}" srcOrd="3" destOrd="0" presId="urn:microsoft.com/office/officeart/2005/8/layout/list1"/>
    <dgm:cxn modelId="{D0E1090B-D3A7-41D0-87AC-37556657D874}" type="presParOf" srcId="{D55E7656-7595-43B2-9EB9-19901DAFBB77}" destId="{B8D5429C-66D4-4140-A4B7-8A6EC875C02E}" srcOrd="4" destOrd="0" presId="urn:microsoft.com/office/officeart/2005/8/layout/list1"/>
    <dgm:cxn modelId="{B3A77EE4-427C-49BE-9EC4-49F516076519}" type="presParOf" srcId="{B8D5429C-66D4-4140-A4B7-8A6EC875C02E}" destId="{D97D1133-470E-4E79-A80B-77721F8729B1}" srcOrd="0" destOrd="0" presId="urn:microsoft.com/office/officeart/2005/8/layout/list1"/>
    <dgm:cxn modelId="{6C973BCA-0544-4596-B649-E4436671E8DE}" type="presParOf" srcId="{B8D5429C-66D4-4140-A4B7-8A6EC875C02E}" destId="{E497BCD6-4A28-4431-A648-09736D13D886}" srcOrd="1" destOrd="0" presId="urn:microsoft.com/office/officeart/2005/8/layout/list1"/>
    <dgm:cxn modelId="{3D758B6A-A89F-4117-9D0E-CCB62C6D5910}" type="presParOf" srcId="{D55E7656-7595-43B2-9EB9-19901DAFBB77}" destId="{006D1080-B6D1-41E3-8557-1DE91894DB81}" srcOrd="5" destOrd="0" presId="urn:microsoft.com/office/officeart/2005/8/layout/list1"/>
    <dgm:cxn modelId="{D5BE01A7-F808-436D-BD45-237CB47D3598}" type="presParOf" srcId="{D55E7656-7595-43B2-9EB9-19901DAFBB77}" destId="{25FDF7DB-DC9C-4032-8A17-112DDD19DE3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601EF-BCFC-4E5D-9A29-6A827CCEAF08}">
      <dsp:nvSpPr>
        <dsp:cNvPr id="0" name=""/>
        <dsp:cNvSpPr/>
      </dsp:nvSpPr>
      <dsp:spPr>
        <a:xfrm>
          <a:off x="555899" y="0"/>
          <a:ext cx="6300194" cy="311248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2F0F9-2559-4043-B687-93D8BE0DFE30}">
      <dsp:nvSpPr>
        <dsp:cNvPr id="0" name=""/>
        <dsp:cNvSpPr/>
      </dsp:nvSpPr>
      <dsp:spPr>
        <a:xfrm>
          <a:off x="4365" y="933745"/>
          <a:ext cx="2324436" cy="1244994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概念塑模</a:t>
          </a:r>
        </a:p>
      </dsp:txBody>
      <dsp:txXfrm>
        <a:off x="65141" y="994521"/>
        <a:ext cx="2202884" cy="1123442"/>
      </dsp:txXfrm>
    </dsp:sp>
    <dsp:sp modelId="{07D2B7FF-A5B2-4A13-B239-04A19890CAA3}">
      <dsp:nvSpPr>
        <dsp:cNvPr id="0" name=""/>
        <dsp:cNvSpPr/>
      </dsp:nvSpPr>
      <dsp:spPr>
        <a:xfrm>
          <a:off x="2543778" y="933745"/>
          <a:ext cx="2324436" cy="1244994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邏輯塑模</a:t>
          </a:r>
        </a:p>
      </dsp:txBody>
      <dsp:txXfrm>
        <a:off x="2604554" y="994521"/>
        <a:ext cx="2202884" cy="1123442"/>
      </dsp:txXfrm>
    </dsp:sp>
    <dsp:sp modelId="{734B81CD-449E-4736-95E2-B29FDDDB050A}">
      <dsp:nvSpPr>
        <dsp:cNvPr id="0" name=""/>
        <dsp:cNvSpPr/>
      </dsp:nvSpPr>
      <dsp:spPr>
        <a:xfrm>
          <a:off x="5083191" y="933745"/>
          <a:ext cx="2324436" cy="1244994"/>
        </a:xfrm>
        <a:prstGeom prst="round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7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實體塑模</a:t>
          </a:r>
        </a:p>
      </dsp:txBody>
      <dsp:txXfrm>
        <a:off x="5143967" y="994521"/>
        <a:ext cx="2202884" cy="1123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7DA8C-74FC-4CCB-9666-6F5C4B4F84C0}">
      <dsp:nvSpPr>
        <dsp:cNvPr id="0" name=""/>
        <dsp:cNvSpPr/>
      </dsp:nvSpPr>
      <dsp:spPr>
        <a:xfrm>
          <a:off x="0" y="659284"/>
          <a:ext cx="9220200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5D012-F3B5-4237-9652-F5B81A5E0DE6}">
      <dsp:nvSpPr>
        <dsp:cNvPr id="0" name=""/>
        <dsp:cNvSpPr/>
      </dsp:nvSpPr>
      <dsp:spPr>
        <a:xfrm>
          <a:off x="461010" y="24604"/>
          <a:ext cx="6454140" cy="1269360"/>
        </a:xfrm>
        <a:prstGeom prst="round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51" tIns="0" rIns="243951" bIns="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43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實體（</a:t>
          </a:r>
          <a:r>
            <a:rPr lang="en-US" sz="43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Entity</a:t>
          </a:r>
          <a:r>
            <a:rPr lang="zh-TW" sz="4300" kern="1200" baseline="0" dirty="0">
              <a:latin typeface="Comic Sans MS" panose="030F0702030302020204" pitchFamily="66" charset="0"/>
              <a:ea typeface="微軟正黑體" panose="020B0604030504040204" pitchFamily="34" charset="-120"/>
            </a:rPr>
            <a:t>）</a:t>
          </a:r>
        </a:p>
      </dsp:txBody>
      <dsp:txXfrm>
        <a:off x="522975" y="86569"/>
        <a:ext cx="6330210" cy="1145430"/>
      </dsp:txXfrm>
    </dsp:sp>
    <dsp:sp modelId="{25FDF7DB-DC9C-4032-8A17-112DDD19DE37}">
      <dsp:nvSpPr>
        <dsp:cNvPr id="0" name=""/>
        <dsp:cNvSpPr/>
      </dsp:nvSpPr>
      <dsp:spPr>
        <a:xfrm>
          <a:off x="0" y="2609764"/>
          <a:ext cx="9220200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7BCD6-4A28-4431-A648-09736D13D886}">
      <dsp:nvSpPr>
        <dsp:cNvPr id="0" name=""/>
        <dsp:cNvSpPr/>
      </dsp:nvSpPr>
      <dsp:spPr>
        <a:xfrm>
          <a:off x="461010" y="1975084"/>
          <a:ext cx="6454140" cy="126936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51" tIns="0" rIns="243951" bIns="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4300" kern="1200" baseline="0">
              <a:latin typeface="Comic Sans MS" panose="030F0702030302020204" pitchFamily="66" charset="0"/>
              <a:ea typeface="微軟正黑體" panose="020B0604030504040204" pitchFamily="34" charset="-120"/>
            </a:rPr>
            <a:t>關係（</a:t>
          </a:r>
          <a:r>
            <a:rPr lang="en-US" sz="4300" kern="1200" baseline="0">
              <a:latin typeface="Comic Sans MS" panose="030F0702030302020204" pitchFamily="66" charset="0"/>
              <a:ea typeface="微軟正黑體" panose="020B0604030504040204" pitchFamily="34" charset="-120"/>
            </a:rPr>
            <a:t>Relationship</a:t>
          </a:r>
          <a:r>
            <a:rPr lang="zh-TW" sz="4300" kern="1200" baseline="0">
              <a:latin typeface="Comic Sans MS" panose="030F0702030302020204" pitchFamily="66" charset="0"/>
              <a:ea typeface="微軟正黑體" panose="020B0604030504040204" pitchFamily="34" charset="-120"/>
            </a:rPr>
            <a:t>）</a:t>
          </a:r>
        </a:p>
      </dsp:txBody>
      <dsp:txXfrm>
        <a:off x="522975" y="2037049"/>
        <a:ext cx="6330210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7745" y="0"/>
            <a:ext cx="2943596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E2DDB-9249-FF4D-B3EF-44C2805417B7}" type="datetimeFigureOut">
              <a:rPr kumimoji="1" lang="zh-TW" altLang="en-US" smtClean="0"/>
              <a:t>2025/9/17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7745" y="9427076"/>
            <a:ext cx="2943596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9F63E-04A4-0743-8D22-3ADD2EF1233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659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F63E-04A4-0743-8D22-3ADD2EF12330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0578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>
                <a:solidFill>
                  <a:srgbClr val="131314"/>
                </a:solidFill>
                <a:effectLst/>
                <a:latin typeface="Google Sans Text"/>
              </a:rPr>
              <a:t>強實體擁有自己的主鍵，因此每個實例都能被獨立地唯一識別</a:t>
            </a:r>
            <a:endParaRPr lang="en-US" altLang="zh-TW" b="0" i="0">
              <a:solidFill>
                <a:srgbClr val="131314"/>
              </a:solidFill>
              <a:effectLst/>
              <a:latin typeface="Google Sans Text"/>
            </a:endParaRPr>
          </a:p>
          <a:p>
            <a:r>
              <a:rPr lang="zh-TW" altLang="en-US" b="0" i="0">
                <a:solidFill>
                  <a:srgbClr val="131314"/>
                </a:solidFill>
                <a:effectLst/>
                <a:latin typeface="Google Sans Text"/>
              </a:rPr>
              <a:t>弱實體是從其與所有者實體的關係中獲取其身份的。它們的存在和完整性都依賴於其相關聯的強實體。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F63E-04A4-0743-8D22-3ADD2EF12330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942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088B5-BAB0-419D-B40C-A127B643EAFE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70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6562" y="136525"/>
            <a:ext cx="11454714" cy="90144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6562" y="1198605"/>
            <a:ext cx="11454713" cy="497835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6A2B-69A9-4F9A-B1AA-DB9A84EE82E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10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D86F-0589-4338-86D7-7FED96188EB9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47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5A66-E956-44E1-956F-98C734B1962F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2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2A3F-D84D-442F-BB05-E3BA82239CA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903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A3233-2D04-42CC-9FA0-0502FA4768F7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761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4EA-B158-40D5-8ACA-901DA4FC9281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73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2BABF-6042-44B7-ACB9-E692DABA799A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37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6202-667F-4270-A190-6DBA58920864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3317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B56F-823B-4DE9-A893-276832D83BD1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74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808F-2910-4BBD-9C6A-AA3D26C7C99E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069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8337A-A04B-4072-9AD8-2D7ABD4E65A3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" altLang="zh-TW"/>
              <a:t>mcuFall2024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96D94-51FD-4CBB-B5D4-0F44A9871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23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C00000"/>
          </a:solidFill>
          <a:latin typeface="Comic Sans MS" panose="030F0702030302020204" pitchFamily="66" charset="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omic Sans MS" panose="030F0702030302020204" pitchFamily="66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實體關係模型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altLang="zh-TW"/>
              <a:t>Week 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191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迷你世界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建立資料之前，先要了解哪一些相關事務需要紀錄資料，需要紀錄的事物可能只是</a:t>
            </a:r>
            <a:r>
              <a:rPr lang="zh-TW" altLang="en-US" u="sng" dirty="0"/>
              <a:t>現實系統中的一部分</a:t>
            </a:r>
            <a:r>
              <a:rPr lang="zh-TW" altLang="en-US" dirty="0"/>
              <a:t>，或稱「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現實世界資料的子集合」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迷你世界</a:t>
            </a:r>
            <a:r>
              <a:rPr lang="en-US" altLang="zh-TW" dirty="0">
                <a:latin typeface="微軟正黑體" pitchFamily="34" charset="-120"/>
                <a:ea typeface="微軟正黑體" pitchFamily="34" charset="-120"/>
              </a:rPr>
              <a:t>)</a:t>
            </a:r>
          </a:p>
          <a:p>
            <a:r>
              <a:rPr lang="zh-TW" altLang="en-US" dirty="0"/>
              <a:t>對「迷你世界</a:t>
            </a:r>
            <a:r>
              <a:rPr lang="zh-TW" altLang="en-US"/>
              <a:t>」分析</a:t>
            </a:r>
            <a:endParaRPr lang="en-US" altLang="zh-TW" dirty="0"/>
          </a:p>
          <a:p>
            <a:pPr lvl="1"/>
            <a:r>
              <a:rPr lang="zh-TW" altLang="en-US"/>
              <a:t>那些</a:t>
            </a:r>
            <a:r>
              <a:rPr lang="zh-TW" altLang="en-US" dirty="0"/>
              <a:t>資料需要被</a:t>
            </a:r>
            <a:r>
              <a:rPr lang="zh-TW" altLang="en-US"/>
              <a:t>記錄 </a:t>
            </a:r>
            <a:r>
              <a:rPr lang="en-US" altLang="zh-TW"/>
              <a:t>?</a:t>
            </a:r>
            <a:endParaRPr lang="en-US" altLang="zh-TW" dirty="0"/>
          </a:p>
          <a:p>
            <a:pPr lvl="1"/>
            <a:r>
              <a:rPr lang="zh-TW" altLang="en-US"/>
              <a:t>資料</a:t>
            </a:r>
            <a:r>
              <a:rPr lang="zh-TW" altLang="en-US" dirty="0"/>
              <a:t>間有哪些關聯</a:t>
            </a:r>
            <a:r>
              <a:rPr lang="zh-TW" altLang="en-US"/>
              <a:t>性 </a:t>
            </a:r>
            <a:r>
              <a:rPr lang="en-US" altLang="zh-TW"/>
              <a:t>?</a:t>
            </a:r>
            <a:endParaRPr lang="en-US" altLang="zh-TW" dirty="0"/>
          </a:p>
          <a:p>
            <a:pPr lvl="1"/>
            <a:r>
              <a:rPr lang="zh-TW" altLang="en-US"/>
              <a:t>要</a:t>
            </a:r>
            <a:r>
              <a:rPr lang="zh-TW" altLang="en-US" dirty="0"/>
              <a:t>如何操作這些</a:t>
            </a:r>
            <a:r>
              <a:rPr lang="zh-TW" altLang="en-US"/>
              <a:t>資料 </a:t>
            </a:r>
            <a:r>
              <a:rPr lang="en-US" altLang="zh-TW"/>
              <a:t>?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9FCC9C-45F8-A706-D9DC-05999B716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02F5D-F620-4FC5-A452-394D8861016A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B875F2-2B30-F2C7-3101-1602E3D8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2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資料塑模與資料庫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728463"/>
              </p:ext>
            </p:extLst>
          </p:nvPr>
        </p:nvGraphicFramePr>
        <p:xfrm>
          <a:off x="2222157" y="1204397"/>
          <a:ext cx="7411994" cy="3112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流程圖: 多重文件 4"/>
          <p:cNvSpPr/>
          <p:nvPr/>
        </p:nvSpPr>
        <p:spPr>
          <a:xfrm>
            <a:off x="356287" y="2201636"/>
            <a:ext cx="1260389" cy="1118007"/>
          </a:xfrm>
          <a:prstGeom prst="flowChartMultidocumen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7"/>
          <a:srcRect b="15958"/>
          <a:stretch/>
        </p:blipFill>
        <p:spPr>
          <a:xfrm>
            <a:off x="9821633" y="1900519"/>
            <a:ext cx="2370367" cy="151573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8"/>
          <a:srcRect l="52105" t="11385" r="4363" b="12110"/>
          <a:stretch/>
        </p:blipFill>
        <p:spPr>
          <a:xfrm>
            <a:off x="1952367" y="4132946"/>
            <a:ext cx="2360142" cy="207593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912" y="4555778"/>
            <a:ext cx="3000926" cy="140043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10"/>
          <a:srcRect l="58603" t="12603" b="12071"/>
          <a:stretch/>
        </p:blipFill>
        <p:spPr>
          <a:xfrm>
            <a:off x="8741774" y="4421945"/>
            <a:ext cx="1463480" cy="1497935"/>
          </a:xfrm>
          <a:prstGeom prst="rect">
            <a:avLst/>
          </a:prstGeom>
        </p:spPr>
      </p:pic>
      <p:sp>
        <p:nvSpPr>
          <p:cNvPr id="10" name="右彎箭號 9"/>
          <p:cNvSpPr/>
          <p:nvPr/>
        </p:nvSpPr>
        <p:spPr>
          <a:xfrm flipV="1">
            <a:off x="722156" y="4439250"/>
            <a:ext cx="1114167" cy="1248029"/>
          </a:xfrm>
          <a:prstGeom prst="ben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右彎箭號 10"/>
          <p:cNvSpPr/>
          <p:nvPr/>
        </p:nvSpPr>
        <p:spPr>
          <a:xfrm rot="16200000" flipV="1">
            <a:off x="10353931" y="4053652"/>
            <a:ext cx="1114167" cy="1248029"/>
          </a:xfrm>
          <a:prstGeom prst="ben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向右箭號 11"/>
          <p:cNvSpPr/>
          <p:nvPr/>
        </p:nvSpPr>
        <p:spPr>
          <a:xfrm>
            <a:off x="1727814" y="2760640"/>
            <a:ext cx="457272" cy="49427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9829728" y="2760640"/>
            <a:ext cx="457272" cy="49427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右箭號 13"/>
          <p:cNvSpPr/>
          <p:nvPr/>
        </p:nvSpPr>
        <p:spPr>
          <a:xfrm>
            <a:off x="4384856" y="4886705"/>
            <a:ext cx="457272" cy="49427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右箭號 14"/>
          <p:cNvSpPr/>
          <p:nvPr/>
        </p:nvSpPr>
        <p:spPr>
          <a:xfrm>
            <a:off x="8052415" y="4886705"/>
            <a:ext cx="457272" cy="49427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758151" y="6259011"/>
            <a:ext cx="316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mic Sans MS" panose="030F0702030302020204" pitchFamily="66" charset="0"/>
              </a:rPr>
              <a:t>System Analysis and Design</a:t>
            </a:r>
            <a:endParaRPr lang="zh-TW" altLang="en-US" dirty="0">
              <a:latin typeface="Comic Sans MS" panose="030F0702030302020204" pitchFamily="66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119817" y="6259011"/>
            <a:ext cx="243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omic Sans MS" panose="030F0702030302020204" pitchFamily="66" charset="0"/>
              </a:rPr>
              <a:t>System Development</a:t>
            </a:r>
            <a:endParaRPr lang="zh-TW" altLang="en-US" dirty="0">
              <a:latin typeface="Comic Sans MS" panose="030F0702030302020204" pitchFamily="66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878816" y="6259011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Comic Sans MS" panose="030F0702030302020204" pitchFamily="66" charset="0"/>
              </a:rPr>
              <a:t>DBMS</a:t>
            </a:r>
            <a:endParaRPr lang="zh-TW" altLang="en-US" b="1" dirty="0">
              <a:latin typeface="Comic Sans MS" panose="030F0702030302020204" pitchFamily="66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21183" y="3385415"/>
            <a:ext cx="14782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latin typeface="Comic Sans MS" panose="030F0702030302020204" pitchFamily="66" charset="0"/>
              </a:rPr>
              <a:t>Interview/</a:t>
            </a:r>
            <a:endParaRPr lang="en-US" altLang="zh-TW" dirty="0">
              <a:latin typeface="Comic Sans MS" panose="030F0702030302020204" pitchFamily="66" charset="0"/>
            </a:endParaRPr>
          </a:p>
          <a:p>
            <a:r>
              <a:rPr lang="en-US" altLang="zh-TW">
                <a:latin typeface="Comic Sans MS" panose="030F0702030302020204" pitchFamily="66" charset="0"/>
              </a:rPr>
              <a:t>Documents/</a:t>
            </a:r>
          </a:p>
          <a:p>
            <a:r>
              <a:rPr lang="zh-TW" altLang="en-US">
                <a:latin typeface="Comic Sans MS" panose="030F0702030302020204" pitchFamily="66" charset="0"/>
              </a:rPr>
              <a:t>資料蒐集</a:t>
            </a:r>
            <a:endParaRPr lang="zh-TW" altLang="en-US" dirty="0">
              <a:latin typeface="Comic Sans MS" panose="030F0702030302020204" pitchFamily="66" charset="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F72A00-4702-2568-0061-AB81CED5B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EA5C-A1E1-47F3-BE22-C84357154C09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FAF20ACB-623A-AAF9-751C-B7B5573E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96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-1455353" y="1367444"/>
            <a:ext cx="9144000" cy="2387600"/>
          </a:xfrm>
        </p:spPr>
        <p:txBody>
          <a:bodyPr anchor="ctr"/>
          <a:lstStyle/>
          <a:p>
            <a:r>
              <a:rPr lang="zh-TW" altLang="en-US" dirty="0"/>
              <a:t>概念塑模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>
          <a:xfrm>
            <a:off x="1019084" y="3561229"/>
            <a:ext cx="5074681" cy="1396885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20000"/>
              </a:lnSpc>
            </a:pPr>
            <a:r>
              <a:rPr lang="zh-TW" altLang="en-US" sz="3200">
                <a:latin typeface="微軟正黑體" pitchFamily="34" charset="-120"/>
                <a:ea typeface="微軟正黑體" pitchFamily="34" charset="-120"/>
              </a:rPr>
              <a:t>用</a:t>
            </a:r>
            <a:r>
              <a:rPr lang="zh-TW" altLang="en-US" sz="3200">
                <a:latin typeface="微軟正黑體" pitchFamily="34" charset="-120"/>
              </a:rPr>
              <a:t>資料</a:t>
            </a:r>
            <a:r>
              <a:rPr lang="zh-TW" altLang="en-US" sz="3200">
                <a:latin typeface="微軟正黑體" pitchFamily="34" charset="-120"/>
                <a:ea typeface="微軟正黑體" pitchFamily="34" charset="-120"/>
              </a:rPr>
              <a:t>結構</a:t>
            </a:r>
            <a:r>
              <a:rPr lang="zh-TW" altLang="en-US" sz="3200" dirty="0">
                <a:latin typeface="微軟正黑體" pitchFamily="34" charset="-120"/>
                <a:ea typeface="微軟正黑體" pitchFamily="34" charset="-120"/>
              </a:rPr>
              <a:t>化</a:t>
            </a:r>
            <a:r>
              <a:rPr lang="zh-TW" altLang="en-US" sz="3200">
                <a:latin typeface="微軟正黑體" pitchFamily="34" charset="-120"/>
                <a:ea typeface="微軟正黑體" pitchFamily="34" charset="-120"/>
              </a:rPr>
              <a:t>的方式擷取</a:t>
            </a:r>
            <a:r>
              <a:rPr lang="zh-TW" altLang="en-US" sz="3200" dirty="0">
                <a:latin typeface="微軟正黑體" pitchFamily="34" charset="-120"/>
                <a:ea typeface="微軟正黑體" pitchFamily="34" charset="-120"/>
              </a:rPr>
              <a:t>出迷你世界裡的資料種類和其關係，實體關係模式就是最常用的概念塑模工具</a:t>
            </a:r>
            <a:endParaRPr lang="zh-TW" altLang="en-US" sz="3200" dirty="0"/>
          </a:p>
        </p:txBody>
      </p:sp>
      <p:pic>
        <p:nvPicPr>
          <p:cNvPr id="6" name="圖片 5" descr="全日本&lt;strong&gt;模型&lt;/strong&gt;ホビーショー2019 | Ryoku KASINN | Flick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976" y="381652"/>
            <a:ext cx="2028825" cy="3038475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5968313" y="4267788"/>
            <a:ext cx="5760489" cy="1701743"/>
            <a:chOff x="611560" y="3933056"/>
            <a:chExt cx="6751271" cy="1952600"/>
          </a:xfrm>
        </p:grpSpPr>
        <p:cxnSp>
          <p:nvCxnSpPr>
            <p:cNvPr id="8" name="直線接點 7"/>
            <p:cNvCxnSpPr/>
            <p:nvPr/>
          </p:nvCxnSpPr>
          <p:spPr>
            <a:xfrm>
              <a:off x="4644008" y="4293096"/>
              <a:ext cx="864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1763688" y="4005064"/>
              <a:ext cx="1368152" cy="72008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商品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5508104" y="4005064"/>
              <a:ext cx="1368152" cy="72008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latin typeface="微軟正黑體" pitchFamily="34" charset="-120"/>
                  <a:ea typeface="微軟正黑體" pitchFamily="34" charset="-120"/>
                </a:rPr>
                <a:t>交易</a:t>
              </a:r>
            </a:p>
          </p:txBody>
        </p:sp>
        <p:sp>
          <p:nvSpPr>
            <p:cNvPr id="11" name="菱形 10"/>
            <p:cNvSpPr/>
            <p:nvPr/>
          </p:nvSpPr>
          <p:spPr>
            <a:xfrm>
              <a:off x="3635896" y="4005064"/>
              <a:ext cx="1224136" cy="720080"/>
            </a:xfrm>
            <a:prstGeom prst="diamond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200" dirty="0"/>
                <a:t>包括</a:t>
              </a:r>
            </a:p>
          </p:txBody>
        </p:sp>
        <p:cxnSp>
          <p:nvCxnSpPr>
            <p:cNvPr id="12" name="直線接點 11"/>
            <p:cNvCxnSpPr>
              <a:endCxn id="11" idx="1"/>
            </p:cNvCxnSpPr>
            <p:nvPr/>
          </p:nvCxnSpPr>
          <p:spPr>
            <a:xfrm>
              <a:off x="3131840" y="4365104"/>
              <a:ext cx="5040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接點 12"/>
            <p:cNvCxnSpPr>
              <a:stCxn id="11" idx="3"/>
              <a:endCxn id="10" idx="1"/>
            </p:cNvCxnSpPr>
            <p:nvPr/>
          </p:nvCxnSpPr>
          <p:spPr>
            <a:xfrm>
              <a:off x="4860032" y="4365104"/>
              <a:ext cx="64807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橢圓 13"/>
            <p:cNvSpPr/>
            <p:nvPr/>
          </p:nvSpPr>
          <p:spPr>
            <a:xfrm>
              <a:off x="611560" y="5305400"/>
              <a:ext cx="972108" cy="50405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u="sng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pNo</a:t>
              </a:r>
              <a:endParaRPr lang="zh-TW" altLang="en-US" sz="1400" b="1" u="sng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1718004" y="5301208"/>
              <a:ext cx="1413836" cy="584448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pName</a:t>
              </a:r>
              <a:endPara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3284699" y="5308979"/>
              <a:ext cx="1791357" cy="516533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unitPrice</a:t>
              </a:r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7" name="直線接點 16"/>
            <p:cNvCxnSpPr>
              <a:stCxn id="14" idx="0"/>
              <a:endCxn id="9" idx="2"/>
            </p:cNvCxnSpPr>
            <p:nvPr/>
          </p:nvCxnSpPr>
          <p:spPr>
            <a:xfrm flipV="1">
              <a:off x="1097614" y="4725144"/>
              <a:ext cx="1350150" cy="5802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5" idx="0"/>
              <a:endCxn id="9" idx="2"/>
            </p:cNvCxnSpPr>
            <p:nvPr/>
          </p:nvCxnSpPr>
          <p:spPr>
            <a:xfrm flipV="1">
              <a:off x="2424922" y="4725144"/>
              <a:ext cx="22842" cy="5760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6" idx="0"/>
              <a:endCxn id="9" idx="2"/>
            </p:cNvCxnSpPr>
            <p:nvPr/>
          </p:nvCxnSpPr>
          <p:spPr>
            <a:xfrm flipH="1" flipV="1">
              <a:off x="2447764" y="4725144"/>
              <a:ext cx="1732614" cy="5838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橢圓 19"/>
            <p:cNvSpPr/>
            <p:nvPr/>
          </p:nvSpPr>
          <p:spPr>
            <a:xfrm>
              <a:off x="5319241" y="5377408"/>
              <a:ext cx="936104" cy="432048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u="sng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tNo</a:t>
              </a:r>
              <a:endParaRPr lang="zh-TW" altLang="en-US" sz="1600" b="1" u="sng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橢圓 20"/>
            <p:cNvSpPr/>
            <p:nvPr/>
          </p:nvSpPr>
          <p:spPr>
            <a:xfrm>
              <a:off x="6389681" y="5334379"/>
              <a:ext cx="973150" cy="47821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date</a:t>
              </a:r>
              <a:endPara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22" name="直線接點 21"/>
            <p:cNvCxnSpPr>
              <a:stCxn id="20" idx="0"/>
              <a:endCxn id="10" idx="2"/>
            </p:cNvCxnSpPr>
            <p:nvPr/>
          </p:nvCxnSpPr>
          <p:spPr>
            <a:xfrm flipV="1">
              <a:off x="5787293" y="4725144"/>
              <a:ext cx="404887" cy="6522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21" idx="0"/>
              <a:endCxn id="10" idx="2"/>
            </p:cNvCxnSpPr>
            <p:nvPr/>
          </p:nvCxnSpPr>
          <p:spPr>
            <a:xfrm flipH="1" flipV="1">
              <a:off x="6192180" y="4725144"/>
              <a:ext cx="684076" cy="6092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3284699" y="3933056"/>
              <a:ext cx="351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M</a:t>
              </a:r>
              <a:endParaRPr lang="zh-TW" altLang="en-US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4860032" y="3953880"/>
              <a:ext cx="351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N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902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了解資料庫應用系統迷你世界途徑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5735595" cy="4351338"/>
          </a:xfrm>
        </p:spPr>
        <p:txBody>
          <a:bodyPr/>
          <a:lstStyle/>
          <a:p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收集相關文件和表單</a:t>
            </a:r>
            <a:endParaRPr lang="en-US" altLang="zh-TW" sz="2600" dirty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>
                <a:latin typeface="微軟正黑體" pitchFamily="34" charset="-120"/>
                <a:ea typeface="微軟正黑體" pitchFamily="34" charset="-120"/>
              </a:rPr>
              <a:t>瞭解作業方式、作業中的紀錄表單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範例</a:t>
            </a:r>
            <a:r>
              <a:rPr lang="zh-TW" altLang="en-US" b="1" u="sng" dirty="0">
                <a:latin typeface="微軟正黑體" pitchFamily="34" charset="-120"/>
                <a:ea typeface="微軟正黑體" pitchFamily="34" charset="-120"/>
              </a:rPr>
              <a:t>出貨單</a:t>
            </a:r>
            <a:endParaRPr lang="en-US" altLang="zh-TW" sz="18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2600" dirty="0">
                <a:latin typeface="微軟正黑體" pitchFamily="34" charset="-120"/>
                <a:ea typeface="微軟正黑體" pitchFamily="34" charset="-120"/>
              </a:rPr>
              <a:t>訪談</a:t>
            </a:r>
            <a:endParaRPr lang="en-US" altLang="zh-TW" sz="2600" dirty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>
                <a:latin typeface="微軟正黑體" pitchFamily="34" charset="-120"/>
                <a:ea typeface="微軟正黑體" pitchFamily="34" charset="-120"/>
              </a:rPr>
              <a:t>對象包括操作員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、客戶、高階主管</a:t>
            </a:r>
            <a:endParaRPr lang="en-US" altLang="zh-TW" dirty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確認現有</a:t>
            </a:r>
            <a:r>
              <a:rPr lang="zh-TW" altLang="en-US">
                <a:latin typeface="微軟正黑體" pitchFamily="34" charset="-120"/>
                <a:ea typeface="微軟正黑體" pitchFamily="34" charset="-120"/>
              </a:rPr>
              <a:t>作業方式 </a:t>
            </a:r>
            <a:r>
              <a:rPr lang="en-US" altLang="zh-TW">
                <a:latin typeface="微軟正黑體" pitchFamily="34" charset="-120"/>
                <a:ea typeface="微軟正黑體" pitchFamily="34" charset="-120"/>
              </a:rPr>
              <a:t>(as-is)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  <a:p>
            <a:pPr lvl="1"/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對未來新作業方式</a:t>
            </a:r>
            <a:r>
              <a:rPr lang="zh-TW" altLang="en-US">
                <a:latin typeface="微軟正黑體" pitchFamily="34" charset="-120"/>
                <a:ea typeface="微軟正黑體" pitchFamily="34" charset="-120"/>
              </a:rPr>
              <a:t>的期待 </a:t>
            </a:r>
            <a:r>
              <a:rPr lang="en-US" altLang="zh-TW">
                <a:latin typeface="微軟正黑體" pitchFamily="34" charset="-120"/>
                <a:ea typeface="微軟正黑體" pitchFamily="34" charset="-120"/>
              </a:rPr>
              <a:t>(to-be)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683" y="1825625"/>
            <a:ext cx="5169856" cy="3609145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801F9A3-7255-074D-B2B1-AF5DD680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5C54-6891-4849-90F6-641BC1FFCCBE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0E08AB-D41F-50C5-1F4C-0CD8B79D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30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BFEB8-D57E-43EF-88FF-A555BD23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實體關係模型 </a:t>
            </a:r>
            <a:r>
              <a:rPr lang="en-US" altLang="zh-TW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Entity-relationship model)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89DBEE-9A16-49A9-9B7E-5B751B904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美籍台灣人電腦科學家</a:t>
            </a:r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陳品山</a:t>
            </a:r>
            <a:r>
              <a:rPr lang="en-US" altLang="zh-TW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(1968 </a:t>
            </a:r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台大電機</a:t>
            </a:r>
            <a:r>
              <a:rPr lang="en-US" altLang="zh-TW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發明，</a:t>
            </a:r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概念資料模型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的高層描述所使用的</a:t>
            </a:r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資料模型</a:t>
            </a:r>
            <a:endParaRPr lang="en-US" altLang="zh-TW" b="0" i="0" u="none" strike="noStrike">
              <a:solidFill>
                <a:srgbClr val="3366CC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ER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模型常用於資訊系統設計；在</a:t>
            </a:r>
            <a:r>
              <a:rPr lang="zh-TW" altLang="en-US" b="0" i="0" u="none" strike="noStrike">
                <a:solidFill>
                  <a:srgbClr val="BF3C2C"/>
                </a:solidFill>
                <a:effectLst/>
                <a:latin typeface="Arial" panose="020B0604020202020204" pitchFamily="34" charset="0"/>
              </a:rPr>
              <a:t>概念結構設計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階段用來描述資訊需求和／或要儲存在資料庫中的資訊的類型。</a:t>
            </a:r>
            <a:endParaRPr lang="en-US" altLang="zh-TW" b="0" i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資料建模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技術可以用來描述</a:t>
            </a:r>
            <a:r>
              <a:rPr lang="zh-TW" altLang="en-US" i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感興趣的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的任何</a:t>
            </a:r>
            <a:r>
              <a:rPr lang="zh-TW" altLang="en-US">
                <a:solidFill>
                  <a:srgbClr val="3366CC"/>
                </a:solidFill>
                <a:latin typeface="Arial" panose="020B0604020202020204" pitchFamily="34" charset="0"/>
              </a:rPr>
              <a:t>實</a:t>
            </a:r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體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（使用的術語和實體間關聯的概述和分類）。</a:t>
            </a:r>
            <a:endParaRPr lang="en-US" altLang="zh-TW" b="0" i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資料庫的資訊系統設計，在</a:t>
            </a:r>
            <a:r>
              <a:rPr lang="zh-TW" altLang="en-US" b="0" i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邏輯設計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階段，概念模型要對映到邏輯模型如</a:t>
            </a:r>
            <a:r>
              <a:rPr lang="zh-TW" alt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關係模型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上；並在</a:t>
            </a:r>
            <a:r>
              <a:rPr lang="zh-TW" altLang="en-US" b="0">
                <a:solidFill>
                  <a:srgbClr val="C00000"/>
                </a:solidFill>
                <a:latin typeface="Arial" panose="020B0604020202020204" pitchFamily="34" charset="0"/>
              </a:rPr>
              <a:t>物理</a:t>
            </a:r>
            <a:r>
              <a:rPr lang="zh-TW" altLang="en-US" b="0" i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設計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期間對映到物理模型上。</a:t>
            </a:r>
            <a:endParaRPr lang="en-US" altLang="zh-TW" b="0" i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實體聯絡模式圖（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ER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Diagram, ERD</a:t>
            </a:r>
            <a:r>
              <a:rPr lang="zh-TW" alt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）有一些約定</a:t>
            </a:r>
            <a:r>
              <a:rPr lang="zh-TW" altLang="en-US">
                <a:solidFill>
                  <a:srgbClr val="202122"/>
                </a:solidFill>
                <a:latin typeface="Arial" panose="020B0604020202020204" pitchFamily="34" charset="0"/>
              </a:rPr>
              <a:t>，稱為 </a:t>
            </a:r>
            <a:r>
              <a:rPr lang="en-US" altLang="zh-TW">
                <a:solidFill>
                  <a:srgbClr val="202122"/>
                </a:solidFill>
                <a:latin typeface="Arial" panose="020B0604020202020204" pitchFamily="34" charset="0"/>
              </a:rPr>
              <a:t>chen’s notation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992076-3FC7-4726-BCF3-7F26BF55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6A2B-69A9-4F9A-B1AA-DB9A84EE82E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A6D68B-EB1B-4F2F-8251-3248B24B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06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實體關係模式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356530"/>
              </p:ext>
            </p:extLst>
          </p:nvPr>
        </p:nvGraphicFramePr>
        <p:xfrm>
          <a:off x="838200" y="2125362"/>
          <a:ext cx="9220200" cy="3717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737465" y="797073"/>
            <a:ext cx="6389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7030A0"/>
                </a:solidFill>
                <a:latin typeface="Comic Sans MS" panose="030F0702030302020204" pitchFamily="66" charset="0"/>
                <a:ea typeface="微軟正黑體" pitchFamily="34" charset="-120"/>
              </a:rPr>
              <a:t>E</a:t>
            </a:r>
            <a:r>
              <a:rPr lang="en-US" altLang="zh-TW" sz="2400" b="1" dirty="0">
                <a:latin typeface="Comic Sans MS" panose="030F0702030302020204" pitchFamily="66" charset="0"/>
                <a:ea typeface="微軟正黑體" pitchFamily="34" charset="-120"/>
              </a:rPr>
              <a:t>ntity </a:t>
            </a:r>
            <a:r>
              <a:rPr lang="en-US" altLang="zh-TW" sz="2400" b="1" dirty="0">
                <a:solidFill>
                  <a:srgbClr val="7030A0"/>
                </a:solidFill>
                <a:latin typeface="Comic Sans MS" panose="030F0702030302020204" pitchFamily="66" charset="0"/>
                <a:ea typeface="微軟正黑體" pitchFamily="34" charset="-120"/>
              </a:rPr>
              <a:t>R</a:t>
            </a:r>
            <a:r>
              <a:rPr lang="en-US" altLang="zh-TW" sz="2400" b="1" dirty="0">
                <a:latin typeface="Comic Sans MS" panose="030F0702030302020204" pitchFamily="66" charset="0"/>
                <a:ea typeface="微軟正黑體" pitchFamily="34" charset="-120"/>
              </a:rPr>
              <a:t>elationship </a:t>
            </a:r>
            <a:r>
              <a:rPr lang="en-US" altLang="zh-TW" sz="2400" b="1" dirty="0">
                <a:solidFill>
                  <a:srgbClr val="7030A0"/>
                </a:solidFill>
                <a:latin typeface="Comic Sans MS" panose="030F0702030302020204" pitchFamily="66" charset="0"/>
                <a:ea typeface="微軟正黑體" pitchFamily="34" charset="-120"/>
              </a:rPr>
              <a:t>M</a:t>
            </a:r>
            <a:r>
              <a:rPr lang="en-US" altLang="zh-TW" sz="2400" b="1" dirty="0">
                <a:latin typeface="Comic Sans MS" panose="030F0702030302020204" pitchFamily="66" charset="0"/>
                <a:ea typeface="微軟正黑體" pitchFamily="34" charset="-120"/>
              </a:rPr>
              <a:t>odel, </a:t>
            </a:r>
            <a:r>
              <a:rPr lang="zh-TW" altLang="en-US" sz="2400" b="1" dirty="0">
                <a:latin typeface="Comic Sans MS" panose="030F0702030302020204" pitchFamily="66" charset="0"/>
                <a:ea typeface="微軟正黑體" pitchFamily="34" charset="-120"/>
              </a:rPr>
              <a:t>簡稱 </a:t>
            </a:r>
            <a:r>
              <a:rPr lang="en-US" altLang="zh-TW" sz="2400" b="1" dirty="0">
                <a:solidFill>
                  <a:srgbClr val="7030A0"/>
                </a:solidFill>
                <a:latin typeface="Comic Sans MS" panose="030F0702030302020204" pitchFamily="66" charset="0"/>
                <a:ea typeface="微軟正黑體" pitchFamily="34" charset="-120"/>
              </a:rPr>
              <a:t>ER Model</a:t>
            </a:r>
            <a:endParaRPr lang="zh-TW" altLang="en-US" sz="24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477C073-286C-DB67-378C-2D66B1FA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8FD5-D1D2-441C-A1DA-CBE0923AC6B3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0C8869-D76A-27C3-BDD3-646A205F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8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TW" altLang="zh-TW" dirty="0"/>
              <a:t>實體（</a:t>
            </a:r>
            <a:r>
              <a:rPr lang="en-US" altLang="zh-TW" dirty="0"/>
              <a:t>Entity</a:t>
            </a:r>
            <a:r>
              <a:rPr lang="zh-TW" altLang="zh-TW" dirty="0"/>
              <a:t>）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2400"/>
              <a:t>在資料庫中描述的</a:t>
            </a:r>
            <a:r>
              <a:rPr lang="zh-TW" altLang="en-US" sz="2400" dirty="0"/>
              <a:t>一筆紀錄，如一個會員</a:t>
            </a:r>
            <a:r>
              <a:rPr lang="zh-TW" altLang="en-US" sz="2400" dirty="0">
                <a:latin typeface="微軟正黑體" pitchFamily="34" charset="-120"/>
              </a:rPr>
              <a:t>、一本書、一張</a:t>
            </a:r>
            <a:r>
              <a:rPr lang="en-US" altLang="zh-TW" sz="2400" dirty="0">
                <a:latin typeface="微軟正黑體" pitchFamily="34" charset="-120"/>
              </a:rPr>
              <a:t>CD</a:t>
            </a:r>
            <a:r>
              <a:rPr lang="zh-TW" altLang="en-US" sz="2400" dirty="0">
                <a:latin typeface="微軟正黑體" pitchFamily="34" charset="-120"/>
              </a:rPr>
              <a:t>、一台購物車、一筆交易</a:t>
            </a:r>
            <a:r>
              <a:rPr lang="zh-TW" altLang="en-US" sz="2400">
                <a:latin typeface="微軟正黑體" pitchFamily="34" charset="-120"/>
              </a:rPr>
              <a:t>等，稱為一個</a:t>
            </a:r>
            <a:r>
              <a:rPr lang="zh-TW" altLang="en-US" sz="2400" dirty="0">
                <a:latin typeface="微軟正黑體" pitchFamily="34" charset="-120"/>
              </a:rPr>
              <a:t>實體 </a:t>
            </a:r>
            <a:endParaRPr lang="en-US" altLang="zh-TW" sz="2400" dirty="0">
              <a:latin typeface="微軟正黑體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latin typeface="微軟正黑體" pitchFamily="34" charset="-120"/>
              </a:rPr>
              <a:t>一個實體會有一些迷你世界裡需要的</a:t>
            </a:r>
            <a:r>
              <a:rPr lang="zh-TW" altLang="en-US" sz="2400" b="1" dirty="0">
                <a:solidFill>
                  <a:srgbClr val="C00000"/>
                </a:solidFill>
                <a:latin typeface="微軟正黑體" pitchFamily="34" charset="-120"/>
              </a:rPr>
              <a:t>屬性</a:t>
            </a:r>
            <a:endParaRPr lang="en-US" altLang="zh-TW" sz="2400" b="1" dirty="0">
              <a:solidFill>
                <a:srgbClr val="C00000"/>
              </a:solidFill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>
                <a:latin typeface="微軟正黑體" pitchFamily="34" charset="-120"/>
              </a:rPr>
              <a:t>一個「會員」會有「編號、姓名</a:t>
            </a:r>
            <a:r>
              <a:rPr lang="zh-TW" altLang="en-US" sz="2000" dirty="0">
                <a:latin typeface="微軟正黑體" pitchFamily="34" charset="-120"/>
              </a:rPr>
              <a:t>、生日</a:t>
            </a:r>
            <a:r>
              <a:rPr lang="zh-TW" altLang="en-US" sz="2000">
                <a:latin typeface="微軟正黑體" pitchFamily="34" charset="-120"/>
              </a:rPr>
              <a:t>、職業、電話、住址</a:t>
            </a:r>
            <a:r>
              <a:rPr lang="en-US" altLang="zh-TW" sz="2000">
                <a:latin typeface="微軟正黑體" pitchFamily="34" charset="-120"/>
              </a:rPr>
              <a:t>…</a:t>
            </a:r>
            <a:r>
              <a:rPr lang="zh-TW" altLang="en-US" sz="2000">
                <a:latin typeface="微軟正黑體" pitchFamily="34" charset="-120"/>
              </a:rPr>
              <a:t>」</a:t>
            </a:r>
            <a:endParaRPr lang="en-US" altLang="zh-TW" sz="2000" dirty="0"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>
                <a:latin typeface="微軟正黑體" pitchFamily="34" charset="-120"/>
              </a:rPr>
              <a:t>一本「書」有「書名</a:t>
            </a:r>
            <a:r>
              <a:rPr lang="zh-TW" altLang="en-US" sz="2000" dirty="0">
                <a:latin typeface="微軟正黑體" pitchFamily="34" charset="-120"/>
              </a:rPr>
              <a:t>、作者</a:t>
            </a:r>
            <a:r>
              <a:rPr lang="zh-TW" altLang="en-US" sz="2000">
                <a:latin typeface="微軟正黑體" pitchFamily="34" charset="-120"/>
              </a:rPr>
              <a:t>、定價」</a:t>
            </a:r>
            <a:endParaRPr lang="en-US" altLang="zh-TW" sz="2000" dirty="0"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>
                <a:latin typeface="微軟正黑體" pitchFamily="34" charset="-120"/>
              </a:rPr>
              <a:t>一筆「交易」有「交易</a:t>
            </a:r>
            <a:r>
              <a:rPr lang="zh-TW" altLang="en-US" sz="2000" dirty="0">
                <a:latin typeface="微軟正黑體" pitchFamily="34" charset="-120"/>
              </a:rPr>
              <a:t>時間、</a:t>
            </a:r>
            <a:r>
              <a:rPr lang="zh-TW" altLang="en-US" sz="2000">
                <a:latin typeface="微軟正黑體" pitchFamily="34" charset="-120"/>
              </a:rPr>
              <a:t>交易商品、數量」</a:t>
            </a:r>
            <a:endParaRPr lang="en-US" altLang="zh-TW" sz="2000" dirty="0">
              <a:latin typeface="微軟正黑體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latin typeface="微軟正黑體" pitchFamily="34" charset="-120"/>
              </a:rPr>
              <a:t>每</a:t>
            </a:r>
            <a:r>
              <a:rPr lang="zh-TW" altLang="en-US" sz="2400">
                <a:latin typeface="微軟正黑體" pitchFamily="34" charset="-120"/>
              </a:rPr>
              <a:t>一個實體的屬性有其專屬</a:t>
            </a:r>
            <a:r>
              <a:rPr lang="zh-TW" altLang="en-US" sz="2400" dirty="0">
                <a:latin typeface="微軟正黑體" pitchFamily="34" charset="-120"/>
              </a:rPr>
              <a:t>的</a:t>
            </a:r>
            <a:r>
              <a:rPr lang="zh-TW" altLang="en-US" sz="2400" b="1" dirty="0">
                <a:solidFill>
                  <a:srgbClr val="C00000"/>
                </a:solidFill>
                <a:latin typeface="微軟正黑體" pitchFamily="34" charset="-120"/>
              </a:rPr>
              <a:t>屬性值</a:t>
            </a:r>
            <a:endParaRPr lang="en-US" altLang="zh-TW" sz="2400" b="1" dirty="0">
              <a:solidFill>
                <a:srgbClr val="C00000"/>
              </a:solidFill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/>
              <a:t>一門課有</a:t>
            </a:r>
            <a:r>
              <a:rPr lang="zh-TW" altLang="en-US" sz="2000" dirty="0"/>
              <a:t>「課名」</a:t>
            </a:r>
            <a:r>
              <a:rPr lang="en-US" altLang="zh-TW" sz="2000" dirty="0"/>
              <a:t>(“</a:t>
            </a:r>
            <a:r>
              <a:rPr lang="zh-TW" altLang="en-US" sz="2000" dirty="0"/>
              <a:t>資料庫與管理</a:t>
            </a:r>
            <a:r>
              <a:rPr lang="en-US" altLang="zh-TW" sz="2000" dirty="0"/>
              <a:t>”)</a:t>
            </a:r>
            <a:r>
              <a:rPr lang="zh-TW" altLang="en-US" sz="2000" dirty="0"/>
              <a:t>，「授課教師」</a:t>
            </a:r>
            <a:r>
              <a:rPr lang="en-US" altLang="zh-TW" sz="2000" dirty="0"/>
              <a:t>(“</a:t>
            </a:r>
            <a:r>
              <a:rPr lang="zh-TW" altLang="en-US" sz="2000" dirty="0"/>
              <a:t>鍾健雄</a:t>
            </a:r>
            <a:r>
              <a:rPr lang="en-US" altLang="zh-TW" sz="2000" dirty="0"/>
              <a:t>”)</a:t>
            </a:r>
            <a:r>
              <a:rPr lang="zh-TW" altLang="en-US" sz="2000" dirty="0"/>
              <a:t>，</a:t>
            </a:r>
            <a:r>
              <a:rPr lang="zh-TW" altLang="en-US" sz="2000" b="1" dirty="0">
                <a:solidFill>
                  <a:srgbClr val="00B0F0"/>
                </a:solidFill>
              </a:rPr>
              <a:t>單值屬性</a:t>
            </a:r>
            <a:endParaRPr lang="en-US" altLang="zh-TW" sz="2000" b="1" dirty="0">
              <a:solidFill>
                <a:srgbClr val="00B0F0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itchFamily="34" charset="-120"/>
              </a:rPr>
              <a:t>屬性值可能不只一個，該屬性為</a:t>
            </a:r>
            <a:r>
              <a:rPr lang="zh-TW" altLang="en-US" sz="2000" b="1" dirty="0">
                <a:solidFill>
                  <a:srgbClr val="00B0F0"/>
                </a:solidFill>
                <a:latin typeface="微軟正黑體" pitchFamily="34" charset="-120"/>
              </a:rPr>
              <a:t>多值屬性</a:t>
            </a:r>
            <a:r>
              <a:rPr lang="zh-TW" altLang="en-US" sz="2000" dirty="0">
                <a:latin typeface="微軟正黑體" pitchFamily="34" charset="-120"/>
              </a:rPr>
              <a:t>，如「遊戲設計</a:t>
            </a:r>
            <a:r>
              <a:rPr lang="zh-TW" altLang="en-US" sz="2000">
                <a:latin typeface="微軟正黑體" pitchFamily="34" charset="-120"/>
              </a:rPr>
              <a:t>」由鍾健雄、蕭立人老師教</a:t>
            </a:r>
            <a:endParaRPr lang="en-US" altLang="zh-TW" sz="2000" dirty="0"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itchFamily="34" charset="-120"/>
              </a:rPr>
              <a:t>屬性值可由數個屬性所組成時，該屬性稱為</a:t>
            </a:r>
            <a:r>
              <a:rPr lang="zh-TW" altLang="en-US" sz="2000" b="1" dirty="0">
                <a:solidFill>
                  <a:srgbClr val="00B0F0"/>
                </a:solidFill>
                <a:latin typeface="微軟正黑體" pitchFamily="34" charset="-120"/>
              </a:rPr>
              <a:t>複合屬性</a:t>
            </a:r>
            <a:r>
              <a:rPr lang="zh-TW" altLang="en-US" sz="2000" b="1" dirty="0">
                <a:latin typeface="微軟正黑體" pitchFamily="34" charset="-120"/>
              </a:rPr>
              <a:t>（</a:t>
            </a:r>
            <a:r>
              <a:rPr lang="en-US" altLang="zh-TW" sz="2000" b="1" dirty="0">
                <a:latin typeface="微軟正黑體" pitchFamily="34" charset="-120"/>
              </a:rPr>
              <a:t>Composite attributes</a:t>
            </a:r>
            <a:r>
              <a:rPr lang="zh-TW" altLang="en-US" sz="2000" dirty="0">
                <a:latin typeface="微軟正黑體" pitchFamily="34" charset="-120"/>
              </a:rPr>
              <a:t>），如「地址」由「市</a:t>
            </a:r>
            <a:r>
              <a:rPr lang="en-US" altLang="zh-TW" sz="2000" dirty="0">
                <a:latin typeface="微軟正黑體" pitchFamily="34" charset="-120"/>
              </a:rPr>
              <a:t>(</a:t>
            </a:r>
            <a:r>
              <a:rPr lang="zh-TW" altLang="en-US" sz="2000" dirty="0">
                <a:latin typeface="微軟正黑體" pitchFamily="34" charset="-120"/>
              </a:rPr>
              <a:t>縣</a:t>
            </a:r>
            <a:r>
              <a:rPr lang="en-US" altLang="zh-TW" sz="2000" dirty="0">
                <a:latin typeface="微軟正黑體" pitchFamily="34" charset="-120"/>
              </a:rPr>
              <a:t>)</a:t>
            </a:r>
            <a:r>
              <a:rPr lang="zh-TW" altLang="en-US" sz="2000" dirty="0">
                <a:latin typeface="微軟正黑體" pitchFamily="34" charset="-120"/>
              </a:rPr>
              <a:t>」，「區</a:t>
            </a:r>
            <a:r>
              <a:rPr lang="en-US" altLang="zh-TW" sz="2000" dirty="0">
                <a:latin typeface="微軟正黑體" pitchFamily="34" charset="-120"/>
              </a:rPr>
              <a:t>(</a:t>
            </a:r>
            <a:r>
              <a:rPr lang="zh-TW" altLang="en-US" sz="2000" dirty="0">
                <a:latin typeface="微軟正黑體" pitchFamily="34" charset="-120"/>
              </a:rPr>
              <a:t>鄉、鎮</a:t>
            </a:r>
            <a:r>
              <a:rPr lang="en-US" altLang="zh-TW" sz="2000" dirty="0">
                <a:latin typeface="微軟正黑體" pitchFamily="34" charset="-120"/>
              </a:rPr>
              <a:t>)</a:t>
            </a:r>
            <a:r>
              <a:rPr lang="zh-TW" altLang="en-US" sz="2000" dirty="0">
                <a:latin typeface="微軟正黑體" pitchFamily="34" charset="-120"/>
              </a:rPr>
              <a:t>」，「路</a:t>
            </a:r>
            <a:r>
              <a:rPr lang="en-US" altLang="zh-TW" sz="2000" dirty="0">
                <a:latin typeface="微軟正黑體" pitchFamily="34" charset="-120"/>
              </a:rPr>
              <a:t>(</a:t>
            </a:r>
            <a:r>
              <a:rPr lang="zh-TW" altLang="en-US" sz="2000" dirty="0">
                <a:latin typeface="微軟正黑體" pitchFamily="34" charset="-120"/>
              </a:rPr>
              <a:t>街</a:t>
            </a:r>
            <a:r>
              <a:rPr lang="en-US" altLang="zh-TW" sz="2000" dirty="0">
                <a:latin typeface="微軟正黑體" pitchFamily="34" charset="-120"/>
              </a:rPr>
              <a:t>)</a:t>
            </a:r>
            <a:r>
              <a:rPr lang="zh-TW" altLang="en-US" sz="2000" dirty="0">
                <a:latin typeface="微軟正黑體" pitchFamily="34" charset="-120"/>
              </a:rPr>
              <a:t>」，「巷</a:t>
            </a:r>
            <a:r>
              <a:rPr lang="en-US" altLang="zh-TW" sz="2000" dirty="0">
                <a:latin typeface="微軟正黑體" pitchFamily="34" charset="-120"/>
              </a:rPr>
              <a:t>(</a:t>
            </a:r>
            <a:r>
              <a:rPr lang="zh-TW" altLang="en-US" sz="2000" dirty="0">
                <a:latin typeface="微軟正黑體" pitchFamily="34" charset="-120"/>
              </a:rPr>
              <a:t>弄</a:t>
            </a:r>
            <a:r>
              <a:rPr lang="en-US" altLang="zh-TW" sz="2000" dirty="0">
                <a:latin typeface="微軟正黑體" pitchFamily="34" charset="-120"/>
              </a:rPr>
              <a:t>)</a:t>
            </a:r>
            <a:r>
              <a:rPr lang="zh-TW" altLang="en-US" sz="2000" dirty="0">
                <a:latin typeface="微軟正黑體" pitchFamily="34" charset="-120"/>
              </a:rPr>
              <a:t>」</a:t>
            </a:r>
            <a:r>
              <a:rPr lang="en-US" altLang="zh-TW" sz="2000" dirty="0">
                <a:latin typeface="微軟正黑體" pitchFamily="34" charset="-120"/>
              </a:rPr>
              <a:t>…</a:t>
            </a:r>
            <a:r>
              <a:rPr lang="zh-TW" altLang="en-US" sz="2000" dirty="0">
                <a:latin typeface="微軟正黑體" pitchFamily="34" charset="-120"/>
              </a:rPr>
              <a:t>組成</a:t>
            </a:r>
          </a:p>
          <a:p>
            <a:pPr lvl="1">
              <a:lnSpc>
                <a:spcPct val="100000"/>
              </a:lnSpc>
            </a:pPr>
            <a:endParaRPr lang="zh-TW" altLang="en-US" sz="20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FD6C11-5034-091A-9F01-BF4466BB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9F72-7862-4F44-8F7F-0713634EC6D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D16971-5E5D-7CA6-A489-143CE576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072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2400" dirty="0">
                <a:latin typeface="微軟正黑體" pitchFamily="34" charset="-120"/>
              </a:rPr>
              <a:t>在一個實體型態裡，如果存在一個</a:t>
            </a:r>
            <a:r>
              <a:rPr lang="zh-TW" altLang="en-US" sz="2400">
                <a:latin typeface="微軟正黑體" pitchFamily="34" charset="-120"/>
              </a:rPr>
              <a:t>屬性，對於</a:t>
            </a:r>
            <a:r>
              <a:rPr lang="zh-TW" altLang="en-US" sz="2400" u="sng">
                <a:latin typeface="微軟正黑體" pitchFamily="34" charset="-120"/>
              </a:rPr>
              <a:t>不同實體</a:t>
            </a:r>
            <a:r>
              <a:rPr lang="zh-TW" altLang="en-US" sz="2400">
                <a:latin typeface="微軟正黑體" pitchFamily="34" charset="-120"/>
              </a:rPr>
              <a:t>則該</a:t>
            </a:r>
            <a:r>
              <a:rPr lang="zh-TW" altLang="en-US" sz="2400" u="sng" dirty="0">
                <a:latin typeface="微軟正黑體" pitchFamily="34" charset="-120"/>
              </a:rPr>
              <a:t>屬性值必然</a:t>
            </a:r>
            <a:r>
              <a:rPr lang="zh-TW" altLang="en-US" sz="2400" u="sng">
                <a:latin typeface="微軟正黑體" pitchFamily="34" charset="-120"/>
              </a:rPr>
              <a:t>不同</a:t>
            </a:r>
            <a:r>
              <a:rPr lang="zh-TW" altLang="en-US" sz="2400">
                <a:latin typeface="微軟正黑體" pitchFamily="34" charset="-120"/>
              </a:rPr>
              <a:t>，稱</a:t>
            </a:r>
            <a:r>
              <a:rPr lang="zh-TW" altLang="en-US" sz="2400" dirty="0">
                <a:latin typeface="微軟正黑體" pitchFamily="34" charset="-120"/>
              </a:rPr>
              <a:t>該屬性為</a:t>
            </a:r>
            <a:r>
              <a:rPr lang="zh-TW" altLang="en-US" sz="2400" b="1" dirty="0">
                <a:solidFill>
                  <a:srgbClr val="C00000"/>
                </a:solidFill>
                <a:latin typeface="微軟正黑體" pitchFamily="34" charset="-120"/>
              </a:rPr>
              <a:t>關鍵屬性</a:t>
            </a:r>
            <a:r>
              <a:rPr lang="en-US" altLang="zh-TW" sz="2400" b="1" dirty="0">
                <a:solidFill>
                  <a:srgbClr val="C00000"/>
                </a:solidFill>
                <a:latin typeface="微軟正黑體" pitchFamily="34" charset="-120"/>
              </a:rPr>
              <a:t>(Key attributes)</a:t>
            </a:r>
          </a:p>
          <a:p>
            <a:pPr lvl="1">
              <a:lnSpc>
                <a:spcPct val="100000"/>
              </a:lnSpc>
            </a:pPr>
            <a:r>
              <a:rPr lang="zh-TW" altLang="en-US" sz="2000">
                <a:latin typeface="微軟正黑體" pitchFamily="34" charset="-120"/>
              </a:rPr>
              <a:t>一本書的書號</a:t>
            </a:r>
            <a:r>
              <a:rPr lang="en-US" altLang="zh-TW" sz="2000">
                <a:latin typeface="微軟正黑體" pitchFamily="34" charset="-120"/>
              </a:rPr>
              <a:t>(ISBN)</a:t>
            </a:r>
            <a:r>
              <a:rPr lang="zh-TW" altLang="en-US" sz="2000">
                <a:latin typeface="微軟正黑體" pitchFamily="34" charset="-120"/>
              </a:rPr>
              <a:t>為關鍵屬性，一本書只有獨一的書號</a:t>
            </a:r>
            <a:endParaRPr lang="en-US" altLang="zh-TW" sz="2000"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>
                <a:latin typeface="微軟正黑體" pitchFamily="34" charset="-120"/>
              </a:rPr>
              <a:t>學生的身分證號為關鍵屬性，不可能兩個人有相同的身分證號</a:t>
            </a:r>
            <a:endParaRPr lang="en-US" altLang="zh-TW" sz="2000"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>
                <a:latin typeface="微軟正黑體" pitchFamily="34" charset="-120"/>
              </a:rPr>
              <a:t>在</a:t>
            </a:r>
            <a:r>
              <a:rPr lang="zh-TW" altLang="en-US" sz="2000" dirty="0">
                <a:latin typeface="微軟正黑體" pitchFamily="34" charset="-120"/>
              </a:rPr>
              <a:t>會員實體型態裡，會員編號是關鍵屬性，而身分證</a:t>
            </a:r>
            <a:r>
              <a:rPr lang="en-US" altLang="zh-TW" sz="2000" b="1" dirty="0">
                <a:latin typeface="微軟正黑體" pitchFamily="34" charset="-120"/>
              </a:rPr>
              <a:t>ID</a:t>
            </a:r>
            <a:r>
              <a:rPr lang="zh-TW" altLang="en-US" sz="2000" dirty="0">
                <a:latin typeface="微軟正黑體" pitchFamily="34" charset="-120"/>
              </a:rPr>
              <a:t>也是關鍵屬性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itchFamily="34" charset="-120"/>
              </a:rPr>
              <a:t>在商品實體型態裡，商品代號是關鍵屬性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itchFamily="34" charset="-120"/>
              </a:rPr>
              <a:t>在交易實體型態裡，交易編號是關鍵屬性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微軟正黑體" pitchFamily="34" charset="-120"/>
              </a:rPr>
              <a:t>在購物車實體型態裡，沒有任何一個屬性是關鍵屬性，但</a:t>
            </a:r>
            <a:r>
              <a:rPr lang="zh-TW" altLang="en-US" sz="2000">
                <a:latin typeface="微軟正黑體" pitchFamily="34" charset="-120"/>
              </a:rPr>
              <a:t>若將「購物</a:t>
            </a:r>
            <a:r>
              <a:rPr lang="zh-TW" altLang="en-US" sz="2000" dirty="0">
                <a:latin typeface="微軟正黑體" pitchFamily="34" charset="-120"/>
              </a:rPr>
              <a:t>車</a:t>
            </a:r>
            <a:r>
              <a:rPr lang="zh-TW" altLang="en-US" sz="2000">
                <a:latin typeface="微軟正黑體" pitchFamily="34" charset="-120"/>
              </a:rPr>
              <a:t>產生時間」和「所屬會員」整合</a:t>
            </a:r>
            <a:r>
              <a:rPr lang="zh-TW" altLang="en-US" sz="2000" dirty="0">
                <a:latin typeface="微軟正黑體" pitchFamily="34" charset="-120"/>
              </a:rPr>
              <a:t>成一複合屬性，則該</a:t>
            </a:r>
            <a:r>
              <a:rPr lang="zh-TW" altLang="en-US" sz="2000" b="1" dirty="0">
                <a:solidFill>
                  <a:srgbClr val="C00000"/>
                </a:solidFill>
                <a:latin typeface="微軟正黑體" pitchFamily="34" charset="-120"/>
              </a:rPr>
              <a:t>複合屬性</a:t>
            </a:r>
            <a:r>
              <a:rPr lang="zh-TW" altLang="en-US" sz="2000" dirty="0">
                <a:latin typeface="微軟正黑體" pitchFamily="34" charset="-120"/>
              </a:rPr>
              <a:t>即為</a:t>
            </a:r>
            <a:r>
              <a:rPr lang="zh-TW" altLang="en-US" sz="2000">
                <a:latin typeface="微軟正黑體" pitchFamily="34" charset="-120"/>
              </a:rPr>
              <a:t>關鍵屬性，</a:t>
            </a:r>
            <a:r>
              <a:rPr lang="zh-TW" altLang="en-US" sz="2000" b="1">
                <a:solidFill>
                  <a:srgbClr val="0000FF"/>
                </a:solidFill>
                <a:latin typeface="微軟正黑體" pitchFamily="34" charset="-120"/>
              </a:rPr>
              <a:t>關鍵屬性可由複合屬性組成</a:t>
            </a:r>
            <a:r>
              <a:rPr lang="zh-TW" altLang="en-US" sz="2000">
                <a:latin typeface="微軟正黑體" pitchFamily="34" charset="-120"/>
              </a:rPr>
              <a:t>！ </a:t>
            </a:r>
            <a:endParaRPr lang="zh-TW" altLang="en-US" sz="2000" dirty="0">
              <a:latin typeface="微軟正黑體" pitchFamily="34" charset="-120"/>
            </a:endParaRPr>
          </a:p>
          <a:p>
            <a:pPr lvl="1">
              <a:lnSpc>
                <a:spcPct val="100000"/>
              </a:lnSpc>
            </a:pPr>
            <a:endParaRPr lang="en-US" altLang="zh-TW" sz="2000" dirty="0">
              <a:latin typeface="微軟正黑體" pitchFamily="34" charset="-120"/>
            </a:endParaRPr>
          </a:p>
          <a:p>
            <a:pPr>
              <a:lnSpc>
                <a:spcPct val="100000"/>
              </a:lnSpc>
            </a:pPr>
            <a:endParaRPr lang="zh-TW" altLang="en-US" sz="24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17C0AC-982C-1F6C-1F0D-3D91AA11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335E-AAD4-4F58-95E7-A99130C0EEC4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C07CE-F1AA-FCC0-1944-62E54C05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96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實體型態案例</a:t>
            </a:r>
          </a:p>
        </p:txBody>
      </p:sp>
      <p:pic>
        <p:nvPicPr>
          <p:cNvPr id="4" name="table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07995" y="1225549"/>
            <a:ext cx="3146809" cy="3452813"/>
          </a:xfrm>
          <a:prstGeom prst="rect">
            <a:avLst/>
          </a:prstGeom>
        </p:spPr>
      </p:pic>
      <p:pic>
        <p:nvPicPr>
          <p:cNvPr id="5" name="tabl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07995" y="4609199"/>
            <a:ext cx="3146809" cy="1242287"/>
          </a:xfrm>
          <a:prstGeom prst="rect">
            <a:avLst/>
          </a:prstGeom>
        </p:spPr>
      </p:pic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EBF6A7-A852-6033-A50B-283C03F4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0A6B-3985-418A-9AD8-2E1205BFBD24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F93F45-EA61-DF0E-C027-3BBF8FAA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635DED0-0B57-41D9-911B-E2FF2D415BFF}"/>
              </a:ext>
            </a:extLst>
          </p:cNvPr>
          <p:cNvSpPr/>
          <p:nvPr/>
        </p:nvSpPr>
        <p:spPr>
          <a:xfrm>
            <a:off x="3933748" y="1929081"/>
            <a:ext cx="1353478" cy="4508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771F0CB-058C-4917-85D1-79E02DF3BA85}"/>
              </a:ext>
            </a:extLst>
          </p:cNvPr>
          <p:cNvSpPr/>
          <p:nvPr/>
        </p:nvSpPr>
        <p:spPr>
          <a:xfrm>
            <a:off x="3933748" y="3911639"/>
            <a:ext cx="1353478" cy="4508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868F710-354D-48E8-819E-DE194546A645}"/>
              </a:ext>
            </a:extLst>
          </p:cNvPr>
          <p:cNvSpPr/>
          <p:nvPr/>
        </p:nvSpPr>
        <p:spPr>
          <a:xfrm>
            <a:off x="3933748" y="4907487"/>
            <a:ext cx="1353478" cy="4508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A7D3DE-F96C-4E14-A1DF-4DFA6DE6FEDE}"/>
              </a:ext>
            </a:extLst>
          </p:cNvPr>
          <p:cNvSpPr txBox="1"/>
          <p:nvPr/>
        </p:nvSpPr>
        <p:spPr>
          <a:xfrm>
            <a:off x="5359246" y="1969840"/>
            <a:ext cx="147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“205/12/07”</a:t>
            </a:r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0231C04-09C6-4265-A1EB-1E623EA6950E}"/>
              </a:ext>
            </a:extLst>
          </p:cNvPr>
          <p:cNvSpPr txBox="1"/>
          <p:nvPr/>
        </p:nvSpPr>
        <p:spPr>
          <a:xfrm>
            <a:off x="5359246" y="3952398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“</a:t>
            </a:r>
            <a:r>
              <a:rPr lang="zh-TW" altLang="en-US"/>
              <a:t>周杰倫</a:t>
            </a:r>
            <a:r>
              <a:rPr lang="en-US" altLang="zh-TW"/>
              <a:t>”</a:t>
            </a:r>
            <a:r>
              <a:rPr lang="zh-TW" altLang="en-US"/>
              <a:t>，</a:t>
            </a:r>
            <a:r>
              <a:rPr lang="en-US" altLang="zh-TW"/>
              <a:t>”</a:t>
            </a:r>
            <a:r>
              <a:rPr lang="zh-TW" altLang="en-US"/>
              <a:t>蕭敬騰</a:t>
            </a:r>
            <a:r>
              <a:rPr lang="en-US" altLang="zh-TW"/>
              <a:t>”</a:t>
            </a:r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7EDE935-92D4-45DB-A9C5-F34E85C401D2}"/>
              </a:ext>
            </a:extLst>
          </p:cNvPr>
          <p:cNvSpPr txBox="1"/>
          <p:nvPr/>
        </p:nvSpPr>
        <p:spPr>
          <a:xfrm>
            <a:off x="5359246" y="4948246"/>
            <a:ext cx="3556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“</a:t>
            </a:r>
            <a:r>
              <a:rPr lang="zh-TW" altLang="en-US"/>
              <a:t>信用卡</a:t>
            </a:r>
            <a:r>
              <a:rPr lang="en-US" altLang="zh-TW"/>
              <a:t>”</a:t>
            </a:r>
            <a:r>
              <a:rPr lang="zh-TW" altLang="en-US"/>
              <a:t>，</a:t>
            </a:r>
            <a:r>
              <a:rPr lang="en-US" altLang="zh-TW"/>
              <a:t>“Line Pay”</a:t>
            </a:r>
            <a:r>
              <a:rPr lang="zh-TW" altLang="en-US"/>
              <a:t>，</a:t>
            </a:r>
            <a:r>
              <a:rPr lang="en-US" altLang="zh-TW"/>
              <a:t>”Apple Pay”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44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實體關係圖</a:t>
            </a:r>
            <a:r>
              <a:rPr lang="en-US" altLang="zh-TW" dirty="0"/>
              <a:t>(ERD)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b="1" dirty="0"/>
              <a:t>實體關係模型的圖形化表示，稱為</a:t>
            </a:r>
            <a:r>
              <a:rPr lang="en-US" altLang="zh-TW" sz="2400" b="1" dirty="0">
                <a:solidFill>
                  <a:srgbClr val="C00000"/>
                </a:solidFill>
              </a:rPr>
              <a:t>E</a:t>
            </a:r>
            <a:r>
              <a:rPr lang="en-US" altLang="zh-TW" sz="2400" b="1" dirty="0"/>
              <a:t>ntity </a:t>
            </a:r>
            <a:r>
              <a:rPr lang="en-US" altLang="zh-TW" sz="2400" b="1" dirty="0">
                <a:solidFill>
                  <a:srgbClr val="C00000"/>
                </a:solidFill>
              </a:rPr>
              <a:t>R</a:t>
            </a:r>
            <a:r>
              <a:rPr lang="en-US" altLang="zh-TW" sz="2400" b="1" dirty="0"/>
              <a:t>elationship </a:t>
            </a:r>
            <a:r>
              <a:rPr lang="en-US" altLang="zh-TW" sz="2400" b="1" dirty="0">
                <a:solidFill>
                  <a:srgbClr val="C00000"/>
                </a:solidFill>
              </a:rPr>
              <a:t>D</a:t>
            </a:r>
            <a:r>
              <a:rPr lang="en-US" altLang="zh-TW" sz="2400" b="1" dirty="0"/>
              <a:t>iagram</a:t>
            </a:r>
          </a:p>
          <a:p>
            <a:r>
              <a:rPr lang="zh-TW" altLang="en-US" sz="2400" b="1" dirty="0">
                <a:solidFill>
                  <a:srgbClr val="C00000"/>
                </a:solidFill>
              </a:rPr>
              <a:t>實體</a:t>
            </a:r>
            <a:r>
              <a:rPr lang="en-US" altLang="zh-TW" sz="2400" b="1" dirty="0">
                <a:solidFill>
                  <a:srgbClr val="C00000"/>
                </a:solidFill>
              </a:rPr>
              <a:t>:</a:t>
            </a:r>
            <a:r>
              <a:rPr lang="zh-TW" altLang="en-US" sz="2400" b="1" dirty="0">
                <a:solidFill>
                  <a:srgbClr val="C00000"/>
                </a:solidFill>
              </a:rPr>
              <a:t> 方框</a:t>
            </a:r>
            <a:endParaRPr lang="en-US" altLang="zh-TW" sz="2400" b="1" dirty="0">
              <a:solidFill>
                <a:srgbClr val="C00000"/>
              </a:solidFill>
            </a:endParaRPr>
          </a:p>
          <a:p>
            <a:r>
              <a:rPr lang="zh-TW" altLang="en-US" sz="2400" b="1" dirty="0">
                <a:solidFill>
                  <a:srgbClr val="0000FF"/>
                </a:solidFill>
              </a:rPr>
              <a:t>屬性</a:t>
            </a:r>
            <a:r>
              <a:rPr lang="en-US" altLang="zh-TW" sz="2400" b="1" dirty="0">
                <a:solidFill>
                  <a:srgbClr val="0000FF"/>
                </a:solidFill>
              </a:rPr>
              <a:t>:</a:t>
            </a:r>
            <a:r>
              <a:rPr lang="zh-TW" altLang="en-US" sz="2400" b="1" dirty="0">
                <a:solidFill>
                  <a:srgbClr val="0000FF"/>
                </a:solidFill>
              </a:rPr>
              <a:t> 橢圓</a:t>
            </a:r>
            <a:endParaRPr lang="en-US" altLang="zh-TW" sz="2400" b="1" dirty="0">
              <a:solidFill>
                <a:srgbClr val="0000FF"/>
              </a:solidFill>
            </a:endParaRPr>
          </a:p>
          <a:p>
            <a:r>
              <a:rPr lang="zh-TW" altLang="en-US" sz="2400" b="1" dirty="0">
                <a:solidFill>
                  <a:schemeClr val="accent6">
                    <a:lumMod val="75000"/>
                  </a:schemeClr>
                </a:solidFill>
              </a:rPr>
              <a:t>關鍵屬性</a:t>
            </a:r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zh-TW" altLang="en-US" sz="2400" b="1" dirty="0">
                <a:solidFill>
                  <a:schemeClr val="accent6">
                    <a:lumMod val="75000"/>
                  </a:schemeClr>
                </a:solidFill>
              </a:rPr>
              <a:t> 屬性名稱底線</a:t>
            </a:r>
            <a:r>
              <a:rPr lang="zh-TW" altLang="en-US" sz="2400" b="1" dirty="0"/>
              <a:t>，</a:t>
            </a:r>
            <a:r>
              <a:rPr lang="en-US" altLang="zh-TW" sz="2400" b="1" dirty="0"/>
              <a:t>a2</a:t>
            </a:r>
          </a:p>
          <a:p>
            <a:r>
              <a:rPr lang="zh-TW" altLang="en-US" sz="2400" b="1" dirty="0">
                <a:solidFill>
                  <a:srgbClr val="7030A0"/>
                </a:solidFill>
              </a:rPr>
              <a:t>多值屬性</a:t>
            </a:r>
            <a:r>
              <a:rPr lang="en-US" altLang="zh-TW" sz="2400" b="1" dirty="0">
                <a:solidFill>
                  <a:srgbClr val="7030A0"/>
                </a:solidFill>
              </a:rPr>
              <a:t>:</a:t>
            </a:r>
            <a:r>
              <a:rPr lang="zh-TW" altLang="en-US" sz="2400" b="1" dirty="0">
                <a:solidFill>
                  <a:srgbClr val="7030A0"/>
                </a:solidFill>
              </a:rPr>
              <a:t> 二個同心橢圓</a:t>
            </a:r>
            <a:r>
              <a:rPr lang="zh-TW" altLang="en-US" sz="2400" b="1" dirty="0"/>
              <a:t>，</a:t>
            </a:r>
            <a:r>
              <a:rPr lang="en-US" altLang="zh-TW" sz="2400" b="1" dirty="0"/>
              <a:t>a3</a:t>
            </a:r>
          </a:p>
          <a:p>
            <a:r>
              <a:rPr lang="zh-TW" altLang="en-US" sz="2400" b="1" dirty="0">
                <a:solidFill>
                  <a:srgbClr val="00B0F0"/>
                </a:solidFill>
              </a:rPr>
              <a:t>複合屬性</a:t>
            </a:r>
            <a:r>
              <a:rPr lang="en-US" altLang="zh-TW" sz="2400" b="1" dirty="0">
                <a:solidFill>
                  <a:srgbClr val="00B0F0"/>
                </a:solidFill>
              </a:rPr>
              <a:t>:</a:t>
            </a:r>
            <a:r>
              <a:rPr lang="zh-TW" altLang="en-US" sz="2400" b="1" dirty="0">
                <a:solidFill>
                  <a:srgbClr val="00B0F0"/>
                </a:solidFill>
              </a:rPr>
              <a:t> 屬性由子屬性組成</a:t>
            </a:r>
            <a:endParaRPr lang="en-US" altLang="zh-TW" sz="2400" b="1" dirty="0">
              <a:solidFill>
                <a:srgbClr val="00B0F0"/>
              </a:solidFill>
            </a:endParaRPr>
          </a:p>
          <a:p>
            <a:pPr lvl="1"/>
            <a:r>
              <a:rPr lang="en-US" altLang="zh-TW" sz="2000" b="1" dirty="0"/>
              <a:t>a4 </a:t>
            </a:r>
            <a:r>
              <a:rPr lang="zh-TW" altLang="en-US" sz="2000" b="1" dirty="0"/>
              <a:t>由 </a:t>
            </a:r>
            <a:r>
              <a:rPr lang="en-US" altLang="zh-TW" sz="2000" b="1" dirty="0"/>
              <a:t>a41 </a:t>
            </a:r>
            <a:r>
              <a:rPr lang="zh-TW" altLang="en-US" sz="2000" b="1" dirty="0"/>
              <a:t>及 </a:t>
            </a:r>
            <a:r>
              <a:rPr lang="en-US" altLang="zh-TW" sz="2000" b="1" dirty="0"/>
              <a:t>a42 </a:t>
            </a:r>
            <a:r>
              <a:rPr lang="zh-TW" altLang="en-US" sz="2000" b="1" dirty="0"/>
              <a:t>組成</a:t>
            </a:r>
            <a:endParaRPr lang="en-US" altLang="zh-TW" sz="2000" b="1" dirty="0"/>
          </a:p>
          <a:p>
            <a:pPr lvl="1"/>
            <a:endParaRPr lang="en-US" altLang="zh-TW" sz="20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450" y="1896951"/>
            <a:ext cx="4399144" cy="3385200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E872F1-9BD6-27BA-6BA5-62F02E3D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20825-F130-4A3F-829B-F7EE6AB049D3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FC3D03-FCEA-6340-03B4-94F3125C1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2489EA-38C6-47B7-82F8-FC1B9A5A4CC0}"/>
              </a:ext>
            </a:extLst>
          </p:cNvPr>
          <p:cNvSpPr txBox="1"/>
          <p:nvPr/>
        </p:nvSpPr>
        <p:spPr>
          <a:xfrm>
            <a:off x="451087" y="5264710"/>
            <a:ext cx="4477508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TW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ERD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通常不表示屬性的定義域</a:t>
            </a:r>
            <a:endParaRPr lang="en-US" altLang="zh-TW" sz="1800">
              <a:latin typeface="Comic Sans MS" panose="030F0702030302020204" pitchFamily="66" charset="0"/>
              <a:ea typeface="微軟正黑體" panose="020B0604030504040204" pitchFamily="34" charset="-12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一個實體的屬性值也可能是空值（</a:t>
            </a:r>
            <a:r>
              <a:rPr lang="en-US" altLang="zh-TW" sz="1800" b="1">
                <a:latin typeface="Comic Sans MS" panose="030F0702030302020204" pitchFamily="66" charset="0"/>
                <a:ea typeface="微軟正黑體" panose="020B0604030504040204" pitchFamily="34" charset="-120"/>
              </a:rPr>
              <a:t>null</a:t>
            </a:r>
            <a:r>
              <a:rPr lang="zh-TW" altLang="en-US" sz="1800">
                <a:latin typeface="Comic Sans MS" panose="030F0702030302020204" pitchFamily="66" charset="0"/>
                <a:ea typeface="微軟正黑體" panose="020B0604030504040204" pitchFamily="34" charset="-120"/>
              </a:rPr>
              <a:t>）</a:t>
            </a:r>
            <a:endParaRPr lang="en-US" altLang="zh-TW" sz="1800">
              <a:latin typeface="Comic Sans MS" panose="030F0702030302020204" pitchFamily="66" charset="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51F8EBA-1A33-4963-AA03-4F66E7181526}"/>
              </a:ext>
            </a:extLst>
          </p:cNvPr>
          <p:cNvSpPr txBox="1"/>
          <p:nvPr/>
        </p:nvSpPr>
        <p:spPr>
          <a:xfrm>
            <a:off x="7886700" y="222885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實體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</a:t>
            </a:r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CE6CE7F-BDC1-43F4-8C16-6C18AEE8A4D0}"/>
              </a:ext>
            </a:extLst>
          </p:cNvPr>
          <p:cNvSpPr txBox="1"/>
          <p:nvPr/>
        </p:nvSpPr>
        <p:spPr>
          <a:xfrm>
            <a:off x="5884112" y="43100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商品編號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A633D2D-D8A2-4B5B-A1C8-B1CFCC7FB804}"/>
              </a:ext>
            </a:extLst>
          </p:cNvPr>
          <p:cNvSpPr txBox="1"/>
          <p:nvPr/>
        </p:nvSpPr>
        <p:spPr>
          <a:xfrm>
            <a:off x="7061452" y="43100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商品作者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D3709C-2CAB-4617-89B0-32F1FA2CA822}"/>
              </a:ext>
            </a:extLst>
          </p:cNvPr>
          <p:cNvSpPr txBox="1"/>
          <p:nvPr/>
        </p:nvSpPr>
        <p:spPr>
          <a:xfrm>
            <a:off x="8874204" y="37555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電子支付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BD2203-FD31-4EA5-A425-29CC73E41916}"/>
              </a:ext>
            </a:extLst>
          </p:cNvPr>
          <p:cNvSpPr txBox="1"/>
          <p:nvPr/>
        </p:nvSpPr>
        <p:spPr>
          <a:xfrm>
            <a:off x="4706771" y="43100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商品單價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E83CDBC-5266-4EED-951B-1257C46CE6D1}"/>
              </a:ext>
            </a:extLst>
          </p:cNvPr>
          <p:cNvSpPr txBox="1"/>
          <p:nvPr/>
        </p:nvSpPr>
        <p:spPr>
          <a:xfrm>
            <a:off x="7842250" y="52768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E6955EC-F232-4C48-994C-547507E9A43A}"/>
              </a:ext>
            </a:extLst>
          </p:cNvPr>
          <p:cNvSpPr txBox="1"/>
          <p:nvPr/>
        </p:nvSpPr>
        <p:spPr>
          <a:xfrm>
            <a:off x="8731250" y="5258122"/>
            <a:ext cx="125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latin typeface="微軟正黑體" panose="020B0604030504040204" pitchFamily="34" charset="-120"/>
                <a:ea typeface="微軟正黑體" panose="020B0604030504040204" pitchFamily="34" charset="-120"/>
              </a:rPr>
              <a:t>Line Pay</a:t>
            </a:r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426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</a:rPr>
              <a:t>線上購物系統四個實體型態表示法</a:t>
            </a:r>
            <a:endParaRPr lang="zh-TW" altLang="en-US" dirty="0"/>
          </a:p>
        </p:txBody>
      </p:sp>
      <p:pic>
        <p:nvPicPr>
          <p:cNvPr id="4" name="Picture 17" descr="D:\DB Book\第四版改版資料\資料庫高解析圖表\圖2-4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83"/>
          <a:stretch/>
        </p:blipFill>
        <p:spPr bwMode="auto">
          <a:xfrm>
            <a:off x="2356426" y="1394441"/>
            <a:ext cx="7104592" cy="46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6FDE15D-A827-65DD-B531-176B71244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1DC8-DCA0-4AC3-B87B-E8CB366236B4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DCA746-8737-46E3-CD9F-210A8F74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2BB0075-9702-4537-B689-00FF0BB4D466}"/>
              </a:ext>
            </a:extLst>
          </p:cNvPr>
          <p:cNvSpPr txBox="1"/>
          <p:nvPr/>
        </p:nvSpPr>
        <p:spPr>
          <a:xfrm>
            <a:off x="637193" y="1930400"/>
            <a:ext cx="186944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/>
              <a:t>會員有</a:t>
            </a:r>
            <a:r>
              <a:rPr lang="en-US" altLang="zh-TW"/>
              <a:t>8</a:t>
            </a:r>
            <a:r>
              <a:rPr lang="zh-TW" altLang="en-US"/>
              <a:t>個屬性，其中身分證</a:t>
            </a:r>
            <a:r>
              <a:rPr lang="en-US" altLang="zh-TW"/>
              <a:t>ID</a:t>
            </a:r>
            <a:r>
              <a:rPr lang="zh-TW" altLang="en-US"/>
              <a:t>與會員編號為關鍵屬性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0430D3-7076-433E-863F-41FF30A28125}"/>
              </a:ext>
            </a:extLst>
          </p:cNvPr>
          <p:cNvSpPr txBox="1"/>
          <p:nvPr/>
        </p:nvSpPr>
        <p:spPr>
          <a:xfrm>
            <a:off x="8976560" y="1930399"/>
            <a:ext cx="3066262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/>
              <a:t>購物車有</a:t>
            </a:r>
            <a:r>
              <a:rPr lang="en-US" altLang="zh-TW"/>
              <a:t>2</a:t>
            </a:r>
            <a:r>
              <a:rPr lang="zh-TW" altLang="en-US"/>
              <a:t>個屬性，其中商品為多值屬性，購物車編號為關鍵屬性，同時也為複合屬性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CA4A19-E304-4F83-887A-4150E710EF0C}"/>
              </a:ext>
            </a:extLst>
          </p:cNvPr>
          <p:cNvSpPr txBox="1"/>
          <p:nvPr/>
        </p:nvSpPr>
        <p:spPr>
          <a:xfrm>
            <a:off x="333908" y="4160045"/>
            <a:ext cx="2325803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/>
              <a:t>交易有</a:t>
            </a:r>
            <a:r>
              <a:rPr lang="en-US" altLang="zh-TW"/>
              <a:t>5</a:t>
            </a:r>
            <a:r>
              <a:rPr lang="zh-TW" altLang="en-US"/>
              <a:t>個屬性，其中交易編號為關鍵屬性，付款方式為複合屬性，另會員、商品、購物車屬性指向其他實體資料表</a:t>
            </a:r>
          </a:p>
        </p:txBody>
      </p:sp>
    </p:spTree>
    <p:extLst>
      <p:ext uri="{BB962C8B-B14F-4D97-AF65-F5344CB8AC3E}">
        <p14:creationId xmlns:p14="http://schemas.microsoft.com/office/powerpoint/2010/main" val="397540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實體間</a:t>
            </a:r>
            <a:r>
              <a:rPr lang="zh-TW" altLang="en-US" b="1" dirty="0">
                <a:solidFill>
                  <a:srgbClr val="C00000"/>
                </a:solidFill>
              </a:rPr>
              <a:t>關係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123025" cy="4351338"/>
          </a:xfrm>
        </p:spPr>
        <p:txBody>
          <a:bodyPr>
            <a:normAutofit/>
          </a:bodyPr>
          <a:lstStyle/>
          <a:p>
            <a:r>
              <a:rPr lang="zh-TW" altLang="en-US" sz="2400">
                <a:latin typeface="微軟正黑體" pitchFamily="34" charset="-120"/>
              </a:rPr>
              <a:t>有些屬性的相關</a:t>
            </a:r>
            <a:r>
              <a:rPr lang="zh-TW" altLang="en-US" sz="2400" b="1">
                <a:solidFill>
                  <a:srgbClr val="0000FF"/>
                </a:solidFill>
                <a:latin typeface="微軟正黑體" pitchFamily="34" charset="-120"/>
              </a:rPr>
              <a:t>屬性值指向另一個實體</a:t>
            </a:r>
            <a:r>
              <a:rPr lang="zh-TW" altLang="en-US" sz="2400">
                <a:latin typeface="微軟正黑體" pitchFamily="34" charset="-120"/>
              </a:rPr>
              <a:t>，名稱</a:t>
            </a:r>
            <a:r>
              <a:rPr lang="zh-TW" altLang="en-US" sz="2400" dirty="0">
                <a:latin typeface="微軟正黑體" pitchFamily="34" charset="-120"/>
              </a:rPr>
              <a:t>是用</a:t>
            </a:r>
            <a:r>
              <a:rPr lang="zh-TW" altLang="en-US" sz="2400" b="1" dirty="0">
                <a:solidFill>
                  <a:srgbClr val="00B0F0"/>
                </a:solidFill>
                <a:latin typeface="微軟正黑體" pitchFamily="34" charset="-120"/>
              </a:rPr>
              <a:t>藍色字</a:t>
            </a:r>
            <a:r>
              <a:rPr lang="zh-TW" altLang="en-US" sz="2400" dirty="0">
                <a:latin typeface="微軟正黑體" pitchFamily="34" charset="-120"/>
              </a:rPr>
              <a:t>標示，稱之為</a:t>
            </a:r>
            <a:r>
              <a:rPr lang="zh-TW" altLang="en-US" sz="2400" b="1">
                <a:solidFill>
                  <a:srgbClr val="C00000"/>
                </a:solidFill>
                <a:latin typeface="微軟正黑體" pitchFamily="34" charset="-120"/>
              </a:rPr>
              <a:t>相關屬性</a:t>
            </a:r>
            <a:endParaRPr lang="en-US" altLang="zh-TW" sz="2400" dirty="0">
              <a:latin typeface="微軟正黑體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l="56300"/>
          <a:stretch/>
        </p:blipFill>
        <p:spPr>
          <a:xfrm>
            <a:off x="3451666" y="2518938"/>
            <a:ext cx="4896091" cy="3658025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773A04-225E-DAD4-5AA8-A93AFA77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B666-26A7-406E-949E-91B0454644B6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CF345A-0E9A-E6E3-638A-BA7BC2F9A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3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實體與實體之間的關聯性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>
                <a:latin typeface="微軟正黑體" pitchFamily="34" charset="-120"/>
              </a:rPr>
              <a:t>「會員」與「交易」間關係型態，稱之為</a:t>
            </a:r>
            <a:r>
              <a:rPr lang="en-US" altLang="zh-TW" sz="2400" dirty="0">
                <a:latin typeface="微軟正黑體" pitchFamily="34" charset="-120"/>
              </a:rPr>
              <a:t>『</a:t>
            </a:r>
            <a:r>
              <a:rPr lang="zh-TW" altLang="en-US" sz="2400" b="1" dirty="0">
                <a:solidFill>
                  <a:srgbClr val="C00000"/>
                </a:solidFill>
                <a:latin typeface="微軟正黑體" pitchFamily="34" charset="-120"/>
              </a:rPr>
              <a:t>確認</a:t>
            </a:r>
            <a:r>
              <a:rPr lang="en-US" altLang="zh-TW" sz="2400" dirty="0">
                <a:latin typeface="微軟正黑體" pitchFamily="34" charset="-120"/>
              </a:rPr>
              <a:t>』</a:t>
            </a:r>
            <a:r>
              <a:rPr lang="zh-TW" altLang="en-US" sz="2400" dirty="0">
                <a:latin typeface="微軟正黑體" pitchFamily="34" charset="-120"/>
              </a:rPr>
              <a:t>關係型態</a:t>
            </a:r>
            <a:endParaRPr lang="en-US" altLang="zh-TW" sz="2400" dirty="0">
              <a:latin typeface="微軟正黑體" pitchFamily="34" charset="-120"/>
            </a:endParaRPr>
          </a:p>
          <a:p>
            <a:r>
              <a:rPr lang="en-US" altLang="zh-TW" sz="2400" dirty="0">
                <a:latin typeface="微軟正黑體" pitchFamily="34" charset="-120"/>
              </a:rPr>
              <a:t>ER</a:t>
            </a:r>
            <a:r>
              <a:rPr lang="zh-TW" altLang="en-US" sz="2400" dirty="0">
                <a:latin typeface="微軟正黑體" pitchFamily="34" charset="-120"/>
              </a:rPr>
              <a:t>圖中以「</a:t>
            </a:r>
            <a:r>
              <a:rPr lang="zh-TW" altLang="en-US" sz="2400" b="1" dirty="0">
                <a:solidFill>
                  <a:srgbClr val="C00000"/>
                </a:solidFill>
                <a:latin typeface="微軟正黑體" pitchFamily="34" charset="-120"/>
              </a:rPr>
              <a:t>菱形</a:t>
            </a:r>
            <a:r>
              <a:rPr lang="zh-TW" altLang="en-US" sz="2400" dirty="0">
                <a:latin typeface="微軟正黑體" pitchFamily="34" charset="-120"/>
              </a:rPr>
              <a:t>」表示關係</a:t>
            </a:r>
            <a:endParaRPr lang="zh-TW" altLang="en-US" sz="2400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b="11665"/>
          <a:stretch/>
        </p:blipFill>
        <p:spPr>
          <a:xfrm>
            <a:off x="2338085" y="3004144"/>
            <a:ext cx="7812911" cy="3483513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0FC849-4678-D179-D57F-5A96351E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A4D6-3B7C-4F3E-A86C-800FF1CA9111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D1596F-7D7A-A39D-E19C-41E0D586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6F9B1A-F22D-4EAD-A826-7428B692728B}"/>
              </a:ext>
            </a:extLst>
          </p:cNvPr>
          <p:cNvSpPr txBox="1"/>
          <p:nvPr/>
        </p:nvSpPr>
        <p:spPr>
          <a:xfrm>
            <a:off x="6675119" y="3004144"/>
            <a:ext cx="2853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highlight>
                  <a:srgbClr val="FFFF00"/>
                </a:highlight>
              </a:rPr>
              <a:t>會員與交易之間的關係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16A8E29-E84E-49B0-BC69-D6EFBD455090}"/>
              </a:ext>
            </a:extLst>
          </p:cNvPr>
          <p:cNvCxnSpPr/>
          <p:nvPr/>
        </p:nvCxnSpPr>
        <p:spPr>
          <a:xfrm flipH="1">
            <a:off x="6695440" y="3429000"/>
            <a:ext cx="924560" cy="76708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55FD6CAE-8A7A-4D43-9E4F-1516E7CBCBA9}"/>
              </a:ext>
            </a:extLst>
          </p:cNvPr>
          <p:cNvSpPr/>
          <p:nvPr/>
        </p:nvSpPr>
        <p:spPr>
          <a:xfrm>
            <a:off x="3850640" y="4094480"/>
            <a:ext cx="4958080" cy="883920"/>
          </a:xfrm>
          <a:prstGeom prst="rect">
            <a:avLst/>
          </a:prstGeom>
          <a:solidFill>
            <a:srgbClr val="FFFF00">
              <a:alpha val="2705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57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實體與關係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參與一個關係型態</a:t>
            </a:r>
            <a:r>
              <a:rPr lang="zh-TW" altLang="en-US">
                <a:latin typeface="微軟正黑體" pitchFamily="34" charset="-120"/>
              </a:rPr>
              <a:t>的實體，</a:t>
            </a:r>
            <a:r>
              <a:rPr lang="zh-TW" altLang="en-US" dirty="0">
                <a:latin typeface="微軟正黑體" pitchFamily="34" charset="-120"/>
              </a:rPr>
              <a:t>可能不會</a:t>
            </a:r>
            <a:r>
              <a:rPr lang="zh-TW" altLang="en-US">
                <a:latin typeface="微軟正黑體" pitchFamily="34" charset="-120"/>
              </a:rPr>
              <a:t>參與關係</a:t>
            </a:r>
            <a:r>
              <a:rPr lang="en-US" altLang="zh-TW">
                <a:latin typeface="微軟正黑體" pitchFamily="34" charset="-120"/>
              </a:rPr>
              <a:t>(m2)</a:t>
            </a:r>
            <a:r>
              <a:rPr lang="zh-TW" altLang="en-US">
                <a:latin typeface="微軟正黑體" pitchFamily="34" charset="-120"/>
              </a:rPr>
              <a:t>，</a:t>
            </a:r>
            <a:r>
              <a:rPr lang="zh-TW" altLang="en-US" dirty="0">
                <a:latin typeface="微軟正黑體" pitchFamily="34" charset="-120"/>
              </a:rPr>
              <a:t>可能會參加</a:t>
            </a:r>
            <a:r>
              <a:rPr lang="zh-TW" altLang="en-US">
                <a:latin typeface="微軟正黑體" pitchFamily="34" charset="-120"/>
              </a:rPr>
              <a:t>一個關係</a:t>
            </a:r>
            <a:r>
              <a:rPr lang="en-US" altLang="zh-TW">
                <a:latin typeface="微軟正黑體" pitchFamily="34" charset="-120"/>
              </a:rPr>
              <a:t>(m1)</a:t>
            </a:r>
            <a:r>
              <a:rPr lang="zh-TW" altLang="en-US">
                <a:latin typeface="微軟正黑體" pitchFamily="34" charset="-120"/>
              </a:rPr>
              <a:t>，</a:t>
            </a:r>
            <a:r>
              <a:rPr lang="zh-TW" altLang="en-US" dirty="0">
                <a:latin typeface="微軟正黑體" pitchFamily="34" charset="-120"/>
              </a:rPr>
              <a:t>也可能會參加多</a:t>
            </a:r>
            <a:r>
              <a:rPr lang="zh-TW" altLang="en-US">
                <a:latin typeface="微軟正黑體" pitchFamily="34" charset="-120"/>
              </a:rPr>
              <a:t>個關係</a:t>
            </a:r>
            <a:r>
              <a:rPr lang="en-US" altLang="zh-TW">
                <a:latin typeface="微軟正黑體" pitchFamily="34" charset="-120"/>
              </a:rPr>
              <a:t>(m3)</a:t>
            </a:r>
            <a:r>
              <a:rPr lang="zh-TW" altLang="en-US">
                <a:latin typeface="微軟正黑體" pitchFamily="34" charset="-120"/>
              </a:rPr>
              <a:t>，</a:t>
            </a:r>
            <a:r>
              <a:rPr lang="zh-TW" altLang="en-US" dirty="0">
                <a:latin typeface="微軟正黑體" pitchFamily="34" charset="-120"/>
              </a:rPr>
              <a:t>如右圖所示 </a:t>
            </a:r>
            <a:endParaRPr lang="en-US" altLang="zh-TW" dirty="0">
              <a:latin typeface="微軟正黑體" pitchFamily="34" charset="-120"/>
            </a:endParaRPr>
          </a:p>
          <a:p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83696146"/>
              </p:ext>
            </p:extLst>
          </p:nvPr>
        </p:nvGraphicFramePr>
        <p:xfrm>
          <a:off x="6254023" y="1610359"/>
          <a:ext cx="5413258" cy="3388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r:id="rId3" imgW="3188018" imgH="1995488" progId="">
                  <p:embed/>
                </p:oleObj>
              </mc:Choice>
              <mc:Fallback>
                <p:oleObj r:id="rId3" imgW="3188018" imgH="1995488" progId="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023" y="1610359"/>
                        <a:ext cx="5413258" cy="33886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BF3675A-21AB-8878-BD1B-9E25D40D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0804E-6B5E-4353-B8D7-97F65890E840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D0D07B-82FA-1698-F863-D7E39EA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13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二元關係型態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一個</a:t>
            </a:r>
            <a:r>
              <a:rPr lang="zh-TW" altLang="en-US">
                <a:latin typeface="微軟正黑體" pitchFamily="34" charset="-120"/>
              </a:rPr>
              <a:t>關係有兩</a:t>
            </a:r>
            <a:r>
              <a:rPr lang="zh-TW" altLang="en-US" dirty="0">
                <a:latin typeface="微軟正黑體" pitchFamily="34" charset="-120"/>
              </a:rPr>
              <a:t>個實體組成，這樣關係的型態稱為</a:t>
            </a:r>
            <a:r>
              <a:rPr lang="zh-TW" altLang="en-US" b="1" dirty="0">
                <a:latin typeface="微軟正黑體" pitchFamily="34" charset="-120"/>
              </a:rPr>
              <a:t>二元關係型態</a:t>
            </a:r>
            <a:endParaRPr lang="en-US" altLang="zh-TW" b="1" dirty="0">
              <a:latin typeface="微軟正黑體" pitchFamily="34" charset="-120"/>
            </a:endParaRPr>
          </a:p>
          <a:p>
            <a:r>
              <a:rPr lang="zh-TW" altLang="en-US" dirty="0">
                <a:latin typeface="微軟正黑體" pitchFamily="34" charset="-120"/>
              </a:rPr>
              <a:t>二元關係型態的結構包括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</a:rPr>
              <a:t>基數比</a:t>
            </a:r>
            <a:r>
              <a:rPr lang="zh-TW" altLang="en-US" dirty="0">
                <a:latin typeface="微軟正黑體" pitchFamily="34" charset="-120"/>
              </a:rPr>
              <a:t>、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</a:rPr>
              <a:t>參與度</a:t>
            </a:r>
            <a:endParaRPr lang="en-US" altLang="zh-TW" b="1" dirty="0">
              <a:solidFill>
                <a:srgbClr val="C00000"/>
              </a:solidFill>
              <a:latin typeface="微軟正黑體" pitchFamily="34" charset="-120"/>
            </a:endParaRPr>
          </a:p>
          <a:p>
            <a:r>
              <a:rPr lang="zh-TW" altLang="en-US" u="sng" dirty="0">
                <a:latin typeface="微軟正黑體" pitchFamily="34" charset="-120"/>
              </a:rPr>
              <a:t>基數比</a:t>
            </a:r>
            <a:r>
              <a:rPr lang="zh-TW" altLang="en-US" dirty="0">
                <a:latin typeface="微軟正黑體" pitchFamily="34" charset="-120"/>
              </a:rPr>
              <a:t>表示一個實體</a:t>
            </a:r>
            <a:r>
              <a:rPr lang="zh-TW" altLang="en-US" dirty="0">
                <a:solidFill>
                  <a:schemeClr val="accent1"/>
                </a:solidFill>
                <a:latin typeface="微軟正黑體" pitchFamily="34" charset="-120"/>
              </a:rPr>
              <a:t>最多</a:t>
            </a:r>
            <a:r>
              <a:rPr lang="zh-TW" altLang="en-US" dirty="0">
                <a:latin typeface="微軟正黑體" pitchFamily="34" charset="-120"/>
              </a:rPr>
              <a:t>可以跟幾個實體發生此</a:t>
            </a:r>
            <a:r>
              <a:rPr lang="zh-TW" altLang="en-US">
                <a:latin typeface="微軟正黑體" pitchFamily="34" charset="-120"/>
              </a:rPr>
              <a:t>類關係</a:t>
            </a:r>
            <a:endParaRPr lang="en-US" altLang="zh-TW">
              <a:latin typeface="微軟正黑體" pitchFamily="34" charset="-120"/>
            </a:endParaRPr>
          </a:p>
          <a:p>
            <a:pPr lvl="1"/>
            <a:r>
              <a:rPr lang="zh-TW" altLang="en-US">
                <a:latin typeface="微軟正黑體" pitchFamily="34" charset="-120"/>
              </a:rPr>
              <a:t>媽媽有一個以上的女兒 </a:t>
            </a:r>
            <a:r>
              <a:rPr lang="en-US" altLang="zh-TW">
                <a:latin typeface="微軟正黑體" pitchFamily="34" charset="-120"/>
              </a:rPr>
              <a:t>(</a:t>
            </a:r>
            <a:r>
              <a:rPr lang="zh-TW" altLang="en-US">
                <a:latin typeface="微軟正黑體" pitchFamily="34" charset="-120"/>
              </a:rPr>
              <a:t>媽媽沒有任何女兒</a:t>
            </a:r>
            <a:r>
              <a:rPr lang="en-US" altLang="zh-TW">
                <a:latin typeface="微軟正黑體" pitchFamily="34" charset="-120"/>
              </a:rPr>
              <a:t>)</a:t>
            </a:r>
          </a:p>
          <a:p>
            <a:pPr lvl="1"/>
            <a:r>
              <a:rPr lang="zh-TW" altLang="en-US">
                <a:latin typeface="微軟正黑體" pitchFamily="34" charset="-120"/>
              </a:rPr>
              <a:t>女兒只能有一個媽媽 </a:t>
            </a:r>
            <a:r>
              <a:rPr lang="en-US" altLang="zh-TW">
                <a:latin typeface="微軟正黑體" pitchFamily="34" charset="-120"/>
              </a:rPr>
              <a:t>(</a:t>
            </a:r>
            <a:r>
              <a:rPr lang="zh-TW" altLang="en-US">
                <a:latin typeface="微軟正黑體" pitchFamily="34" charset="-120"/>
              </a:rPr>
              <a:t>生母</a:t>
            </a:r>
            <a:r>
              <a:rPr lang="en-US" altLang="zh-TW">
                <a:latin typeface="微軟正黑體" pitchFamily="34" charset="-120"/>
              </a:rPr>
              <a:t>)</a:t>
            </a:r>
            <a:endParaRPr lang="en-US" altLang="zh-TW" dirty="0">
              <a:latin typeface="微軟正黑體" pitchFamily="34" charset="-120"/>
            </a:endParaRPr>
          </a:p>
          <a:p>
            <a:endParaRPr lang="en-US" altLang="zh-TW" dirty="0">
              <a:latin typeface="微軟正黑體" pitchFamily="34" charset="-120"/>
            </a:endParaRPr>
          </a:p>
          <a:p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06B5230-81B7-B9AE-348B-7B1B7913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961D-B0C9-48A0-BF8E-C411486D196F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0F8CA9-7733-1FD4-BCD6-2A2C2790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2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812394DA-624E-4ECA-9E75-98BE13D6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400" b="1">
                <a:latin typeface="微軟正黑體" pitchFamily="34" charset="-120"/>
              </a:rPr>
              <a:t>1:1</a:t>
            </a:r>
            <a:r>
              <a:rPr lang="en-US" altLang="zh-TW" sz="2400">
                <a:latin typeface="微軟正黑體" pitchFamily="34" charset="-120"/>
              </a:rPr>
              <a:t>, </a:t>
            </a:r>
            <a:r>
              <a:rPr lang="zh-TW" altLang="en-US" sz="2400">
                <a:latin typeface="微軟正黑體" pitchFamily="34" charset="-120"/>
              </a:rPr>
              <a:t>表示左邊的一個實體「最多」與右邊的一個實體發生此類關係，同時右邊的</a:t>
            </a:r>
            <a:r>
              <a:rPr lang="zh-TW" altLang="en-US" sz="2400">
                <a:solidFill>
                  <a:srgbClr val="00B0F0"/>
                </a:solidFill>
                <a:latin typeface="微軟正黑體" pitchFamily="34" charset="-120"/>
              </a:rPr>
              <a:t>一個</a:t>
            </a:r>
            <a:r>
              <a:rPr lang="zh-TW" altLang="en-US" sz="2400">
                <a:latin typeface="微軟正黑體" pitchFamily="34" charset="-120"/>
              </a:rPr>
              <a:t>實體最多也只能跟左邊的</a:t>
            </a:r>
            <a:r>
              <a:rPr lang="zh-TW" altLang="en-US" sz="2400">
                <a:solidFill>
                  <a:srgbClr val="00B0F0"/>
                </a:solidFill>
                <a:latin typeface="微軟正黑體" pitchFamily="34" charset="-120"/>
              </a:rPr>
              <a:t>一個</a:t>
            </a:r>
            <a:r>
              <a:rPr lang="zh-TW" altLang="en-US" sz="2400">
                <a:latin typeface="微軟正黑體" pitchFamily="34" charset="-120"/>
              </a:rPr>
              <a:t>實體發生此類關係 </a:t>
            </a:r>
            <a:endParaRPr lang="zh-TW" altLang="en-US" sz="240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3128963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zh-TW" altLang="en-US">
                <a:latin typeface="微軟正黑體" pitchFamily="34" charset="-120"/>
              </a:rPr>
              <a:t>一個交易最多只能產生一個購物車 </a:t>
            </a:r>
            <a:r>
              <a:rPr lang="en-US" altLang="zh-TW">
                <a:latin typeface="微軟正黑體" pitchFamily="34" charset="-120"/>
              </a:rPr>
              <a:t>(</a:t>
            </a:r>
            <a:r>
              <a:rPr lang="zh-TW" altLang="en-US">
                <a:latin typeface="微軟正黑體" pitchFamily="34" charset="-120"/>
              </a:rPr>
              <a:t>可不可能沒有購物車</a:t>
            </a:r>
            <a:r>
              <a:rPr lang="en-US" altLang="zh-TW">
                <a:latin typeface="微軟正黑體" pitchFamily="34" charset="-120"/>
              </a:rPr>
              <a:t>?)</a:t>
            </a:r>
          </a:p>
          <a:p>
            <a:pPr marL="228600" lvl="1">
              <a:spcBef>
                <a:spcPts val="1000"/>
              </a:spcBef>
            </a:pPr>
            <a:r>
              <a:rPr lang="zh-TW" altLang="en-US">
                <a:latin typeface="微軟正黑體" pitchFamily="34" charset="-120"/>
              </a:rPr>
              <a:t>一個購物車只能被一個交易產生</a:t>
            </a:r>
            <a:endParaRPr lang="en-US" altLang="zh-TW" dirty="0">
              <a:latin typeface="微軟正黑體" pitchFamily="34" charset="-12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TW" dirty="0">
              <a:latin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endParaRPr lang="en-US" altLang="zh-TW" b="1" dirty="0">
              <a:latin typeface="微軟正黑體" pitchFamily="34" charset="-120"/>
            </a:endParaRPr>
          </a:p>
          <a:p>
            <a:pPr marL="228600" lvl="1">
              <a:spcBef>
                <a:spcPts val="1000"/>
              </a:spcBef>
            </a:pPr>
            <a:endParaRPr lang="en-US" altLang="zh-TW" dirty="0">
              <a:latin typeface="微軟正黑體" pitchFamily="34" charset="-12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TW" b="1" dirty="0">
              <a:latin typeface="微軟正黑體" pitchFamily="34" charset="-120"/>
            </a:endParaRPr>
          </a:p>
          <a:p>
            <a:endParaRPr lang="zh-TW" altLang="en-US" sz="3200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8C7065-B316-8E2F-138E-4C3073E5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4165B-A35B-4115-964A-4ACF996E44D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C3BEBBC-80FD-3CE0-D8F9-61FA6D34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1B7DE5AA-DC10-426C-B84C-25B37BBB62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075165"/>
              </p:ext>
            </p:extLst>
          </p:nvPr>
        </p:nvGraphicFramePr>
        <p:xfrm>
          <a:off x="1505753" y="1690688"/>
          <a:ext cx="8287394" cy="1137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r:id="rId3" imgW="4999634" imgH="688848" progId="">
                  <p:embed/>
                </p:oleObj>
              </mc:Choice>
              <mc:Fallback>
                <p:oleObj r:id="rId3" imgW="4999634" imgH="688848" progId="">
                  <p:embed/>
                  <p:pic>
                    <p:nvPicPr>
                      <p:cNvPr id="4" name="物件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753" y="1690688"/>
                        <a:ext cx="8287394" cy="11372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68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338A31-CA3F-46A6-9670-884626F10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400" b="1">
                <a:latin typeface="微軟正黑體" pitchFamily="34" charset="-120"/>
              </a:rPr>
              <a:t>1:N</a:t>
            </a:r>
            <a:r>
              <a:rPr lang="en-US" altLang="zh-TW" sz="2400">
                <a:latin typeface="微軟正黑體" pitchFamily="34" charset="-120"/>
              </a:rPr>
              <a:t>, </a:t>
            </a:r>
            <a:r>
              <a:rPr lang="zh-TW" altLang="en-US" sz="2400">
                <a:latin typeface="微軟正黑體" pitchFamily="34" charset="-120"/>
              </a:rPr>
              <a:t>表示左邊的一個實體</a:t>
            </a:r>
            <a:r>
              <a:rPr lang="en-US" altLang="zh-TW" sz="2400">
                <a:latin typeface="微軟正黑體" pitchFamily="34" charset="-120"/>
              </a:rPr>
              <a:t>(</a:t>
            </a:r>
            <a:r>
              <a:rPr lang="zh-TW" altLang="en-US" sz="2400">
                <a:latin typeface="微軟正黑體" pitchFamily="34" charset="-120"/>
              </a:rPr>
              <a:t>會員</a:t>
            </a:r>
            <a:r>
              <a:rPr lang="en-US" altLang="zh-TW" sz="2400">
                <a:latin typeface="微軟正黑體" pitchFamily="34" charset="-120"/>
              </a:rPr>
              <a:t>)</a:t>
            </a:r>
            <a:r>
              <a:rPr lang="zh-TW" altLang="en-US" sz="2400">
                <a:latin typeface="微軟正黑體" pitchFamily="34" charset="-120"/>
              </a:rPr>
              <a:t>最多與可跟右邊的</a:t>
            </a:r>
            <a:r>
              <a:rPr lang="zh-TW" altLang="en-US" sz="2400">
                <a:solidFill>
                  <a:srgbClr val="00B0F0"/>
                </a:solidFill>
                <a:latin typeface="微軟正黑體" pitchFamily="34" charset="-120"/>
              </a:rPr>
              <a:t>多個</a:t>
            </a:r>
            <a:r>
              <a:rPr lang="zh-TW" altLang="en-US" sz="2400">
                <a:latin typeface="微軟正黑體" pitchFamily="34" charset="-120"/>
              </a:rPr>
              <a:t>實體</a:t>
            </a:r>
            <a:r>
              <a:rPr lang="en-US" altLang="zh-TW" sz="2400">
                <a:latin typeface="微軟正黑體" pitchFamily="34" charset="-120"/>
              </a:rPr>
              <a:t>(</a:t>
            </a:r>
            <a:r>
              <a:rPr lang="zh-TW" altLang="en-US" sz="2400">
                <a:latin typeface="微軟正黑體" pitchFamily="34" charset="-120"/>
              </a:rPr>
              <a:t>交易</a:t>
            </a:r>
            <a:r>
              <a:rPr lang="en-US" altLang="zh-TW" sz="2400">
                <a:latin typeface="微軟正黑體" pitchFamily="34" charset="-120"/>
              </a:rPr>
              <a:t>)</a:t>
            </a:r>
            <a:r>
              <a:rPr lang="zh-TW" altLang="en-US" sz="2400">
                <a:latin typeface="微軟正黑體" pitchFamily="34" charset="-120"/>
              </a:rPr>
              <a:t>發生此類關係，但右邊的一個實體</a:t>
            </a:r>
            <a:r>
              <a:rPr lang="en-US" altLang="zh-TW" sz="2400">
                <a:latin typeface="微軟正黑體" pitchFamily="34" charset="-120"/>
              </a:rPr>
              <a:t>(</a:t>
            </a:r>
            <a:r>
              <a:rPr lang="zh-TW" altLang="en-US" sz="2400">
                <a:latin typeface="微軟正黑體" pitchFamily="34" charset="-120"/>
              </a:rPr>
              <a:t>交易</a:t>
            </a:r>
            <a:r>
              <a:rPr lang="en-US" altLang="zh-TW" sz="2400">
                <a:latin typeface="微軟正黑體" pitchFamily="34" charset="-120"/>
              </a:rPr>
              <a:t>)</a:t>
            </a:r>
            <a:r>
              <a:rPr lang="zh-TW" altLang="en-US" sz="2400" strike="sngStrike">
                <a:latin typeface="微軟正黑體" pitchFamily="34" charset="-120"/>
              </a:rPr>
              <a:t>最多也</a:t>
            </a:r>
            <a:r>
              <a:rPr lang="zh-TW" altLang="en-US" sz="2400">
                <a:latin typeface="微軟正黑體" pitchFamily="34" charset="-120"/>
              </a:rPr>
              <a:t>只能跟左邊的</a:t>
            </a:r>
            <a:r>
              <a:rPr lang="zh-TW" altLang="en-US" sz="2400">
                <a:solidFill>
                  <a:srgbClr val="00B0F0"/>
                </a:solidFill>
                <a:latin typeface="微軟正黑體" pitchFamily="34" charset="-120"/>
              </a:rPr>
              <a:t>一個</a:t>
            </a:r>
            <a:r>
              <a:rPr lang="zh-TW" altLang="en-US" sz="2400">
                <a:latin typeface="微軟正黑體" pitchFamily="34" charset="-120"/>
              </a:rPr>
              <a:t>實體</a:t>
            </a:r>
            <a:r>
              <a:rPr lang="en-US" altLang="zh-TW" sz="2400">
                <a:latin typeface="微軟正黑體" pitchFamily="34" charset="-120"/>
              </a:rPr>
              <a:t>(</a:t>
            </a:r>
            <a:r>
              <a:rPr lang="zh-TW" altLang="en-US" sz="2400">
                <a:latin typeface="微軟正黑體" pitchFamily="34" charset="-120"/>
              </a:rPr>
              <a:t>會員</a:t>
            </a:r>
            <a:r>
              <a:rPr lang="en-US" altLang="zh-TW" sz="2400">
                <a:latin typeface="微軟正黑體" pitchFamily="34" charset="-120"/>
              </a:rPr>
              <a:t>)</a:t>
            </a:r>
            <a:r>
              <a:rPr lang="zh-TW" altLang="en-US" sz="2400">
                <a:latin typeface="微軟正黑體" pitchFamily="34" charset="-120"/>
              </a:rPr>
              <a:t>發生此類關係</a:t>
            </a:r>
            <a:endParaRPr lang="zh-TW" altLang="en-US" sz="240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F33E46-0412-4576-812E-DD5A4C44B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6959"/>
            <a:ext cx="10515600" cy="2560003"/>
          </a:xfrm>
        </p:spPr>
        <p:txBody>
          <a:bodyPr/>
          <a:lstStyle/>
          <a:p>
            <a:r>
              <a:rPr lang="zh-TW" altLang="en-US"/>
              <a:t>一個會員可以確認最多</a:t>
            </a:r>
            <a:r>
              <a:rPr lang="en-US" altLang="zh-TW"/>
              <a:t>N</a:t>
            </a:r>
            <a:r>
              <a:rPr lang="zh-TW" altLang="en-US"/>
              <a:t>筆交易 </a:t>
            </a:r>
            <a:r>
              <a:rPr lang="en-US" altLang="zh-TW"/>
              <a:t>(</a:t>
            </a:r>
            <a:r>
              <a:rPr lang="zh-TW" altLang="en-US"/>
              <a:t>也可能不確認交易 </a:t>
            </a:r>
            <a:r>
              <a:rPr lang="en-US" altLang="zh-TW"/>
              <a:t>0)</a:t>
            </a:r>
          </a:p>
          <a:p>
            <a:r>
              <a:rPr lang="zh-TW" altLang="en-US"/>
              <a:t>一筆交易也能被一個會員確認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32A4C4-298C-4680-8E10-221E3702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6A2B-69A9-4F9A-B1AA-DB9A84EE82E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58A5EC-A391-46AA-AA64-1FF599F1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04FE8465-DFFB-4ED3-AD8E-954165273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396459"/>
              </p:ext>
            </p:extLst>
          </p:nvPr>
        </p:nvGraphicFramePr>
        <p:xfrm>
          <a:off x="1551049" y="1915478"/>
          <a:ext cx="9089901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r:id="rId3" imgW="5227625" imgH="757733" progId="">
                  <p:embed/>
                </p:oleObj>
              </mc:Choice>
              <mc:Fallback>
                <p:oleObj r:id="rId3" imgW="5227625" imgH="757733" progId="">
                  <p:embed/>
                  <p:pic>
                    <p:nvPicPr>
                      <p:cNvPr id="5" name="物件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049" y="1915478"/>
                        <a:ext cx="9089901" cy="1325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5177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5623D-472F-44BD-BE5F-B4DBD3A0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b="1">
                <a:latin typeface="微軟正黑體" pitchFamily="34" charset="-120"/>
              </a:rPr>
              <a:t>M:N</a:t>
            </a:r>
            <a:r>
              <a:rPr lang="en-US" altLang="zh-TW" sz="2800">
                <a:latin typeface="微軟正黑體" pitchFamily="34" charset="-120"/>
              </a:rPr>
              <a:t>, </a:t>
            </a:r>
            <a:r>
              <a:rPr lang="zh-TW" altLang="en-US" sz="2800">
                <a:latin typeface="微軟正黑體" pitchFamily="34" charset="-120"/>
              </a:rPr>
              <a:t>表示左邊的一個實體最多與可跟右邊的</a:t>
            </a:r>
            <a:r>
              <a:rPr lang="zh-TW" altLang="en-US" sz="2800">
                <a:solidFill>
                  <a:srgbClr val="00B0F0"/>
                </a:solidFill>
                <a:latin typeface="微軟正黑體" pitchFamily="34" charset="-120"/>
              </a:rPr>
              <a:t>多個</a:t>
            </a:r>
            <a:r>
              <a:rPr lang="zh-TW" altLang="en-US" sz="2800">
                <a:latin typeface="微軟正黑體" pitchFamily="34" charset="-120"/>
              </a:rPr>
              <a:t>實體發生此類關係，同時右邊的一個實體最多也能跟左邊的</a:t>
            </a:r>
            <a:r>
              <a:rPr lang="zh-TW" altLang="en-US" sz="2800">
                <a:solidFill>
                  <a:srgbClr val="00B0F0"/>
                </a:solidFill>
                <a:latin typeface="微軟正黑體" pitchFamily="34" charset="-120"/>
              </a:rPr>
              <a:t>多個</a:t>
            </a:r>
            <a:r>
              <a:rPr lang="zh-TW" altLang="en-US" sz="2800">
                <a:latin typeface="微軟正黑體" pitchFamily="34" charset="-120"/>
              </a:rPr>
              <a:t>實體發生此類關係</a:t>
            </a:r>
            <a:endParaRPr lang="zh-TW" altLang="en-US" sz="280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FA2A3C-B4C4-4E22-9E4C-ABB8006F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6A2B-69A9-4F9A-B1AA-DB9A84EE82E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1E90E29-DD91-4038-B733-5688DCD2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550E5F9-E0BB-4171-B3E2-EF93BF7EF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39439"/>
            <a:ext cx="10515600" cy="3037523"/>
          </a:xfrm>
        </p:spPr>
        <p:txBody>
          <a:bodyPr/>
          <a:lstStyle/>
          <a:p>
            <a:r>
              <a:rPr lang="zh-TW" altLang="en-US"/>
              <a:t>一筆交易可以記錄最多</a:t>
            </a:r>
            <a:r>
              <a:rPr lang="en-US" altLang="zh-TW"/>
              <a:t>N</a:t>
            </a:r>
            <a:r>
              <a:rPr lang="zh-TW" altLang="en-US"/>
              <a:t>個商品 </a:t>
            </a:r>
            <a:r>
              <a:rPr lang="en-US" altLang="zh-TW"/>
              <a:t>(</a:t>
            </a:r>
            <a:r>
              <a:rPr lang="zh-TW" altLang="en-US"/>
              <a:t>可以沒有商品嗎</a:t>
            </a:r>
            <a:r>
              <a:rPr lang="en-US" altLang="zh-TW"/>
              <a:t>?)</a:t>
            </a:r>
          </a:p>
          <a:p>
            <a:r>
              <a:rPr lang="zh-TW" altLang="en-US"/>
              <a:t>一項商品可以被最多</a:t>
            </a:r>
            <a:r>
              <a:rPr lang="en-US" altLang="zh-TW"/>
              <a:t>M</a:t>
            </a:r>
            <a:r>
              <a:rPr lang="zh-TW" altLang="en-US"/>
              <a:t>個商品紀錄 </a:t>
            </a:r>
            <a:r>
              <a:rPr lang="en-US" altLang="zh-TW"/>
              <a:t>(</a:t>
            </a:r>
            <a:r>
              <a:rPr lang="zh-TW" altLang="en-US"/>
              <a:t>但也可以不被任一筆交易紀錄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9" name="內容版面配置區 5">
            <a:extLst>
              <a:ext uri="{FF2B5EF4-FFF2-40B4-BE49-F238E27FC236}">
                <a16:creationId xmlns:a16="http://schemas.microsoft.com/office/drawing/2014/main" id="{FFD30EC0-2DF5-4983-B651-F7EACBDC5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070" y="1690688"/>
            <a:ext cx="8725950" cy="104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43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參與度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衡量一個實體型態裡的每一實體是否</a:t>
            </a:r>
            <a:r>
              <a:rPr lang="zh-TW" altLang="en-US" dirty="0">
                <a:solidFill>
                  <a:schemeClr val="accent1"/>
                </a:solidFill>
                <a:latin typeface="微軟正黑體" pitchFamily="34" charset="-120"/>
              </a:rPr>
              <a:t>至少</a:t>
            </a:r>
            <a:r>
              <a:rPr lang="zh-TW" altLang="en-US" dirty="0">
                <a:latin typeface="微軟正黑體" pitchFamily="34" charset="-120"/>
              </a:rPr>
              <a:t>需參與一個關係，若是，稱為</a:t>
            </a:r>
            <a:r>
              <a:rPr lang="zh-TW" altLang="en-US" u="sng" dirty="0">
                <a:latin typeface="微軟正黑體" pitchFamily="34" charset="-120"/>
              </a:rPr>
              <a:t>完全參與</a:t>
            </a:r>
            <a:r>
              <a:rPr lang="zh-TW" altLang="en-US" dirty="0">
                <a:latin typeface="微軟正黑體" pitchFamily="34" charset="-120"/>
              </a:rPr>
              <a:t>（以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</a:rPr>
              <a:t>雙線</a:t>
            </a:r>
            <a:r>
              <a:rPr lang="zh-TW" altLang="en-US" dirty="0">
                <a:latin typeface="微軟正黑體" pitchFamily="34" charset="-120"/>
              </a:rPr>
              <a:t>表示），否則稱為</a:t>
            </a:r>
            <a:r>
              <a:rPr lang="zh-TW" altLang="en-US" u="sng" dirty="0">
                <a:latin typeface="微軟正黑體" pitchFamily="34" charset="-120"/>
              </a:rPr>
              <a:t>部分參與</a:t>
            </a:r>
            <a:r>
              <a:rPr lang="zh-TW" altLang="en-US" dirty="0">
                <a:latin typeface="微軟正黑體" pitchFamily="34" charset="-120"/>
              </a:rPr>
              <a:t>（以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</a:rPr>
              <a:t>單線</a:t>
            </a:r>
            <a:r>
              <a:rPr lang="zh-TW" altLang="en-US" dirty="0">
                <a:latin typeface="微軟正黑體" pitchFamily="34" charset="-120"/>
              </a:rPr>
              <a:t>表示）</a:t>
            </a:r>
            <a:endParaRPr lang="en-US" altLang="zh-TW" dirty="0">
              <a:latin typeface="微軟正黑體" pitchFamily="34" charset="-120"/>
            </a:endParaRPr>
          </a:p>
          <a:p>
            <a:endParaRPr lang="en-US" altLang="zh-TW" dirty="0">
              <a:latin typeface="微軟正黑體" pitchFamily="34" charset="-120"/>
            </a:endParaRPr>
          </a:p>
          <a:p>
            <a:endParaRPr lang="en-US" altLang="zh-TW" dirty="0">
              <a:latin typeface="微軟正黑體" pitchFamily="34" charset="-120"/>
            </a:endParaRPr>
          </a:p>
          <a:p>
            <a:endParaRPr lang="en-US" altLang="zh-TW" dirty="0">
              <a:latin typeface="微軟正黑體" pitchFamily="34" charset="-120"/>
            </a:endParaRPr>
          </a:p>
          <a:p>
            <a:pPr lvl="1"/>
            <a:endParaRPr lang="en-US" altLang="zh-TW"/>
          </a:p>
          <a:p>
            <a:pPr lvl="1"/>
            <a:endParaRPr lang="en-US" altLang="zh-TW"/>
          </a:p>
          <a:p>
            <a:pPr lvl="1"/>
            <a:endParaRPr lang="en-US" altLang="zh-TW"/>
          </a:p>
          <a:p>
            <a:pPr lvl="1"/>
            <a:r>
              <a:rPr lang="zh-TW" altLang="en-US"/>
              <a:t>會員</a:t>
            </a:r>
            <a:r>
              <a:rPr lang="zh-TW" altLang="en-US" dirty="0"/>
              <a:t>與交易的「確認關係」中，會員不一定要參與交易，但一個交易的成立一定要</a:t>
            </a:r>
            <a:r>
              <a:rPr lang="zh-TW" altLang="en-US"/>
              <a:t>有會員參與</a:t>
            </a:r>
            <a:endParaRPr lang="en-US" altLang="zh-TW"/>
          </a:p>
          <a:p>
            <a:pPr lvl="1"/>
            <a:r>
              <a:rPr lang="zh-TW" altLang="en-US"/>
              <a:t>一個會員可以參與多筆交易，但一個交易僅能由一個會員參與</a:t>
            </a:r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142858"/>
              </p:ext>
            </p:extLst>
          </p:nvPr>
        </p:nvGraphicFramePr>
        <p:xfrm>
          <a:off x="2586716" y="3167856"/>
          <a:ext cx="61214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r:id="rId3" imgW="4999634" imgH="688848" progId="">
                  <p:embed/>
                </p:oleObj>
              </mc:Choice>
              <mc:Fallback>
                <p:oleObj r:id="rId3" imgW="4999634" imgH="688848" progId="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716" y="3167856"/>
                        <a:ext cx="6121400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964BA2B-1CE4-C7A1-9EA9-57A39170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B3AC-87ED-487B-A301-6ED1C672BF30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FFD7E2-406A-7E7A-D704-9D16F20EE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8" name="箭號: 弧形下彎 7">
            <a:extLst>
              <a:ext uri="{FF2B5EF4-FFF2-40B4-BE49-F238E27FC236}">
                <a16:creationId xmlns:a16="http://schemas.microsoft.com/office/drawing/2014/main" id="{B92B6A05-4F66-4CA2-9453-488C9399C5A0}"/>
              </a:ext>
            </a:extLst>
          </p:cNvPr>
          <p:cNvSpPr/>
          <p:nvPr/>
        </p:nvSpPr>
        <p:spPr>
          <a:xfrm>
            <a:off x="4724400" y="2876550"/>
            <a:ext cx="1974850" cy="30480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箭號: 弧形下彎 8">
            <a:extLst>
              <a:ext uri="{FF2B5EF4-FFF2-40B4-BE49-F238E27FC236}">
                <a16:creationId xmlns:a16="http://schemas.microsoft.com/office/drawing/2014/main" id="{68517B29-8C48-4C9C-87DE-246C26F4C82B}"/>
              </a:ext>
            </a:extLst>
          </p:cNvPr>
          <p:cNvSpPr/>
          <p:nvPr/>
        </p:nvSpPr>
        <p:spPr>
          <a:xfrm flipH="1" flipV="1">
            <a:off x="4724400" y="3983831"/>
            <a:ext cx="1974850" cy="304800"/>
          </a:xfrm>
          <a:prstGeom prst="curved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A39F378-FCC2-45B2-AA35-9AD801F72B4B}"/>
              </a:ext>
            </a:extLst>
          </p:cNvPr>
          <p:cNvSpPr txBox="1"/>
          <p:nvPr/>
        </p:nvSpPr>
        <p:spPr>
          <a:xfrm>
            <a:off x="6329681" y="4209048"/>
            <a:ext cx="2560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>
                <a:solidFill>
                  <a:srgbClr val="C00000"/>
                </a:solidFill>
                <a:ea typeface="微軟正黑體" panose="020B0604030504040204" pitchFamily="34" charset="-120"/>
              </a:rPr>
              <a:t>交易一定要有會員參與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2640D9B-3268-4D60-9FAE-D2EABB7EE435}"/>
              </a:ext>
            </a:extLst>
          </p:cNvPr>
          <p:cNvSpPr txBox="1"/>
          <p:nvPr/>
        </p:nvSpPr>
        <p:spPr>
          <a:xfrm>
            <a:off x="2830831" y="2741613"/>
            <a:ext cx="2560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>
                <a:solidFill>
                  <a:srgbClr val="C00000"/>
                </a:solidFill>
                <a:ea typeface="微軟正黑體" panose="020B0604030504040204" pitchFamily="34" charset="-120"/>
              </a:rPr>
              <a:t>會員不一定參與交易</a:t>
            </a:r>
          </a:p>
        </p:txBody>
      </p:sp>
    </p:spTree>
    <p:extLst>
      <p:ext uri="{BB962C8B-B14F-4D97-AF65-F5344CB8AC3E}">
        <p14:creationId xmlns:p14="http://schemas.microsoft.com/office/powerpoint/2010/main" val="33768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6217AF70-4832-46ED-A52C-93253CE7DEB5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960341" y="5103125"/>
            <a:ext cx="1797908" cy="1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00CBFBC-02CA-4498-97C5-A02B72718CE9}"/>
              </a:ext>
            </a:extLst>
          </p:cNvPr>
          <p:cNvCxnSpPr>
            <a:cxnSpLocks/>
          </p:cNvCxnSpPr>
          <p:nvPr/>
        </p:nvCxnSpPr>
        <p:spPr>
          <a:xfrm flipV="1">
            <a:off x="3939743" y="5169027"/>
            <a:ext cx="1732008" cy="2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D30F5E00-7164-45EF-B59E-6685DE6F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完全參與 </a:t>
            </a:r>
            <a:r>
              <a:rPr lang="en-US" altLang="zh-TW"/>
              <a:t>vs </a:t>
            </a:r>
            <a:r>
              <a:rPr lang="zh-TW" altLang="en-US"/>
              <a:t>部分參與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C2274B-A630-4A60-BCBD-1A01CDCDF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完全參與 </a:t>
            </a:r>
            <a:r>
              <a:rPr lang="en-US" altLang="zh-TW"/>
              <a:t>(total participation)</a:t>
            </a:r>
          </a:p>
          <a:p>
            <a:pPr lvl="1"/>
            <a:r>
              <a:rPr lang="zh-TW" altLang="en-US"/>
              <a:t>其中的某個實體，每一個實體都要參與此一關係，實體與關係的連線表示為 </a:t>
            </a:r>
            <a:r>
              <a:rPr lang="en-US" altLang="zh-TW"/>
              <a:t>double line</a:t>
            </a:r>
          </a:p>
          <a:p>
            <a:r>
              <a:rPr lang="zh-TW" altLang="en-US"/>
              <a:t>部份參與 </a:t>
            </a:r>
            <a:r>
              <a:rPr lang="en-US" altLang="zh-TW"/>
              <a:t>(patial participation)</a:t>
            </a:r>
          </a:p>
          <a:p>
            <a:pPr lvl="1"/>
            <a:r>
              <a:rPr lang="zh-TW" altLang="en-US"/>
              <a:t>其中的某個實體可以參加或不參加此一關係，實體與關係的連線表示為 </a:t>
            </a:r>
            <a:r>
              <a:rPr lang="en-US" altLang="zh-TW"/>
              <a:t>single line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7E9620-8D53-4A31-BBD2-DFDDB363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6A2B-69A9-4F9A-B1AA-DB9A84EE82E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6C2230B-A483-4FB8-AEC8-68332F7F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568E9-42DB-4E30-895F-E7BBB025C919}"/>
              </a:ext>
            </a:extLst>
          </p:cNvPr>
          <p:cNvSpPr/>
          <p:nvPr/>
        </p:nvSpPr>
        <p:spPr>
          <a:xfrm>
            <a:off x="2106828" y="4800385"/>
            <a:ext cx="1853513" cy="60548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B07040-A8BF-4B96-BBDE-03F27E9D108A}"/>
              </a:ext>
            </a:extLst>
          </p:cNvPr>
          <p:cNvSpPr/>
          <p:nvPr/>
        </p:nvSpPr>
        <p:spPr>
          <a:xfrm>
            <a:off x="8830961" y="4800385"/>
            <a:ext cx="1853513" cy="60548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</a:t>
            </a:r>
          </a:p>
        </p:txBody>
      </p:sp>
      <p:sp>
        <p:nvSpPr>
          <p:cNvPr id="8" name="流程圖: 決策 7">
            <a:extLst>
              <a:ext uri="{FF2B5EF4-FFF2-40B4-BE49-F238E27FC236}">
                <a16:creationId xmlns:a16="http://schemas.microsoft.com/office/drawing/2014/main" id="{FE942D13-371D-4C34-A6EF-BEDC80A4D4F1}"/>
              </a:ext>
            </a:extLst>
          </p:cNvPr>
          <p:cNvSpPr/>
          <p:nvPr/>
        </p:nvSpPr>
        <p:spPr>
          <a:xfrm>
            <a:off x="5587313" y="4658282"/>
            <a:ext cx="1616676" cy="889686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選修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DEE5D21C-6D88-411D-97FB-ACB9778C0D2A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7203989" y="5103125"/>
            <a:ext cx="1626972" cy="1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12197C1-F00F-4A8A-9450-EA00774F0545}"/>
              </a:ext>
            </a:extLst>
          </p:cNvPr>
          <p:cNvSpPr txBox="1"/>
          <p:nvPr/>
        </p:nvSpPr>
        <p:spPr>
          <a:xfrm>
            <a:off x="3299254" y="5881816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/>
              <a:t>每個學生至少要選修一門課，有些課可以沒有學生選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82A2266-B58C-4271-B941-3852795EB619}"/>
              </a:ext>
            </a:extLst>
          </p:cNvPr>
          <p:cNvSpPr txBox="1"/>
          <p:nvPr/>
        </p:nvSpPr>
        <p:spPr>
          <a:xfrm>
            <a:off x="7648353" y="4655170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N</a:t>
            </a:r>
            <a:endParaRPr lang="zh-TW" altLang="en-US" b="1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C3C4695-EDDF-4623-97CB-6FD412544DCB}"/>
              </a:ext>
            </a:extLst>
          </p:cNvPr>
          <p:cNvSpPr txBox="1"/>
          <p:nvPr/>
        </p:nvSpPr>
        <p:spPr>
          <a:xfrm>
            <a:off x="4629667" y="465960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/>
              <a:t>M</a:t>
            </a:r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396878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838200" y="88786"/>
            <a:ext cx="10515600" cy="1325563"/>
          </a:xfrm>
        </p:spPr>
        <p:txBody>
          <a:bodyPr/>
          <a:lstStyle/>
          <a:p>
            <a:r>
              <a:rPr lang="zh-TW" altLang="en-US" dirty="0"/>
              <a:t>以下哪一個表符合</a:t>
            </a:r>
            <a:r>
              <a:rPr lang="en-US" altLang="zh-TW" dirty="0"/>
              <a:t>ERD</a:t>
            </a:r>
            <a:r>
              <a:rPr lang="zh-TW" altLang="en-US" dirty="0"/>
              <a:t>定義的關係</a:t>
            </a:r>
            <a:r>
              <a:rPr lang="en-US" altLang="zh-TW" dirty="0"/>
              <a:t>?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04" y="1036185"/>
            <a:ext cx="7750236" cy="127364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02141"/>
              </p:ext>
            </p:extLst>
          </p:nvPr>
        </p:nvGraphicFramePr>
        <p:xfrm>
          <a:off x="658903" y="2498114"/>
          <a:ext cx="238013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968">
                  <a:extLst>
                    <a:ext uri="{9D8B030D-6E8A-4147-A177-3AD203B41FA5}">
                      <a16:colId xmlns:a16="http://schemas.microsoft.com/office/drawing/2014/main" val="3960554697"/>
                    </a:ext>
                  </a:extLst>
                </a:gridCol>
                <a:gridCol w="1228164">
                  <a:extLst>
                    <a:ext uri="{9D8B030D-6E8A-4147-A177-3AD203B41FA5}">
                      <a16:colId xmlns:a16="http://schemas.microsoft.com/office/drawing/2014/main" val="2771162121"/>
                    </a:ext>
                  </a:extLst>
                </a:gridCol>
              </a:tblGrid>
              <a:tr h="328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43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1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0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3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202196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4872"/>
              </p:ext>
            </p:extLst>
          </p:nvPr>
        </p:nvGraphicFramePr>
        <p:xfrm>
          <a:off x="3389400" y="2498114"/>
          <a:ext cx="210969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247">
                  <a:extLst>
                    <a:ext uri="{9D8B030D-6E8A-4147-A177-3AD203B41FA5}">
                      <a16:colId xmlns:a16="http://schemas.microsoft.com/office/drawing/2014/main" val="443054397"/>
                    </a:ext>
                  </a:extLst>
                </a:gridCol>
                <a:gridCol w="1156447">
                  <a:extLst>
                    <a:ext uri="{9D8B030D-6E8A-4147-A177-3AD203B41FA5}">
                      <a16:colId xmlns:a16="http://schemas.microsoft.com/office/drawing/2014/main" val="922677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13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45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92601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591240"/>
              </p:ext>
            </p:extLst>
          </p:nvPr>
        </p:nvGraphicFramePr>
        <p:xfrm>
          <a:off x="5948071" y="2498114"/>
          <a:ext cx="22531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280">
                  <a:extLst>
                    <a:ext uri="{9D8B030D-6E8A-4147-A177-3AD203B41FA5}">
                      <a16:colId xmlns:a16="http://schemas.microsoft.com/office/drawing/2014/main" val="2444636678"/>
                    </a:ext>
                  </a:extLst>
                </a:gridCol>
                <a:gridCol w="1201849">
                  <a:extLst>
                    <a:ext uri="{9D8B030D-6E8A-4147-A177-3AD203B41FA5}">
                      <a16:colId xmlns:a16="http://schemas.microsoft.com/office/drawing/2014/main" val="3114157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34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20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81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7551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144687"/>
              </p:ext>
            </p:extLst>
          </p:nvPr>
        </p:nvGraphicFramePr>
        <p:xfrm>
          <a:off x="8650177" y="2498114"/>
          <a:ext cx="238013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968">
                  <a:extLst>
                    <a:ext uri="{9D8B030D-6E8A-4147-A177-3AD203B41FA5}">
                      <a16:colId xmlns:a16="http://schemas.microsoft.com/office/drawing/2014/main" val="3960554697"/>
                    </a:ext>
                  </a:extLst>
                </a:gridCol>
                <a:gridCol w="1228164">
                  <a:extLst>
                    <a:ext uri="{9D8B030D-6E8A-4147-A177-3AD203B41FA5}">
                      <a16:colId xmlns:a16="http://schemas.microsoft.com/office/drawing/2014/main" val="2771162121"/>
                    </a:ext>
                  </a:extLst>
                </a:gridCol>
              </a:tblGrid>
              <a:tr h="328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43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1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0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3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20219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178963"/>
              </p:ext>
            </p:extLst>
          </p:nvPr>
        </p:nvGraphicFramePr>
        <p:xfrm>
          <a:off x="1848969" y="4534900"/>
          <a:ext cx="238013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968">
                  <a:extLst>
                    <a:ext uri="{9D8B030D-6E8A-4147-A177-3AD203B41FA5}">
                      <a16:colId xmlns:a16="http://schemas.microsoft.com/office/drawing/2014/main" val="3960554697"/>
                    </a:ext>
                  </a:extLst>
                </a:gridCol>
                <a:gridCol w="1228164">
                  <a:extLst>
                    <a:ext uri="{9D8B030D-6E8A-4147-A177-3AD203B41FA5}">
                      <a16:colId xmlns:a16="http://schemas.microsoft.com/office/drawing/2014/main" val="2771162121"/>
                    </a:ext>
                  </a:extLst>
                </a:gridCol>
              </a:tblGrid>
              <a:tr h="328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43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1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0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3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20219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65148"/>
              </p:ext>
            </p:extLst>
          </p:nvPr>
        </p:nvGraphicFramePr>
        <p:xfrm>
          <a:off x="7460111" y="4474682"/>
          <a:ext cx="238013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968">
                  <a:extLst>
                    <a:ext uri="{9D8B030D-6E8A-4147-A177-3AD203B41FA5}">
                      <a16:colId xmlns:a16="http://schemas.microsoft.com/office/drawing/2014/main" val="3960554697"/>
                    </a:ext>
                  </a:extLst>
                </a:gridCol>
                <a:gridCol w="1228164">
                  <a:extLst>
                    <a:ext uri="{9D8B030D-6E8A-4147-A177-3AD203B41FA5}">
                      <a16:colId xmlns:a16="http://schemas.microsoft.com/office/drawing/2014/main" val="2771162121"/>
                    </a:ext>
                  </a:extLst>
                </a:gridCol>
              </a:tblGrid>
              <a:tr h="32850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43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1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0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3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202196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22077"/>
              </p:ext>
            </p:extLst>
          </p:nvPr>
        </p:nvGraphicFramePr>
        <p:xfrm>
          <a:off x="4718041" y="4534900"/>
          <a:ext cx="22531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280">
                  <a:extLst>
                    <a:ext uri="{9D8B030D-6E8A-4147-A177-3AD203B41FA5}">
                      <a16:colId xmlns:a16="http://schemas.microsoft.com/office/drawing/2014/main" val="2444636678"/>
                    </a:ext>
                  </a:extLst>
                </a:gridCol>
                <a:gridCol w="1201849">
                  <a:extLst>
                    <a:ext uri="{9D8B030D-6E8A-4147-A177-3AD203B41FA5}">
                      <a16:colId xmlns:a16="http://schemas.microsoft.com/office/drawing/2014/main" val="3114157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Teacher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Student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341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201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81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75519"/>
                  </a:ext>
                </a:extLst>
              </a:tr>
            </a:tbl>
          </a:graphicData>
        </a:graphic>
      </p:graphicFrame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F995C4-7894-1D65-2ED2-9D11465C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7414B-E752-4827-806F-BF697D3CF210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D31DA8-81FD-CA2D-59CB-43D6DB73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59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關係屬性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關係型態上也可以有屬性</a:t>
            </a:r>
          </a:p>
          <a:p>
            <a:pPr lvl="1"/>
            <a:r>
              <a:rPr lang="zh-TW" altLang="en-US" dirty="0"/>
              <a:t>如</a:t>
            </a:r>
            <a:r>
              <a:rPr lang="zh-TW" altLang="en-US" dirty="0">
                <a:latin typeface="微軟正黑體" pitchFamily="34" charset="-120"/>
              </a:rPr>
              <a:t>交易與商品</a:t>
            </a:r>
            <a:r>
              <a:rPr lang="zh-TW" altLang="en-US">
                <a:latin typeface="微軟正黑體" pitchFamily="34" charset="-120"/>
              </a:rPr>
              <a:t>間的「記錄</a:t>
            </a:r>
            <a:r>
              <a:rPr lang="zh-TW" altLang="en-US" dirty="0">
                <a:latin typeface="微軟正黑體" pitchFamily="34" charset="-120"/>
              </a:rPr>
              <a:t>」</a:t>
            </a:r>
            <a:r>
              <a:rPr lang="zh-TW" altLang="en-US">
                <a:latin typeface="微軟正黑體" pitchFamily="34" charset="-120"/>
              </a:rPr>
              <a:t>關係</a:t>
            </a:r>
            <a:r>
              <a:rPr lang="zh-TW" altLang="en-US" dirty="0">
                <a:latin typeface="微軟正黑體" pitchFamily="34" charset="-120"/>
              </a:rPr>
              <a:t>型態，就可以有</a:t>
            </a:r>
            <a:r>
              <a:rPr lang="zh-TW" altLang="en-US">
                <a:latin typeface="微軟正黑體" pitchFamily="34" charset="-120"/>
              </a:rPr>
              <a:t>一個屬性「數量」（</a:t>
            </a:r>
            <a:r>
              <a:rPr lang="en-US" altLang="zh-TW" b="1" dirty="0">
                <a:latin typeface="微軟正黑體" pitchFamily="34" charset="-120"/>
              </a:rPr>
              <a:t>amount</a:t>
            </a:r>
            <a:r>
              <a:rPr lang="zh-TW" altLang="en-US" dirty="0">
                <a:latin typeface="微軟正黑體" pitchFamily="34" charset="-120"/>
              </a:rPr>
              <a:t>）及</a:t>
            </a:r>
            <a:r>
              <a:rPr lang="zh-TW" altLang="en-US">
                <a:latin typeface="微軟正黑體" pitchFamily="34" charset="-120"/>
              </a:rPr>
              <a:t>一個屬性「售價</a:t>
            </a:r>
            <a:r>
              <a:rPr lang="zh-TW" altLang="en-US" dirty="0">
                <a:latin typeface="微軟正黑體" pitchFamily="34" charset="-120"/>
              </a:rPr>
              <a:t>」</a:t>
            </a:r>
            <a:r>
              <a:rPr lang="zh-TW" altLang="en-US">
                <a:latin typeface="微軟正黑體" pitchFamily="34" charset="-120"/>
              </a:rPr>
              <a:t> </a:t>
            </a:r>
            <a:r>
              <a:rPr lang="zh-TW" altLang="en-US" dirty="0">
                <a:latin typeface="微軟正黑體" pitchFamily="34" charset="-120"/>
              </a:rPr>
              <a:t>（</a:t>
            </a:r>
            <a:r>
              <a:rPr lang="en-US" altLang="zh-TW" b="1" err="1">
                <a:latin typeface="微軟正黑體" pitchFamily="34" charset="-120"/>
              </a:rPr>
              <a:t>salePrice</a:t>
            </a:r>
            <a:r>
              <a:rPr lang="zh-TW" altLang="en-US" b="1">
                <a:latin typeface="微軟正黑體" pitchFamily="34" charset="-120"/>
              </a:rPr>
              <a:t> </a:t>
            </a:r>
            <a:r>
              <a:rPr lang="zh-TW" altLang="en-US">
                <a:latin typeface="微軟正黑體" pitchFamily="34" charset="-120"/>
              </a:rPr>
              <a:t>），記載</a:t>
            </a:r>
            <a:r>
              <a:rPr lang="zh-TW" altLang="en-US" dirty="0">
                <a:latin typeface="微軟正黑體" pitchFamily="34" charset="-120"/>
              </a:rPr>
              <a:t>一</a:t>
            </a:r>
            <a:r>
              <a:rPr lang="zh-TW" altLang="en-US">
                <a:latin typeface="微軟正黑體" pitchFamily="34" charset="-120"/>
              </a:rPr>
              <a:t>筆交易中，</a:t>
            </a:r>
            <a:r>
              <a:rPr lang="zh-TW" altLang="en-US" dirty="0">
                <a:latin typeface="微軟正黑體" pitchFamily="34" charset="-120"/>
              </a:rPr>
              <a:t>某一樣商品的數量及總售價 </a:t>
            </a:r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94733"/>
              </p:ext>
            </p:extLst>
          </p:nvPr>
        </p:nvGraphicFramePr>
        <p:xfrm>
          <a:off x="2224654" y="3517906"/>
          <a:ext cx="7742691" cy="241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r:id="rId3" imgW="5227625" imgH="1360932" progId="">
                  <p:embed/>
                </p:oleObj>
              </mc:Choice>
              <mc:Fallback>
                <p:oleObj r:id="rId3" imgW="5227625" imgH="1360932" progId="">
                  <p:embed/>
                  <p:pic>
                    <p:nvPicPr>
                      <p:cNvPr id="6" name="物件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654" y="3517906"/>
                        <a:ext cx="7742691" cy="24124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BFC29C-D651-8677-7338-3C384AC0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5A2E7-EAE7-4114-BC2D-579E60052171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F41AF7-2B1D-6804-BF68-401069AB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1F70808-C0A4-4D8D-8A6C-55F485CBF183}"/>
              </a:ext>
            </a:extLst>
          </p:cNvPr>
          <p:cNvSpPr txBox="1"/>
          <p:nvPr/>
        </p:nvSpPr>
        <p:spPr>
          <a:xfrm>
            <a:off x="2209800" y="4924842"/>
            <a:ext cx="2245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highlight>
                  <a:srgbClr val="FFFF00"/>
                </a:highlight>
              </a:rPr>
              <a:t>交易一定要有商品，最多可記錄</a:t>
            </a:r>
            <a:r>
              <a:rPr lang="en-US" altLang="zh-TW">
                <a:highlight>
                  <a:srgbClr val="FFFF00"/>
                </a:highlight>
              </a:rPr>
              <a:t>N</a:t>
            </a:r>
            <a:r>
              <a:rPr lang="zh-TW" altLang="en-US">
                <a:highlight>
                  <a:srgbClr val="FFFF00"/>
                </a:highlight>
              </a:rPr>
              <a:t>個商品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7812C2-CA3E-4CCD-A9E2-F84580363E71}"/>
              </a:ext>
            </a:extLst>
          </p:cNvPr>
          <p:cNvSpPr txBox="1"/>
          <p:nvPr/>
        </p:nvSpPr>
        <p:spPr>
          <a:xfrm>
            <a:off x="8006080" y="5140960"/>
            <a:ext cx="2245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highlight>
                  <a:srgbClr val="FFFF00"/>
                </a:highlight>
              </a:rPr>
              <a:t>一項商品最多可被</a:t>
            </a:r>
            <a:r>
              <a:rPr lang="en-US" altLang="zh-TW">
                <a:highlight>
                  <a:srgbClr val="FFFF00"/>
                </a:highlight>
              </a:rPr>
              <a:t>M</a:t>
            </a:r>
            <a:r>
              <a:rPr lang="zh-TW" altLang="en-US">
                <a:highlight>
                  <a:srgbClr val="FFFF00"/>
                </a:highlight>
              </a:rPr>
              <a:t> 個交易紀錄，但也可能沒有交易紀錄它</a:t>
            </a:r>
            <a:endParaRPr lang="en-US" altLang="zh-TW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0776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A21280-86ED-49D2-AABF-2443335F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弱實體 </a:t>
            </a:r>
            <a:r>
              <a:rPr lang="en-US" altLang="zh-TW"/>
              <a:t>(weak entity)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760EAE-0042-4A1E-B3E2-D7C9887DA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en-US"/>
              <a:t>是一種無法單獨由其自身屬性來唯一識別的實體</a:t>
            </a:r>
            <a:endParaRPr lang="en-US" altLang="zh-TW"/>
          </a:p>
          <a:p>
            <a:pPr>
              <a:lnSpc>
                <a:spcPct val="110000"/>
              </a:lnSpc>
            </a:pPr>
            <a:r>
              <a:rPr lang="zh-TW" altLang="en-US"/>
              <a:t>弱實體缺乏自己的主鍵</a:t>
            </a:r>
            <a:r>
              <a:rPr lang="en-US" altLang="zh-TW"/>
              <a:t>(primary key)</a:t>
            </a:r>
            <a:r>
              <a:rPr lang="zh-TW" altLang="en-US"/>
              <a:t>。</a:t>
            </a:r>
            <a:endParaRPr lang="en-US" altLang="zh-TW"/>
          </a:p>
          <a:p>
            <a:pPr>
              <a:lnSpc>
                <a:spcPct val="110000"/>
              </a:lnSpc>
            </a:pPr>
            <a:r>
              <a:rPr lang="zh-TW" altLang="en-US"/>
              <a:t>弱實體的存在和識別依賴於另一個被稱為「所有者」</a:t>
            </a:r>
            <a:r>
              <a:rPr lang="en-US" altLang="zh-TW"/>
              <a:t>(owner)</a:t>
            </a:r>
            <a:r>
              <a:rPr lang="zh-TW" altLang="en-US"/>
              <a:t>或「父」</a:t>
            </a:r>
            <a:r>
              <a:rPr lang="en-US" altLang="zh-TW"/>
              <a:t>(parent)</a:t>
            </a:r>
            <a:r>
              <a:rPr lang="zh-TW" altLang="en-US"/>
              <a:t>實體的存在</a:t>
            </a:r>
            <a:endParaRPr lang="en-US" altLang="zh-TW"/>
          </a:p>
          <a:p>
            <a:pPr>
              <a:lnSpc>
                <a:spcPct val="110000"/>
              </a:lnSpc>
            </a:pPr>
            <a:r>
              <a:rPr lang="zh-TW" altLang="en-US"/>
              <a:t>弱實體</a:t>
            </a:r>
            <a:r>
              <a:rPr lang="zh-TW" altLang="en-US" i="0">
                <a:solidFill>
                  <a:srgbClr val="131314"/>
                </a:solidFill>
                <a:effectLst/>
                <a:latin typeface="Google Sans Text"/>
              </a:rPr>
              <a:t>唯一識別方式是結合其</a:t>
            </a:r>
            <a:r>
              <a:rPr lang="zh-TW" altLang="en-US" b="1" i="0">
                <a:solidFill>
                  <a:srgbClr val="C00000"/>
                </a:solidFill>
                <a:effectLst/>
                <a:latin typeface="Google Sans Text"/>
              </a:rPr>
              <a:t>自身屬性</a:t>
            </a:r>
            <a:r>
              <a:rPr lang="zh-TW" altLang="en-US" i="0">
                <a:solidFill>
                  <a:srgbClr val="131314"/>
                </a:solidFill>
                <a:effectLst/>
                <a:latin typeface="Google Sans Text"/>
              </a:rPr>
              <a:t>與相關聯的</a:t>
            </a:r>
            <a:r>
              <a:rPr lang="zh-TW" altLang="en-US" b="1" i="0">
                <a:solidFill>
                  <a:srgbClr val="C00000"/>
                </a:solidFill>
                <a:effectLst/>
                <a:latin typeface="Google Sans Text"/>
              </a:rPr>
              <a:t>「強實體」（</a:t>
            </a:r>
            <a:r>
              <a:rPr lang="en-US" altLang="zh-TW" b="1" i="0">
                <a:solidFill>
                  <a:srgbClr val="C00000"/>
                </a:solidFill>
                <a:effectLst/>
                <a:latin typeface="Google Sans Text"/>
              </a:rPr>
              <a:t>owner entity</a:t>
            </a:r>
            <a:r>
              <a:rPr lang="zh-TW" altLang="en-US" b="1" i="0">
                <a:solidFill>
                  <a:srgbClr val="C00000"/>
                </a:solidFill>
                <a:effectLst/>
                <a:latin typeface="Google Sans Text"/>
              </a:rPr>
              <a:t>）的主鍵</a:t>
            </a:r>
            <a:r>
              <a:rPr lang="zh-TW" altLang="en-US" i="0">
                <a:solidFill>
                  <a:srgbClr val="131314"/>
                </a:solidFill>
                <a:effectLst/>
                <a:latin typeface="Google Sans Text"/>
              </a:rPr>
              <a:t>，共同形成一個複合鍵</a:t>
            </a:r>
            <a:endParaRPr lang="en-US" altLang="zh-TW" i="0">
              <a:solidFill>
                <a:srgbClr val="131314"/>
              </a:solidFill>
              <a:effectLst/>
              <a:latin typeface="Google Sans Text"/>
            </a:endParaRPr>
          </a:p>
          <a:p>
            <a:pPr>
              <a:lnSpc>
                <a:spcPct val="110000"/>
              </a:lnSpc>
            </a:pPr>
            <a:r>
              <a:rPr lang="zh-TW" altLang="en-US">
                <a:solidFill>
                  <a:srgbClr val="131314"/>
                </a:solidFill>
                <a:latin typeface="Google Sans Text"/>
              </a:rPr>
              <a:t>在大學資料庫中，「課程」（</a:t>
            </a:r>
            <a:r>
              <a:rPr lang="en-US" altLang="zh-TW">
                <a:solidFill>
                  <a:srgbClr val="131314"/>
                </a:solidFill>
                <a:latin typeface="Google Sans Text"/>
              </a:rPr>
              <a:t>Course</a:t>
            </a:r>
            <a:r>
              <a:rPr lang="zh-TW" altLang="en-US">
                <a:solidFill>
                  <a:srgbClr val="131314"/>
                </a:solidFill>
                <a:latin typeface="Google Sans Text"/>
              </a:rPr>
              <a:t>）可能是 </a:t>
            </a:r>
            <a:r>
              <a:rPr lang="en-US" altLang="zh-TW">
                <a:solidFill>
                  <a:srgbClr val="131314"/>
                </a:solidFill>
                <a:latin typeface="Google Sans Text"/>
              </a:rPr>
              <a:t>owner entity</a:t>
            </a:r>
            <a:r>
              <a:rPr lang="zh-TW" altLang="en-US">
                <a:solidFill>
                  <a:srgbClr val="131314"/>
                </a:solidFill>
                <a:latin typeface="Google Sans Text"/>
              </a:rPr>
              <a:t>，「節次」（</a:t>
            </a:r>
            <a:r>
              <a:rPr lang="en-US" altLang="zh-TW">
                <a:solidFill>
                  <a:srgbClr val="131314"/>
                </a:solidFill>
                <a:latin typeface="Google Sans Text"/>
              </a:rPr>
              <a:t>Section</a:t>
            </a:r>
            <a:r>
              <a:rPr lang="zh-TW" altLang="en-US">
                <a:solidFill>
                  <a:srgbClr val="131314"/>
                </a:solidFill>
                <a:latin typeface="Google Sans Text"/>
              </a:rPr>
              <a:t>）則可能是 </a:t>
            </a:r>
            <a:r>
              <a:rPr lang="en-US" altLang="zh-TW">
                <a:solidFill>
                  <a:srgbClr val="131314"/>
                </a:solidFill>
                <a:latin typeface="Google Sans Text"/>
              </a:rPr>
              <a:t>weak entity</a:t>
            </a:r>
            <a:r>
              <a:rPr lang="zh-TW" altLang="en-US">
                <a:solidFill>
                  <a:srgbClr val="131314"/>
                </a:solidFill>
                <a:latin typeface="Google Sans Text"/>
              </a:rPr>
              <a:t>。因為「節次」單獨無法唯一識別，它需要結合「課程識別碼」和「節次號碼」才能形成一個複合主鍵來唯一識別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FA79B4-1873-4635-BD50-0700BB83A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46A2B-69A9-4F9A-B1AA-DB9A84EE82E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FE112C-708A-4FC0-8455-9D77DF84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108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</a:rPr>
              <a:t>弱</a:t>
            </a:r>
            <a:r>
              <a:rPr lang="zh-TW" altLang="en-US" spc="600">
                <a:latin typeface="微軟正黑體" pitchFamily="34" charset="-120"/>
              </a:rPr>
              <a:t>實體型態範例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701063"/>
            <a:ext cx="10515600" cy="265528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TW" altLang="en-US" sz="2000"/>
              <a:t>在會員與購物車的二元關係中，會員確定下訂單後，產生一個購物車實體。購物車為 </a:t>
            </a:r>
            <a:r>
              <a:rPr lang="en-US" altLang="zh-TW" sz="2000"/>
              <a:t>weak entity</a:t>
            </a:r>
            <a:r>
              <a:rPr lang="zh-TW" altLang="en-US" sz="2000"/>
              <a:t>，會員為 </a:t>
            </a:r>
            <a:r>
              <a:rPr lang="en-US" altLang="zh-TW" sz="2000"/>
              <a:t>owner entity (strong entity)</a:t>
            </a:r>
          </a:p>
          <a:p>
            <a:pPr>
              <a:lnSpc>
                <a:spcPct val="100000"/>
              </a:lnSpc>
            </a:pPr>
            <a:r>
              <a:rPr lang="zh-TW" altLang="en-US" sz="2000"/>
              <a:t>如果要識別一個購物車必須利用「會員編號」</a:t>
            </a:r>
            <a:r>
              <a:rPr lang="en-US" altLang="zh-TW" sz="2000"/>
              <a:t>(owner entity</a:t>
            </a:r>
            <a:r>
              <a:rPr lang="zh-TW" altLang="en-US" sz="2000"/>
              <a:t>的唯一識別</a:t>
            </a:r>
            <a:r>
              <a:rPr lang="en-US" altLang="zh-TW" sz="2000"/>
              <a:t>, PK)</a:t>
            </a:r>
            <a:r>
              <a:rPr lang="zh-TW" altLang="en-US" sz="2000"/>
              <a:t>及「購物車產生時間」</a:t>
            </a:r>
            <a:r>
              <a:rPr lang="en-US" altLang="zh-TW" sz="2000"/>
              <a:t>(</a:t>
            </a:r>
            <a:r>
              <a:rPr lang="zh-TW" altLang="en-US" sz="2000"/>
              <a:t>購物車的屬性</a:t>
            </a:r>
            <a:r>
              <a:rPr lang="en-US" altLang="zh-TW" sz="2000"/>
              <a:t>)</a:t>
            </a:r>
            <a:r>
              <a:rPr lang="zh-TW" altLang="en-US" sz="2000"/>
              <a:t>，建立一個「複合鍵」</a:t>
            </a:r>
            <a:endParaRPr lang="en-US" altLang="zh-TW" sz="2000"/>
          </a:p>
          <a:p>
            <a:pPr>
              <a:lnSpc>
                <a:spcPct val="100000"/>
              </a:lnSpc>
            </a:pPr>
            <a:r>
              <a:rPr lang="zh-TW" altLang="en-US" sz="2000"/>
              <a:t>一個會員可能沒有購物車</a:t>
            </a:r>
            <a:r>
              <a:rPr lang="en-US" altLang="zh-TW" sz="2000"/>
              <a:t>(</a:t>
            </a:r>
            <a:r>
              <a:rPr lang="zh-TW" altLang="en-US" sz="2000"/>
              <a:t>沒有下訂單</a:t>
            </a:r>
            <a:r>
              <a:rPr lang="en-US" altLang="zh-TW" sz="2000"/>
              <a:t>)</a:t>
            </a:r>
            <a:r>
              <a:rPr lang="zh-TW" altLang="en-US" sz="2000"/>
              <a:t>或可能產生最多</a:t>
            </a:r>
            <a:r>
              <a:rPr lang="en-US" altLang="zh-TW" sz="2000"/>
              <a:t>N</a:t>
            </a:r>
            <a:r>
              <a:rPr lang="zh-TW" altLang="en-US" sz="2000"/>
              <a:t>個購物車</a:t>
            </a:r>
            <a:endParaRPr lang="en-US" altLang="zh-TW" sz="2000"/>
          </a:p>
          <a:p>
            <a:pPr>
              <a:lnSpc>
                <a:spcPct val="100000"/>
              </a:lnSpc>
            </a:pPr>
            <a:r>
              <a:rPr lang="zh-TW" altLang="en-US" sz="2000"/>
              <a:t>如果有購物車上述的二元關係必定發生，購物車</a:t>
            </a:r>
            <a:r>
              <a:rPr lang="zh-TW" altLang="en-US" sz="2000" u="sng"/>
              <a:t>完全參與</a:t>
            </a:r>
            <a:r>
              <a:rPr lang="zh-TW" altLang="en-US" sz="2000"/>
              <a:t>此一關係</a:t>
            </a:r>
            <a:endParaRPr lang="en-US" altLang="zh-TW" sz="2000"/>
          </a:p>
          <a:p>
            <a:pPr>
              <a:lnSpc>
                <a:spcPct val="100000"/>
              </a:lnSpc>
            </a:pPr>
            <a:r>
              <a:rPr lang="zh-TW" altLang="en-US" sz="2000"/>
              <a:t>會員可以產生購物車或沒有下訂單，會員</a:t>
            </a:r>
            <a:r>
              <a:rPr lang="zh-TW" altLang="en-US" sz="2000" u="sng"/>
              <a:t>部分參與</a:t>
            </a:r>
            <a:r>
              <a:rPr lang="zh-TW" altLang="en-US" sz="2000"/>
              <a:t>此一關係</a:t>
            </a:r>
            <a:endParaRPr lang="en-US" altLang="zh-TW" sz="2000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524080"/>
              </p:ext>
            </p:extLst>
          </p:nvPr>
        </p:nvGraphicFramePr>
        <p:xfrm>
          <a:off x="1540953" y="1083458"/>
          <a:ext cx="8441247" cy="2125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r:id="rId3" imgW="3346847" imgH="848439" progId="">
                  <p:embed/>
                </p:oleObj>
              </mc:Choice>
              <mc:Fallback>
                <p:oleObj r:id="rId3" imgW="3346847" imgH="848439" progId="">
                  <p:embed/>
                  <p:pic>
                    <p:nvPicPr>
                      <p:cNvPr id="7" name="物件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953" y="1083458"/>
                        <a:ext cx="8441247" cy="21258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0014288" y="2945400"/>
            <a:ext cx="1341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Weak entity</a:t>
            </a:r>
            <a:endParaRPr lang="zh-TW" altLang="en-US" b="1" dirty="0"/>
          </a:p>
        </p:txBody>
      </p:sp>
      <p:cxnSp>
        <p:nvCxnSpPr>
          <p:cNvPr id="7" name="直線單箭頭接點 6"/>
          <p:cNvCxnSpPr>
            <a:cxnSpLocks/>
            <a:stCxn id="5" idx="0"/>
          </p:cNvCxnSpPr>
          <p:nvPr/>
        </p:nvCxnSpPr>
        <p:spPr>
          <a:xfrm flipH="1" flipV="1">
            <a:off x="9821663" y="2693774"/>
            <a:ext cx="863290" cy="25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0347410" y="1528299"/>
            <a:ext cx="1184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Partial key</a:t>
            </a:r>
            <a:endParaRPr lang="zh-TW" altLang="en-US" b="1" dirty="0"/>
          </a:p>
        </p:txBody>
      </p:sp>
      <p:cxnSp>
        <p:nvCxnSpPr>
          <p:cNvPr id="10" name="直線單箭頭接點 9"/>
          <p:cNvCxnSpPr>
            <a:cxnSpLocks/>
            <a:stCxn id="8" idx="1"/>
          </p:cNvCxnSpPr>
          <p:nvPr/>
        </p:nvCxnSpPr>
        <p:spPr>
          <a:xfrm flipH="1" flipV="1">
            <a:off x="9982200" y="1489299"/>
            <a:ext cx="365210" cy="223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2492155" y="1422507"/>
            <a:ext cx="144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Owner entity</a:t>
            </a:r>
            <a:endParaRPr lang="zh-TW" altLang="en-US" b="1" dirty="0"/>
          </a:p>
        </p:txBody>
      </p:sp>
      <p:cxnSp>
        <p:nvCxnSpPr>
          <p:cNvPr id="16" name="直線單箭頭接點 15"/>
          <p:cNvCxnSpPr>
            <a:cxnSpLocks/>
          </p:cNvCxnSpPr>
          <p:nvPr/>
        </p:nvCxnSpPr>
        <p:spPr>
          <a:xfrm flipH="1">
            <a:off x="2619632" y="1791839"/>
            <a:ext cx="601727" cy="343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07F5BA50-2FC9-7C27-60E1-EA7D89F9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5B15-4F8E-4DF9-BDC4-4F0539FF10A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6468B38C-8B23-C1A5-6573-6CBAD106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67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pc="600" dirty="0">
                <a:latin typeface="微軟正黑體" pitchFamily="34" charset="-120"/>
              </a:rPr>
              <a:t>遞迴關係型態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itchFamily="34" charset="-120"/>
              </a:rPr>
              <a:t>二元關係型態的左右兩邊</a:t>
            </a:r>
            <a:r>
              <a:rPr lang="zh-TW" altLang="en-US">
                <a:latin typeface="微軟正黑體" pitchFamily="34" charset="-120"/>
              </a:rPr>
              <a:t>實體型別是</a:t>
            </a:r>
            <a:r>
              <a:rPr lang="zh-TW" altLang="en-US" dirty="0">
                <a:latin typeface="微軟正黑體" pitchFamily="34" charset="-120"/>
              </a:rPr>
              <a:t>相同，只是扮演不同角色，就稱其為遞迴關係型態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477" y="3487269"/>
            <a:ext cx="5267775" cy="177501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81" y="3487269"/>
            <a:ext cx="4644349" cy="1843692"/>
          </a:xfrm>
          <a:prstGeom prst="rect">
            <a:avLst/>
          </a:prstGeom>
        </p:spPr>
      </p:pic>
      <p:sp>
        <p:nvSpPr>
          <p:cNvPr id="10" name="向右箭號 9"/>
          <p:cNvSpPr/>
          <p:nvPr/>
        </p:nvSpPr>
        <p:spPr>
          <a:xfrm>
            <a:off x="6086025" y="4294094"/>
            <a:ext cx="458210" cy="3944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BF0C28-4DEC-BFB8-E0FE-C291C43E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01FC1-B6A1-42D5-A5AC-4AE969CA7064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2D5076-845E-0C07-2A09-9B715B6B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2319274-3C59-452A-999F-1DEDE38B41E9}"/>
              </a:ext>
            </a:extLst>
          </p:cNvPr>
          <p:cNvSpPr txBox="1"/>
          <p:nvPr/>
        </p:nvSpPr>
        <p:spPr>
          <a:xfrm>
            <a:off x="4701555" y="4563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員工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F0E1F31-12FE-43C2-AD44-4BEFEB26F488}"/>
              </a:ext>
            </a:extLst>
          </p:cNvPr>
          <p:cNvSpPr txBox="1"/>
          <p:nvPr/>
        </p:nvSpPr>
        <p:spPr>
          <a:xfrm>
            <a:off x="1308100" y="45637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/>
              <a:t>經理</a:t>
            </a:r>
          </a:p>
        </p:txBody>
      </p:sp>
    </p:spTree>
    <p:extLst>
      <p:ext uri="{BB962C8B-B14F-4D97-AF65-F5344CB8AC3E}">
        <p14:creationId xmlns:p14="http://schemas.microsoft.com/office/powerpoint/2010/main" val="236872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ERD</a:t>
            </a:r>
            <a:r>
              <a:rPr lang="zh-TW" altLang="en-US" dirty="0"/>
              <a:t> 繪製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latin typeface="微軟正黑體" pitchFamily="34" charset="-120"/>
              </a:rPr>
              <a:t>ERD</a:t>
            </a:r>
            <a:r>
              <a:rPr lang="zh-TW" altLang="en-US">
                <a:latin typeface="微軟正黑體" pitchFamily="34" charset="-120"/>
              </a:rPr>
              <a:t> 命名</a:t>
            </a:r>
            <a:r>
              <a:rPr lang="zh-TW" altLang="en-US" dirty="0">
                <a:latin typeface="微軟正黑體" pitchFamily="34" charset="-120"/>
              </a:rPr>
              <a:t>的慣例，使寫的人和讀的人充分溝通</a:t>
            </a:r>
            <a:endParaRPr lang="en-US" altLang="zh-TW" dirty="0">
              <a:latin typeface="微軟正黑體" pitchFamily="34" charset="-120"/>
            </a:endParaRPr>
          </a:p>
          <a:p>
            <a:pPr lvl="1"/>
            <a:r>
              <a:rPr lang="zh-TW" altLang="en-US" dirty="0">
                <a:latin typeface="微軟正黑體" pitchFamily="34" charset="-120"/>
              </a:rPr>
              <a:t>實體型態及關係型態的名稱的第一個字元</a:t>
            </a:r>
            <a:r>
              <a:rPr lang="zh-TW" altLang="en-US">
                <a:latin typeface="微軟正黑體" pitchFamily="34" charset="-120"/>
              </a:rPr>
              <a:t>為大寫字母</a:t>
            </a:r>
            <a:r>
              <a:rPr lang="en-US" altLang="zh-TW">
                <a:latin typeface="微軟正黑體" pitchFamily="34" charset="-120"/>
              </a:rPr>
              <a:t>(</a:t>
            </a:r>
            <a:r>
              <a:rPr lang="zh-TW" altLang="en-US">
                <a:latin typeface="微軟正黑體" pitchFamily="34" charset="-120"/>
              </a:rPr>
              <a:t>英文表示時</a:t>
            </a:r>
            <a:r>
              <a:rPr lang="en-US" altLang="zh-TW">
                <a:latin typeface="微軟正黑體" pitchFamily="34" charset="-120"/>
              </a:rPr>
              <a:t>)</a:t>
            </a:r>
            <a:endParaRPr lang="zh-TW" altLang="en-US" dirty="0">
              <a:latin typeface="微軟正黑體" pitchFamily="34" charset="-120"/>
            </a:endParaRPr>
          </a:p>
          <a:p>
            <a:pPr lvl="1"/>
            <a:r>
              <a:rPr lang="zh-TW" altLang="en-US" dirty="0">
                <a:latin typeface="微軟正黑體" pitchFamily="34" charset="-120"/>
              </a:rPr>
              <a:t>屬性的名稱第一個字元為小寫字母</a:t>
            </a:r>
          </a:p>
          <a:p>
            <a:pPr lvl="1"/>
            <a:r>
              <a:rPr lang="zh-TW" altLang="en-US" dirty="0">
                <a:latin typeface="微軟正黑體" pitchFamily="34" charset="-120"/>
              </a:rPr>
              <a:t>角色名稱第一個字元為底線</a:t>
            </a:r>
            <a:r>
              <a:rPr lang="en-US" altLang="zh-TW" dirty="0">
                <a:latin typeface="微軟正黑體" pitchFamily="34" charset="-120"/>
              </a:rPr>
              <a:t>(underscore)_</a:t>
            </a:r>
          </a:p>
          <a:p>
            <a:pPr lvl="1"/>
            <a:r>
              <a:rPr lang="zh-TW" altLang="en-US" dirty="0">
                <a:latin typeface="微軟正黑體" pitchFamily="34" charset="-120"/>
              </a:rPr>
              <a:t>實體型態的名稱用單數名詞</a:t>
            </a:r>
          </a:p>
          <a:p>
            <a:pPr lvl="1"/>
            <a:r>
              <a:rPr lang="zh-TW" altLang="en-US" dirty="0">
                <a:latin typeface="微軟正黑體" pitchFamily="34" charset="-120"/>
              </a:rPr>
              <a:t>關係型態的名稱用單數動詞</a:t>
            </a:r>
          </a:p>
          <a:p>
            <a:pPr lvl="1"/>
            <a:r>
              <a:rPr lang="zh-TW" altLang="en-US" dirty="0">
                <a:latin typeface="微軟正黑體" pitchFamily="34" charset="-120"/>
              </a:rPr>
              <a:t>實體型態和關係型態的</a:t>
            </a:r>
            <a:r>
              <a:rPr lang="zh-TW" altLang="en-US">
                <a:latin typeface="微軟正黑體" pitchFamily="34" charset="-120"/>
              </a:rPr>
              <a:t>名稱必須唯一</a:t>
            </a:r>
            <a:r>
              <a:rPr lang="zh-TW" altLang="en-US" dirty="0">
                <a:latin typeface="微軟正黑體" pitchFamily="34" charset="-120"/>
              </a:rPr>
              <a:t>，不重複使用</a:t>
            </a:r>
          </a:p>
          <a:p>
            <a:pPr lvl="1"/>
            <a:r>
              <a:rPr lang="zh-TW" altLang="en-US" dirty="0">
                <a:latin typeface="微軟正黑體" pitchFamily="34" charset="-120"/>
              </a:rPr>
              <a:t>屬性的名稱盡量用不同的名詞</a:t>
            </a:r>
          </a:p>
          <a:p>
            <a:pPr lvl="1"/>
            <a:r>
              <a:rPr lang="zh-TW" altLang="en-US" dirty="0">
                <a:latin typeface="微軟正黑體" pitchFamily="34" charset="-120"/>
              </a:rPr>
              <a:t>在畫</a:t>
            </a:r>
            <a:r>
              <a:rPr lang="en-US" altLang="zh-TW" dirty="0">
                <a:latin typeface="微軟正黑體" pitchFamily="34" charset="-120"/>
              </a:rPr>
              <a:t>ERD</a:t>
            </a:r>
            <a:r>
              <a:rPr lang="zh-TW" altLang="en-US" dirty="0">
                <a:latin typeface="微軟正黑體" pitchFamily="34" charset="-120"/>
              </a:rPr>
              <a:t>時內容文字要盡量符合</a:t>
            </a:r>
            <a:r>
              <a:rPr lang="zh-TW" altLang="en-US">
                <a:latin typeface="微軟正黑體" pitchFamily="34" charset="-120"/>
              </a:rPr>
              <a:t>人的閱讀習慣</a:t>
            </a:r>
            <a:r>
              <a:rPr lang="zh-TW" altLang="en-US" dirty="0">
                <a:latin typeface="微軟正黑體" pitchFamily="34" charset="-120"/>
              </a:rPr>
              <a:t>，例如：</a:t>
            </a:r>
            <a:r>
              <a:rPr lang="en-US" altLang="zh-TW" dirty="0">
                <a:latin typeface="微軟正黑體" pitchFamily="34" charset="-120"/>
              </a:rPr>
              <a:t>A </a:t>
            </a:r>
            <a:r>
              <a:rPr lang="zh-TW" altLang="en-US" dirty="0">
                <a:latin typeface="微軟正黑體" pitchFamily="34" charset="-120"/>
              </a:rPr>
              <a:t>實體 → 關係→ </a:t>
            </a:r>
            <a:r>
              <a:rPr lang="en-US" altLang="zh-TW" dirty="0">
                <a:latin typeface="微軟正黑體" pitchFamily="34" charset="-120"/>
              </a:rPr>
              <a:t>B</a:t>
            </a:r>
            <a:r>
              <a:rPr lang="zh-TW" altLang="en-US" dirty="0">
                <a:latin typeface="微軟正黑體" pitchFamily="34" charset="-120"/>
              </a:rPr>
              <a:t>實體，要讓看的人由左而右或由上而下很像在看一句話一樣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10E150-F6E0-64C4-5F6C-FBA82F38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21F13-5268-4546-A090-D0C5B0D06B4C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A59449-94FB-0C4E-2447-7A2DCD59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90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Draw.io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 </a:t>
            </a:r>
            <a:r>
              <a:rPr lang="en-US" altLang="zh-TW" dirty="0"/>
              <a:t>diagrams.net </a:t>
            </a:r>
            <a:r>
              <a:rPr lang="zh-TW" altLang="en-US" dirty="0"/>
              <a:t>團隊建立的開源繪圖軟體，是世界上被最廣泛應用的瀏覽器繪圖工具，提供「免費、高質量的繪圖軟件」</a:t>
            </a:r>
            <a:endParaRPr lang="en-US" altLang="zh-TW" dirty="0"/>
          </a:p>
          <a:p>
            <a:r>
              <a:rPr lang="zh-TW" altLang="en-US" dirty="0"/>
              <a:t>跨平台的網頁圖表工具支援</a:t>
            </a:r>
            <a:r>
              <a:rPr lang="en-US" altLang="zh-TW" dirty="0"/>
              <a:t>Chrome</a:t>
            </a:r>
            <a:r>
              <a:rPr lang="zh-TW" altLang="en-US" dirty="0"/>
              <a:t>、</a:t>
            </a:r>
            <a:r>
              <a:rPr lang="en-US" altLang="zh-TW" dirty="0"/>
              <a:t>IE</a:t>
            </a:r>
            <a:r>
              <a:rPr lang="zh-TW" altLang="en-US" dirty="0"/>
              <a:t>、</a:t>
            </a:r>
            <a:r>
              <a:rPr lang="en-US" altLang="zh-TW" dirty="0"/>
              <a:t>Safari</a:t>
            </a:r>
            <a:r>
              <a:rPr lang="zh-TW" altLang="en-US" dirty="0"/>
              <a:t>及</a:t>
            </a:r>
            <a:r>
              <a:rPr lang="en-US" altLang="zh-TW" dirty="0" err="1"/>
              <a:t>FireFox</a:t>
            </a:r>
            <a:r>
              <a:rPr lang="en-US" altLang="zh-TW" dirty="0"/>
              <a:t>…</a:t>
            </a:r>
            <a:r>
              <a:rPr lang="zh-TW" altLang="en-US" dirty="0"/>
              <a:t>瀏覽器，也可以將檔案儲存至硬碟、</a:t>
            </a:r>
            <a:r>
              <a:rPr lang="en-US" altLang="zh-TW" dirty="0"/>
              <a:t>Google Drive</a:t>
            </a:r>
            <a:r>
              <a:rPr lang="zh-TW" altLang="en-US" dirty="0"/>
              <a:t>或是</a:t>
            </a:r>
            <a:r>
              <a:rPr lang="en-US" altLang="zh-TW" dirty="0"/>
              <a:t>OneDrive</a:t>
            </a:r>
          </a:p>
          <a:p>
            <a:r>
              <a:rPr lang="zh-TW" altLang="en-US" dirty="0"/>
              <a:t>圖庫量相當豐富，不管是畫商用圖表、工程製圖、流程圖或是</a:t>
            </a:r>
            <a:r>
              <a:rPr lang="en-US" altLang="zh-TW" dirty="0"/>
              <a:t>UML</a:t>
            </a:r>
            <a:r>
              <a:rPr lang="zh-TW" altLang="en-US" dirty="0"/>
              <a:t>等等都非常適合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E9AB1A-A4C2-AC27-3242-2F1DC2AA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82BD-B3D0-4DC5-AE61-1FAD0336130C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1D4DAA-4F77-2715-B5B0-156F35DB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9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19" y="1622611"/>
            <a:ext cx="3109371" cy="327020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093" y="1154661"/>
            <a:ext cx="5445791" cy="4206099"/>
          </a:xfrm>
          <a:prstGeom prst="rect">
            <a:avLst/>
          </a:prstGeom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B619CC-1B99-52E1-1F74-278AF382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0C4BB-5859-4888-9747-3B0A4AB6E3A6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8F7752-5C40-1D3C-742E-EFE20F07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3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ERD</a:t>
            </a:r>
            <a:r>
              <a:rPr lang="zh-TW" altLang="en-US" dirty="0"/>
              <a:t>工具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Draw.io</a:t>
            </a:r>
          </a:p>
          <a:p>
            <a:r>
              <a:rPr lang="zh-TW" altLang="en-US" dirty="0"/>
              <a:t>新增圖表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/>
              <a:t>E-R </a:t>
            </a:r>
            <a:r>
              <a:rPr lang="zh-TW" altLang="en-US" dirty="0"/>
              <a:t>圖</a:t>
            </a:r>
            <a:endParaRPr lang="en-US" altLang="zh-TW" dirty="0"/>
          </a:p>
          <a:p>
            <a:r>
              <a:rPr lang="zh-TW" altLang="en-US" dirty="0"/>
              <a:t>熟悉 </a:t>
            </a:r>
            <a:r>
              <a:rPr lang="en-US" altLang="zh-TW" dirty="0"/>
              <a:t>ERD</a:t>
            </a:r>
            <a:r>
              <a:rPr lang="zh-TW" altLang="en-US" dirty="0"/>
              <a:t> 元件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85" y="1027905"/>
            <a:ext cx="6789634" cy="444056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B77402-F9A2-752A-4F4E-D52B622E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DA80-CFFA-4C73-84A7-8C21D03376E8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048D3F-DE55-99A3-EC98-F4D0423A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146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網路書店案例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微軟正黑體" pitchFamily="34" charset="-120"/>
              </a:rPr>
              <a:t>採會員制</a:t>
            </a:r>
            <a:endParaRPr lang="en-US" altLang="zh-TW" sz="2400" dirty="0">
              <a:latin typeface="微軟正黑體" pitchFamily="34" charset="-120"/>
            </a:endParaRPr>
          </a:p>
          <a:p>
            <a:r>
              <a:rPr lang="zh-TW" altLang="en-US" sz="2400" dirty="0">
                <a:latin typeface="微軟正黑體" pitchFamily="34" charset="-120"/>
              </a:rPr>
              <a:t>可以記載會員的線上瀏覽記錄、交易記錄和購物車裡的商品（客戶是先將商品放在虛擬購物車裡，最後再進行結帳的動作）</a:t>
            </a:r>
            <a:endParaRPr lang="en-US" altLang="zh-TW" sz="2400" dirty="0">
              <a:latin typeface="微軟正黑體" pitchFamily="34" charset="-120"/>
            </a:endParaRPr>
          </a:p>
          <a:p>
            <a:r>
              <a:rPr lang="zh-TW" altLang="en-US" sz="2400" dirty="0">
                <a:latin typeface="微軟正黑體" pitchFamily="34" charset="-120"/>
              </a:rPr>
              <a:t>會員可由線上訂購，或其他方式（比如傳真、</a:t>
            </a:r>
            <a:r>
              <a:rPr lang="en-US" altLang="zh-TW" sz="2400" dirty="0">
                <a:latin typeface="微軟正黑體" pitchFamily="34" charset="-120"/>
              </a:rPr>
              <a:t>email</a:t>
            </a:r>
            <a:r>
              <a:rPr lang="zh-TW" altLang="en-US" sz="2400" dirty="0">
                <a:latin typeface="微軟正黑體" pitchFamily="34" charset="-120"/>
              </a:rPr>
              <a:t>、電話，或直接到門市）訂購，經由確認程序後產生交易記錄</a:t>
            </a:r>
          </a:p>
          <a:p>
            <a:pPr marL="457200" lvl="1" indent="0">
              <a:buNone/>
            </a:pPr>
            <a:endParaRPr lang="zh-TW" altLang="en-US" sz="2000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latin typeface="微軟正黑體" pitchFamily="34" charset="-120"/>
              </a:rPr>
              <a:t>五種資料</a:t>
            </a:r>
            <a:endParaRPr lang="en-US" altLang="zh-TW" sz="2400" dirty="0">
              <a:latin typeface="微軟正黑體" pitchFamily="34" charset="-120"/>
            </a:endParaRPr>
          </a:p>
          <a:p>
            <a:pPr lvl="1"/>
            <a:r>
              <a:rPr lang="zh-TW" altLang="en-US" sz="2000" dirty="0">
                <a:latin typeface="微軟正黑體" pitchFamily="34" charset="-120"/>
              </a:rPr>
              <a:t>客戶 </a:t>
            </a:r>
            <a:r>
              <a:rPr lang="en-US" altLang="zh-TW" sz="2000" dirty="0">
                <a:latin typeface="微軟正黑體" pitchFamily="34" charset="-120"/>
              </a:rPr>
              <a:t>(</a:t>
            </a:r>
            <a:r>
              <a:rPr lang="zh-TW" altLang="en-US" sz="2000" dirty="0">
                <a:latin typeface="微軟正黑體" pitchFamily="34" charset="-120"/>
              </a:rPr>
              <a:t>即會員</a:t>
            </a:r>
            <a:r>
              <a:rPr lang="en-US" altLang="zh-TW" sz="2000" dirty="0">
                <a:latin typeface="微軟正黑體" pitchFamily="34" charset="-120"/>
              </a:rPr>
              <a:t>)</a:t>
            </a:r>
          </a:p>
          <a:p>
            <a:pPr lvl="2"/>
            <a:r>
              <a:rPr lang="zh-TW" altLang="en-US" sz="1800" dirty="0">
                <a:latin typeface="微軟正黑體" pitchFamily="34" charset="-120"/>
              </a:rPr>
              <a:t>姓名、生日、電話、住址等</a:t>
            </a:r>
          </a:p>
          <a:p>
            <a:pPr lvl="1"/>
            <a:r>
              <a:rPr lang="zh-TW" altLang="en-US" sz="2000" dirty="0">
                <a:latin typeface="微軟正黑體" pitchFamily="34" charset="-120"/>
              </a:rPr>
              <a:t>商品</a:t>
            </a:r>
            <a:endParaRPr lang="en-US" altLang="zh-TW" sz="2000" dirty="0">
              <a:latin typeface="微軟正黑體" pitchFamily="34" charset="-120"/>
            </a:endParaRPr>
          </a:p>
          <a:p>
            <a:pPr lvl="2"/>
            <a:r>
              <a:rPr lang="zh-TW" altLang="en-US" sz="1800" dirty="0">
                <a:latin typeface="微軟正黑體" pitchFamily="34" charset="-120"/>
              </a:rPr>
              <a:t>商品名稱、種類、作者等</a:t>
            </a:r>
          </a:p>
          <a:p>
            <a:pPr lvl="1"/>
            <a:r>
              <a:rPr lang="zh-TW" altLang="en-US" sz="2000" dirty="0">
                <a:latin typeface="微軟正黑體" pitchFamily="34" charset="-120"/>
              </a:rPr>
              <a:t>購物車</a:t>
            </a:r>
            <a:endParaRPr lang="en-US" altLang="zh-TW" sz="2000" dirty="0">
              <a:latin typeface="微軟正黑體" pitchFamily="34" charset="-120"/>
            </a:endParaRPr>
          </a:p>
          <a:p>
            <a:pPr lvl="2"/>
            <a:r>
              <a:rPr lang="zh-TW" altLang="en-US" sz="1800" dirty="0">
                <a:latin typeface="微軟正黑體" pitchFamily="34" charset="-120"/>
              </a:rPr>
              <a:t>購物車時間、內容、顧客</a:t>
            </a:r>
          </a:p>
          <a:p>
            <a:pPr lvl="1"/>
            <a:r>
              <a:rPr lang="zh-TW" altLang="en-US" sz="2000" dirty="0">
                <a:latin typeface="微軟正黑體" pitchFamily="34" charset="-120"/>
              </a:rPr>
              <a:t>交易</a:t>
            </a:r>
            <a:endParaRPr lang="en-US" altLang="zh-TW" sz="2000" dirty="0">
              <a:latin typeface="微軟正黑體" pitchFamily="34" charset="-120"/>
            </a:endParaRPr>
          </a:p>
          <a:p>
            <a:pPr lvl="2"/>
            <a:r>
              <a:rPr lang="zh-TW" altLang="en-US" sz="1800" dirty="0">
                <a:latin typeface="微軟正黑體" pitchFamily="34" charset="-120"/>
              </a:rPr>
              <a:t>交易時間、付款機制、交易內容、顧客</a:t>
            </a:r>
            <a:endParaRPr lang="en-US" altLang="zh-TW" sz="1800" dirty="0">
              <a:latin typeface="微軟正黑體" pitchFamily="34" charset="-120"/>
            </a:endParaRPr>
          </a:p>
          <a:p>
            <a:pPr lvl="1"/>
            <a:r>
              <a:rPr lang="zh-TW" altLang="en-US" sz="2000" dirty="0">
                <a:latin typeface="微軟正黑體" pitchFamily="34" charset="-120"/>
              </a:rPr>
              <a:t>瀏覽</a:t>
            </a:r>
            <a:endParaRPr lang="en-US" altLang="zh-TW" sz="2000" dirty="0">
              <a:latin typeface="微軟正黑體" pitchFamily="34" charset="-120"/>
            </a:endParaRPr>
          </a:p>
          <a:p>
            <a:pPr lvl="2"/>
            <a:r>
              <a:rPr lang="zh-TW" altLang="en-US" sz="1800" dirty="0">
                <a:latin typeface="微軟正黑體" pitchFamily="34" charset="-120"/>
              </a:rPr>
              <a:t>瀏覽時間、顧客、商品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9C94362-11F1-4946-1A74-B68629AE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CCE5B-23B2-4529-A777-002B32FB641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248852-7218-46F8-310B-E146CCFC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747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238" y="116705"/>
            <a:ext cx="6875929" cy="6741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A5CB593-0542-094F-2D07-A5EAC53B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D8CBB-8407-4D4A-B820-9C36F59CE325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5F0B13-E21B-3B5D-C30F-B1832F64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31A709-6A31-4BAD-B299-9AC2E3811F77}"/>
              </a:ext>
            </a:extLst>
          </p:cNvPr>
          <p:cNvSpPr txBox="1"/>
          <p:nvPr/>
        </p:nvSpPr>
        <p:spPr>
          <a:xfrm>
            <a:off x="7766051" y="524993"/>
            <a:ext cx="4337050" cy="2786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學號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10000"/>
              </a:lnSpc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姓名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lvl="1">
              <a:lnSpc>
                <a:spcPct val="110000"/>
              </a:lnSpc>
            </a:pP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請問有哪些實體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請問那些屬性為關鍵屬性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請問那些屬性為多值屬性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請問那些屬性為複合屬性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請問那些實體為弱實體</a:t>
            </a:r>
            <a:r>
              <a:rPr lang="en-US" altLang="zh-TW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請找出有完全參與的實體關係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請解釋「會員」與「商品」間的數量關係</a:t>
            </a:r>
            <a:endParaRPr lang="en-US" altLang="zh-TW" sz="16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878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75A7728-FDBB-4559-85DA-B547BD87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作業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7C77131-1936-4247-B34E-56EBC6E99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en-US"/>
              <a:t>利用 </a:t>
            </a:r>
            <a:r>
              <a:rPr lang="en-US" altLang="zh-TW"/>
              <a:t>draw.io </a:t>
            </a:r>
            <a:r>
              <a:rPr lang="zh-TW" altLang="en-US"/>
              <a:t>畫第</a:t>
            </a:r>
            <a:r>
              <a:rPr lang="en-US" altLang="zh-TW"/>
              <a:t>32</a:t>
            </a:r>
            <a:r>
              <a:rPr lang="zh-TW" altLang="en-US"/>
              <a:t>頁投影片 </a:t>
            </a:r>
            <a:r>
              <a:rPr lang="en-US" altLang="zh-TW"/>
              <a:t>ERD</a:t>
            </a:r>
            <a:r>
              <a:rPr lang="zh-TW" altLang="en-US"/>
              <a:t> 圖</a:t>
            </a:r>
            <a:endParaRPr lang="en-US" altLang="zh-TW"/>
          </a:p>
          <a:p>
            <a:pPr>
              <a:lnSpc>
                <a:spcPct val="110000"/>
              </a:lnSpc>
            </a:pPr>
            <a:r>
              <a:rPr lang="zh-TW" altLang="en-US"/>
              <a:t>並回答以下問題</a:t>
            </a: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請問有哪些實體</a:t>
            </a:r>
            <a:r>
              <a:rPr lang="en-US" altLang="zh-TW"/>
              <a:t>?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請問那些屬性為關鍵屬性</a:t>
            </a:r>
            <a:r>
              <a:rPr lang="en-US" altLang="zh-TW"/>
              <a:t>?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請問那些屬性為多值屬性</a:t>
            </a:r>
            <a:r>
              <a:rPr lang="en-US" altLang="zh-TW"/>
              <a:t>?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請問那些屬性為複合屬性</a:t>
            </a:r>
            <a:r>
              <a:rPr lang="en-US" altLang="zh-TW"/>
              <a:t>?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請問那些實體為弱實體</a:t>
            </a:r>
            <a:r>
              <a:rPr lang="en-US" altLang="zh-TW"/>
              <a:t>?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請找出有完全參與的實體關係</a:t>
            </a: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r>
              <a:rPr lang="zh-TW" altLang="en-US"/>
              <a:t>請解釋「會員」與「商品」間的數量關係</a:t>
            </a:r>
            <a:endParaRPr lang="en-US" altLang="zh-TW"/>
          </a:p>
          <a:p>
            <a:pPr>
              <a:lnSpc>
                <a:spcPct val="110000"/>
              </a:lnSpc>
            </a:pPr>
            <a:r>
              <a:rPr lang="zh-TW" altLang="en-US"/>
              <a:t>請將 </a:t>
            </a:r>
            <a:r>
              <a:rPr lang="en-US" altLang="zh-TW"/>
              <a:t>ERD</a:t>
            </a:r>
            <a:r>
              <a:rPr lang="zh-TW" altLang="en-US"/>
              <a:t> 圖與問答題答案</a:t>
            </a:r>
            <a:r>
              <a:rPr lang="en-US" altLang="zh-TW"/>
              <a:t>(</a:t>
            </a:r>
            <a:r>
              <a:rPr lang="zh-TW" altLang="en-US"/>
              <a:t>含題目</a:t>
            </a:r>
            <a:r>
              <a:rPr lang="en-US" altLang="zh-TW"/>
              <a:t>)</a:t>
            </a:r>
            <a:r>
              <a:rPr lang="zh-TW" altLang="en-US"/>
              <a:t>彙整後儲存為</a:t>
            </a:r>
            <a:r>
              <a:rPr lang="en-US" altLang="zh-TW"/>
              <a:t>pdf</a:t>
            </a:r>
            <a:r>
              <a:rPr lang="zh-TW" altLang="en-US"/>
              <a:t>檔，檔名為學號</a:t>
            </a: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endParaRPr lang="en-US" altLang="zh-TW"/>
          </a:p>
          <a:p>
            <a:pPr marL="914400" lvl="1" indent="-457200">
              <a:lnSpc>
                <a:spcPct val="110000"/>
              </a:lnSpc>
              <a:buFont typeface="+mj-lt"/>
              <a:buAutoNum type="arabicPeriod"/>
            </a:pPr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90EE51F-E9BB-47F9-BE15-0804E57E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E4EA-B158-40D5-8ACA-901DA4FC9281}" type="datetime1">
              <a:rPr lang="zh-TW" altLang="en-US" smtClean="0"/>
              <a:t>2025/9/17</a:t>
            </a:fld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6DC4C56-0FC4-4A28-B624-7A435130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6D94-51FD-4CBB-B5D4-0F44A9871C1E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25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2569</Words>
  <Application>Microsoft Office PowerPoint</Application>
  <PresentationFormat>寬螢幕</PresentationFormat>
  <Paragraphs>350</Paragraphs>
  <Slides>33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0</vt:i4>
      </vt:variant>
      <vt:variant>
        <vt:lpstr>投影片標題</vt:lpstr>
      </vt:variant>
      <vt:variant>
        <vt:i4>33</vt:i4>
      </vt:variant>
    </vt:vector>
  </HeadingPairs>
  <TitlesOfParts>
    <vt:vector size="40" baseType="lpstr">
      <vt:lpstr>Google Sans Text</vt:lpstr>
      <vt:lpstr>微軟正黑體</vt:lpstr>
      <vt:lpstr>Arial</vt:lpstr>
      <vt:lpstr>Calibri</vt:lpstr>
      <vt:lpstr>Comic Sans MS</vt:lpstr>
      <vt:lpstr>Wingdings</vt:lpstr>
      <vt:lpstr>Office 佈景主題</vt:lpstr>
      <vt:lpstr>實體關係模型</vt:lpstr>
      <vt:lpstr>迷你世界</vt:lpstr>
      <vt:lpstr>資料塑模與資料庫</vt:lpstr>
      <vt:lpstr>概念塑模</vt:lpstr>
      <vt:lpstr>了解資料庫應用系統迷你世界途徑</vt:lpstr>
      <vt:lpstr>實體關係模型 (Entity-relationship model)</vt:lpstr>
      <vt:lpstr>實體關係模式</vt:lpstr>
      <vt:lpstr>實體（Entity）</vt:lpstr>
      <vt:lpstr>PowerPoint 簡報</vt:lpstr>
      <vt:lpstr>實體型態案例</vt:lpstr>
      <vt:lpstr>實體關係圖(ERD)</vt:lpstr>
      <vt:lpstr>線上購物系統四個實體型態表示法</vt:lpstr>
      <vt:lpstr>實體間關係</vt:lpstr>
      <vt:lpstr>實體與實體之間的關聯性</vt:lpstr>
      <vt:lpstr>實體與關係</vt:lpstr>
      <vt:lpstr>二元關係型態</vt:lpstr>
      <vt:lpstr>1:1, 表示左邊的一個實體「最多」與右邊的一個實體發生此類關係，同時右邊的一個實體最多也只能跟左邊的一個實體發生此類關係 </vt:lpstr>
      <vt:lpstr>1:N, 表示左邊的一個實體(會員)最多與可跟右邊的多個實體(交易)發生此類關係，但右邊的一個實體(交易)最多也只能跟左邊的一個實體(會員)發生此類關係</vt:lpstr>
      <vt:lpstr>M:N, 表示左邊的一個實體最多與可跟右邊的多個實體發生此類關係，同時右邊的一個實體最多也能跟左邊的多個實體發生此類關係</vt:lpstr>
      <vt:lpstr>參與度</vt:lpstr>
      <vt:lpstr>完全參與 vs 部分參與</vt:lpstr>
      <vt:lpstr>以下哪一個表符合ERD定義的關係?</vt:lpstr>
      <vt:lpstr>關係屬性</vt:lpstr>
      <vt:lpstr>弱實體 (weak entity)</vt:lpstr>
      <vt:lpstr>弱實體型態範例</vt:lpstr>
      <vt:lpstr>遞迴關係型態</vt:lpstr>
      <vt:lpstr>ERD 繪製</vt:lpstr>
      <vt:lpstr>Draw.io</vt:lpstr>
      <vt:lpstr>PowerPoint 簡報</vt:lpstr>
      <vt:lpstr>ERD工具</vt:lpstr>
      <vt:lpstr>網路書店案例</vt:lpstr>
      <vt:lpstr>PowerPoint 簡報</vt:lpstr>
      <vt:lpstr>作業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實體關係模型</dc:title>
  <dc:creator>Jainshone Chung</dc:creator>
  <cp:lastModifiedBy>鍾定揚 12376046 Daniel</cp:lastModifiedBy>
  <cp:revision>64</cp:revision>
  <cp:lastPrinted>2025-07-30T09:59:40Z</cp:lastPrinted>
  <dcterms:created xsi:type="dcterms:W3CDTF">2024-09-09T07:25:08Z</dcterms:created>
  <dcterms:modified xsi:type="dcterms:W3CDTF">2025-09-17T06:57:12Z</dcterms:modified>
</cp:coreProperties>
</file>