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348" r:id="rId10"/>
    <p:sldId id="349" r:id="rId11"/>
    <p:sldId id="265" r:id="rId12"/>
    <p:sldId id="300" r:id="rId13"/>
    <p:sldId id="301" r:id="rId14"/>
    <p:sldId id="305" r:id="rId15"/>
    <p:sldId id="304" r:id="rId16"/>
    <p:sldId id="266" r:id="rId17"/>
    <p:sldId id="358" r:id="rId18"/>
    <p:sldId id="359" r:id="rId19"/>
    <p:sldId id="360" r:id="rId20"/>
    <p:sldId id="361" r:id="rId21"/>
    <p:sldId id="362" r:id="rId22"/>
    <p:sldId id="306" r:id="rId23"/>
    <p:sldId id="307" r:id="rId24"/>
    <p:sldId id="308" r:id="rId25"/>
    <p:sldId id="309" r:id="rId26"/>
    <p:sldId id="312" r:id="rId27"/>
    <p:sldId id="350" r:id="rId28"/>
    <p:sldId id="313" r:id="rId29"/>
    <p:sldId id="334" r:id="rId30"/>
    <p:sldId id="351" r:id="rId31"/>
    <p:sldId id="335" r:id="rId32"/>
    <p:sldId id="314" r:id="rId33"/>
    <p:sldId id="316" r:id="rId34"/>
    <p:sldId id="357" r:id="rId35"/>
    <p:sldId id="352" r:id="rId36"/>
    <p:sldId id="320" r:id="rId37"/>
    <p:sldId id="321" r:id="rId38"/>
    <p:sldId id="322" r:id="rId39"/>
    <p:sldId id="323" r:id="rId40"/>
    <p:sldId id="324" r:id="rId41"/>
    <p:sldId id="325" r:id="rId42"/>
    <p:sldId id="326" r:id="rId43"/>
    <p:sldId id="327" r:id="rId44"/>
    <p:sldId id="328" r:id="rId45"/>
    <p:sldId id="353" r:id="rId46"/>
    <p:sldId id="329" r:id="rId47"/>
    <p:sldId id="354" r:id="rId48"/>
    <p:sldId id="330" r:id="rId49"/>
    <p:sldId id="331" r:id="rId50"/>
    <p:sldId id="355" r:id="rId51"/>
    <p:sldId id="332" r:id="rId52"/>
    <p:sldId id="356" r:id="rId53"/>
    <p:sldId id="333" r:id="rId5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鍾定揚 12376046 Daniel" initials="鍾定揚" lastIdx="1" clrIdx="0">
    <p:extLst>
      <p:ext uri="{19B8F6BF-5375-455C-9EA6-DF929625EA0E}">
        <p15:presenceInfo xmlns:p15="http://schemas.microsoft.com/office/powerpoint/2012/main" userId="S::12376046@ms1.mcu.edu.tw::97e32ef0-a70a-4440-9da3-f952b4f51e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00B0F0"/>
    <a:srgbClr val="ED7D31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1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61B1A8-281D-4AF9-B9C7-B55A0FF2C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3F1FD5E-C1DF-4F19-91C1-7D2E5CDF16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B63137-E240-4848-8F58-FEF239D34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F159-6B54-4AB7-8B5F-C5D674DDE1A3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6CD6A9F-6857-4A9A-8978-9642CF456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774F65-D07C-4635-B411-0E674DB0C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551E-2621-4E3A-B8EA-28EACC2FC8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3763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F5FF94-CA25-4610-9D68-6F811D205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648"/>
            <a:ext cx="10515600" cy="916022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C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F90807-631F-4F82-88CC-0D57E80BF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148"/>
            <a:ext cx="10515600" cy="5074201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070C0"/>
                </a:solidFill>
              </a:defRPr>
            </a:lvl1pPr>
            <a:lvl2pPr>
              <a:defRPr sz="2000" b="1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BA74A7-D50C-417F-A859-CAF266DEEE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56555"/>
            <a:ext cx="2743200" cy="365125"/>
          </a:xfrm>
        </p:spPr>
        <p:txBody>
          <a:bodyPr/>
          <a:lstStyle/>
          <a:p>
            <a:fld id="{4A0BF159-6B54-4AB7-8B5F-C5D674DDE1A3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112B07-255F-4F54-862C-E6502C145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56554"/>
            <a:ext cx="4114800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9B050E1-D4DB-42E8-8C64-533108333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553"/>
            <a:ext cx="2743200" cy="365125"/>
          </a:xfrm>
        </p:spPr>
        <p:txBody>
          <a:bodyPr/>
          <a:lstStyle/>
          <a:p>
            <a:fld id="{F949551E-2621-4E3A-B8EA-28EACC2FC8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892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8B4159-2D74-4637-B218-D0E9BA9AB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A414159-D01A-4C9D-8EDE-5CD716D97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53060C-D90A-4CEC-93F1-C4C732DC2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F159-6B54-4AB7-8B5F-C5D674DDE1A3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7B0BF67-3A00-4FFC-9B21-6778FA4F2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ABC623-424D-4B5E-8A33-8D9DC92C5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551E-2621-4E3A-B8EA-28EACC2FC8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3938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9921D1-808D-48CB-9102-CA7C0195B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7D9C9C-DCB4-4364-9241-1ECFDE06CE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FC0533F-B9F9-42E7-86ED-E7B8000D2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34871F9-B741-4DB9-83B7-E16835633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F159-6B54-4AB7-8B5F-C5D674DDE1A3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67F7AC1-717B-4279-B65F-695DF2750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3111A33-11B2-426A-B757-1CC1D14C4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551E-2621-4E3A-B8EA-28EACC2FC8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3962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50F604-0E58-40A2-94CB-971ACCD47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EBDF516-07AB-4040-8B36-72962879C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0E08D85-9253-4F32-AEE5-0ED1D30C5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FB9B9B4-7A8A-46DF-8BF8-5F7746B83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C259CB7-A79D-44BA-9F95-8FBAAB4CD4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18D5133-1953-49E2-86B1-9118C3617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F159-6B54-4AB7-8B5F-C5D674DDE1A3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AA03851-4598-42CC-A268-08DBA5C27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CC0B027-2473-4857-AC34-66CF82663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551E-2621-4E3A-B8EA-28EACC2FC8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5044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AF34DB-B458-4190-84CD-4B4CF7B6F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2697"/>
            <a:ext cx="10515600" cy="7058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6D8C782-2255-495A-91CC-16AB32FBB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F159-6B54-4AB7-8B5F-C5D674DDE1A3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F5EB5E7-A763-42A9-8D3D-31B639B77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25FE6A2-C3CF-4BDA-BC70-3E4B9483C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551E-2621-4E3A-B8EA-28EACC2FC8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8360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DA90E57-23C0-4DC6-93D1-6D9CC9FEC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F159-6B54-4AB7-8B5F-C5D674DDE1A3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E507395-CBCB-4379-861C-B560930E2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95C31A2-7768-4A35-B10E-DCDACA1B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551E-2621-4E3A-B8EA-28EACC2FC8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248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2146EF-9876-4E95-8FE8-0A2F85C06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1BCBF2-C21C-4EA5-87E0-FC3FE5E13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310ED8D-59CC-41FA-81AD-3DEF30476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E7958EB-60E5-4AE6-B65F-69FAFF58F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F159-6B54-4AB7-8B5F-C5D674DDE1A3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DD8737F-4C39-4288-B11D-89BA005D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CD8909E-E0C3-4EF3-AB54-FCFC8E992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551E-2621-4E3A-B8EA-28EACC2FC8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2512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A867B8-DCBA-4B30-9988-5B1F37020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898D8E7-1A58-459D-B568-88BD9EB5FF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4E700AB-4B03-4409-B002-1E9E0AAAA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B97A309-5EB3-416D-BE22-3369BED31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F159-6B54-4AB7-8B5F-C5D674DDE1A3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222A707-721C-4C16-8285-7EC395680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757348A-7FB6-4DC4-91A6-506967D32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551E-2621-4E3A-B8EA-28EACC2FC8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3938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8673BF-C1F4-40A0-8881-9BEA8388B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B743B26-74C2-4352-9118-1EDD30D443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49BAA7-DC33-4395-A6D8-2FE4063DB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F159-6B54-4AB7-8B5F-C5D674DDE1A3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533CDCC-B2AB-4FE9-9DD4-FB65492F1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196943D-F458-4A2A-B813-AC13A366C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551E-2621-4E3A-B8EA-28EACC2FC8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151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5766421-14AA-4362-B1AE-7520DD8174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BA99958-1C99-4E55-82E8-2AF6861BE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BB1AE0F-22F5-4677-AAF1-D71618C7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BF159-6B54-4AB7-8B5F-C5D674DDE1A3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542CF81-8F2B-47A4-B746-4C8C7F88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EFCD6CC-C19C-4778-BF19-F23C7E247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9551E-2621-4E3A-B8EA-28EACC2FC8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2184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1BB9CD7-3803-4B4B-B957-06E84FB2A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C781EF1-1D3D-4E07-9C61-E4ED61962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54A0BC-338E-4363-B022-6EE868651A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BF159-6B54-4AB7-8B5F-C5D674DDE1A3}" type="datetimeFigureOut">
              <a:rPr lang="zh-TW" altLang="en-US" smtClean="0"/>
              <a:t>2025/10/22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6B82825-6D8B-44E5-8122-83C919F0AA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BC6CF52-0E09-4807-81DC-CC89D1C104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9551E-2621-4E3A-B8EA-28EACC2FC8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227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5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2.emf"/><Relationship Id="rId4" Type="http://schemas.openxmlformats.org/officeDocument/2006/relationships/oleObject" Target="../embeddings/oleObject7.bin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35.emf"/><Relationship Id="rId4" Type="http://schemas.openxmlformats.org/officeDocument/2006/relationships/oleObject" Target="../embeddings/oleObject8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2AFF26-4D00-4C79-9722-6FB6B6FD85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關聯運算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1051BF9-CC8A-4947-A034-3D4E552FF0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en-US" altLang="zh-TW" dirty="0"/>
              <a:t>10/24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4991B8-3376-4D39-BA6E-A44AE00AC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751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CEA084-B617-4F66-819F-826B6C6DE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SQL</a:t>
            </a:r>
            <a:r>
              <a:rPr lang="zh-TW" altLang="en-US" dirty="0"/>
              <a:t>運作的理論基礎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54399A-069A-42FA-BC13-B18F8C3A1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TW" dirty="0">
              <a:latin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</a:rPr>
              <a:t>運算方式</a:t>
            </a:r>
            <a:endParaRPr lang="en-US" altLang="zh-TW" dirty="0">
              <a:latin typeface="微軟正黑體" panose="020B0604030504040204" pitchFamily="34" charset="-120"/>
            </a:endParaRPr>
          </a:p>
          <a:p>
            <a:pPr lvl="1">
              <a:lnSpc>
                <a:spcPct val="110000"/>
              </a:lnSpc>
            </a:pPr>
            <a:r>
              <a:rPr lang="zh-TW" altLang="en-US" dirty="0">
                <a:latin typeface="微軟正黑體" panose="020B0604030504040204" pitchFamily="34" charset="-120"/>
              </a:rPr>
              <a:t>關聯代數（</a:t>
            </a:r>
            <a:r>
              <a:rPr lang="en-US" altLang="zh-TW" dirty="0">
                <a:latin typeface="微軟正黑體" panose="020B0604030504040204" pitchFamily="34" charset="-120"/>
              </a:rPr>
              <a:t>Relational Algebra</a:t>
            </a:r>
            <a:r>
              <a:rPr lang="zh-TW" altLang="en-US" dirty="0">
                <a:latin typeface="微軟正黑體" panose="020B0604030504040204" pitchFamily="34" charset="-120"/>
              </a:rPr>
              <a:t>）</a:t>
            </a:r>
            <a:endParaRPr lang="en-US" altLang="zh-TW" dirty="0">
              <a:latin typeface="微軟正黑體" panose="020B0604030504040204" pitchFamily="34" charset="-120"/>
            </a:endParaRPr>
          </a:p>
          <a:p>
            <a:pPr lvl="1">
              <a:lnSpc>
                <a:spcPct val="110000"/>
              </a:lnSpc>
            </a:pPr>
            <a:r>
              <a:rPr lang="zh-TW" altLang="en-US" dirty="0">
                <a:latin typeface="微軟正黑體" panose="020B0604030504040204" pitchFamily="34" charset="-120"/>
              </a:rPr>
              <a:t>關聯邏輯計算法 （</a:t>
            </a:r>
            <a:r>
              <a:rPr lang="en-US" altLang="zh-TW" dirty="0">
                <a:latin typeface="微軟正黑體" panose="020B0604030504040204" pitchFamily="34" charset="-120"/>
              </a:rPr>
              <a:t>Relational Calculus)</a:t>
            </a:r>
          </a:p>
          <a:p>
            <a:r>
              <a:rPr lang="zh-TW" altLang="en-US" dirty="0">
                <a:latin typeface="微軟正黑體" panose="020B0604030504040204" pitchFamily="34" charset="-120"/>
              </a:rPr>
              <a:t>關聯代數運算子</a:t>
            </a:r>
            <a:endParaRPr lang="en-US" altLang="zh-TW" dirty="0">
              <a:latin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</a:rPr>
              <a:t>關聯</a:t>
            </a:r>
            <a:r>
              <a:rPr lang="en-US" altLang="zh-TW" dirty="0">
                <a:latin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</a:rPr>
              <a:t>資料表</a:t>
            </a:r>
            <a:r>
              <a:rPr lang="en-US" altLang="zh-TW" dirty="0">
                <a:latin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</a:rPr>
              <a:t>運算的結果也是關聯</a:t>
            </a:r>
            <a:r>
              <a:rPr lang="en-US" altLang="zh-TW" dirty="0">
                <a:latin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</a:rPr>
              <a:t>資料表</a:t>
            </a:r>
            <a:r>
              <a:rPr lang="en-US" altLang="zh-TW" dirty="0">
                <a:latin typeface="微軟正黑體" panose="020B0604030504040204" pitchFamily="34" charset="-120"/>
              </a:rPr>
              <a:t>)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</a:rPr>
              <a:t>集合運算子</a:t>
            </a:r>
            <a:r>
              <a:rPr lang="en-US" altLang="zh-TW" dirty="0">
                <a:latin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</a:rPr>
              <a:t>交集、聯集、差集</a:t>
            </a:r>
            <a:r>
              <a:rPr lang="en-US" altLang="zh-TW" dirty="0">
                <a:latin typeface="微軟正黑體" panose="020B0604030504040204" pitchFamily="34" charset="-120"/>
              </a:rPr>
              <a:t>)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</a:rPr>
              <a:t>關聯代數專屬運算子</a:t>
            </a:r>
          </a:p>
          <a:p>
            <a:pPr lvl="1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816857-3F86-482C-8B99-82326B06F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BDB8D92-D453-F5A7-2081-09170E007FFD}"/>
              </a:ext>
            </a:extLst>
          </p:cNvPr>
          <p:cNvSpPr/>
          <p:nvPr/>
        </p:nvSpPr>
        <p:spPr>
          <a:xfrm>
            <a:off x="5513963" y="1007410"/>
            <a:ext cx="1396314" cy="11430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關聯運算</a:t>
            </a:r>
          </a:p>
        </p:txBody>
      </p:sp>
      <p:sp>
        <p:nvSpPr>
          <p:cNvPr id="6" name="向右箭號圖說文字 5">
            <a:extLst>
              <a:ext uri="{FF2B5EF4-FFF2-40B4-BE49-F238E27FC236}">
                <a16:creationId xmlns:a16="http://schemas.microsoft.com/office/drawing/2014/main" id="{7ABC7ED5-0028-2870-D822-B52235070B34}"/>
              </a:ext>
            </a:extLst>
          </p:cNvPr>
          <p:cNvSpPr/>
          <p:nvPr/>
        </p:nvSpPr>
        <p:spPr>
          <a:xfrm>
            <a:off x="3598666" y="1143334"/>
            <a:ext cx="1915297" cy="914400"/>
          </a:xfrm>
          <a:prstGeom prst="rightArrowCallout">
            <a:avLst>
              <a:gd name="adj1" fmla="val 25000"/>
              <a:gd name="adj2" fmla="val 20946"/>
              <a:gd name="adj3" fmla="val 35811"/>
              <a:gd name="adj4" fmla="val 64977"/>
            </a:avLst>
          </a:prstGeom>
          <a:solidFill>
            <a:schemeClr val="accent2"/>
          </a:solidFill>
          <a:ln>
            <a:solidFill>
              <a:srgbClr val="F4B1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關聯</a:t>
            </a:r>
            <a:endParaRPr kumimoji="1" lang="en-US" altLang="zh-TW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kumimoji="1"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（資料表）</a:t>
            </a:r>
          </a:p>
        </p:txBody>
      </p:sp>
      <p:sp>
        <p:nvSpPr>
          <p:cNvPr id="7" name="向左箭號圖說文字 6">
            <a:extLst>
              <a:ext uri="{FF2B5EF4-FFF2-40B4-BE49-F238E27FC236}">
                <a16:creationId xmlns:a16="http://schemas.microsoft.com/office/drawing/2014/main" id="{A5523ACE-BE48-FC42-42FF-EB7F220BDB6F}"/>
              </a:ext>
            </a:extLst>
          </p:cNvPr>
          <p:cNvSpPr/>
          <p:nvPr/>
        </p:nvSpPr>
        <p:spPr>
          <a:xfrm>
            <a:off x="6910277" y="1143334"/>
            <a:ext cx="1915296" cy="914400"/>
          </a:xfrm>
          <a:prstGeom prst="leftArrowCallou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關聯代數</a:t>
            </a:r>
            <a:endParaRPr kumimoji="1" lang="en-US" altLang="zh-TW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D029B8F-2D9F-48A8-F702-56E63A52AE5F}"/>
              </a:ext>
            </a:extLst>
          </p:cNvPr>
          <p:cNvSpPr txBox="1"/>
          <p:nvPr/>
        </p:nvSpPr>
        <p:spPr>
          <a:xfrm>
            <a:off x="7804168" y="205773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運算子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56775FF-059D-AD9E-9C0A-CBEE597B20BA}"/>
              </a:ext>
            </a:extLst>
          </p:cNvPr>
          <p:cNvSpPr txBox="1"/>
          <p:nvPr/>
        </p:nvSpPr>
        <p:spPr>
          <a:xfrm>
            <a:off x="3751273" y="205773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運算元</a:t>
            </a:r>
          </a:p>
        </p:txBody>
      </p:sp>
    </p:spTree>
    <p:extLst>
      <p:ext uri="{BB962C8B-B14F-4D97-AF65-F5344CB8AC3E}">
        <p14:creationId xmlns:p14="http://schemas.microsoft.com/office/powerpoint/2010/main" val="3284574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34AE73-D40C-49AE-986F-0949BE28A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pc="600" dirty="0">
                <a:latin typeface="微軟正黑體" pitchFamily="34" charset="-120"/>
              </a:rPr>
              <a:t>SELECT</a:t>
            </a:r>
            <a:r>
              <a:rPr lang="zh-TW" altLang="en-US" spc="600" dirty="0">
                <a:latin typeface="微軟正黑體" pitchFamily="34" charset="-120"/>
              </a:rPr>
              <a:t>運算子，</a:t>
            </a:r>
            <a:r>
              <a:rPr lang="zh-TW" altLang="en-US" spc="600" dirty="0">
                <a:latin typeface="微軟正黑體" pitchFamily="34" charset="-120"/>
                <a:sym typeface="Symbol" pitchFamily="18" charset="2"/>
              </a:rPr>
              <a:t></a:t>
            </a:r>
            <a:r>
              <a:rPr lang="en-US" altLang="zh-TW" spc="600" dirty="0">
                <a:latin typeface="微軟正黑體" pitchFamily="34" charset="-120"/>
                <a:sym typeface="Symbol" pitchFamily="18" charset="2"/>
              </a:rPr>
              <a:t>(sigma)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46AE55-BCC4-472C-B9FC-925FFFE74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從一個關聯的序列值中選出滿足某個條件的一些序列值</a:t>
            </a:r>
            <a:endParaRPr lang="en-US" altLang="zh-TW" dirty="0">
              <a:latin typeface="微軟正黑體" panose="020B0604030504040204" pitchFamily="34" charset="-120"/>
            </a:endParaRPr>
          </a:p>
          <a:p>
            <a:pPr marL="0" indent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TW" dirty="0">
                <a:latin typeface="微軟正黑體" panose="020B0604030504040204" pitchFamily="34" charset="-120"/>
              </a:rPr>
              <a:t>Result = </a:t>
            </a:r>
            <a:r>
              <a:rPr lang="en-US" altLang="zh-TW" dirty="0">
                <a:latin typeface="微軟正黑體" panose="020B0604030504040204" pitchFamily="34" charset="-120"/>
                <a:sym typeface="Symbol" pitchFamily="18" charset="2"/>
              </a:rPr>
              <a:t></a:t>
            </a:r>
            <a:r>
              <a:rPr lang="en-US" altLang="zh-TW" baseline="-25000" dirty="0">
                <a:latin typeface="微軟正黑體" panose="020B0604030504040204" pitchFamily="34" charset="-120"/>
              </a:rPr>
              <a:t>&lt;</a:t>
            </a:r>
            <a:r>
              <a:rPr lang="zh-TW" altLang="en-US" baseline="-25000" dirty="0">
                <a:latin typeface="微軟正黑體" panose="020B0604030504040204" pitchFamily="34" charset="-120"/>
              </a:rPr>
              <a:t>選擇條件</a:t>
            </a:r>
            <a:r>
              <a:rPr lang="en-US" altLang="zh-TW" baseline="-25000" dirty="0">
                <a:latin typeface="微軟正黑體" panose="020B0604030504040204" pitchFamily="34" charset="-120"/>
              </a:rPr>
              <a:t>&gt;</a:t>
            </a:r>
            <a:r>
              <a:rPr lang="en-US" altLang="zh-TW" dirty="0">
                <a:latin typeface="微軟正黑體" panose="020B0604030504040204" pitchFamily="34" charset="-120"/>
              </a:rPr>
              <a:t> (R) 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200" dirty="0">
                <a:latin typeface="微軟正黑體" panose="020B0604030504040204" pitchFamily="34" charset="-120"/>
              </a:rPr>
              <a:t>Result</a:t>
            </a:r>
            <a:r>
              <a:rPr lang="zh-TW" altLang="en-US" sz="2200" dirty="0">
                <a:latin typeface="微軟正黑體" panose="020B0604030504040204" pitchFamily="34" charset="-120"/>
              </a:rPr>
              <a:t>為</a:t>
            </a:r>
            <a:r>
              <a:rPr lang="zh-TW" altLang="en-US" sz="2200">
                <a:latin typeface="微軟正黑體" panose="020B0604030504040204" pitchFamily="34" charset="-120"/>
              </a:rPr>
              <a:t>一個關聯</a:t>
            </a:r>
            <a:r>
              <a:rPr lang="en-US" altLang="zh-TW" sz="2200">
                <a:latin typeface="微軟正黑體" panose="020B0604030504040204" pitchFamily="34" charset="-120"/>
              </a:rPr>
              <a:t>(</a:t>
            </a:r>
            <a:r>
              <a:rPr lang="zh-TW" altLang="en-US" sz="2200">
                <a:latin typeface="微軟正黑體" panose="020B0604030504040204" pitchFamily="34" charset="-120"/>
              </a:rPr>
              <a:t>資料表</a:t>
            </a:r>
            <a:r>
              <a:rPr lang="en-US" altLang="zh-TW" sz="2200">
                <a:latin typeface="微軟正黑體" panose="020B0604030504040204" pitchFamily="34" charset="-120"/>
              </a:rPr>
              <a:t>)</a:t>
            </a:r>
            <a:r>
              <a:rPr lang="zh-TW" altLang="en-US" sz="2200">
                <a:latin typeface="微軟正黑體" panose="020B0604030504040204" pitchFamily="34" charset="-120"/>
              </a:rPr>
              <a:t>，屬性欄位與</a:t>
            </a:r>
            <a:r>
              <a:rPr lang="en-US" altLang="zh-TW" sz="2200">
                <a:latin typeface="微軟正黑體" panose="020B0604030504040204" pitchFamily="34" charset="-120"/>
              </a:rPr>
              <a:t>R</a:t>
            </a:r>
            <a:r>
              <a:rPr lang="zh-TW" altLang="en-US" sz="2200" dirty="0">
                <a:latin typeface="微軟正黑體" panose="020B0604030504040204" pitchFamily="34" charset="-120"/>
              </a:rPr>
              <a:t>的</a:t>
            </a:r>
            <a:r>
              <a:rPr lang="zh-TW" altLang="en-US" sz="2200">
                <a:latin typeface="微軟正黑體" panose="020B0604030504040204" pitchFamily="34" charset="-120"/>
              </a:rPr>
              <a:t>屬性欄位相同</a:t>
            </a:r>
            <a:endParaRPr lang="zh-TW" altLang="en-US" sz="2200" dirty="0">
              <a:latin typeface="微軟正黑體" panose="020B0604030504040204" pitchFamily="34" charset="-120"/>
            </a:endParaRPr>
          </a:p>
          <a:p>
            <a:pPr lvl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2200" dirty="0">
                <a:latin typeface="微軟正黑體" panose="020B0604030504040204" pitchFamily="34" charset="-120"/>
              </a:rPr>
              <a:t>序列值為滿足</a:t>
            </a:r>
            <a:r>
              <a:rPr lang="en-US" altLang="zh-TW" sz="2200" dirty="0">
                <a:latin typeface="微軟正黑體" panose="020B0604030504040204" pitchFamily="34" charset="-120"/>
              </a:rPr>
              <a:t>&lt;</a:t>
            </a:r>
            <a:r>
              <a:rPr lang="zh-TW" altLang="en-US" sz="2200" dirty="0">
                <a:latin typeface="微軟正黑體" panose="020B0604030504040204" pitchFamily="34" charset="-120"/>
              </a:rPr>
              <a:t>選擇條件</a:t>
            </a:r>
            <a:r>
              <a:rPr lang="en-US" altLang="zh-TW" sz="2200" dirty="0">
                <a:latin typeface="微軟正黑體" panose="020B0604030504040204" pitchFamily="34" charset="-120"/>
              </a:rPr>
              <a:t>&gt;</a:t>
            </a:r>
            <a:r>
              <a:rPr lang="zh-TW" altLang="en-US" sz="2200" dirty="0">
                <a:latin typeface="微軟正黑體" panose="020B0604030504040204" pitchFamily="34" charset="-120"/>
              </a:rPr>
              <a:t>的</a:t>
            </a:r>
            <a:r>
              <a:rPr lang="en-US" altLang="zh-TW" sz="2200" dirty="0">
                <a:latin typeface="微軟正黑體" panose="020B0604030504040204" pitchFamily="34" charset="-120"/>
              </a:rPr>
              <a:t>R</a:t>
            </a:r>
            <a:r>
              <a:rPr lang="zh-TW" altLang="en-US" sz="2200" dirty="0">
                <a:latin typeface="微軟正黑體" panose="020B0604030504040204" pitchFamily="34" charset="-120"/>
              </a:rPr>
              <a:t>的序列值</a:t>
            </a:r>
          </a:p>
          <a:p>
            <a:endParaRPr lang="en-US" altLang="zh-TW" dirty="0">
              <a:latin typeface="微軟正黑體" panose="020B0604030504040204" pitchFamily="34" charset="-12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0D7DF7-C9A4-4487-8F75-A18E5D43F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3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6CF406E-0974-4ACB-92E8-2D4F608CC55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4322763"/>
          <a:ext cx="217024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414">
                  <a:extLst>
                    <a:ext uri="{9D8B030D-6E8A-4147-A177-3AD203B41FA5}">
                      <a16:colId xmlns:a16="http://schemas.microsoft.com/office/drawing/2014/main" val="277746533"/>
                    </a:ext>
                  </a:extLst>
                </a:gridCol>
                <a:gridCol w="723414">
                  <a:extLst>
                    <a:ext uri="{9D8B030D-6E8A-4147-A177-3AD203B41FA5}">
                      <a16:colId xmlns:a16="http://schemas.microsoft.com/office/drawing/2014/main" val="3034039650"/>
                    </a:ext>
                  </a:extLst>
                </a:gridCol>
                <a:gridCol w="723414">
                  <a:extLst>
                    <a:ext uri="{9D8B030D-6E8A-4147-A177-3AD203B41FA5}">
                      <a16:colId xmlns:a16="http://schemas.microsoft.com/office/drawing/2014/main" val="39268072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4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229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091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834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2798218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FE8303C1-E627-4C5A-B0A2-F2BD5B4F981E}"/>
              </a:ext>
            </a:extLst>
          </p:cNvPr>
          <p:cNvSpPr txBox="1"/>
          <p:nvPr/>
        </p:nvSpPr>
        <p:spPr>
          <a:xfrm>
            <a:off x="1388384" y="3952677"/>
            <a:ext cx="1069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err="1"/>
              <a:t>ex_table</a:t>
            </a:r>
            <a:endParaRPr lang="zh-TW" altLang="en-US" b="1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6C2F3B8-E0E4-436C-BA42-2914DAB83ABE}"/>
              </a:ext>
            </a:extLst>
          </p:cNvPr>
          <p:cNvGraphicFramePr>
            <a:graphicFrameLocks noGrp="1"/>
          </p:cNvGraphicFramePr>
          <p:nvPr/>
        </p:nvGraphicFramePr>
        <p:xfrm>
          <a:off x="3789169" y="4641612"/>
          <a:ext cx="2492532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30844">
                  <a:extLst>
                    <a:ext uri="{9D8B030D-6E8A-4147-A177-3AD203B41FA5}">
                      <a16:colId xmlns:a16="http://schemas.microsoft.com/office/drawing/2014/main" val="1273510014"/>
                    </a:ext>
                  </a:extLst>
                </a:gridCol>
                <a:gridCol w="830844">
                  <a:extLst>
                    <a:ext uri="{9D8B030D-6E8A-4147-A177-3AD203B41FA5}">
                      <a16:colId xmlns:a16="http://schemas.microsoft.com/office/drawing/2014/main" val="158241382"/>
                    </a:ext>
                  </a:extLst>
                </a:gridCol>
                <a:gridCol w="830844">
                  <a:extLst>
                    <a:ext uri="{9D8B030D-6E8A-4147-A177-3AD203B41FA5}">
                      <a16:colId xmlns:a16="http://schemas.microsoft.com/office/drawing/2014/main" val="513636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331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04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80658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B61B791A-0089-4F2F-ABF1-0E2F8F6D91BC}"/>
              </a:ext>
            </a:extLst>
          </p:cNvPr>
          <p:cNvGraphicFramePr>
            <a:graphicFrameLocks noGrp="1"/>
          </p:cNvGraphicFramePr>
          <p:nvPr/>
        </p:nvGraphicFramePr>
        <p:xfrm>
          <a:off x="7111423" y="4642366"/>
          <a:ext cx="2492532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30844">
                  <a:extLst>
                    <a:ext uri="{9D8B030D-6E8A-4147-A177-3AD203B41FA5}">
                      <a16:colId xmlns:a16="http://schemas.microsoft.com/office/drawing/2014/main" val="4126045226"/>
                    </a:ext>
                  </a:extLst>
                </a:gridCol>
                <a:gridCol w="830844">
                  <a:extLst>
                    <a:ext uri="{9D8B030D-6E8A-4147-A177-3AD203B41FA5}">
                      <a16:colId xmlns:a16="http://schemas.microsoft.com/office/drawing/2014/main" val="1324194597"/>
                    </a:ext>
                  </a:extLst>
                </a:gridCol>
                <a:gridCol w="830844">
                  <a:extLst>
                    <a:ext uri="{9D8B030D-6E8A-4147-A177-3AD203B41FA5}">
                      <a16:colId xmlns:a16="http://schemas.microsoft.com/office/drawing/2014/main" val="242131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1973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7089559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0C7EFB3C-A046-4643-9A32-0071693F9AE0}"/>
              </a:ext>
            </a:extLst>
          </p:cNvPr>
          <p:cNvSpPr txBox="1"/>
          <p:nvPr/>
        </p:nvSpPr>
        <p:spPr>
          <a:xfrm>
            <a:off x="3715739" y="4137343"/>
            <a:ext cx="2728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1" dirty="0">
                <a:latin typeface="微軟正黑體" panose="020B0604030504040204" pitchFamily="34" charset="-120"/>
              </a:rPr>
              <a:t>Result</a:t>
            </a:r>
            <a:r>
              <a:rPr lang="en-US" altLang="zh-TW" sz="1800" dirty="0">
                <a:latin typeface="微軟正黑體" panose="020B0604030504040204" pitchFamily="34" charset="-120"/>
              </a:rPr>
              <a:t> = </a:t>
            </a:r>
            <a:r>
              <a:rPr lang="en-US" altLang="zh-TW" sz="1800" dirty="0">
                <a:latin typeface="微軟正黑體" panose="020B0604030504040204" pitchFamily="34" charset="-120"/>
                <a:sym typeface="Symbol" pitchFamily="18" charset="2"/>
              </a:rPr>
              <a:t></a:t>
            </a:r>
            <a:r>
              <a:rPr lang="en-US" altLang="zh-TW" sz="1800" b="1" baseline="-25000" dirty="0">
                <a:solidFill>
                  <a:srgbClr val="FF0000"/>
                </a:solidFill>
                <a:latin typeface="微軟正黑體" panose="020B0604030504040204" pitchFamily="34" charset="-120"/>
                <a:sym typeface="Symbol" pitchFamily="18" charset="2"/>
              </a:rPr>
              <a:t>c</a:t>
            </a:r>
            <a:r>
              <a:rPr lang="en-US" altLang="zh-TW" sz="1800" b="1" baseline="-25000" dirty="0">
                <a:solidFill>
                  <a:srgbClr val="FF0000"/>
                </a:solidFill>
                <a:latin typeface="微軟正黑體" panose="020B0604030504040204" pitchFamily="34" charset="-120"/>
              </a:rPr>
              <a:t> &gt; 3 </a:t>
            </a:r>
            <a:r>
              <a:rPr lang="en-US" altLang="zh-TW" sz="1800" dirty="0">
                <a:latin typeface="微軟正黑體" panose="020B0604030504040204" pitchFamily="34" charset="-120"/>
              </a:rPr>
              <a:t>(</a:t>
            </a:r>
            <a:r>
              <a:rPr lang="en-US" altLang="zh-TW" sz="1800" dirty="0" err="1">
                <a:latin typeface="微軟正黑體" panose="020B0604030504040204" pitchFamily="34" charset="-120"/>
              </a:rPr>
              <a:t>ex_table</a:t>
            </a:r>
            <a:r>
              <a:rPr lang="en-US" altLang="zh-TW" sz="1800" dirty="0">
                <a:latin typeface="微軟正黑體" panose="020B0604030504040204" pitchFamily="34" charset="-120"/>
              </a:rPr>
              <a:t>)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7A5ACB0-7195-49E3-8BF7-E4E5A6B50161}"/>
              </a:ext>
            </a:extLst>
          </p:cNvPr>
          <p:cNvSpPr txBox="1"/>
          <p:nvPr/>
        </p:nvSpPr>
        <p:spPr>
          <a:xfrm>
            <a:off x="6869728" y="4137343"/>
            <a:ext cx="3659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1" dirty="0">
                <a:latin typeface="微軟正黑體" panose="020B0604030504040204" pitchFamily="34" charset="-120"/>
              </a:rPr>
              <a:t>Result</a:t>
            </a:r>
            <a:r>
              <a:rPr lang="en-US" altLang="zh-TW" sz="1800" dirty="0">
                <a:latin typeface="微軟正黑體" panose="020B0604030504040204" pitchFamily="34" charset="-120"/>
              </a:rPr>
              <a:t> = </a:t>
            </a:r>
            <a:r>
              <a:rPr lang="en-US" altLang="zh-TW" sz="1800" dirty="0">
                <a:latin typeface="微軟正黑體" panose="020B0604030504040204" pitchFamily="34" charset="-120"/>
                <a:sym typeface="Symbol" pitchFamily="18" charset="2"/>
              </a:rPr>
              <a:t></a:t>
            </a:r>
            <a:r>
              <a:rPr lang="en-US" altLang="zh-TW" sz="1800" baseline="-25000" dirty="0">
                <a:latin typeface="微軟正黑體" panose="020B0604030504040204" pitchFamily="34" charset="-120"/>
              </a:rPr>
              <a:t> </a:t>
            </a:r>
            <a:r>
              <a:rPr lang="en-US" altLang="zh-TW" sz="1800" b="1" baseline="-25000" dirty="0">
                <a:solidFill>
                  <a:srgbClr val="0000FF"/>
                </a:solidFill>
                <a:latin typeface="微軟正黑體" panose="020B0604030504040204" pitchFamily="34" charset="-120"/>
              </a:rPr>
              <a:t>A &gt; 2 </a:t>
            </a:r>
            <a:r>
              <a:rPr lang="en-US" altLang="zh-TW" sz="1800" b="1" baseline="-25000">
                <a:solidFill>
                  <a:srgbClr val="FF0000"/>
                </a:solidFill>
                <a:latin typeface="微軟正黑體" panose="020B0604030504040204" pitchFamily="34" charset="-120"/>
              </a:rPr>
              <a:t>AND</a:t>
            </a:r>
            <a:r>
              <a:rPr lang="en-US" altLang="zh-TW" sz="1800">
                <a:latin typeface="微軟正黑體" panose="020B0604030504040204" pitchFamily="34" charset="-120"/>
              </a:rPr>
              <a:t> </a:t>
            </a:r>
            <a:r>
              <a:rPr lang="en-US" altLang="zh-TW" sz="1800" b="1" baseline="-25000">
                <a:solidFill>
                  <a:srgbClr val="0000FF"/>
                </a:solidFill>
                <a:latin typeface="微軟正黑體" panose="020B0604030504040204" pitchFamily="34" charset="-120"/>
              </a:rPr>
              <a:t>C</a:t>
            </a:r>
            <a:r>
              <a:rPr lang="zh-TW" altLang="en-US" sz="1800" b="1" baseline="-25000">
                <a:solidFill>
                  <a:srgbClr val="0000FF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1800" b="1" baseline="-25000">
                <a:solidFill>
                  <a:srgbClr val="0000FF"/>
                </a:solidFill>
                <a:latin typeface="微軟正黑體" panose="020B0604030504040204" pitchFamily="34" charset="-120"/>
              </a:rPr>
              <a:t>&gt;</a:t>
            </a:r>
            <a:r>
              <a:rPr lang="zh-TW" altLang="en-US" sz="1800" b="1" baseline="-25000">
                <a:solidFill>
                  <a:srgbClr val="0000FF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1800" b="1" baseline="-25000">
                <a:solidFill>
                  <a:srgbClr val="0000FF"/>
                </a:solidFill>
                <a:latin typeface="微軟正黑體" panose="020B0604030504040204" pitchFamily="34" charset="-120"/>
              </a:rPr>
              <a:t>3</a:t>
            </a:r>
            <a:r>
              <a:rPr lang="en-US" altLang="zh-TW" sz="1800" baseline="-25000">
                <a:latin typeface="微軟正黑體" panose="020B0604030504040204" pitchFamily="34" charset="-120"/>
              </a:rPr>
              <a:t> </a:t>
            </a:r>
            <a:r>
              <a:rPr lang="en-US" altLang="zh-TW" sz="1800">
                <a:latin typeface="微軟正黑體" panose="020B0604030504040204" pitchFamily="34" charset="-120"/>
              </a:rPr>
              <a:t>(ex_</a:t>
            </a:r>
            <a:r>
              <a:rPr lang="en-US" altLang="zh-TW" sz="1800" b="1">
                <a:latin typeface="微軟正黑體" panose="020B0604030504040204" pitchFamily="34" charset="-120"/>
              </a:rPr>
              <a:t>table</a:t>
            </a:r>
            <a:r>
              <a:rPr lang="en-US" altLang="zh-TW" sz="1800" dirty="0">
                <a:latin typeface="微軟正黑體" panose="020B0604030504040204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66929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BEA45E-35BE-430E-91EC-99BE80B93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pc="600" dirty="0">
                <a:latin typeface="微軟正黑體" pitchFamily="34" charset="-120"/>
              </a:rPr>
              <a:t>PROJECT</a:t>
            </a:r>
            <a:r>
              <a:rPr lang="zh-TW" altLang="en-US" spc="600" dirty="0">
                <a:latin typeface="微軟正黑體" pitchFamily="34" charset="-120"/>
              </a:rPr>
              <a:t>運算子，</a:t>
            </a:r>
            <a:r>
              <a:rPr lang="en-US" altLang="zh-TW" spc="600" dirty="0">
                <a:latin typeface="微軟正黑體" pitchFamily="34" charset="-120"/>
              </a:rPr>
              <a:t>π(pai)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4A7CA3A-4006-49E7-8096-9E2DAB9B9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從一個關聯的屬性中選出</a:t>
            </a:r>
            <a:r>
              <a:rPr lang="zh-TW" altLang="en-US">
                <a:latin typeface="微軟正黑體" panose="020B0604030504040204" pitchFamily="34" charset="-120"/>
              </a:rPr>
              <a:t>某些屬性欄的資料</a:t>
            </a:r>
            <a:endParaRPr lang="en-US" altLang="zh-TW" dirty="0">
              <a:latin typeface="微軟正黑體" panose="020B0604030504040204" pitchFamily="34" charset="-120"/>
            </a:endParaRPr>
          </a:p>
          <a:p>
            <a:pPr marL="0" indent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TW" dirty="0">
                <a:latin typeface="微軟正黑體" panose="020B0604030504040204" pitchFamily="34" charset="-120"/>
              </a:rPr>
              <a:t>Result =π&lt;</a:t>
            </a:r>
            <a:r>
              <a:rPr lang="zh-TW" altLang="en-US" dirty="0">
                <a:latin typeface="微軟正黑體" panose="020B0604030504040204" pitchFamily="34" charset="-120"/>
              </a:rPr>
              <a:t>屬性串列</a:t>
            </a:r>
            <a:r>
              <a:rPr lang="en-US" altLang="zh-TW" dirty="0">
                <a:latin typeface="微軟正黑體" panose="020B0604030504040204" pitchFamily="34" charset="-120"/>
              </a:rPr>
              <a:t>&gt;(R)</a:t>
            </a:r>
          </a:p>
          <a:p>
            <a:pPr lvl="1">
              <a:lnSpc>
                <a:spcPct val="150000"/>
              </a:lnSpc>
            </a:pPr>
            <a:r>
              <a:rPr lang="en-US" altLang="zh-TW" sz="2200" dirty="0">
                <a:latin typeface="微軟正黑體" panose="020B0604030504040204" pitchFamily="34" charset="-120"/>
              </a:rPr>
              <a:t>Result</a:t>
            </a:r>
            <a:r>
              <a:rPr lang="zh-TW" altLang="en-US" sz="2200" dirty="0">
                <a:latin typeface="微軟正黑體" panose="020B0604030504040204" pitchFamily="34" charset="-120"/>
              </a:rPr>
              <a:t>為一關聯包含 </a:t>
            </a:r>
            <a:r>
              <a:rPr lang="en-US" altLang="zh-TW" sz="2200" dirty="0">
                <a:latin typeface="微軟正黑體" panose="020B0604030504040204" pitchFamily="34" charset="-120"/>
              </a:rPr>
              <a:t>R</a:t>
            </a:r>
            <a:r>
              <a:rPr lang="en-US" altLang="zh-TW" sz="2200" b="1" dirty="0">
                <a:latin typeface="微軟正黑體" panose="020B0604030504040204" pitchFamily="34" charset="-120"/>
              </a:rPr>
              <a:t>&lt;</a:t>
            </a:r>
            <a:r>
              <a:rPr lang="zh-TW" altLang="en-US" sz="2200" b="1" dirty="0">
                <a:latin typeface="微軟正黑體" panose="020B0604030504040204" pitchFamily="34" charset="-120"/>
              </a:rPr>
              <a:t>屬性串列</a:t>
            </a:r>
            <a:r>
              <a:rPr lang="en-US" altLang="zh-TW" sz="2200" b="1" dirty="0">
                <a:latin typeface="微軟正黑體" panose="020B0604030504040204" pitchFamily="34" charset="-120"/>
              </a:rPr>
              <a:t>&gt;</a:t>
            </a:r>
            <a:r>
              <a:rPr lang="zh-TW" altLang="en-US" sz="2200" dirty="0">
                <a:latin typeface="微軟正黑體" panose="020B0604030504040204" pitchFamily="34" charset="-120"/>
              </a:rPr>
              <a:t>的屬性欄</a:t>
            </a:r>
          </a:p>
          <a:p>
            <a:pPr lvl="1">
              <a:lnSpc>
                <a:spcPct val="150000"/>
              </a:lnSpc>
            </a:pPr>
            <a:r>
              <a:rPr lang="zh-TW" altLang="en-US" sz="2200" dirty="0">
                <a:latin typeface="微軟正黑體" panose="020B0604030504040204" pitchFamily="34" charset="-120"/>
              </a:rPr>
              <a:t>由</a:t>
            </a:r>
            <a:r>
              <a:rPr lang="en-US" altLang="zh-TW" sz="2200" dirty="0">
                <a:latin typeface="微軟正黑體" panose="020B0604030504040204" pitchFamily="34" charset="-120"/>
              </a:rPr>
              <a:t>R</a:t>
            </a:r>
            <a:r>
              <a:rPr lang="zh-TW" altLang="en-US" sz="2200" dirty="0">
                <a:latin typeface="微軟正黑體" panose="020B0604030504040204" pitchFamily="34" charset="-120"/>
              </a:rPr>
              <a:t>的序列值中屬於</a:t>
            </a:r>
            <a:r>
              <a:rPr lang="en-US" altLang="zh-TW" sz="2200" b="1" dirty="0">
                <a:latin typeface="微軟正黑體" panose="020B0604030504040204" pitchFamily="34" charset="-120"/>
              </a:rPr>
              <a:t>&lt;</a:t>
            </a:r>
            <a:r>
              <a:rPr lang="zh-TW" altLang="en-US" sz="2200" b="1" dirty="0">
                <a:latin typeface="微軟正黑體" panose="020B0604030504040204" pitchFamily="34" charset="-120"/>
              </a:rPr>
              <a:t>屬性串列</a:t>
            </a:r>
            <a:r>
              <a:rPr lang="en-US" altLang="zh-TW" sz="2200" b="1" dirty="0">
                <a:latin typeface="微軟正黑體" panose="020B0604030504040204" pitchFamily="34" charset="-120"/>
              </a:rPr>
              <a:t>&gt;</a:t>
            </a:r>
            <a:r>
              <a:rPr lang="zh-TW" altLang="en-US" sz="2200" dirty="0">
                <a:latin typeface="微軟正黑體" panose="020B0604030504040204" pitchFamily="34" charset="-120"/>
              </a:rPr>
              <a:t>裡的屬性值所組成的序列值，</a:t>
            </a:r>
            <a:r>
              <a:rPr lang="zh-TW" altLang="en-US" sz="2200" b="1" dirty="0">
                <a:solidFill>
                  <a:srgbClr val="C00000"/>
                </a:solidFill>
                <a:latin typeface="微軟正黑體" panose="020B0604030504040204" pitchFamily="34" charset="-120"/>
              </a:rPr>
              <a:t>重複的序列值只會保留一筆</a:t>
            </a:r>
            <a:r>
              <a:rPr lang="zh-TW" altLang="en-US" sz="2200" dirty="0">
                <a:latin typeface="微軟正黑體" panose="020B0604030504040204" pitchFamily="34" charset="-120"/>
              </a:rPr>
              <a:t> </a:t>
            </a:r>
            <a:endParaRPr lang="en-US" altLang="zh-TW" sz="2200" dirty="0">
              <a:latin typeface="微軟正黑體" panose="020B0604030504040204" pitchFamily="34" charset="-120"/>
            </a:endParaRPr>
          </a:p>
          <a:p>
            <a:pPr lvl="1">
              <a:lnSpc>
                <a:spcPct val="80000"/>
              </a:lnSpc>
            </a:pPr>
            <a:endParaRPr lang="en-US" altLang="zh-TW" sz="2200" dirty="0">
              <a:latin typeface="微軟正黑體" panose="020B0604030504040204" pitchFamily="34" charset="-12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F27E22-8DDC-4965-B597-056A9FBEC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4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228B2B9-4EE1-481A-99CD-14BF2BB7D265}"/>
              </a:ext>
            </a:extLst>
          </p:cNvPr>
          <p:cNvGraphicFramePr>
            <a:graphicFrameLocks noGrp="1"/>
          </p:cNvGraphicFramePr>
          <p:nvPr/>
        </p:nvGraphicFramePr>
        <p:xfrm>
          <a:off x="3848421" y="4502150"/>
          <a:ext cx="217024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414">
                  <a:extLst>
                    <a:ext uri="{9D8B030D-6E8A-4147-A177-3AD203B41FA5}">
                      <a16:colId xmlns:a16="http://schemas.microsoft.com/office/drawing/2014/main" val="277746533"/>
                    </a:ext>
                  </a:extLst>
                </a:gridCol>
                <a:gridCol w="723414">
                  <a:extLst>
                    <a:ext uri="{9D8B030D-6E8A-4147-A177-3AD203B41FA5}">
                      <a16:colId xmlns:a16="http://schemas.microsoft.com/office/drawing/2014/main" val="3034039650"/>
                    </a:ext>
                  </a:extLst>
                </a:gridCol>
                <a:gridCol w="723414">
                  <a:extLst>
                    <a:ext uri="{9D8B030D-6E8A-4147-A177-3AD203B41FA5}">
                      <a16:colId xmlns:a16="http://schemas.microsoft.com/office/drawing/2014/main" val="39268072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4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229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091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834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2798218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0090AD73-E293-416B-A67C-950BDD8CE1CD}"/>
              </a:ext>
            </a:extLst>
          </p:cNvPr>
          <p:cNvSpPr txBox="1"/>
          <p:nvPr/>
        </p:nvSpPr>
        <p:spPr>
          <a:xfrm>
            <a:off x="4423319" y="4185335"/>
            <a:ext cx="102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err="1"/>
              <a:t>ex_table</a:t>
            </a:r>
            <a:endParaRPr lang="zh-TW" altLang="en-US" b="1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B92B0BE-8AF4-41CC-B2A3-6465B3BD54DF}"/>
              </a:ext>
            </a:extLst>
          </p:cNvPr>
          <p:cNvGraphicFramePr>
            <a:graphicFrameLocks noGrp="1"/>
          </p:cNvGraphicFramePr>
          <p:nvPr/>
        </p:nvGraphicFramePr>
        <p:xfrm>
          <a:off x="7135823" y="4624967"/>
          <a:ext cx="228267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41335">
                  <a:extLst>
                    <a:ext uri="{9D8B030D-6E8A-4147-A177-3AD203B41FA5}">
                      <a16:colId xmlns:a16="http://schemas.microsoft.com/office/drawing/2014/main" val="2111618866"/>
                    </a:ext>
                  </a:extLst>
                </a:gridCol>
                <a:gridCol w="1141335">
                  <a:extLst>
                    <a:ext uri="{9D8B030D-6E8A-4147-A177-3AD203B41FA5}">
                      <a16:colId xmlns:a16="http://schemas.microsoft.com/office/drawing/2014/main" val="3813041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289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044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579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897868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5A21EFA6-7F56-4A91-B69A-C95751F41A2B}"/>
              </a:ext>
            </a:extLst>
          </p:cNvPr>
          <p:cNvSpPr txBox="1"/>
          <p:nvPr/>
        </p:nvSpPr>
        <p:spPr>
          <a:xfrm>
            <a:off x="6692729" y="4243567"/>
            <a:ext cx="3378197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80000"/>
              </a:lnSpc>
            </a:pPr>
            <a:r>
              <a:rPr lang="en-US" altLang="zh-TW" sz="1800" b="1" dirty="0">
                <a:latin typeface="微軟正黑體" panose="020B0604030504040204" pitchFamily="34" charset="-120"/>
              </a:rPr>
              <a:t>Result</a:t>
            </a:r>
            <a:r>
              <a:rPr lang="en-US" altLang="zh-TW" sz="1800" dirty="0">
                <a:latin typeface="微軟正黑體" panose="020B0604030504040204" pitchFamily="34" charset="-120"/>
              </a:rPr>
              <a:t> =</a:t>
            </a:r>
            <a:r>
              <a:rPr lang="en-US" altLang="zh-TW" sz="1800" b="1" dirty="0">
                <a:latin typeface="微軟正黑體" panose="020B0604030504040204" pitchFamily="34" charset="-120"/>
              </a:rPr>
              <a:t>π</a:t>
            </a:r>
            <a:r>
              <a:rPr lang="en-US" altLang="zh-TW" sz="1800" b="1" baseline="-25000" dirty="0">
                <a:latin typeface="微軟正黑體" panose="020B0604030504040204" pitchFamily="34" charset="-120"/>
              </a:rPr>
              <a:t>B,</a:t>
            </a:r>
            <a:r>
              <a:rPr lang="en-US" altLang="zh-TW" sz="1800" b="1" baseline="-25000">
                <a:latin typeface="微軟正黑體" panose="020B0604030504040204" pitchFamily="34" charset="-120"/>
              </a:rPr>
              <a:t>C</a:t>
            </a:r>
            <a:r>
              <a:rPr lang="en-US" altLang="zh-TW" sz="1800">
                <a:latin typeface="微軟正黑體" panose="020B0604030504040204" pitchFamily="34" charset="-120"/>
              </a:rPr>
              <a:t> (ex_</a:t>
            </a:r>
            <a:r>
              <a:rPr lang="en-US" altLang="zh-TW" sz="1800" b="1">
                <a:latin typeface="微軟正黑體" panose="020B0604030504040204" pitchFamily="34" charset="-120"/>
              </a:rPr>
              <a:t>table</a:t>
            </a:r>
            <a:r>
              <a:rPr lang="en-US" altLang="zh-TW" sz="1800" dirty="0">
                <a:latin typeface="微軟正黑體" panose="020B0604030504040204" pitchFamily="34" charset="-120"/>
              </a:rPr>
              <a:t>) 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2A52769-B486-4106-8188-FADF61CDF3B1}"/>
              </a:ext>
            </a:extLst>
          </p:cNvPr>
          <p:cNvSpPr/>
          <p:nvPr/>
        </p:nvSpPr>
        <p:spPr>
          <a:xfrm>
            <a:off x="4541108" y="5226908"/>
            <a:ext cx="1477555" cy="759941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4A332DC5-1825-4B3F-9079-7E18F312D336}"/>
              </a:ext>
            </a:extLst>
          </p:cNvPr>
          <p:cNvSpPr/>
          <p:nvPr/>
        </p:nvSpPr>
        <p:spPr>
          <a:xfrm>
            <a:off x="7072184" y="5325762"/>
            <a:ext cx="2448697" cy="469557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FFA425C6-8182-4962-B793-F597E25B0F06}"/>
              </a:ext>
            </a:extLst>
          </p:cNvPr>
          <p:cNvSpPr/>
          <p:nvPr/>
        </p:nvSpPr>
        <p:spPr>
          <a:xfrm>
            <a:off x="6314303" y="5399903"/>
            <a:ext cx="397047" cy="31393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E272A77-D350-4CCE-93A4-C3A78E680369}"/>
              </a:ext>
            </a:extLst>
          </p:cNvPr>
          <p:cNvSpPr txBox="1"/>
          <p:nvPr/>
        </p:nvSpPr>
        <p:spPr>
          <a:xfrm>
            <a:off x="5971949" y="5789519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二筆</a:t>
            </a:r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序列值</a:t>
            </a:r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重複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取一</a:t>
            </a:r>
          </a:p>
        </p:txBody>
      </p:sp>
    </p:spTree>
    <p:extLst>
      <p:ext uri="{BB962C8B-B14F-4D97-AF65-F5344CB8AC3E}">
        <p14:creationId xmlns:p14="http://schemas.microsoft.com/office/powerpoint/2010/main" val="1149793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34ECCF-4120-404A-8D3F-4B23EC975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pc="600" dirty="0">
                <a:latin typeface="微軟正黑體" pitchFamily="34" charset="-120"/>
              </a:rPr>
              <a:t>集合運算子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A898AD-F4BB-4DD3-B615-4AF49FB70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800" dirty="0">
                <a:solidFill>
                  <a:srgbClr val="00B0F0"/>
                </a:solidFill>
                <a:latin typeface="微軟正黑體" panose="020B0604030504040204" pitchFamily="34" charset="-120"/>
              </a:rPr>
              <a:t>交集</a:t>
            </a:r>
            <a:r>
              <a:rPr lang="zh-TW" altLang="en-US" sz="2800" dirty="0">
                <a:latin typeface="微軟正黑體" panose="020B0604030504040204" pitchFamily="34" charset="-120"/>
              </a:rPr>
              <a:t>（</a:t>
            </a:r>
            <a:r>
              <a:rPr lang="en-US" altLang="zh-TW" sz="2800" dirty="0">
                <a:latin typeface="微軟正黑體" panose="020B0604030504040204" pitchFamily="34" charset="-120"/>
              </a:rPr>
              <a:t>Intersection</a:t>
            </a:r>
            <a:r>
              <a:rPr lang="zh-TW" altLang="en-US" sz="2800" dirty="0">
                <a:latin typeface="微軟正黑體" panose="020B0604030504040204" pitchFamily="34" charset="-120"/>
              </a:rPr>
              <a:t>），以符號 </a:t>
            </a:r>
            <a:r>
              <a:rPr lang="zh-TW" altLang="en-US" sz="2800" dirty="0">
                <a:latin typeface="微軟正黑體" panose="020B0604030504040204" pitchFamily="34" charset="-120"/>
                <a:sym typeface="Symbol" pitchFamily="18" charset="2"/>
              </a:rPr>
              <a:t></a:t>
            </a:r>
            <a:r>
              <a:rPr lang="zh-TW" altLang="en-US" sz="2800" dirty="0">
                <a:latin typeface="微軟正黑體" panose="020B0604030504040204" pitchFamily="34" charset="-120"/>
              </a:rPr>
              <a:t> 表示</a:t>
            </a:r>
            <a:endParaRPr lang="en-US" altLang="zh-TW" sz="2800" dirty="0">
              <a:latin typeface="微軟正黑體" panose="020B0604030504040204" pitchFamily="34" charset="-120"/>
            </a:endParaRPr>
          </a:p>
          <a:p>
            <a:pPr lvl="1"/>
            <a:r>
              <a:rPr lang="en-US" altLang="zh-TW" sz="2400" dirty="0">
                <a:latin typeface="微軟正黑體" panose="020B0604030504040204" pitchFamily="34" charset="-120"/>
              </a:rPr>
              <a:t>A</a:t>
            </a:r>
            <a:r>
              <a:rPr lang="zh-TW" altLang="en-US" sz="2400" dirty="0">
                <a:latin typeface="微軟正黑體" panose="020B0604030504040204" pitchFamily="34" charset="-12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</a:rPr>
              <a:t>= {x, y, z}, B = {y, z, w}</a:t>
            </a:r>
          </a:p>
          <a:p>
            <a:pPr lvl="1"/>
            <a:r>
              <a:rPr lang="en-US" altLang="zh-TW" sz="2400" dirty="0">
                <a:latin typeface="微軟正黑體" panose="020B0604030504040204" pitchFamily="34" charset="-120"/>
              </a:rPr>
              <a:t>A</a:t>
            </a:r>
            <a:r>
              <a:rPr lang="zh-TW" altLang="en-US" sz="2400" dirty="0">
                <a:latin typeface="微軟正黑體" panose="020B0604030504040204" pitchFamily="34" charset="-120"/>
                <a:sym typeface="Symbol" pitchFamily="18" charset="2"/>
              </a:rPr>
              <a:t>  </a:t>
            </a:r>
            <a:r>
              <a:rPr lang="en-US" altLang="zh-TW" sz="2400" dirty="0">
                <a:latin typeface="微軟正黑體" panose="020B0604030504040204" pitchFamily="34" charset="-120"/>
                <a:sym typeface="Symbol" pitchFamily="18" charset="2"/>
              </a:rPr>
              <a:t>B = {y, z}</a:t>
            </a:r>
            <a:endParaRPr lang="zh-TW" altLang="en-US" sz="2400" dirty="0">
              <a:latin typeface="微軟正黑體" panose="020B0604030504040204" pitchFamily="34" charset="-120"/>
            </a:endParaRPr>
          </a:p>
          <a:p>
            <a:r>
              <a:rPr lang="zh-TW" altLang="en-US" sz="2800" dirty="0">
                <a:solidFill>
                  <a:srgbClr val="00B0F0"/>
                </a:solidFill>
                <a:latin typeface="微軟正黑體" panose="020B0604030504040204" pitchFamily="34" charset="-120"/>
              </a:rPr>
              <a:t>聯集</a:t>
            </a:r>
            <a:r>
              <a:rPr lang="en-US" altLang="zh-TW" sz="2800" dirty="0">
                <a:latin typeface="微軟正黑體" panose="020B0604030504040204" pitchFamily="34" charset="-120"/>
              </a:rPr>
              <a:t>(Union</a:t>
            </a:r>
            <a:r>
              <a:rPr lang="zh-TW" altLang="en-US" sz="2800" dirty="0">
                <a:latin typeface="微軟正黑體" panose="020B0604030504040204" pitchFamily="34" charset="-120"/>
              </a:rPr>
              <a:t>），以符號 </a:t>
            </a:r>
            <a:r>
              <a:rPr lang="zh-TW" altLang="en-US" sz="2800" dirty="0">
                <a:latin typeface="微軟正黑體" panose="020B0604030504040204" pitchFamily="34" charset="-120"/>
                <a:sym typeface="Symbol" pitchFamily="18" charset="2"/>
              </a:rPr>
              <a:t></a:t>
            </a:r>
            <a:r>
              <a:rPr lang="zh-TW" altLang="en-US" sz="2800" dirty="0">
                <a:latin typeface="微軟正黑體" panose="020B0604030504040204" pitchFamily="34" charset="-120"/>
              </a:rPr>
              <a:t> 表示</a:t>
            </a:r>
            <a:endParaRPr lang="en-US" altLang="zh-TW" sz="2800" dirty="0">
              <a:latin typeface="微軟正黑體" panose="020B0604030504040204" pitchFamily="34" charset="-120"/>
            </a:endParaRPr>
          </a:p>
          <a:p>
            <a:pPr lvl="1"/>
            <a:r>
              <a:rPr lang="en-US" altLang="zh-TW" sz="2400" dirty="0">
                <a:latin typeface="微軟正黑體" panose="020B0604030504040204" pitchFamily="34" charset="-120"/>
              </a:rPr>
              <a:t>A</a:t>
            </a:r>
            <a:r>
              <a:rPr lang="zh-TW" altLang="en-US" sz="2400" dirty="0">
                <a:latin typeface="微軟正黑體" panose="020B0604030504040204" pitchFamily="34" charset="-120"/>
                <a:sym typeface="Symbol" pitchFamily="18" charset="2"/>
              </a:rPr>
              <a:t>  </a:t>
            </a:r>
            <a:r>
              <a:rPr lang="en-US" altLang="zh-TW" sz="2400" dirty="0">
                <a:latin typeface="微軟正黑體" panose="020B0604030504040204" pitchFamily="34" charset="-120"/>
                <a:sym typeface="Symbol" pitchFamily="18" charset="2"/>
              </a:rPr>
              <a:t>B = {x, y, z, w}</a:t>
            </a:r>
            <a:endParaRPr lang="zh-TW" altLang="en-US" sz="2400" dirty="0">
              <a:latin typeface="微軟正黑體" panose="020B0604030504040204" pitchFamily="34" charset="-120"/>
            </a:endParaRPr>
          </a:p>
          <a:p>
            <a:r>
              <a:rPr lang="zh-TW" altLang="en-US" sz="2800" dirty="0">
                <a:solidFill>
                  <a:srgbClr val="00B0F0"/>
                </a:solidFill>
                <a:latin typeface="微軟正黑體" panose="020B0604030504040204" pitchFamily="34" charset="-120"/>
              </a:rPr>
              <a:t>差集</a:t>
            </a:r>
            <a:r>
              <a:rPr lang="en-US" altLang="zh-TW" sz="2800" dirty="0">
                <a:latin typeface="微軟正黑體" panose="020B0604030504040204" pitchFamily="34" charset="-120"/>
              </a:rPr>
              <a:t>(Difference</a:t>
            </a:r>
            <a:r>
              <a:rPr lang="zh-TW" altLang="en-US" sz="2800" dirty="0">
                <a:latin typeface="微軟正黑體" panose="020B0604030504040204" pitchFamily="34" charset="-120"/>
              </a:rPr>
              <a:t>），以符號 </a:t>
            </a:r>
            <a:r>
              <a:rPr lang="zh-TW" altLang="en-US" sz="2800" dirty="0">
                <a:latin typeface="微軟正黑體" panose="020B0604030504040204" pitchFamily="34" charset="-120"/>
                <a:sym typeface="Symbol" pitchFamily="18" charset="2"/>
              </a:rPr>
              <a:t></a:t>
            </a:r>
            <a:r>
              <a:rPr lang="zh-TW" altLang="en-US" sz="2800" dirty="0">
                <a:latin typeface="微軟正黑體" panose="020B0604030504040204" pitchFamily="34" charset="-120"/>
              </a:rPr>
              <a:t> 表示</a:t>
            </a:r>
            <a:endParaRPr lang="en-US" altLang="zh-TW" sz="2800" dirty="0">
              <a:latin typeface="微軟正黑體" panose="020B0604030504040204" pitchFamily="34" charset="-120"/>
            </a:endParaRPr>
          </a:p>
          <a:p>
            <a:pPr lvl="1"/>
            <a:r>
              <a:rPr lang="en-US" altLang="zh-TW" sz="2400" dirty="0">
                <a:latin typeface="微軟正黑體" panose="020B0604030504040204" pitchFamily="34" charset="-120"/>
              </a:rPr>
              <a:t>A – B </a:t>
            </a:r>
            <a:r>
              <a:rPr lang="en-US" altLang="zh-TW" sz="2400">
                <a:latin typeface="微軟正黑體" panose="020B0604030504040204" pitchFamily="34" charset="-120"/>
              </a:rPr>
              <a:t>= {x}, B – A = {w}</a:t>
            </a:r>
            <a:endParaRPr lang="en-US" altLang="zh-TW" sz="2400" dirty="0">
              <a:latin typeface="微軟正黑體" panose="020B0604030504040204" pitchFamily="34" charset="-120"/>
            </a:endParaRPr>
          </a:p>
          <a:p>
            <a:pPr lvl="1"/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</a:rPr>
              <a:t>聯集的結果裡，重複的序列值也只保留一筆</a:t>
            </a:r>
            <a:endParaRPr lang="zh-TW" altLang="en-US" sz="2400" dirty="0">
              <a:solidFill>
                <a:srgbClr val="C00000"/>
              </a:solidFill>
              <a:latin typeface="微軟正黑體" panose="020B0604030504040204" pitchFamily="34" charset="-120"/>
            </a:endParaRPr>
          </a:p>
          <a:p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76F364-BC60-4F1F-842B-E026C1523CAC}"/>
              </a:ext>
            </a:extLst>
          </p:cNvPr>
          <p:cNvSpPr txBox="1"/>
          <p:nvPr/>
        </p:nvSpPr>
        <p:spPr>
          <a:xfrm>
            <a:off x="8231458" y="1365098"/>
            <a:ext cx="2959100" cy="156966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關聯的</a:t>
            </a:r>
            <a:r>
              <a:rPr lang="zh-TW" altLang="en-US" sz="2400" b="1" u="sng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屬性個數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和相對應</a:t>
            </a:r>
            <a:r>
              <a:rPr lang="zh-TW" altLang="en-US" sz="2400" b="1" u="sng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屬性型態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必須相同，這種性質稱為</a:t>
            </a:r>
            <a:r>
              <a:rPr lang="zh-TW" altLang="en-US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聯集相容性</a:t>
            </a:r>
            <a:endParaRPr lang="zh-TW" altLang="en-US" sz="240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4D4DFB8-F70B-4E89-B187-71A1B1410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3F6057A-9FFF-4F94-938A-37F09AD7C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216" y="3597653"/>
            <a:ext cx="3285584" cy="2228721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E5EA4424-61E9-43BD-B855-99ABE00B2BBA}"/>
              </a:ext>
            </a:extLst>
          </p:cNvPr>
          <p:cNvSpPr txBox="1"/>
          <p:nvPr/>
        </p:nvSpPr>
        <p:spPr>
          <a:xfrm>
            <a:off x="10194326" y="333868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交集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7A9ED62-4683-4272-B64B-8CF2C4BD17A5}"/>
              </a:ext>
            </a:extLst>
          </p:cNvPr>
          <p:cNvSpPr txBox="1"/>
          <p:nvPr/>
        </p:nvSpPr>
        <p:spPr>
          <a:xfrm>
            <a:off x="8474676" y="333868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聯集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2FA4D40-57B1-40CC-8F0C-282AF0F7F6AA}"/>
              </a:ext>
            </a:extLst>
          </p:cNvPr>
          <p:cNvSpPr txBox="1"/>
          <p:nvPr/>
        </p:nvSpPr>
        <p:spPr>
          <a:xfrm>
            <a:off x="9413490" y="578386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差集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DD4C095-E833-462C-81C5-7BF57FD1D08B}"/>
              </a:ext>
            </a:extLst>
          </p:cNvPr>
          <p:cNvSpPr txBox="1"/>
          <p:nvPr/>
        </p:nvSpPr>
        <p:spPr>
          <a:xfrm>
            <a:off x="1562066" y="4880198"/>
            <a:ext cx="4590534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一個關聯代表一個集合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關聯的序列值代表集合的元素</a:t>
            </a:r>
          </a:p>
        </p:txBody>
      </p:sp>
    </p:spTree>
    <p:extLst>
      <p:ext uri="{BB962C8B-B14F-4D97-AF65-F5344CB8AC3E}">
        <p14:creationId xmlns:p14="http://schemas.microsoft.com/office/powerpoint/2010/main" val="179892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F106271-203C-4E5C-9AC3-21D373E1F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6</a:t>
            </a:fld>
            <a:endParaRPr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467C126F-99A9-4B4C-945E-0BDAA90729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953" y="118550"/>
          <a:ext cx="6445696" cy="6783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Visio" r:id="rId3" imgW="5686332" imgH="5867264" progId="Visio.Drawing.11">
                  <p:embed/>
                </p:oleObj>
              </mc:Choice>
              <mc:Fallback>
                <p:oleObj name="Visio" r:id="rId3" imgW="5686332" imgH="5867264" progId="Visio.Drawing.11">
                  <p:embed/>
                  <p:pic>
                    <p:nvPicPr>
                      <p:cNvPr id="5" name="物件 4">
                        <a:extLst>
                          <a:ext uri="{FF2B5EF4-FFF2-40B4-BE49-F238E27FC236}">
                            <a16:creationId xmlns:a16="http://schemas.microsoft.com/office/drawing/2014/main" id="{467C126F-99A9-4B4C-945E-0BDAA90729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953" y="118550"/>
                        <a:ext cx="6445696" cy="6783291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E61BF680-6BE2-4591-A5D8-0897B1D42079}"/>
              </a:ext>
            </a:extLst>
          </p:cNvPr>
          <p:cNvSpPr txBox="1"/>
          <p:nvPr/>
        </p:nvSpPr>
        <p:spPr>
          <a:xfrm>
            <a:off x="2563604" y="3828479"/>
            <a:ext cx="4397742" cy="2230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TW" b="1" dirty="0"/>
              <a:t>(b) Result(</a:t>
            </a:r>
            <a:r>
              <a:rPr lang="en-US" altLang="zh-TW" b="1" dirty="0" err="1"/>
              <a:t>sId</a:t>
            </a:r>
            <a:r>
              <a:rPr lang="en-US" altLang="zh-TW" b="1" dirty="0"/>
              <a:t>, </a:t>
            </a:r>
            <a:r>
              <a:rPr lang="en-US" altLang="zh-TW" b="1" dirty="0" err="1"/>
              <a:t>sName</a:t>
            </a:r>
            <a:r>
              <a:rPr lang="en-US" altLang="zh-TW" b="1" dirty="0"/>
              <a:t>) = Student </a:t>
            </a:r>
            <a:r>
              <a:rPr lang="en-US" altLang="zh-TW" b="1" dirty="0">
                <a:solidFill>
                  <a:srgbClr val="C00000"/>
                </a:solidFill>
              </a:rPr>
              <a:t>ꓵ</a:t>
            </a:r>
            <a:r>
              <a:rPr lang="en-US" altLang="zh-TW" b="1" dirty="0"/>
              <a:t> Assistant</a:t>
            </a:r>
          </a:p>
          <a:p>
            <a:pPr>
              <a:lnSpc>
                <a:spcPct val="200000"/>
              </a:lnSpc>
            </a:pPr>
            <a:r>
              <a:rPr lang="en-US" altLang="zh-TW" b="1" dirty="0"/>
              <a:t>(c) Result(</a:t>
            </a:r>
            <a:r>
              <a:rPr lang="en-US" altLang="zh-TW" b="1" dirty="0" err="1"/>
              <a:t>sId</a:t>
            </a:r>
            <a:r>
              <a:rPr lang="en-US" altLang="zh-TW" b="1" dirty="0"/>
              <a:t>, </a:t>
            </a:r>
            <a:r>
              <a:rPr lang="en-US" altLang="zh-TW" b="1" dirty="0" err="1"/>
              <a:t>sName</a:t>
            </a:r>
            <a:r>
              <a:rPr lang="en-US" altLang="zh-TW" b="1" dirty="0"/>
              <a:t>) = Student </a:t>
            </a:r>
            <a:r>
              <a:rPr lang="en-US" altLang="zh-TW" b="1" dirty="0">
                <a:solidFill>
                  <a:srgbClr val="C00000"/>
                </a:solidFill>
              </a:rPr>
              <a:t>ꓴ</a:t>
            </a:r>
            <a:r>
              <a:rPr lang="en-US" altLang="zh-TW" b="1" dirty="0"/>
              <a:t> Assistant</a:t>
            </a:r>
          </a:p>
          <a:p>
            <a:pPr>
              <a:lnSpc>
                <a:spcPct val="200000"/>
              </a:lnSpc>
            </a:pPr>
            <a:r>
              <a:rPr lang="en-US" altLang="zh-TW" b="1" dirty="0"/>
              <a:t>(d) Result(</a:t>
            </a:r>
            <a:r>
              <a:rPr lang="en-US" altLang="zh-TW" b="1" dirty="0" err="1"/>
              <a:t>sId</a:t>
            </a:r>
            <a:r>
              <a:rPr lang="en-US" altLang="zh-TW" b="1" dirty="0"/>
              <a:t>, </a:t>
            </a:r>
            <a:r>
              <a:rPr lang="en-US" altLang="zh-TW" b="1" dirty="0" err="1"/>
              <a:t>sName</a:t>
            </a:r>
            <a:r>
              <a:rPr lang="en-US" altLang="zh-TW" b="1" dirty="0"/>
              <a:t>) = Student </a:t>
            </a:r>
            <a:r>
              <a:rPr lang="en-US" altLang="zh-TW" b="1" dirty="0">
                <a:solidFill>
                  <a:srgbClr val="C00000"/>
                </a:solidFill>
              </a:rPr>
              <a:t>–</a:t>
            </a:r>
            <a:r>
              <a:rPr lang="en-US" altLang="zh-TW" b="1" dirty="0"/>
              <a:t> Assistant</a:t>
            </a:r>
          </a:p>
          <a:p>
            <a:pPr>
              <a:lnSpc>
                <a:spcPct val="200000"/>
              </a:lnSpc>
            </a:pPr>
            <a:r>
              <a:rPr lang="en-US" altLang="zh-TW" b="1" dirty="0"/>
              <a:t>(e) Result(</a:t>
            </a:r>
            <a:r>
              <a:rPr lang="en-US" altLang="zh-TW" b="1" dirty="0" err="1"/>
              <a:t>sId</a:t>
            </a:r>
            <a:r>
              <a:rPr lang="en-US" altLang="zh-TW" b="1" dirty="0"/>
              <a:t>, </a:t>
            </a:r>
            <a:r>
              <a:rPr lang="en-US" altLang="zh-TW" b="1" dirty="0" err="1"/>
              <a:t>sName</a:t>
            </a:r>
            <a:r>
              <a:rPr lang="en-US" altLang="zh-TW" b="1" dirty="0"/>
              <a:t>) = Assistant </a:t>
            </a:r>
            <a:r>
              <a:rPr lang="en-US" altLang="zh-TW" b="1" dirty="0">
                <a:solidFill>
                  <a:srgbClr val="C00000"/>
                </a:solidFill>
              </a:rPr>
              <a:t>–</a:t>
            </a:r>
            <a:r>
              <a:rPr lang="en-US" altLang="zh-TW" b="1" dirty="0"/>
              <a:t> Student</a:t>
            </a:r>
            <a:endParaRPr lang="zh-TW" altLang="en-US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1462B41-5F85-4C9F-8E71-3BFA9A26F153}"/>
              </a:ext>
            </a:extLst>
          </p:cNvPr>
          <p:cNvSpPr txBox="1"/>
          <p:nvPr/>
        </p:nvSpPr>
        <p:spPr>
          <a:xfrm>
            <a:off x="7766138" y="544882"/>
            <a:ext cx="3692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u="sng">
                <a:solidFill>
                  <a:srgbClr val="0000FF"/>
                </a:solidFill>
                <a:latin typeface="清松手寫體3" panose="00000500000000000000" pitchFamily="2" charset="-120"/>
                <a:ea typeface="清松手寫體3" panose="00000500000000000000" pitchFamily="2" charset="-120"/>
              </a:rPr>
              <a:t>請列出</a:t>
            </a:r>
            <a:r>
              <a:rPr lang="en-US" altLang="zh-TW" sz="2400" u="sng">
                <a:solidFill>
                  <a:srgbClr val="0000FF"/>
                </a:solidFill>
                <a:latin typeface="清松手寫體3" panose="00000500000000000000" pitchFamily="2" charset="-120"/>
                <a:ea typeface="清松手寫體3" panose="00000500000000000000" pitchFamily="2" charset="-120"/>
              </a:rPr>
              <a:t>(d)</a:t>
            </a:r>
            <a:r>
              <a:rPr lang="zh-TW" altLang="en-US" sz="2400" u="sng">
                <a:solidFill>
                  <a:srgbClr val="0000FF"/>
                </a:solidFill>
                <a:latin typeface="清松手寫體3" panose="00000500000000000000" pitchFamily="2" charset="-120"/>
                <a:ea typeface="清松手寫體3" panose="00000500000000000000" pitchFamily="2" charset="-120"/>
              </a:rPr>
              <a:t>與</a:t>
            </a:r>
            <a:r>
              <a:rPr lang="en-US" altLang="zh-TW" sz="2400" u="sng">
                <a:solidFill>
                  <a:srgbClr val="0000FF"/>
                </a:solidFill>
                <a:latin typeface="清松手寫體3" panose="00000500000000000000" pitchFamily="2" charset="-120"/>
                <a:ea typeface="清松手寫體3" panose="00000500000000000000" pitchFamily="2" charset="-120"/>
              </a:rPr>
              <a:t>(e)</a:t>
            </a:r>
            <a:r>
              <a:rPr lang="zh-TW" altLang="en-US" sz="2400" u="sng">
                <a:solidFill>
                  <a:srgbClr val="0000FF"/>
                </a:solidFill>
                <a:latin typeface="清松手寫體3" panose="00000500000000000000" pitchFamily="2" charset="-120"/>
                <a:ea typeface="清松手寫體3" panose="00000500000000000000" pitchFamily="2" charset="-120"/>
              </a:rPr>
              <a:t>的結果關聯</a:t>
            </a:r>
            <a:r>
              <a:rPr lang="en-US" altLang="zh-TW" sz="2400" u="sng">
                <a:solidFill>
                  <a:srgbClr val="0000FF"/>
                </a:solidFill>
                <a:latin typeface="清松手寫體3" panose="00000500000000000000" pitchFamily="2" charset="-120"/>
                <a:ea typeface="清松手寫體3" panose="00000500000000000000" pitchFamily="2" charset="-120"/>
              </a:rPr>
              <a:t>?</a:t>
            </a:r>
            <a:endParaRPr lang="zh-TW" altLang="en-US" sz="2400" u="sng">
              <a:solidFill>
                <a:srgbClr val="0000FF"/>
              </a:solidFill>
              <a:latin typeface="清松手寫體3" panose="00000500000000000000" pitchFamily="2" charset="-120"/>
              <a:ea typeface="清松手寫體3" panose="00000500000000000000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48220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98256B-A537-4864-A1C6-5F71E52A8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pc="600" dirty="0">
                <a:latin typeface="微軟正黑體" pitchFamily="34" charset="-120"/>
              </a:rPr>
              <a:t>卡迪森乘積</a:t>
            </a:r>
            <a:r>
              <a:rPr lang="en-US" altLang="zh-TW" spc="600" dirty="0">
                <a:latin typeface="微軟正黑體" pitchFamily="34" charset="-120"/>
              </a:rPr>
              <a:t>(</a:t>
            </a:r>
            <a:r>
              <a:rPr lang="en-US" altLang="zh-TW" dirty="0">
                <a:latin typeface="微軟正黑體" panose="020B0604030504040204" pitchFamily="34" charset="-120"/>
              </a:rPr>
              <a:t>Cartesian Product)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EB0262-E3F1-4664-923F-B57D8DBB8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>
                <a:latin typeface="微軟正黑體" panose="020B0604030504040204" pitchFamily="34" charset="-120"/>
              </a:rPr>
              <a:t>兩個集合相乘稱為</a:t>
            </a:r>
            <a:r>
              <a:rPr lang="zh-TW" altLang="en-US" dirty="0">
                <a:solidFill>
                  <a:srgbClr val="C00000"/>
                </a:solidFill>
                <a:latin typeface="微軟正黑體" panose="020B0604030504040204" pitchFamily="34" charset="-120"/>
              </a:rPr>
              <a:t>卡迪森乘積</a:t>
            </a:r>
            <a:endParaRPr lang="en-US" altLang="zh-TW" dirty="0">
              <a:solidFill>
                <a:srgbClr val="C00000"/>
              </a:solidFill>
              <a:latin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微軟正黑體" panose="020B0604030504040204" pitchFamily="34" charset="-120"/>
              </a:rPr>
              <a:t>兩個關聯</a:t>
            </a:r>
            <a:r>
              <a:rPr lang="en-US" altLang="zh-TW" dirty="0">
                <a:latin typeface="微軟正黑體" panose="020B0604030504040204" pitchFamily="34" charset="-120"/>
              </a:rPr>
              <a:t>R</a:t>
            </a:r>
            <a:r>
              <a:rPr lang="zh-TW" altLang="en-US" dirty="0">
                <a:latin typeface="微軟正黑體" panose="020B0604030504040204" pitchFamily="34" charset="-120"/>
              </a:rPr>
              <a:t>和</a:t>
            </a:r>
            <a:r>
              <a:rPr lang="en-US" altLang="zh-TW" dirty="0">
                <a:latin typeface="微軟正黑體" panose="020B0604030504040204" pitchFamily="34" charset="-120"/>
              </a:rPr>
              <a:t>S</a:t>
            </a:r>
            <a:r>
              <a:rPr lang="zh-TW" altLang="en-US" dirty="0">
                <a:latin typeface="微軟正黑體" panose="020B0604030504040204" pitchFamily="34" charset="-120"/>
              </a:rPr>
              <a:t>相乘，表示成 </a:t>
            </a:r>
            <a:r>
              <a:rPr lang="en-US" altLang="zh-TW" dirty="0">
                <a:latin typeface="微軟正黑體" panose="020B0604030504040204" pitchFamily="34" charset="-120"/>
              </a:rPr>
              <a:t>Result = R</a:t>
            </a:r>
            <a:r>
              <a:rPr lang="en-US" altLang="zh-TW" sz="3200" dirty="0">
                <a:solidFill>
                  <a:srgbClr val="C00000"/>
                </a:solidFill>
                <a:latin typeface="微軟正黑體" panose="020B0604030504040204" pitchFamily="34" charset="-120"/>
                <a:sym typeface="Symbol" pitchFamily="18" charset="2"/>
              </a:rPr>
              <a:t></a:t>
            </a:r>
            <a:r>
              <a:rPr lang="en-US" altLang="zh-TW" dirty="0">
                <a:latin typeface="微軟正黑體" panose="020B0604030504040204" pitchFamily="34" charset="-120"/>
              </a:rPr>
              <a:t>S</a:t>
            </a:r>
          </a:p>
          <a:p>
            <a:pPr lvl="1">
              <a:lnSpc>
                <a:spcPct val="150000"/>
              </a:lnSpc>
            </a:pPr>
            <a:r>
              <a:rPr lang="en-US" altLang="zh-TW" sz="2200" dirty="0">
                <a:latin typeface="微軟正黑體" panose="020B0604030504040204" pitchFamily="34" charset="-120"/>
              </a:rPr>
              <a:t>Result</a:t>
            </a:r>
            <a:r>
              <a:rPr lang="zh-TW" altLang="en-US" sz="2200" dirty="0">
                <a:latin typeface="微軟正黑體" panose="020B0604030504040204" pitchFamily="34" charset="-120"/>
              </a:rPr>
              <a:t>為一個關聯，屬性欄位為</a:t>
            </a:r>
            <a:r>
              <a:rPr lang="en-US" altLang="zh-TW" sz="2200" dirty="0">
                <a:latin typeface="微軟正黑體" panose="020B0604030504040204" pitchFamily="34" charset="-120"/>
              </a:rPr>
              <a:t>R</a:t>
            </a:r>
            <a:r>
              <a:rPr lang="zh-TW" altLang="en-US" sz="2200" dirty="0">
                <a:latin typeface="微軟正黑體" panose="020B0604030504040204" pitchFamily="34" charset="-120"/>
              </a:rPr>
              <a:t>的屬性欄位和</a:t>
            </a:r>
            <a:r>
              <a:rPr lang="en-US" altLang="zh-TW" sz="2200" dirty="0">
                <a:latin typeface="微軟正黑體" panose="020B0604030504040204" pitchFamily="34" charset="-120"/>
              </a:rPr>
              <a:t>S</a:t>
            </a:r>
            <a:r>
              <a:rPr lang="zh-TW" altLang="en-US" sz="2200" dirty="0">
                <a:latin typeface="微軟正黑體" panose="020B0604030504040204" pitchFamily="34" charset="-120"/>
              </a:rPr>
              <a:t>的屬性欄位合併</a:t>
            </a:r>
          </a:p>
          <a:p>
            <a:pPr lvl="1">
              <a:lnSpc>
                <a:spcPct val="150000"/>
              </a:lnSpc>
            </a:pPr>
            <a:r>
              <a:rPr lang="en-US" altLang="zh-TW" sz="2200" dirty="0">
                <a:latin typeface="微軟正黑體" panose="020B0604030504040204" pitchFamily="34" charset="-120"/>
              </a:rPr>
              <a:t>R</a:t>
            </a:r>
            <a:r>
              <a:rPr lang="zh-TW" altLang="en-US" sz="2200" dirty="0">
                <a:latin typeface="微軟正黑體" panose="020B0604030504040204" pitchFamily="34" charset="-120"/>
              </a:rPr>
              <a:t>的序列值和</a:t>
            </a:r>
            <a:r>
              <a:rPr lang="en-US" altLang="zh-TW" sz="2200" dirty="0">
                <a:latin typeface="微軟正黑體" panose="020B0604030504040204" pitchFamily="34" charset="-120"/>
              </a:rPr>
              <a:t>S</a:t>
            </a:r>
            <a:r>
              <a:rPr lang="zh-TW" altLang="en-US" sz="2200" dirty="0">
                <a:latin typeface="微軟正黑體" panose="020B0604030504040204" pitchFamily="34" charset="-120"/>
              </a:rPr>
              <a:t>的序列值</a:t>
            </a:r>
            <a:r>
              <a:rPr lang="zh-TW" altLang="en-US" sz="2200" b="1" dirty="0">
                <a:solidFill>
                  <a:srgbClr val="C00000"/>
                </a:solidFill>
                <a:latin typeface="微軟正黑體" panose="020B0604030504040204" pitchFamily="34" charset="-120"/>
              </a:rPr>
              <a:t>兩兩結合</a:t>
            </a:r>
            <a:r>
              <a:rPr lang="zh-TW" altLang="en-US" sz="2200" dirty="0">
                <a:latin typeface="微軟正黑體" panose="020B0604030504040204" pitchFamily="34" charset="-120"/>
              </a:rPr>
              <a:t>起來</a:t>
            </a: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微軟正黑體" panose="020B0604030504040204" pitchFamily="34" charset="-120"/>
              </a:rPr>
              <a:t>關聯相乘後的序列值數目常常很龐大，假設</a:t>
            </a:r>
            <a:r>
              <a:rPr lang="en-US" altLang="zh-TW" dirty="0">
                <a:latin typeface="微軟正黑體" panose="020B0604030504040204" pitchFamily="34" charset="-120"/>
              </a:rPr>
              <a:t>R</a:t>
            </a:r>
            <a:r>
              <a:rPr lang="zh-TW" altLang="en-US" dirty="0">
                <a:latin typeface="微軟正黑體" panose="020B0604030504040204" pitchFamily="34" charset="-120"/>
              </a:rPr>
              <a:t>有</a:t>
            </a:r>
            <a:r>
              <a:rPr lang="en-US" altLang="zh-TW" dirty="0">
                <a:latin typeface="微軟正黑體" panose="020B0604030504040204" pitchFamily="34" charset="-120"/>
              </a:rPr>
              <a:t>p</a:t>
            </a:r>
            <a:r>
              <a:rPr lang="zh-TW" altLang="en-US" dirty="0">
                <a:latin typeface="微軟正黑體" panose="020B0604030504040204" pitchFamily="34" charset="-120"/>
              </a:rPr>
              <a:t>個屬性和</a:t>
            </a:r>
            <a:r>
              <a:rPr lang="en-US" altLang="zh-TW" dirty="0">
                <a:latin typeface="微軟正黑體" panose="020B0604030504040204" pitchFamily="34" charset="-120"/>
              </a:rPr>
              <a:t>n</a:t>
            </a:r>
            <a:r>
              <a:rPr lang="zh-TW" altLang="en-US" dirty="0">
                <a:latin typeface="微軟正黑體" panose="020B0604030504040204" pitchFamily="34" charset="-120"/>
              </a:rPr>
              <a:t>筆序列值，</a:t>
            </a:r>
            <a:r>
              <a:rPr lang="en-US" altLang="zh-TW" dirty="0">
                <a:latin typeface="微軟正黑體" panose="020B0604030504040204" pitchFamily="34" charset="-120"/>
              </a:rPr>
              <a:t>S</a:t>
            </a:r>
            <a:r>
              <a:rPr lang="zh-TW" altLang="en-US" dirty="0">
                <a:latin typeface="微軟正黑體" panose="020B0604030504040204" pitchFamily="34" charset="-120"/>
              </a:rPr>
              <a:t>有</a:t>
            </a:r>
            <a:r>
              <a:rPr lang="en-US" altLang="zh-TW" dirty="0">
                <a:latin typeface="微軟正黑體" panose="020B0604030504040204" pitchFamily="34" charset="-120"/>
              </a:rPr>
              <a:t>t</a:t>
            </a:r>
            <a:r>
              <a:rPr lang="zh-TW" altLang="en-US" dirty="0">
                <a:latin typeface="微軟正黑體" panose="020B0604030504040204" pitchFamily="34" charset="-120"/>
              </a:rPr>
              <a:t>個屬性和</a:t>
            </a:r>
            <a:r>
              <a:rPr lang="en-US" altLang="zh-TW" dirty="0">
                <a:latin typeface="微軟正黑體" panose="020B0604030504040204" pitchFamily="34" charset="-120"/>
              </a:rPr>
              <a:t>m</a:t>
            </a:r>
            <a:r>
              <a:rPr lang="zh-TW" altLang="en-US" dirty="0">
                <a:latin typeface="微軟正黑體" panose="020B0604030504040204" pitchFamily="34" charset="-120"/>
              </a:rPr>
              <a:t>筆序列值。則</a:t>
            </a:r>
            <a:r>
              <a:rPr lang="en-US" altLang="zh-TW" dirty="0">
                <a:latin typeface="微軟正黑體" panose="020B0604030504040204" pitchFamily="34" charset="-120"/>
              </a:rPr>
              <a:t>R</a:t>
            </a:r>
            <a:r>
              <a:rPr lang="en-US" altLang="zh-TW" dirty="0">
                <a:latin typeface="微軟正黑體" panose="020B0604030504040204" pitchFamily="34" charset="-120"/>
                <a:sym typeface="Symbol" pitchFamily="18" charset="2"/>
              </a:rPr>
              <a:t></a:t>
            </a:r>
            <a:r>
              <a:rPr lang="en-US" altLang="zh-TW" dirty="0">
                <a:latin typeface="微軟正黑體" panose="020B0604030504040204" pitchFamily="34" charset="-120"/>
              </a:rPr>
              <a:t>S</a:t>
            </a:r>
            <a:r>
              <a:rPr lang="zh-TW" altLang="en-US" dirty="0">
                <a:latin typeface="微軟正黑體" panose="020B0604030504040204" pitchFamily="34" charset="-120"/>
              </a:rPr>
              <a:t>會有</a:t>
            </a:r>
            <a:r>
              <a:rPr lang="en-US" altLang="zh-TW" dirty="0" err="1">
                <a:solidFill>
                  <a:srgbClr val="C00000"/>
                </a:solidFill>
                <a:latin typeface="微軟正黑體" panose="020B0604030504040204" pitchFamily="34" charset="-120"/>
              </a:rPr>
              <a:t>p+t</a:t>
            </a:r>
            <a:r>
              <a:rPr lang="zh-TW" altLang="en-US" dirty="0">
                <a:latin typeface="微軟正黑體" panose="020B0604030504040204" pitchFamily="34" charset="-120"/>
              </a:rPr>
              <a:t>個屬性和</a:t>
            </a:r>
            <a:r>
              <a:rPr lang="en-US" altLang="zh-TW" dirty="0" err="1">
                <a:solidFill>
                  <a:srgbClr val="C00000"/>
                </a:solidFill>
                <a:latin typeface="微軟正黑體" panose="020B0604030504040204" pitchFamily="34" charset="-120"/>
              </a:rPr>
              <a:t>m</a:t>
            </a:r>
            <a:r>
              <a:rPr lang="en-US" altLang="zh-TW" dirty="0" err="1">
                <a:solidFill>
                  <a:srgbClr val="C00000"/>
                </a:solidFill>
                <a:latin typeface="微軟正黑體" panose="020B0604030504040204" pitchFamily="34" charset="-120"/>
                <a:sym typeface="Symbol" pitchFamily="18" charset="2"/>
              </a:rPr>
              <a:t></a:t>
            </a:r>
            <a:r>
              <a:rPr lang="en-US" altLang="zh-TW" dirty="0" err="1">
                <a:solidFill>
                  <a:srgbClr val="C00000"/>
                </a:solidFill>
                <a:latin typeface="微軟正黑體" panose="020B0604030504040204" pitchFamily="34" charset="-120"/>
              </a:rPr>
              <a:t>n</a:t>
            </a:r>
            <a:r>
              <a:rPr lang="zh-TW" altLang="en-US" dirty="0">
                <a:latin typeface="微軟正黑體" panose="020B0604030504040204" pitchFamily="34" charset="-120"/>
              </a:rPr>
              <a:t>筆序列值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E6556D-9D12-4A24-8945-86ACC77C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077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4D5CE9-7B5B-4989-8D86-CD2C9A3FB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/>
              <a:t>Example: </a:t>
            </a:r>
            <a:r>
              <a:rPr lang="zh-TW" altLang="en-US" sz="2800" dirty="0">
                <a:latin typeface="微軟正黑體" panose="020B0604030504040204" pitchFamily="34" charset="-120"/>
              </a:rPr>
              <a:t>考慮以下</a:t>
            </a:r>
            <a:r>
              <a:rPr lang="en-US" altLang="zh-TW" sz="2800" dirty="0">
                <a:latin typeface="微軟正黑體" panose="020B0604030504040204" pitchFamily="34" charset="-120"/>
              </a:rPr>
              <a:t>Student</a:t>
            </a:r>
            <a:r>
              <a:rPr lang="zh-TW" altLang="en-US" sz="2800" dirty="0">
                <a:latin typeface="微軟正黑體" panose="020B0604030504040204" pitchFamily="34" charset="-120"/>
              </a:rPr>
              <a:t>和</a:t>
            </a:r>
            <a:r>
              <a:rPr lang="en-US" altLang="zh-TW" sz="2800" dirty="0">
                <a:latin typeface="微軟正黑體" panose="020B0604030504040204" pitchFamily="34" charset="-120"/>
              </a:rPr>
              <a:t>Course</a:t>
            </a:r>
            <a:r>
              <a:rPr lang="zh-TW" altLang="en-US" sz="2800" dirty="0">
                <a:latin typeface="微軟正黑體" panose="020B0604030504040204" pitchFamily="34" charset="-120"/>
              </a:rPr>
              <a:t>資料表和其卡迪森乘積</a:t>
            </a:r>
            <a:endParaRPr lang="zh-TW" altLang="en-US" sz="2800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2A9FE89-87A7-43FC-AC31-6849F9FAB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>
                <a:latin typeface="微軟正黑體" panose="020B0604030504040204" pitchFamily="34" charset="-120"/>
                <a:sym typeface="Symbol" pitchFamily="18" charset="2"/>
              </a:rPr>
              <a:t>StudentCourse</a:t>
            </a:r>
            <a:r>
              <a:rPr lang="en-US" altLang="zh-TW" dirty="0">
                <a:latin typeface="微軟正黑體" panose="020B0604030504040204" pitchFamily="34" charset="-120"/>
              </a:rPr>
              <a:t> </a:t>
            </a:r>
            <a:r>
              <a:rPr lang="zh-TW" altLang="en-US" dirty="0">
                <a:latin typeface="微軟正黑體" panose="020B0604030504040204" pitchFamily="34" charset="-120"/>
              </a:rPr>
              <a:t>會有 </a:t>
            </a:r>
            <a:r>
              <a:rPr lang="en-US" altLang="zh-TW" i="1" dirty="0">
                <a:latin typeface="微軟正黑體" panose="020B0604030504040204" pitchFamily="34" charset="-120"/>
              </a:rPr>
              <a:t>3+2 </a:t>
            </a:r>
            <a:r>
              <a:rPr lang="zh-TW" altLang="en-US" dirty="0">
                <a:latin typeface="微軟正黑體" panose="020B0604030504040204" pitchFamily="34" charset="-120"/>
              </a:rPr>
              <a:t>個屬性和 </a:t>
            </a:r>
            <a:r>
              <a:rPr lang="en-US" altLang="zh-TW" i="1" dirty="0">
                <a:latin typeface="微軟正黑體" panose="020B0604030504040204" pitchFamily="34" charset="-120"/>
              </a:rPr>
              <a:t>3</a:t>
            </a:r>
            <a:r>
              <a:rPr lang="en-US" altLang="zh-TW" dirty="0">
                <a:latin typeface="微軟正黑體" panose="020B0604030504040204" pitchFamily="34" charset="-120"/>
                <a:sym typeface="Symbol" pitchFamily="18" charset="2"/>
              </a:rPr>
              <a:t></a:t>
            </a:r>
            <a:r>
              <a:rPr lang="en-US" altLang="zh-TW" i="1" dirty="0">
                <a:latin typeface="微軟正黑體" panose="020B0604030504040204" pitchFamily="34" charset="-120"/>
                <a:sym typeface="Symbol" pitchFamily="18" charset="2"/>
              </a:rPr>
              <a:t>2 </a:t>
            </a:r>
            <a:r>
              <a:rPr lang="zh-TW" altLang="en-US" dirty="0">
                <a:latin typeface="微軟正黑體" panose="020B0604030504040204" pitchFamily="34" charset="-120"/>
              </a:rPr>
              <a:t>筆序列值</a:t>
            </a:r>
          </a:p>
          <a:p>
            <a:endParaRPr lang="zh-TW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3286E94-6398-4395-9D3A-60BB1963EE6F}"/>
              </a:ext>
            </a:extLst>
          </p:cNvPr>
          <p:cNvGraphicFramePr>
            <a:graphicFrameLocks noGrp="1"/>
          </p:cNvGraphicFramePr>
          <p:nvPr/>
        </p:nvGraphicFramePr>
        <p:xfrm>
          <a:off x="1004342" y="2848269"/>
          <a:ext cx="296805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9351">
                  <a:extLst>
                    <a:ext uri="{9D8B030D-6E8A-4147-A177-3AD203B41FA5}">
                      <a16:colId xmlns:a16="http://schemas.microsoft.com/office/drawing/2014/main" val="3367946239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916515101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3429089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Name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Age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Sex 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980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Jason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M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863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John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M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5169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Mary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F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25638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73C5984-C0F8-43BD-846F-F91358F998FC}"/>
              </a:ext>
            </a:extLst>
          </p:cNvPr>
          <p:cNvGraphicFramePr>
            <a:graphicFrameLocks noGrp="1"/>
          </p:cNvGraphicFramePr>
          <p:nvPr/>
        </p:nvGraphicFramePr>
        <p:xfrm>
          <a:off x="1004342" y="4991863"/>
          <a:ext cx="307714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4281">
                  <a:extLst>
                    <a:ext uri="{9D8B030D-6E8A-4147-A177-3AD203B41FA5}">
                      <a16:colId xmlns:a16="http://schemas.microsoft.com/office/drawing/2014/main" val="3752631633"/>
                    </a:ext>
                  </a:extLst>
                </a:gridCol>
                <a:gridCol w="1982867">
                  <a:extLst>
                    <a:ext uri="{9D8B030D-6E8A-4147-A177-3AD203B41FA5}">
                      <a16:colId xmlns:a16="http://schemas.microsoft.com/office/drawing/2014/main" val="3664664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cId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Title 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015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AI001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資料結構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92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AI005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遊戲設計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781600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A603945E-D5DA-4BCF-B5BE-0777E52E15AA}"/>
              </a:ext>
            </a:extLst>
          </p:cNvPr>
          <p:cNvSpPr txBox="1"/>
          <p:nvPr/>
        </p:nvSpPr>
        <p:spPr>
          <a:xfrm>
            <a:off x="1004342" y="2455923"/>
            <a:ext cx="937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Student</a:t>
            </a:r>
            <a:endParaRPr lang="zh-TW" altLang="en-US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67FB412-E713-4367-AB81-B5E34DF24B14}"/>
              </a:ext>
            </a:extLst>
          </p:cNvPr>
          <p:cNvSpPr txBox="1"/>
          <p:nvPr/>
        </p:nvSpPr>
        <p:spPr>
          <a:xfrm>
            <a:off x="1056567" y="4622531"/>
            <a:ext cx="833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Course</a:t>
            </a:r>
            <a:endParaRPr lang="zh-TW" altLang="en-US" b="1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09C0801-AD58-443E-8113-7DBCAD470EE3}"/>
              </a:ext>
            </a:extLst>
          </p:cNvPr>
          <p:cNvGraphicFramePr>
            <a:graphicFrameLocks noGrp="1"/>
          </p:cNvGraphicFramePr>
          <p:nvPr/>
        </p:nvGraphicFramePr>
        <p:xfrm>
          <a:off x="5359629" y="3103102"/>
          <a:ext cx="5501765" cy="2595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00353">
                  <a:extLst>
                    <a:ext uri="{9D8B030D-6E8A-4147-A177-3AD203B41FA5}">
                      <a16:colId xmlns:a16="http://schemas.microsoft.com/office/drawing/2014/main" val="3704448919"/>
                    </a:ext>
                  </a:extLst>
                </a:gridCol>
                <a:gridCol w="1100353">
                  <a:extLst>
                    <a:ext uri="{9D8B030D-6E8A-4147-A177-3AD203B41FA5}">
                      <a16:colId xmlns:a16="http://schemas.microsoft.com/office/drawing/2014/main" val="2534911551"/>
                    </a:ext>
                  </a:extLst>
                </a:gridCol>
                <a:gridCol w="1100353">
                  <a:extLst>
                    <a:ext uri="{9D8B030D-6E8A-4147-A177-3AD203B41FA5}">
                      <a16:colId xmlns:a16="http://schemas.microsoft.com/office/drawing/2014/main" val="2316402967"/>
                    </a:ext>
                  </a:extLst>
                </a:gridCol>
                <a:gridCol w="1100353">
                  <a:extLst>
                    <a:ext uri="{9D8B030D-6E8A-4147-A177-3AD203B41FA5}">
                      <a16:colId xmlns:a16="http://schemas.microsoft.com/office/drawing/2014/main" val="1659623277"/>
                    </a:ext>
                  </a:extLst>
                </a:gridCol>
                <a:gridCol w="1100353">
                  <a:extLst>
                    <a:ext uri="{9D8B030D-6E8A-4147-A177-3AD203B41FA5}">
                      <a16:colId xmlns:a16="http://schemas.microsoft.com/office/drawing/2014/main" val="639277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Name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Age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Sex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cId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Title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111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Jason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AI001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資料結構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049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Jason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AI005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遊戲設計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191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John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AI001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資料結構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32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John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AI005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遊戲設計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826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Mary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F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AI001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資料結構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521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Mary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F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AI005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遊戲設計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103163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1D50EF33-A833-40DD-BAF6-FF828372147E}"/>
              </a:ext>
            </a:extLst>
          </p:cNvPr>
          <p:cNvSpPr txBox="1"/>
          <p:nvPr/>
        </p:nvSpPr>
        <p:spPr>
          <a:xfrm>
            <a:off x="5523876" y="2598833"/>
            <a:ext cx="1965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微軟正黑體" panose="020B0604030504040204" pitchFamily="34" charset="-120"/>
                <a:sym typeface="Symbol" pitchFamily="18" charset="2"/>
              </a:rPr>
              <a:t>StudentCourse</a:t>
            </a:r>
            <a:endParaRPr lang="zh-TW" altLang="en-US" b="1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AEE70EF-8527-41CF-82EE-C9AF3FBEE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8468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89E441-D46E-465F-9DD0-83717ED1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以</a:t>
            </a:r>
            <a:r>
              <a:rPr lang="en-US" altLang="zh-TW"/>
              <a:t>Excel</a:t>
            </a:r>
            <a:r>
              <a:rPr lang="zh-TW" altLang="en-US"/>
              <a:t>實作關聯運作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C5634C-F974-4730-A1A4-D073A3360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pc="600">
                <a:latin typeface="微軟正黑體" pitchFamily="34" charset="-120"/>
              </a:rPr>
              <a:t>SELECT</a:t>
            </a:r>
            <a:r>
              <a:rPr lang="zh-TW" altLang="en-US" spc="600">
                <a:latin typeface="微軟正黑體" pitchFamily="34" charset="-120"/>
              </a:rPr>
              <a:t>運算子</a:t>
            </a:r>
            <a:endParaRPr lang="en-US" altLang="zh-TW" spc="600">
              <a:latin typeface="微軟正黑體" pitchFamily="34" charset="-120"/>
            </a:endParaRPr>
          </a:p>
          <a:p>
            <a:pPr lvl="1"/>
            <a:r>
              <a:rPr lang="zh-TW" altLang="en-US" spc="600">
                <a:latin typeface="微軟正黑體" pitchFamily="34" charset="-120"/>
              </a:rPr>
              <a:t>建立表格</a:t>
            </a:r>
            <a:endParaRPr lang="en-US" altLang="zh-TW" spc="600">
              <a:latin typeface="微軟正黑體" pitchFamily="34" charset="-120"/>
            </a:endParaRPr>
          </a:p>
          <a:p>
            <a:pPr lvl="1"/>
            <a:r>
              <a:rPr lang="zh-TW" altLang="en-US" spc="600">
                <a:latin typeface="微軟正黑體" pitchFamily="34" charset="-120"/>
              </a:rPr>
              <a:t>篩選資料</a:t>
            </a:r>
            <a:endParaRPr lang="en-US" altLang="zh-TW" spc="600">
              <a:latin typeface="微軟正黑體" pitchFamily="34" charset="-120"/>
            </a:endParaRPr>
          </a:p>
          <a:p>
            <a:pPr lvl="1"/>
            <a:r>
              <a:rPr lang="zh-TW" altLang="en-US" spc="600">
                <a:latin typeface="微軟正黑體" pitchFamily="34" charset="-120"/>
              </a:rPr>
              <a:t>數字篩選</a:t>
            </a:r>
            <a:endParaRPr lang="en-US" altLang="zh-TW" spc="600">
              <a:latin typeface="微軟正黑體" pitchFamily="34" charset="-120"/>
            </a:endParaRPr>
          </a:p>
          <a:p>
            <a:r>
              <a:rPr lang="en-US" altLang="zh-TW" spc="600">
                <a:latin typeface="微軟正黑體" pitchFamily="34" charset="-120"/>
              </a:rPr>
              <a:t>PROJECT</a:t>
            </a:r>
            <a:r>
              <a:rPr lang="zh-TW" altLang="en-US" spc="600">
                <a:latin typeface="微軟正黑體" pitchFamily="34" charset="-120"/>
              </a:rPr>
              <a:t>運算子</a:t>
            </a:r>
            <a:endParaRPr lang="en-US" altLang="zh-TW" spc="600">
              <a:latin typeface="微軟正黑體" pitchFamily="34" charset="-120"/>
            </a:endParaRPr>
          </a:p>
          <a:p>
            <a:pPr lvl="1"/>
            <a:r>
              <a:rPr lang="zh-TW" altLang="en-US" spc="600">
                <a:latin typeface="微軟正黑體" pitchFamily="34" charset="-120"/>
              </a:rPr>
              <a:t>選擇欄資料</a:t>
            </a:r>
            <a:endParaRPr lang="en-US" altLang="zh-TW" spc="600">
              <a:latin typeface="微軟正黑體" pitchFamily="34" charset="-120"/>
            </a:endParaRPr>
          </a:p>
          <a:p>
            <a:pPr lvl="1"/>
            <a:r>
              <a:rPr lang="zh-TW" altLang="en-US" spc="600">
                <a:latin typeface="微軟正黑體" pitchFamily="34" charset="-120"/>
              </a:rPr>
              <a:t>進階篩選</a:t>
            </a:r>
            <a:r>
              <a:rPr lang="en-US" altLang="zh-TW" spc="600">
                <a:latin typeface="微軟正黑體" pitchFamily="34" charset="-120"/>
                <a:sym typeface="Wingdings" panose="05000000000000000000" pitchFamily="2" charset="2"/>
              </a:rPr>
              <a:t></a:t>
            </a:r>
            <a:r>
              <a:rPr lang="zh-TW" altLang="en-US" spc="600">
                <a:latin typeface="微軟正黑體" pitchFamily="34" charset="-120"/>
                <a:sym typeface="Wingdings" panose="05000000000000000000" pitchFamily="2" charset="2"/>
              </a:rPr>
              <a:t>不選重複的資料</a:t>
            </a:r>
            <a:endParaRPr lang="en-US" altLang="zh-TW" spc="600">
              <a:latin typeface="微軟正黑體" pitchFamily="34" charset="-120"/>
            </a:endParaRPr>
          </a:p>
          <a:p>
            <a:r>
              <a:rPr lang="zh-TW" altLang="en-US" spc="600">
                <a:latin typeface="微軟正黑體" pitchFamily="34" charset="-120"/>
              </a:rPr>
              <a:t>卡迪森乘積</a:t>
            </a:r>
            <a:endParaRPr lang="en-US" altLang="zh-TW" spc="600">
              <a:latin typeface="微軟正黑體" pitchFamily="34" charset="-120"/>
            </a:endParaRPr>
          </a:p>
          <a:p>
            <a:pPr lvl="1"/>
            <a:r>
              <a:rPr lang="en-US" altLang="zh-TW" b="1">
                <a:latin typeface="微軟正黑體" pitchFamily="34" charset="-120"/>
              </a:rPr>
              <a:t>Excel Power Query </a:t>
            </a:r>
          </a:p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BCDE57-7EE2-4D65-AE60-1C2DDF25F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1600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FE75AC-B626-49F7-AADD-B70606478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spc="600">
                <a:latin typeface="微軟正黑體" pitchFamily="34" charset="-120"/>
              </a:rPr>
              <a:t>卡迪森乘積</a:t>
            </a:r>
            <a:r>
              <a:rPr lang="en-US" altLang="zh-TW" sz="3600" spc="600">
                <a:latin typeface="微軟正黑體" pitchFamily="34" charset="-120"/>
              </a:rPr>
              <a:t>w/</a:t>
            </a:r>
            <a:r>
              <a:rPr lang="en-US" altLang="zh-TW" sz="3600">
                <a:latin typeface="微軟正黑體" pitchFamily="34" charset="-120"/>
              </a:rPr>
              <a:t>power query editor</a:t>
            </a:r>
            <a:endParaRPr lang="zh-TW" altLang="en-US" sz="360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C7DFC1-0EFD-4E8F-904C-077916848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altLang="zh-TW" sz="2000"/>
          </a:p>
          <a:p>
            <a:endParaRPr lang="en-US" altLang="zh-TW" sz="2000"/>
          </a:p>
          <a:p>
            <a:endParaRPr lang="en-US" altLang="zh-TW" sz="2000"/>
          </a:p>
          <a:p>
            <a:endParaRPr lang="en-US" altLang="zh-TW" sz="2000"/>
          </a:p>
          <a:p>
            <a:endParaRPr lang="en-US" altLang="zh-TW" sz="2000"/>
          </a:p>
          <a:p>
            <a:endParaRPr lang="en-US" altLang="zh-TW" sz="2000"/>
          </a:p>
          <a:p>
            <a:r>
              <a:rPr lang="zh-TW" altLang="en-US" sz="2600">
                <a:solidFill>
                  <a:schemeClr val="tx1"/>
                </a:solidFill>
              </a:rPr>
              <a:t>建立表格</a:t>
            </a:r>
            <a:r>
              <a:rPr lang="en-US" altLang="zh-TW" sz="2600">
                <a:solidFill>
                  <a:schemeClr val="tx1"/>
                </a:solidFill>
              </a:rPr>
              <a:t>(CTRL-T)</a:t>
            </a:r>
            <a:r>
              <a:rPr lang="zh-TW" altLang="en-US" sz="2600">
                <a:solidFill>
                  <a:schemeClr val="tx1"/>
                </a:solidFill>
              </a:rPr>
              <a:t>，註明表格名稱 </a:t>
            </a:r>
            <a:r>
              <a:rPr lang="en-US" altLang="zh-TW" sz="2600">
                <a:solidFill>
                  <a:schemeClr val="tx1"/>
                </a:solidFill>
              </a:rPr>
              <a:t>(A, B)</a:t>
            </a:r>
          </a:p>
          <a:p>
            <a:r>
              <a:rPr lang="zh-TW" altLang="en-US" sz="2600">
                <a:solidFill>
                  <a:schemeClr val="tx1"/>
                </a:solidFill>
              </a:rPr>
              <a:t>資料</a:t>
            </a:r>
            <a:r>
              <a:rPr lang="en-US" altLang="zh-TW" sz="2600">
                <a:solidFill>
                  <a:schemeClr val="tx1"/>
                </a:solidFill>
              </a:rPr>
              <a:t>/</a:t>
            </a:r>
            <a:r>
              <a:rPr lang="zh-TW" altLang="en-US" sz="2600">
                <a:solidFill>
                  <a:schemeClr val="tx1"/>
                </a:solidFill>
              </a:rPr>
              <a:t>從表格範圍輸入資料</a:t>
            </a:r>
            <a:endParaRPr lang="en-US" altLang="zh-TW" sz="2600">
              <a:solidFill>
                <a:schemeClr val="tx1"/>
              </a:solidFill>
            </a:endParaRPr>
          </a:p>
          <a:p>
            <a:r>
              <a:rPr lang="zh-TW" altLang="en-US" sz="2600">
                <a:solidFill>
                  <a:schemeClr val="tx1"/>
                </a:solidFill>
              </a:rPr>
              <a:t>關閉並載入至</a:t>
            </a:r>
            <a:r>
              <a:rPr lang="en-US" altLang="zh-TW" sz="2600">
                <a:solidFill>
                  <a:schemeClr val="tx1"/>
                </a:solidFill>
              </a:rPr>
              <a:t>… </a:t>
            </a:r>
            <a:r>
              <a:rPr lang="en-US" altLang="zh-TW" sz="260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zh-TW" altLang="en-US" sz="2600">
                <a:solidFill>
                  <a:schemeClr val="tx1"/>
                </a:solidFill>
                <a:sym typeface="Wingdings" panose="05000000000000000000" pitchFamily="2" charset="2"/>
              </a:rPr>
              <a:t> 只建立連線 </a:t>
            </a:r>
            <a:r>
              <a:rPr lang="en-US" altLang="zh-TW" sz="2600">
                <a:solidFill>
                  <a:schemeClr val="tx1"/>
                </a:solidFill>
                <a:sym typeface="Wingdings" panose="05000000000000000000" pitchFamily="2" charset="2"/>
              </a:rPr>
              <a:t>(A</a:t>
            </a:r>
            <a:r>
              <a:rPr lang="zh-TW" altLang="en-US" sz="2600">
                <a:solidFill>
                  <a:schemeClr val="tx1"/>
                </a:solidFill>
                <a:sym typeface="Wingdings" panose="05000000000000000000" pitchFamily="2" charset="2"/>
              </a:rPr>
              <a:t>及</a:t>
            </a:r>
            <a:r>
              <a:rPr lang="en-US" altLang="zh-TW" sz="2600">
                <a:solidFill>
                  <a:schemeClr val="tx1"/>
                </a:solidFill>
                <a:sym typeface="Wingdings" panose="05000000000000000000" pitchFamily="2" charset="2"/>
              </a:rPr>
              <a:t>B</a:t>
            </a:r>
            <a:r>
              <a:rPr lang="zh-TW" altLang="en-US" sz="2600">
                <a:solidFill>
                  <a:schemeClr val="tx1"/>
                </a:solidFill>
                <a:sym typeface="Wingdings" panose="05000000000000000000" pitchFamily="2" charset="2"/>
              </a:rPr>
              <a:t>表</a:t>
            </a:r>
            <a:r>
              <a:rPr lang="en-US" altLang="zh-TW" sz="2600">
                <a:solidFill>
                  <a:schemeClr val="tx1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zh-TW" altLang="en-US" sz="2600">
                <a:solidFill>
                  <a:schemeClr val="tx1"/>
                </a:solidFill>
                <a:sym typeface="Wingdings" panose="05000000000000000000" pitchFamily="2" charset="2"/>
              </a:rPr>
              <a:t>新增資料行</a:t>
            </a:r>
            <a:r>
              <a:rPr lang="en-US" altLang="zh-TW" sz="2600">
                <a:solidFill>
                  <a:schemeClr val="tx1"/>
                </a:solidFill>
                <a:sym typeface="Wingdings" panose="05000000000000000000" pitchFamily="2" charset="2"/>
              </a:rPr>
              <a:t>/</a:t>
            </a:r>
            <a:r>
              <a:rPr lang="zh-TW" altLang="en-US" sz="2600">
                <a:solidFill>
                  <a:schemeClr val="tx1"/>
                </a:solidFill>
                <a:sym typeface="Wingdings" panose="05000000000000000000" pitchFamily="2" charset="2"/>
              </a:rPr>
              <a:t>自訂資料行 </a:t>
            </a:r>
            <a:r>
              <a:rPr lang="en-US" altLang="zh-TW" sz="2600">
                <a:solidFill>
                  <a:schemeClr val="tx1"/>
                </a:solidFill>
                <a:sym typeface="Wingdings" panose="05000000000000000000" pitchFamily="2" charset="2"/>
              </a:rPr>
              <a:t>(A)</a:t>
            </a:r>
          </a:p>
          <a:p>
            <a:r>
              <a:rPr lang="zh-TW" altLang="en-US" sz="2600">
                <a:solidFill>
                  <a:schemeClr val="tx1"/>
                </a:solidFill>
                <a:sym typeface="Wingdings" panose="05000000000000000000" pitchFamily="2" charset="2"/>
              </a:rPr>
              <a:t>自訂資料行公式</a:t>
            </a:r>
            <a:r>
              <a:rPr lang="en-US" altLang="zh-TW" sz="2600">
                <a:solidFill>
                  <a:schemeClr val="tx1"/>
                </a:solidFill>
                <a:sym typeface="Wingdings" panose="05000000000000000000" pitchFamily="2" charset="2"/>
              </a:rPr>
              <a:t>[</a:t>
            </a:r>
            <a:r>
              <a:rPr lang="zh-TW" altLang="en-US" sz="2600">
                <a:solidFill>
                  <a:schemeClr val="tx1"/>
                </a:solidFill>
                <a:sym typeface="Wingdings" panose="05000000000000000000" pitchFamily="2" charset="2"/>
              </a:rPr>
              <a:t>資料表名稱</a:t>
            </a:r>
            <a:r>
              <a:rPr lang="en-US" altLang="zh-TW" sz="2600">
                <a:solidFill>
                  <a:schemeClr val="tx1"/>
                </a:solidFill>
                <a:sym typeface="Wingdings" panose="05000000000000000000" pitchFamily="2" charset="2"/>
              </a:rPr>
              <a:t>](B)</a:t>
            </a:r>
          </a:p>
          <a:p>
            <a:r>
              <a:rPr lang="zh-TW" altLang="en-US" sz="2600">
                <a:solidFill>
                  <a:schemeClr val="tx1"/>
                </a:solidFill>
                <a:sym typeface="Wingdings" panose="05000000000000000000" pitchFamily="2" charset="2"/>
              </a:rPr>
              <a:t>設定結果資料表名稱</a:t>
            </a:r>
            <a:r>
              <a:rPr lang="en-US" altLang="zh-TW" sz="2600">
                <a:solidFill>
                  <a:schemeClr val="tx1"/>
                </a:solidFill>
                <a:sym typeface="Wingdings" panose="05000000000000000000" pitchFamily="2" charset="2"/>
              </a:rPr>
              <a:t>(ex. combo)</a:t>
            </a:r>
          </a:p>
          <a:p>
            <a:r>
              <a:rPr lang="zh-TW" altLang="en-US" sz="2600">
                <a:solidFill>
                  <a:schemeClr val="tx1"/>
                </a:solidFill>
                <a:sym typeface="Wingdings" panose="05000000000000000000" pitchFamily="2" charset="2"/>
              </a:rPr>
              <a:t>展開欄位</a:t>
            </a:r>
            <a:r>
              <a:rPr lang="en-US" altLang="zh-TW" sz="2600">
                <a:solidFill>
                  <a:schemeClr val="tx1"/>
                </a:solidFill>
                <a:sym typeface="Wingdings" panose="05000000000000000000" pitchFamily="2" charset="2"/>
              </a:rPr>
              <a:t>(table)</a:t>
            </a:r>
          </a:p>
          <a:p>
            <a:r>
              <a:rPr lang="zh-TW" altLang="en-US" sz="2600">
                <a:solidFill>
                  <a:schemeClr val="tx1"/>
                </a:solidFill>
                <a:sym typeface="Wingdings" panose="05000000000000000000" pitchFamily="2" charset="2"/>
              </a:rPr>
              <a:t>選擇欄位</a:t>
            </a:r>
            <a:r>
              <a:rPr lang="en-US" altLang="zh-TW" sz="2600">
                <a:solidFill>
                  <a:schemeClr val="tx1"/>
                </a:solidFill>
                <a:sym typeface="Wingdings" panose="05000000000000000000" pitchFamily="2" charset="2"/>
              </a:rPr>
              <a:t>/[</a:t>
            </a:r>
            <a:r>
              <a:rPr lang="zh-TW" altLang="en-US" sz="2600">
                <a:solidFill>
                  <a:schemeClr val="tx1"/>
                </a:solidFill>
                <a:sym typeface="Wingdings" panose="05000000000000000000" pitchFamily="2" charset="2"/>
              </a:rPr>
              <a:t>有無</a:t>
            </a:r>
            <a:r>
              <a:rPr lang="en-US" altLang="zh-TW" sz="2600">
                <a:solidFill>
                  <a:schemeClr val="tx1"/>
                </a:solidFill>
                <a:sym typeface="Wingdings" panose="05000000000000000000" pitchFamily="2" charset="2"/>
              </a:rPr>
              <a:t>”</a:t>
            </a:r>
            <a:r>
              <a:rPr lang="zh-TW" altLang="en-US" sz="2600">
                <a:solidFill>
                  <a:schemeClr val="tx1"/>
                </a:solidFill>
                <a:sym typeface="Wingdings" panose="05000000000000000000" pitchFamily="2" charset="2"/>
              </a:rPr>
              <a:t>自訂</a:t>
            </a:r>
            <a:r>
              <a:rPr lang="en-US" altLang="zh-TW" sz="2600">
                <a:solidFill>
                  <a:schemeClr val="tx1"/>
                </a:solidFill>
                <a:sym typeface="Wingdings" panose="05000000000000000000" pitchFamily="2" charset="2"/>
              </a:rPr>
              <a:t>”]</a:t>
            </a:r>
          </a:p>
          <a:p>
            <a:r>
              <a:rPr lang="zh-TW" altLang="en-US" sz="2600">
                <a:solidFill>
                  <a:schemeClr val="tx1"/>
                </a:solidFill>
                <a:sym typeface="Wingdings" panose="05000000000000000000" pitchFamily="2" charset="2"/>
              </a:rPr>
              <a:t>常用</a:t>
            </a:r>
            <a:r>
              <a:rPr lang="en-US" altLang="zh-TW" sz="2600">
                <a:solidFill>
                  <a:schemeClr val="tx1"/>
                </a:solidFill>
                <a:sym typeface="Wingdings" panose="05000000000000000000" pitchFamily="2" charset="2"/>
              </a:rPr>
              <a:t>/</a:t>
            </a:r>
            <a:r>
              <a:rPr lang="zh-TW" altLang="en-US" sz="2600">
                <a:solidFill>
                  <a:schemeClr val="tx1"/>
                </a:solidFill>
                <a:sym typeface="Wingdings" panose="05000000000000000000" pitchFamily="2" charset="2"/>
              </a:rPr>
              <a:t>關閉並載入</a:t>
            </a:r>
            <a:endParaRPr lang="en-US" altLang="zh-TW" sz="260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zh-TW" altLang="en-US" sz="200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7FDACA-75A5-44AC-ACBE-A079E9547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B51D69E-67DE-418B-B086-8B3EF818F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217" y="908136"/>
            <a:ext cx="7134581" cy="169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498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E00FF2-A037-412E-8BEF-256FD0028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pc="600" dirty="0">
                <a:latin typeface="微軟正黑體" pitchFamily="34" charset="-120"/>
              </a:rPr>
              <a:t>JOIN</a:t>
            </a:r>
            <a:r>
              <a:rPr lang="zh-TW" altLang="en-US" spc="600" dirty="0">
                <a:latin typeface="微軟正黑體" pitchFamily="34" charset="-120"/>
              </a:rPr>
              <a:t>運算子</a:t>
            </a:r>
            <a:r>
              <a:rPr lang="en-US" altLang="zh-TW" spc="600" dirty="0">
                <a:latin typeface="微軟正黑體" pitchFamily="34" charset="-120"/>
              </a:rPr>
              <a:t>(</a:t>
            </a:r>
            <a:r>
              <a:rPr lang="zh-TW" altLang="en-US" spc="600" dirty="0">
                <a:latin typeface="微軟正黑體" pitchFamily="34" charset="-120"/>
              </a:rPr>
              <a:t>⋈</a:t>
            </a:r>
            <a:r>
              <a:rPr lang="en-US" altLang="zh-TW" spc="600" dirty="0">
                <a:latin typeface="微軟正黑體" pitchFamily="34" charset="-120"/>
              </a:rPr>
              <a:t>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7D3CE8B-1673-48EF-B88D-586057B0A5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TW" altLang="en-US" dirty="0">
                    <a:latin typeface="微軟正黑體" panose="020B0604030504040204" pitchFamily="34" charset="-120"/>
                  </a:rPr>
                  <a:t>將兩個</a:t>
                </a:r>
                <a:r>
                  <a:rPr lang="zh-TW" altLang="en-US" dirty="0">
                    <a:solidFill>
                      <a:srgbClr val="C00000"/>
                    </a:solidFill>
                    <a:latin typeface="微軟正黑體" panose="020B0604030504040204" pitchFamily="34" charset="-120"/>
                  </a:rPr>
                  <a:t>關聯相乘</a:t>
                </a:r>
                <a:r>
                  <a:rPr lang="en-US" altLang="zh-TW" dirty="0">
                    <a:latin typeface="微軟正黑體" panose="020B0604030504040204" pitchFamily="34" charset="-120"/>
                  </a:rPr>
                  <a:t>(</a:t>
                </a:r>
                <a:r>
                  <a:rPr lang="zh-TW" altLang="en-US" dirty="0">
                    <a:latin typeface="微軟正黑體" panose="020B0604030504040204" pitchFamily="34" charset="-120"/>
                  </a:rPr>
                  <a:t>卡迪森乘積</a:t>
                </a:r>
                <a:r>
                  <a:rPr lang="en-US" altLang="zh-TW" dirty="0">
                    <a:latin typeface="微軟正黑體" panose="020B0604030504040204" pitchFamily="34" charset="-120"/>
                  </a:rPr>
                  <a:t>)</a:t>
                </a:r>
                <a:r>
                  <a:rPr lang="zh-TW" altLang="en-US" dirty="0">
                    <a:latin typeface="微軟正黑體" panose="020B0604030504040204" pitchFamily="34" charset="-120"/>
                  </a:rPr>
                  <a:t>後再用</a:t>
                </a:r>
                <a:r>
                  <a:rPr lang="en-US" altLang="zh-TW" dirty="0">
                    <a:solidFill>
                      <a:srgbClr val="C00000"/>
                    </a:solidFill>
                    <a:latin typeface="微軟正黑體" panose="020B0604030504040204" pitchFamily="34" charset="-120"/>
                  </a:rPr>
                  <a:t>SELECT</a:t>
                </a:r>
                <a:r>
                  <a:rPr lang="zh-TW" altLang="en-US" dirty="0">
                    <a:solidFill>
                      <a:srgbClr val="C00000"/>
                    </a:solidFill>
                    <a:latin typeface="微軟正黑體" panose="020B0604030504040204" pitchFamily="34" charset="-120"/>
                  </a:rPr>
                  <a:t>運算子</a:t>
                </a:r>
                <a:r>
                  <a:rPr lang="zh-TW" altLang="en-US" dirty="0">
                    <a:latin typeface="微軟正黑體" panose="020B0604030504040204" pitchFamily="34" charset="-120"/>
                  </a:rPr>
                  <a:t>找出所需的序列值</a:t>
                </a:r>
                <a:endParaRPr lang="en-US" altLang="zh-TW" dirty="0">
                  <a:latin typeface="微軟正黑體" panose="020B0604030504040204" pitchFamily="34" charset="-12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TW" altLang="en-US" sz="2600" dirty="0">
                    <a:latin typeface="微軟正黑體" panose="020B0604030504040204" pitchFamily="34" charset="-120"/>
                  </a:rPr>
                  <a:t>一般式：</a:t>
                </a:r>
                <a:r>
                  <a:rPr lang="en-US" altLang="zh-TW" sz="2600" dirty="0">
                    <a:latin typeface="微軟正黑體" panose="020B0604030504040204" pitchFamily="34" charset="-120"/>
                  </a:rPr>
                  <a:t>Result = 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600" dirty="0">
                            <a:latin typeface="微軟正黑體" panose="020B0604030504040204" pitchFamily="34" charset="-120"/>
                          </a:rPr>
                          <m:t>⋈</m:t>
                        </m:r>
                      </m:e>
                      <m:sub>
                        <m:r>
                          <a:rPr lang="en-US" altLang="zh-TW" sz="2600" i="1" dirty="0">
                            <a:latin typeface="Cambria Math"/>
                          </a:rPr>
                          <m:t>&lt;</m:t>
                        </m:r>
                        <m:r>
                          <a:rPr lang="zh-TW" altLang="en-US" sz="2600" i="1" dirty="0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配合條件</m:t>
                        </m:r>
                        <m:r>
                          <a:rPr lang="en-US" altLang="zh-TW" sz="2600" i="1" dirty="0">
                            <a:latin typeface="Cambria Math"/>
                          </a:rPr>
                          <m:t>&gt;</m:t>
                        </m:r>
                      </m:sub>
                    </m:sSub>
                  </m:oMath>
                </a14:m>
                <a:r>
                  <a:rPr lang="en-US" altLang="zh-TW" sz="2600" dirty="0">
                    <a:latin typeface="微軟正黑體" panose="020B0604030504040204" pitchFamily="34" charset="-120"/>
                  </a:rPr>
                  <a:t>S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zh-TW" sz="2200" dirty="0">
                    <a:latin typeface="微軟正黑體" panose="020B0604030504040204" pitchFamily="34" charset="-120"/>
                  </a:rPr>
                  <a:t>Result</a:t>
                </a:r>
                <a:r>
                  <a:rPr lang="zh-TW" altLang="en-US" sz="2200" dirty="0">
                    <a:latin typeface="微軟正黑體" panose="020B0604030504040204" pitchFamily="34" charset="-120"/>
                  </a:rPr>
                  <a:t>為一個關聯，屬性欄位為</a:t>
                </a:r>
                <a:r>
                  <a:rPr lang="en-US" altLang="zh-TW" sz="2200" dirty="0">
                    <a:latin typeface="微軟正黑體" panose="020B0604030504040204" pitchFamily="34" charset="-120"/>
                  </a:rPr>
                  <a:t>R</a:t>
                </a:r>
                <a:r>
                  <a:rPr lang="zh-TW" altLang="en-US" sz="2200" dirty="0">
                    <a:latin typeface="微軟正黑體" panose="020B0604030504040204" pitchFamily="34" charset="-120"/>
                  </a:rPr>
                  <a:t>的屬性欄位和</a:t>
                </a:r>
                <a:r>
                  <a:rPr lang="en-US" altLang="zh-TW" sz="2200" dirty="0">
                    <a:latin typeface="微軟正黑體" panose="020B0604030504040204" pitchFamily="34" charset="-120"/>
                  </a:rPr>
                  <a:t>S</a:t>
                </a:r>
                <a:r>
                  <a:rPr lang="zh-TW" altLang="en-US" sz="2200" dirty="0">
                    <a:latin typeface="微軟正黑體" panose="020B0604030504040204" pitchFamily="34" charset="-120"/>
                  </a:rPr>
                  <a:t>的屬性</a:t>
                </a:r>
                <a:r>
                  <a:rPr lang="zh-TW" altLang="en-US" sz="2200">
                    <a:latin typeface="微軟正黑體" panose="020B0604030504040204" pitchFamily="34" charset="-120"/>
                  </a:rPr>
                  <a:t>欄位合併組合</a:t>
                </a:r>
                <a:endParaRPr lang="zh-TW" altLang="en-US" sz="2200" dirty="0">
                  <a:latin typeface="微軟正黑體" panose="020B0604030504040204" pitchFamily="34" charset="-12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zh-TW" sz="2200" b="1" dirty="0">
                    <a:latin typeface="微軟正黑體" panose="020B0604030504040204" pitchFamily="34" charset="-120"/>
                  </a:rPr>
                  <a:t>R</a:t>
                </a:r>
                <a:r>
                  <a:rPr lang="zh-TW" altLang="en-US" sz="2200" b="1" dirty="0">
                    <a:latin typeface="微軟正黑體" panose="020B0604030504040204" pitchFamily="34" charset="-120"/>
                  </a:rPr>
                  <a:t>序列值和</a:t>
                </a:r>
                <a:r>
                  <a:rPr lang="en-US" altLang="zh-TW" sz="2200" b="1" dirty="0">
                    <a:latin typeface="微軟正黑體" panose="020B0604030504040204" pitchFamily="34" charset="-120"/>
                  </a:rPr>
                  <a:t>S</a:t>
                </a:r>
                <a:r>
                  <a:rPr lang="zh-TW" altLang="en-US" sz="2200" b="1" dirty="0">
                    <a:latin typeface="微軟正黑體" panose="020B0604030504040204" pitchFamily="34" charset="-120"/>
                  </a:rPr>
                  <a:t>序列值</a:t>
                </a:r>
                <a:r>
                  <a:rPr lang="zh-TW" altLang="en-US" sz="2200" b="1" dirty="0">
                    <a:solidFill>
                      <a:srgbClr val="C00000"/>
                    </a:solidFill>
                    <a:latin typeface="微軟正黑體" panose="020B0604030504040204" pitchFamily="34" charset="-120"/>
                  </a:rPr>
                  <a:t>兩兩結合</a:t>
                </a:r>
                <a:r>
                  <a:rPr lang="zh-TW" altLang="en-US" sz="2200" b="1" dirty="0">
                    <a:latin typeface="微軟正黑體" panose="020B0604030504040204" pitchFamily="34" charset="-120"/>
                  </a:rPr>
                  <a:t>後，再將滿足</a:t>
                </a:r>
                <a:r>
                  <a:rPr lang="en-US" altLang="zh-TW" sz="2200" b="1" dirty="0">
                    <a:latin typeface="微軟正黑體" panose="020B0604030504040204" pitchFamily="34" charset="-120"/>
                  </a:rPr>
                  <a:t>&lt;</a:t>
                </a:r>
                <a:r>
                  <a:rPr lang="zh-TW" altLang="en-US" sz="2200" b="1" dirty="0">
                    <a:solidFill>
                      <a:srgbClr val="00B050"/>
                    </a:solidFill>
                    <a:latin typeface="微軟正黑體" panose="020B0604030504040204" pitchFamily="34" charset="-120"/>
                  </a:rPr>
                  <a:t>配合條件</a:t>
                </a:r>
                <a:r>
                  <a:rPr lang="en-US" altLang="zh-TW" sz="2200" b="1" dirty="0">
                    <a:latin typeface="微軟正黑體" panose="020B0604030504040204" pitchFamily="34" charset="-120"/>
                  </a:rPr>
                  <a:t>&gt;</a:t>
                </a:r>
                <a:r>
                  <a:rPr lang="zh-TW" altLang="en-US" sz="2200" b="1" dirty="0">
                    <a:latin typeface="微軟正黑體" panose="020B0604030504040204" pitchFamily="34" charset="-120"/>
                  </a:rPr>
                  <a:t>的序列值篩選出</a:t>
                </a:r>
              </a:p>
              <a:p>
                <a:pPr>
                  <a:lnSpc>
                    <a:spcPct val="150000"/>
                  </a:lnSpc>
                </a:pPr>
                <a:r>
                  <a:rPr lang="zh-TW" altLang="en-US" sz="2600" dirty="0">
                    <a:latin typeface="微軟正黑體" panose="020B0604030504040204" pitchFamily="34" charset="-120"/>
                  </a:rPr>
                  <a:t>範例：</a:t>
                </a:r>
                <a:r>
                  <a:rPr lang="en-US" altLang="zh-TW" sz="2600" dirty="0">
                    <a:latin typeface="微軟正黑體" panose="020B0604030504040204" pitchFamily="34" charset="-120"/>
                  </a:rPr>
                  <a:t> Result = Transaction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600" dirty="0">
                            <a:latin typeface="微軟正黑體" panose="020B0604030504040204" pitchFamily="34" charset="-120"/>
                          </a:rPr>
                          <m:t>⋈</m:t>
                        </m:r>
                      </m:e>
                      <m:sub>
                        <m:r>
                          <a:rPr lang="en-US" altLang="zh-TW" sz="2600" b="1" i="1" dirty="0" smtClean="0">
                            <a:latin typeface="Cambria Math" panose="02040503050406030204" pitchFamily="18" charset="0"/>
                          </a:rPr>
                          <m:t>𝑻𝒓𝒂𝒏𝒔𝒂𝒄𝒕𝒊𝒐𝒏</m:t>
                        </m:r>
                        <m:r>
                          <a:rPr lang="en-US" altLang="zh-TW" sz="2600" b="1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TW" sz="2600" b="1" i="1" dirty="0" smtClean="0">
                            <a:latin typeface="Cambria Math" panose="02040503050406030204" pitchFamily="18" charset="0"/>
                          </a:rPr>
                          <m:t>𝒕𝑵𝑶</m:t>
                        </m:r>
                        <m:r>
                          <a:rPr lang="en-US" altLang="zh-TW" sz="2600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600" b="1" i="1" dirty="0" smtClean="0">
                            <a:latin typeface="Cambria Math" panose="02040503050406030204" pitchFamily="18" charset="0"/>
                          </a:rPr>
                          <m:t>𝑪𝒂𝒓𝒕</m:t>
                        </m:r>
                        <m:r>
                          <a:rPr lang="en-US" altLang="zh-TW" sz="2600" b="1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TW" sz="2600" b="1" i="1" dirty="0" smtClean="0">
                            <a:latin typeface="Cambria Math" panose="02040503050406030204" pitchFamily="18" charset="0"/>
                          </a:rPr>
                          <m:t>𝒕𝑵𝑶</m:t>
                        </m:r>
                      </m:sub>
                    </m:sSub>
                    <m:r>
                      <a:rPr lang="en-US" altLang="zh-TW" sz="2600" b="1" i="0" dirty="0" smtClean="0">
                        <a:latin typeface="Cambria Math" panose="02040503050406030204" pitchFamily="18" charset="0"/>
                      </a:rPr>
                      <m:t>𝐂𝐚𝐫𝐭</m:t>
                    </m:r>
                  </m:oMath>
                </a14:m>
                <a:r>
                  <a:rPr lang="en-US" altLang="zh-TW" sz="2600" dirty="0">
                    <a:latin typeface="微軟正黑體" panose="020B0604030504040204" pitchFamily="34" charset="-120"/>
                  </a:rPr>
                  <a:t> 	</a:t>
                </a:r>
                <a:endParaRPr lang="zh-TW" altLang="en-US" sz="2600" dirty="0">
                  <a:latin typeface="微軟正黑體" panose="020B0604030504040204" pitchFamily="34" charset="-120"/>
                </a:endParaRPr>
              </a:p>
              <a:p>
                <a:pPr>
                  <a:lnSpc>
                    <a:spcPct val="150000"/>
                  </a:lnSpc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7D3CE8B-1673-48EF-B88D-586057B0A5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CDA86A7-ADC7-4B6D-B133-4A948455B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D727342-506F-4E1D-922D-78FF084CC330}"/>
              </a:ext>
            </a:extLst>
          </p:cNvPr>
          <p:cNvSpPr txBox="1"/>
          <p:nvPr/>
        </p:nvSpPr>
        <p:spPr>
          <a:xfrm>
            <a:off x="6096000" y="4645781"/>
            <a:ext cx="11272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>
                <a:solidFill>
                  <a:srgbClr val="7030A0"/>
                </a:solidFill>
                <a:latin typeface="清松手寫體3" panose="00000500000000000000" pitchFamily="2" charset="-120"/>
                <a:ea typeface="清松手寫體3" panose="00000500000000000000" pitchFamily="2" charset="-120"/>
              </a:rPr>
              <a:t>交易表</a:t>
            </a:r>
            <a:endParaRPr lang="en-US" altLang="zh-TW">
              <a:solidFill>
                <a:srgbClr val="7030A0"/>
              </a:solidFill>
              <a:latin typeface="清松手寫體3" panose="00000500000000000000" pitchFamily="2" charset="-120"/>
              <a:ea typeface="清松手寫體3" panose="00000500000000000000" pitchFamily="2" charset="-120"/>
            </a:endParaRPr>
          </a:p>
          <a:p>
            <a:pPr algn="ctr"/>
            <a:r>
              <a:rPr lang="zh-TW" altLang="en-US">
                <a:solidFill>
                  <a:srgbClr val="7030A0"/>
                </a:solidFill>
                <a:latin typeface="清松手寫體3" panose="00000500000000000000" pitchFamily="2" charset="-120"/>
                <a:ea typeface="清松手寫體3" panose="00000500000000000000" pitchFamily="2" charset="-120"/>
              </a:rPr>
              <a:t>交易編號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A0C52E5-7CAD-4B59-A84F-C4130CAE988F}"/>
              </a:ext>
            </a:extLst>
          </p:cNvPr>
          <p:cNvSpPr txBox="1"/>
          <p:nvPr/>
        </p:nvSpPr>
        <p:spPr>
          <a:xfrm>
            <a:off x="7599785" y="4645781"/>
            <a:ext cx="1598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>
                <a:solidFill>
                  <a:srgbClr val="C00000"/>
                </a:solidFill>
                <a:latin typeface="清松手寫體3" panose="00000500000000000000" pitchFamily="2" charset="-120"/>
                <a:ea typeface="清松手寫體3" panose="00000500000000000000" pitchFamily="2" charset="-120"/>
              </a:rPr>
              <a:t>購物車資料表</a:t>
            </a:r>
            <a:endParaRPr lang="en-US" altLang="zh-TW">
              <a:solidFill>
                <a:srgbClr val="C00000"/>
              </a:solidFill>
              <a:latin typeface="清松手寫體3" panose="00000500000000000000" pitchFamily="2" charset="-120"/>
              <a:ea typeface="清松手寫體3" panose="00000500000000000000" pitchFamily="2" charset="-120"/>
            </a:endParaRPr>
          </a:p>
          <a:p>
            <a:pPr algn="ctr"/>
            <a:r>
              <a:rPr lang="zh-TW" altLang="en-US">
                <a:solidFill>
                  <a:srgbClr val="C00000"/>
                </a:solidFill>
                <a:latin typeface="清松手寫體3" panose="00000500000000000000" pitchFamily="2" charset="-120"/>
                <a:ea typeface="清松手寫體3" panose="00000500000000000000" pitchFamily="2" charset="-120"/>
              </a:rPr>
              <a:t>交易編號</a:t>
            </a:r>
          </a:p>
        </p:txBody>
      </p:sp>
    </p:spTree>
    <p:extLst>
      <p:ext uri="{BB962C8B-B14F-4D97-AF65-F5344CB8AC3E}">
        <p14:creationId xmlns:p14="http://schemas.microsoft.com/office/powerpoint/2010/main" val="1875542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37967" y="182880"/>
            <a:ext cx="9724767" cy="1111664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微軟正黑體" panose="020B0604030504040204" pitchFamily="34" charset="-120"/>
              </a:rPr>
              <a:t>Result = Transaction ⋈ </a:t>
            </a:r>
            <a:r>
              <a:rPr lang="en-US" altLang="zh-TW" sz="3200" baseline="-25000" dirty="0" err="1">
                <a:latin typeface="微軟正黑體" panose="020B0604030504040204" pitchFamily="34" charset="-120"/>
              </a:rPr>
              <a:t>Transaction.tNo</a:t>
            </a:r>
            <a:r>
              <a:rPr lang="en-US" altLang="zh-TW" sz="3200" baseline="-25000" dirty="0">
                <a:latin typeface="微軟正黑體" panose="020B0604030504040204" pitchFamily="34" charset="-120"/>
              </a:rPr>
              <a:t>=</a:t>
            </a:r>
            <a:r>
              <a:rPr lang="en-US" altLang="zh-TW" sz="3200" baseline="-25000" dirty="0" err="1">
                <a:latin typeface="微軟正黑體" panose="020B0604030504040204" pitchFamily="34" charset="-120"/>
              </a:rPr>
              <a:t>Cart.tNo</a:t>
            </a:r>
            <a:r>
              <a:rPr lang="en-US" altLang="zh-TW" sz="3200" baseline="-25000" dirty="0">
                <a:latin typeface="微軟正黑體" panose="020B0604030504040204" pitchFamily="34" charset="-120"/>
              </a:rPr>
              <a:t> </a:t>
            </a:r>
            <a:r>
              <a:rPr lang="en-US" altLang="zh-TW" sz="3200" dirty="0">
                <a:latin typeface="微軟正黑體" panose="020B0604030504040204" pitchFamily="34" charset="-120"/>
              </a:rPr>
              <a:t>Cart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03512" y="1600201"/>
            <a:ext cx="8964488" cy="45259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altLang="zh-TW" dirty="0"/>
          </a:p>
          <a:p>
            <a:pPr lvl="1">
              <a:lnSpc>
                <a:spcPct val="90000"/>
              </a:lnSpc>
            </a:pPr>
            <a:endParaRPr lang="en-US" altLang="zh-TW" sz="2400" b="1" dirty="0"/>
          </a:p>
          <a:p>
            <a:pPr lvl="1">
              <a:lnSpc>
                <a:spcPct val="80000"/>
              </a:lnSpc>
            </a:pPr>
            <a:endParaRPr lang="zh-TW" altLang="en-US" sz="2200" b="1" dirty="0">
              <a:latin typeface="微軟正黑體" panose="020B0604030504040204" pitchFamily="34" charset="-120"/>
            </a:endParaRPr>
          </a:p>
          <a:p>
            <a:pPr lvl="1"/>
            <a:endParaRPr lang="zh-TW" altLang="en-US" sz="2200" dirty="0">
              <a:latin typeface="微軟正黑體" panose="020B0604030504040204" pitchFamily="34" charset="-120"/>
            </a:endParaRPr>
          </a:p>
          <a:p>
            <a:endParaRPr lang="zh-TW" altLang="en-US" dirty="0"/>
          </a:p>
        </p:txBody>
      </p:sp>
      <p:graphicFrame>
        <p:nvGraphicFramePr>
          <p:cNvPr id="7" name="物件 6"/>
          <p:cNvGraphicFramePr>
            <a:graphicFrameLocks noChangeAspect="1"/>
          </p:cNvGraphicFramePr>
          <p:nvPr/>
        </p:nvGraphicFramePr>
        <p:xfrm>
          <a:off x="1894824" y="1524730"/>
          <a:ext cx="8208963" cy="213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8" r:id="rId3" imgW="7232294" imgH="1882750" progId="">
                  <p:embed/>
                </p:oleObj>
              </mc:Choice>
              <mc:Fallback>
                <p:oleObj r:id="rId3" imgW="7232294" imgH="1882750" progId="">
                  <p:embed/>
                  <p:pic>
                    <p:nvPicPr>
                      <p:cNvPr id="7" name="物件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4824" y="1524730"/>
                        <a:ext cx="8208963" cy="2138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物件 7"/>
          <p:cNvGraphicFramePr>
            <a:graphicFrameLocks noChangeAspect="1"/>
          </p:cNvGraphicFramePr>
          <p:nvPr/>
        </p:nvGraphicFramePr>
        <p:xfrm>
          <a:off x="1894824" y="4356574"/>
          <a:ext cx="5256212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" r:id="rId5" imgW="4164482" imgH="1322222" progId="">
                  <p:embed/>
                </p:oleObj>
              </mc:Choice>
              <mc:Fallback>
                <p:oleObj r:id="rId5" imgW="4164482" imgH="1322222" progId="">
                  <p:embed/>
                  <p:pic>
                    <p:nvPicPr>
                      <p:cNvPr id="8" name="物件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4824" y="4356574"/>
                        <a:ext cx="5256212" cy="167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lang="en-US" smtClean="0">
                <a:solidFill>
                  <a:srgbClr val="696464"/>
                </a:solidFill>
              </a:rPr>
              <a:pPr/>
              <a:t>12</a:t>
            </a:fld>
            <a:endParaRPr lang="en-US">
              <a:solidFill>
                <a:srgbClr val="6964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254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158A9228-1C0D-45B6-9AC8-76F5187F0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5" y="219075"/>
            <a:ext cx="9544050" cy="641985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A8D5FA7-190A-40EC-8E8E-DB81C4F0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26EEC682-EB4B-4202-B6F6-63B9367C0E2C}"/>
              </a:ext>
            </a:extLst>
          </p:cNvPr>
          <p:cNvSpPr/>
          <p:nvPr/>
        </p:nvSpPr>
        <p:spPr>
          <a:xfrm>
            <a:off x="1252603" y="344466"/>
            <a:ext cx="594986" cy="300624"/>
          </a:xfrm>
          <a:prstGeom prst="ellipse">
            <a:avLst/>
          </a:prstGeom>
          <a:solidFill>
            <a:srgbClr val="FF0000">
              <a:alpha val="14118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8156D7F1-E20B-498F-96BB-2958800E2963}"/>
              </a:ext>
            </a:extLst>
          </p:cNvPr>
          <p:cNvSpPr/>
          <p:nvPr/>
        </p:nvSpPr>
        <p:spPr>
          <a:xfrm>
            <a:off x="10344411" y="344466"/>
            <a:ext cx="594986" cy="300624"/>
          </a:xfrm>
          <a:prstGeom prst="ellipse">
            <a:avLst/>
          </a:prstGeom>
          <a:solidFill>
            <a:srgbClr val="FF0000">
              <a:alpha val="16078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9393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38892A51-52B6-411E-AFEE-503DCAC269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61120" y="1636712"/>
          <a:ext cx="8569325" cy="358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r:id="rId3" imgW="9556699" imgH="3407664" progId="">
                  <p:embed/>
                </p:oleObj>
              </mc:Choice>
              <mc:Fallback>
                <p:oleObj r:id="rId3" imgW="9556699" imgH="3407664" progId="">
                  <p:embed/>
                  <p:pic>
                    <p:nvPicPr>
                      <p:cNvPr id="2" name="物件 1">
                        <a:extLst>
                          <a:ext uri="{FF2B5EF4-FFF2-40B4-BE49-F238E27FC236}">
                            <a16:creationId xmlns:a16="http://schemas.microsoft.com/office/drawing/2014/main" id="{38892A51-52B6-411E-AFEE-503DCAC269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1120" y="1636712"/>
                        <a:ext cx="8569325" cy="358457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B19A96E-68ED-44C7-9A82-36319B495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426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FC694F2F-C9F3-4024-B800-FD08FC913C2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sz="3200" dirty="0"/>
                  <a:t>Result = Cart</a:t>
                </a:r>
                <a14:m>
                  <m:oMath xmlns:m="http://schemas.openxmlformats.org/officeDocument/2006/math">
                    <m:r>
                      <a:rPr lang="en-US" altLang="zh-TW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</m:oMath>
                </a14:m>
                <a:r>
                  <a:rPr lang="en-US" altLang="zh-TW" sz="3200" baseline="-25000" dirty="0" err="1"/>
                  <a:t>Cart.mId</a:t>
                </a:r>
                <a:r>
                  <a:rPr lang="en-US" altLang="zh-TW" sz="3200" baseline="-25000" dirty="0"/>
                  <a:t>=</a:t>
                </a:r>
                <a:r>
                  <a:rPr lang="en-US" altLang="zh-TW" sz="3200" baseline="-25000" dirty="0" err="1"/>
                  <a:t>Order.mId</a:t>
                </a:r>
                <a:r>
                  <a:rPr lang="en-US" altLang="zh-TW" sz="3200" baseline="-25000" dirty="0"/>
                  <a:t> </a:t>
                </a:r>
                <a:r>
                  <a:rPr lang="en-US" altLang="zh-TW" sz="3200" baseline="-25000" dirty="0">
                    <a:solidFill>
                      <a:srgbClr val="00B050"/>
                    </a:solidFill>
                  </a:rPr>
                  <a:t>AND</a:t>
                </a:r>
                <a:r>
                  <a:rPr lang="en-US" altLang="zh-TW" sz="3200" baseline="-25000" dirty="0"/>
                  <a:t> </a:t>
                </a:r>
                <a:r>
                  <a:rPr lang="en-US" altLang="zh-TW" sz="3200" baseline="-25000" dirty="0" err="1"/>
                  <a:t>Cart.cartTime</a:t>
                </a:r>
                <a:r>
                  <a:rPr lang="en-US" altLang="zh-TW" sz="3200" baseline="-25000" dirty="0"/>
                  <a:t>=</a:t>
                </a:r>
                <a:r>
                  <a:rPr lang="en-US" altLang="zh-TW" sz="3200" baseline="-25000" dirty="0" err="1"/>
                  <a:t>Order.cartTime</a:t>
                </a:r>
                <a:r>
                  <a:rPr lang="en-US" altLang="zh-TW" sz="3200" dirty="0" err="1"/>
                  <a:t>Order</a:t>
                </a:r>
                <a:endParaRPr lang="zh-TW" altLang="en-US" sz="3200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FC694F2F-C9F3-4024-B800-FD08FC913C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5">
            <a:extLst>
              <a:ext uri="{FF2B5EF4-FFF2-40B4-BE49-F238E27FC236}">
                <a16:creationId xmlns:a16="http://schemas.microsoft.com/office/drawing/2014/main" id="{56364C2D-1374-432D-B059-8CABB4324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543" y="2063578"/>
            <a:ext cx="4251477" cy="1618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6">
            <a:extLst>
              <a:ext uri="{FF2B5EF4-FFF2-40B4-BE49-F238E27FC236}">
                <a16:creationId xmlns:a16="http://schemas.microsoft.com/office/drawing/2014/main" id="{B85AE9DB-1804-4DCB-AE0D-F9462529B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141" y="1690688"/>
            <a:ext cx="4633068" cy="2147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A570962-79F2-4FCA-B270-C4082E9F0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8B889B2-DCEF-4016-AF36-831FCBCD1C9B}"/>
              </a:ext>
            </a:extLst>
          </p:cNvPr>
          <p:cNvSpPr txBox="1"/>
          <p:nvPr/>
        </p:nvSpPr>
        <p:spPr>
          <a:xfrm>
            <a:off x="4709014" y="3313191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r>
              <a:rPr lang="en-US" altLang="zh-TW"/>
              <a:t>x3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53C12AF-A903-499A-BBB1-46B111CD0B2A}"/>
              </a:ext>
            </a:extLst>
          </p:cNvPr>
          <p:cNvSpPr txBox="1"/>
          <p:nvPr/>
        </p:nvSpPr>
        <p:spPr>
          <a:xfrm>
            <a:off x="10422209" y="3446488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8x4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49006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0DD06FD-99F6-4E47-9EA9-955BCF958564}"/>
              </a:ext>
            </a:extLst>
          </p:cNvPr>
          <p:cNvGraphicFramePr>
            <a:graphicFrameLocks noGrp="1"/>
          </p:cNvGraphicFramePr>
          <p:nvPr/>
        </p:nvGraphicFramePr>
        <p:xfrm>
          <a:off x="667265" y="0"/>
          <a:ext cx="6461211" cy="6862098"/>
        </p:xfrm>
        <a:graphic>
          <a:graphicData uri="http://schemas.openxmlformats.org/drawingml/2006/table">
            <a:tbl>
              <a:tblPr/>
              <a:tblGrid>
                <a:gridCol w="863108">
                  <a:extLst>
                    <a:ext uri="{9D8B030D-6E8A-4147-A177-3AD203B41FA5}">
                      <a16:colId xmlns:a16="http://schemas.microsoft.com/office/drawing/2014/main" val="1347903960"/>
                    </a:ext>
                  </a:extLst>
                </a:gridCol>
                <a:gridCol w="1105102">
                  <a:extLst>
                    <a:ext uri="{9D8B030D-6E8A-4147-A177-3AD203B41FA5}">
                      <a16:colId xmlns:a16="http://schemas.microsoft.com/office/drawing/2014/main" val="4162564599"/>
                    </a:ext>
                  </a:extLst>
                </a:gridCol>
                <a:gridCol w="863108">
                  <a:extLst>
                    <a:ext uri="{9D8B030D-6E8A-4147-A177-3AD203B41FA5}">
                      <a16:colId xmlns:a16="http://schemas.microsoft.com/office/drawing/2014/main" val="3837261289"/>
                    </a:ext>
                  </a:extLst>
                </a:gridCol>
                <a:gridCol w="863108">
                  <a:extLst>
                    <a:ext uri="{9D8B030D-6E8A-4147-A177-3AD203B41FA5}">
                      <a16:colId xmlns:a16="http://schemas.microsoft.com/office/drawing/2014/main" val="3623575787"/>
                    </a:ext>
                  </a:extLst>
                </a:gridCol>
                <a:gridCol w="1040569">
                  <a:extLst>
                    <a:ext uri="{9D8B030D-6E8A-4147-A177-3AD203B41FA5}">
                      <a16:colId xmlns:a16="http://schemas.microsoft.com/office/drawing/2014/main" val="3042725920"/>
                    </a:ext>
                  </a:extLst>
                </a:gridCol>
                <a:gridCol w="863108">
                  <a:extLst>
                    <a:ext uri="{9D8B030D-6E8A-4147-A177-3AD203B41FA5}">
                      <a16:colId xmlns:a16="http://schemas.microsoft.com/office/drawing/2014/main" val="3351040710"/>
                    </a:ext>
                  </a:extLst>
                </a:gridCol>
                <a:gridCol w="863108">
                  <a:extLst>
                    <a:ext uri="{9D8B030D-6E8A-4147-A177-3AD203B41FA5}">
                      <a16:colId xmlns:a16="http://schemas.microsoft.com/office/drawing/2014/main" val="1335327345"/>
                    </a:ext>
                  </a:extLst>
                </a:gridCol>
              </a:tblGrid>
              <a:tr h="181159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rgbClr val="0070C0"/>
                          </a:solidFill>
                          <a:effectLst/>
                          <a:latin typeface="Aptos Narrow"/>
                        </a:rPr>
                        <a:t>Cart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rgbClr val="0070C0"/>
                          </a:solidFill>
                          <a:effectLst/>
                          <a:latin typeface="Aptos Narrow"/>
                        </a:rPr>
                        <a:t>Order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9379834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cartTime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tNo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cartTime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pNo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amount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1474950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c0927777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10/10/2005 22:00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92666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a0911234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2/2/2005 18:00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b30999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968716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c0927777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10/10/2005 22:00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92666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b0905555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5/5/2005 12:00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v01888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082565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c0927777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10/10/2005 22:00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92666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c0927777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10/10/2005 22:00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d11222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020096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c0927777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10/10/2005 22:00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92666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c0927777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10/10/2005 22:00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v00111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875104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c0927777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10/10/2005 22:00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92666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c0927777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10/10/2005 22:00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d20777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274172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c0927777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10/10/2005 22:00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92666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b0922468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11/11/2005 9:00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b10234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3578465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c0927777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10/10/2005 22:00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92666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b0922468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11/11/2005 9:00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d11222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6613575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c0927777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10/10/2005 22:00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92666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b0922468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9/9/2005 10:00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d11222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1980868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b0905555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5/5/2005 12:00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90111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a0911234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2/2/2005 18:00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b30999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5933130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b0905555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5/5/2005 12:00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90111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b0905555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5/5/2005 12:00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v01888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232218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b0905555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5/5/2005 12:00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90111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c0927777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10/10/2005 22:00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d11222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1162091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b0905555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5/5/2005 12:00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90111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c0927777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10/10/2005 22:00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v00111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5110420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b0905555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5/5/2005 12:00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90111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c0927777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10/10/2005 22:00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d20777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6533184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b0905555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5/5/2005 12:00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90111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b0922468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11/11/2005 9:00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b10234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5984903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b0905555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5/5/2005 12:00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90111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b0922468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11/11/2005 9:00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d11222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16784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b0905555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5/5/2005 12:00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90111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a0910001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9/9/2005 10:00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d11222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375269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a0911234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2/2/2005 18:00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91100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a0911234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2/2/2005 18:00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b30999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075264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a0911234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2/2/2005 18:00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91100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b0905555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5/5/2005 12:00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v01888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825455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a0911234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2/2/2005 18:00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91100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c0927777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10/10/2005 22:00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d11222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010728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a0911234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2/2/2005 18:00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91100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c0927777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10/10/2005 22:00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v00111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7950347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a0911234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2/2/2005 18:00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91100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c0927777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10/10/2005 22:00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d20777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5912176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a0911234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2/2/2005 18:00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91100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b0922468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11/11/2005 9:00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b10234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8136276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a0911234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2/2/2005 18:00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91100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b0922468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11/11/2005 9:00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d11222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3031155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a0911234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2/2/2005 18:00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91100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a0910001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9/9/2005 10:00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d11222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520769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b0922468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11/11/2005 9:00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92555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a0911234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2/2/2005 18:00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b30999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4128668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b0922468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11/11/2005 9:00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92555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b0905555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5/5/2005 12:00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v01888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271554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b0922468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11/11/2005 9:00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92555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c0927777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10/10/2005 22:00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d11222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4657813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b0922468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11/11/2005 9:00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92555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c0927777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10/10/2005 22:00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v00111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600686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b0922468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11/11/2005 9:00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92555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c0927777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10/10/2005 22:00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d20777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532349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b0922468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11/11/2005 9:00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92555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b0922468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11/11/2005 9:00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b10234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898623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b0922468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11/11/2005 9:00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92555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b0922468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11/11/2005 9:00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d11222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230476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b0922468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11/11/2005 9:00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92555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a0910001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9/9/2005 10:00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d11222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2319204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a0910001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9/9/2005 10:00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null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a0911234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2/2/2005 18:00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b30999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1675308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a0910001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9/9/2005 10:00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null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b0905555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5/5/2005 12:00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v01888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134839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a0910001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9/9/2005 10:00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null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c0927777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10/10/2005 22:00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d11222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1563348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a0910001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9/9/2005 10:00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null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c0927777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10/10/2005 22:00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v00111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6667420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a0910001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9/9/2005 10:00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null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c0927777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10/10/2005 22:00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d20777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375201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a0910001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9/9/2005 10:00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null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b0922468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11/11/2005 9:00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b10234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3930526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a0910001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9/9/2005 10:00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null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b0922468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11/11/2005 9:00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b40555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1077124"/>
                  </a:ext>
                </a:extLst>
              </a:tr>
              <a:tr h="1588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a0910001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9/9/2005 10:00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null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a0910001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9/9/2005 10:00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d11222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4427" marR="4427" marT="4427" marB="2125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438072"/>
                  </a:ext>
                </a:extLst>
              </a:tr>
            </a:tbl>
          </a:graphicData>
        </a:graphic>
      </p:graphicFrame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717341F-8D5F-4435-B70D-85D9B9498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45C9429-7694-4EA3-8A10-7B2521E39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6528" y="3534031"/>
            <a:ext cx="4307805" cy="163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297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DD8DAE-2640-418C-9BFB-D896017CB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Power Query </a:t>
            </a:r>
            <a:r>
              <a:rPr lang="zh-TW" altLang="en-US"/>
              <a:t>資料表運作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9CAAC8-068E-4F24-A7CB-2A19F0357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Power Query </a:t>
            </a: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是 </a:t>
            </a:r>
            <a:r>
              <a:rPr lang="en-US" altLang="zh-TW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Microsoft Excel </a:t>
            </a: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及 </a:t>
            </a:r>
            <a:r>
              <a:rPr lang="en-US" altLang="zh-TW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Power BI </a:t>
            </a: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內建的資料查詢與轉換工具，專為需要大量數據清理、轉換與自動化</a:t>
            </a:r>
            <a:endParaRPr lang="en-US" altLang="zh-TW" b="0" i="0">
              <a:solidFill>
                <a:srgbClr val="1E293B"/>
              </a:solidFill>
              <a:effectLst/>
              <a:latin typeface="Roboto" panose="02000000000000000000" pitchFamily="2" charset="0"/>
            </a:endParaRPr>
          </a:p>
          <a:p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協助用戶從多種來源取得資料，進行自動化清理、轉換與合併，最終將結果載入 </a:t>
            </a:r>
            <a:r>
              <a:rPr lang="en-US" altLang="zh-TW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Excel </a:t>
            </a: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或 </a:t>
            </a:r>
            <a:r>
              <a:rPr lang="en-US" altLang="zh-TW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Power BI </a:t>
            </a: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進行進一步分析</a:t>
            </a:r>
            <a:endParaRPr lang="en-US" altLang="zh-TW" b="0">
              <a:solidFill>
                <a:srgbClr val="1E293B"/>
              </a:solidFill>
              <a:latin typeface="Roboto" panose="02000000000000000000" pitchFamily="2" charset="0"/>
            </a:endParaRPr>
          </a:p>
          <a:p>
            <a:r>
              <a:rPr lang="en-US" altLang="zh-TW" b="1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Excel 2016/2019/365</a:t>
            </a: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：</a:t>
            </a:r>
            <a:r>
              <a:rPr lang="en-US" altLang="zh-TW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Power Query </a:t>
            </a: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已整合於「資料」</a:t>
            </a:r>
            <a:r>
              <a:rPr lang="en-US" altLang="zh-TW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&gt;</a:t>
            </a: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「取得與轉換資料」功能區，無需額外安裝。</a:t>
            </a:r>
          </a:p>
          <a:p>
            <a:pPr lvl="1"/>
            <a:r>
              <a:rPr lang="en-US" altLang="zh-TW" b="1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Excel 2010/2013</a:t>
            </a: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：需額外下載 </a:t>
            </a:r>
            <a:r>
              <a:rPr lang="en-US" altLang="zh-TW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Power Query </a:t>
            </a: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外掛程式</a:t>
            </a:r>
            <a:endParaRPr lang="en-US" altLang="zh-TW" b="0" i="0">
              <a:solidFill>
                <a:srgbClr val="1E293B"/>
              </a:solidFill>
              <a:effectLst/>
              <a:latin typeface="Roboto" panose="02000000000000000000" pitchFamily="2" charset="0"/>
            </a:endParaRPr>
          </a:p>
          <a:p>
            <a:pPr lvl="1"/>
            <a:r>
              <a:rPr lang="en-US" altLang="zh-TW" b="1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Excel 2016/2019/365</a:t>
            </a: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：大多數功能皆可用，部分進階功能需 </a:t>
            </a:r>
            <a:r>
              <a:rPr lang="en-US" altLang="zh-TW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365 </a:t>
            </a: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版本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68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794143-A60C-489B-9C7A-0BF358EA8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i="0">
                <a:solidFill>
                  <a:srgbClr val="C00000"/>
                </a:solidFill>
                <a:effectLst/>
                <a:latin typeface="Roboto" panose="02000000000000000000" pitchFamily="2" charset="0"/>
              </a:rPr>
              <a:t>Power Query </a:t>
            </a:r>
            <a:r>
              <a:rPr lang="zh-TW" altLang="en-US" b="1" i="0">
                <a:solidFill>
                  <a:srgbClr val="C00000"/>
                </a:solidFill>
                <a:effectLst/>
                <a:latin typeface="Roboto" panose="02000000000000000000" pitchFamily="2" charset="0"/>
              </a:rPr>
              <a:t>基本操作</a:t>
            </a:r>
            <a:endParaRPr lang="zh-TW" altLang="en-US" b="1">
              <a:solidFill>
                <a:srgbClr val="C00000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3985B3-DC86-4DD1-890F-1D0E7F437C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ln>
            <a:solidFill>
              <a:schemeClr val="accent1"/>
            </a:solidFill>
          </a:ln>
        </p:spPr>
        <p:txBody>
          <a:bodyPr>
            <a:normAutofit fontScale="92500"/>
          </a:bodyPr>
          <a:lstStyle/>
          <a:p>
            <a:pPr algn="l">
              <a:lnSpc>
                <a:spcPct val="100000"/>
              </a:lnSpc>
            </a:pPr>
            <a:r>
              <a:rPr lang="zh-TW" altLang="en-US" sz="2600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從各種來源匯入數據</a:t>
            </a:r>
          </a:p>
          <a:p>
            <a:pPr lvl="1" fontAlgn="base">
              <a:lnSpc>
                <a:spcPct val="100000"/>
              </a:lnSpc>
              <a:buFont typeface="+mj-lt"/>
              <a:buAutoNum type="arabicPeriod"/>
            </a:pPr>
            <a:r>
              <a:rPr lang="zh-TW" altLang="en-US" sz="2200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點選「資料」</a:t>
            </a:r>
            <a:r>
              <a:rPr lang="en-US" altLang="zh-TW" sz="2200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&gt;</a:t>
            </a:r>
            <a:r>
              <a:rPr lang="zh-TW" altLang="en-US" sz="2200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「取得資料」。</a:t>
            </a:r>
          </a:p>
          <a:p>
            <a:pPr lvl="1" fontAlgn="base">
              <a:lnSpc>
                <a:spcPct val="100000"/>
              </a:lnSpc>
              <a:buFont typeface="+mj-lt"/>
              <a:buAutoNum type="arabicPeriod"/>
            </a:pPr>
            <a:r>
              <a:rPr lang="zh-TW" altLang="en-US" sz="2200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選擇來源（如「自 </a:t>
            </a:r>
            <a:r>
              <a:rPr lang="en-US" altLang="zh-TW" sz="2200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Excel </a:t>
            </a:r>
            <a:r>
              <a:rPr lang="zh-TW" altLang="en-US" sz="2200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檔案」、「自資料庫」、「自網頁」等）。</a:t>
            </a:r>
          </a:p>
          <a:p>
            <a:pPr lvl="1" fontAlgn="base">
              <a:lnSpc>
                <a:spcPct val="100000"/>
              </a:lnSpc>
              <a:buFont typeface="+mj-lt"/>
              <a:buAutoNum type="arabicPeriod"/>
            </a:pPr>
            <a:r>
              <a:rPr lang="zh-TW" altLang="en-US" sz="2200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選取檔案或輸入連線資訊。</a:t>
            </a:r>
          </a:p>
          <a:p>
            <a:pPr lvl="1" fontAlgn="base">
              <a:lnSpc>
                <a:spcPct val="100000"/>
              </a:lnSpc>
              <a:buFont typeface="+mj-lt"/>
              <a:buAutoNum type="arabicPeriod"/>
            </a:pPr>
            <a:r>
              <a:rPr lang="zh-TW" altLang="en-US" sz="2200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在「導覽器」中選擇要匯入的表格或範圍，點「載入」或「轉換資料」。</a:t>
            </a:r>
          </a:p>
          <a:p>
            <a:pPr>
              <a:lnSpc>
                <a:spcPct val="100000"/>
              </a:lnSpc>
            </a:pPr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7BF862B-D5F0-4303-93E0-11B638DCFF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solidFill>
              <a:schemeClr val="accent1"/>
            </a:solidFill>
          </a:ln>
        </p:spPr>
        <p:txBody>
          <a:bodyPr>
            <a:normAutofit fontScale="92500"/>
          </a:bodyPr>
          <a:lstStyle/>
          <a:p>
            <a:pPr algn="l">
              <a:lnSpc>
                <a:spcPct val="110000"/>
              </a:lnSpc>
            </a:pPr>
            <a:r>
              <a:rPr lang="zh-TW" altLang="en-US" sz="2400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數據轉換與清理</a:t>
            </a:r>
          </a:p>
          <a:p>
            <a:pPr lvl="1" fontAlgn="base">
              <a:lnSpc>
                <a:spcPct val="110000"/>
              </a:lnSpc>
            </a:pPr>
            <a:r>
              <a:rPr lang="zh-TW" altLang="en-US" sz="2000" b="1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篩選資料</a:t>
            </a:r>
            <a:r>
              <a:rPr lang="zh-TW" altLang="en-US" sz="2000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：點選欄位標題的篩選按鈕，設定條件。</a:t>
            </a:r>
          </a:p>
          <a:p>
            <a:pPr lvl="1" fontAlgn="base">
              <a:lnSpc>
                <a:spcPct val="110000"/>
              </a:lnSpc>
            </a:pPr>
            <a:r>
              <a:rPr lang="zh-TW" altLang="en-US" sz="2000" b="1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拆分欄位</a:t>
            </a:r>
            <a:r>
              <a:rPr lang="zh-TW" altLang="en-US" sz="2000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：選取欄位，點「轉換」</a:t>
            </a:r>
            <a:r>
              <a:rPr lang="en-US" altLang="zh-TW" sz="2000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&gt;</a:t>
            </a:r>
            <a:r>
              <a:rPr lang="zh-TW" altLang="en-US" sz="2000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「拆分欄位」，依分隔符或固定長度分割。</a:t>
            </a:r>
          </a:p>
          <a:p>
            <a:pPr lvl="1" fontAlgn="base">
              <a:lnSpc>
                <a:spcPct val="110000"/>
              </a:lnSpc>
            </a:pPr>
            <a:r>
              <a:rPr lang="zh-TW" altLang="en-US" sz="2000" b="1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合併欄位</a:t>
            </a:r>
            <a:r>
              <a:rPr lang="zh-TW" altLang="en-US" sz="2000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：選取多個欄位，點「轉換」</a:t>
            </a:r>
            <a:r>
              <a:rPr lang="en-US" altLang="zh-TW" sz="2000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&gt;</a:t>
            </a:r>
            <a:r>
              <a:rPr lang="zh-TW" altLang="en-US" sz="2000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「合併欄位」。</a:t>
            </a:r>
          </a:p>
          <a:p>
            <a:pPr lvl="1" fontAlgn="base">
              <a:lnSpc>
                <a:spcPct val="110000"/>
              </a:lnSpc>
            </a:pPr>
            <a:r>
              <a:rPr lang="zh-TW" altLang="en-US" sz="2000" b="1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移除重複</a:t>
            </a:r>
            <a:r>
              <a:rPr lang="zh-TW" altLang="en-US" sz="2000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：選取欄位，點「移除重複」。</a:t>
            </a:r>
          </a:p>
          <a:p>
            <a:pPr lvl="1" fontAlgn="base">
              <a:lnSpc>
                <a:spcPct val="110000"/>
              </a:lnSpc>
            </a:pPr>
            <a:r>
              <a:rPr lang="zh-TW" altLang="en-US" sz="2000" b="1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資料類型轉換</a:t>
            </a:r>
            <a:r>
              <a:rPr lang="zh-TW" altLang="en-US" sz="2000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：點欄位左側圖示，選擇正確資料型態（數字、日期、文字等）。</a:t>
            </a:r>
          </a:p>
          <a:p>
            <a:pPr lvl="1" fontAlgn="base">
              <a:lnSpc>
                <a:spcPct val="110000"/>
              </a:lnSpc>
            </a:pPr>
            <a:r>
              <a:rPr lang="zh-TW" altLang="en-US" sz="2000" b="1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條件運算</a:t>
            </a:r>
            <a:r>
              <a:rPr lang="zh-TW" altLang="en-US" sz="2000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：可新增自訂欄位，設定條件判斷（如 </a:t>
            </a:r>
            <a:r>
              <a:rPr lang="en-US" altLang="zh-TW" sz="2000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IF </a:t>
            </a:r>
            <a:r>
              <a:rPr lang="zh-TW" altLang="en-US" sz="2000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條件）。</a:t>
            </a:r>
          </a:p>
          <a:p>
            <a:pPr>
              <a:lnSpc>
                <a:spcPct val="110000"/>
              </a:lnSpc>
            </a:pPr>
            <a:endParaRPr lang="zh-TW" altLang="en-US" sz="2400"/>
          </a:p>
        </p:txBody>
      </p:sp>
    </p:spTree>
    <p:extLst>
      <p:ext uri="{BB962C8B-B14F-4D97-AF65-F5344CB8AC3E}">
        <p14:creationId xmlns:p14="http://schemas.microsoft.com/office/powerpoint/2010/main" val="11350584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119C6554-5938-496E-8753-BAA2881F3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028E57-AE26-4550-B79A-832AF37C5C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ln>
            <a:solidFill>
              <a:schemeClr val="accent1"/>
            </a:solidFill>
          </a:ln>
        </p:spPr>
        <p:txBody>
          <a:bodyPr>
            <a:normAutofit fontScale="92500" lnSpcReduction="20000"/>
          </a:bodyPr>
          <a:lstStyle/>
          <a:p>
            <a:pPr algn="l">
              <a:lnSpc>
                <a:spcPct val="100000"/>
              </a:lnSpc>
            </a:pP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合併查詢與追加查詢</a:t>
            </a:r>
          </a:p>
          <a:p>
            <a:pPr lvl="1" fontAlgn="base">
              <a:lnSpc>
                <a:spcPct val="100000"/>
              </a:lnSpc>
            </a:pPr>
            <a:r>
              <a:rPr lang="zh-TW" altLang="en-US" b="1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合併查詢</a:t>
            </a: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：將兩份資料表依共同欄位合併（類似 </a:t>
            </a:r>
            <a:r>
              <a:rPr lang="en-US" altLang="zh-TW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VLOOKUP</a:t>
            </a: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）。</a:t>
            </a:r>
          </a:p>
          <a:p>
            <a:pPr lvl="1" fontAlgn="base">
              <a:lnSpc>
                <a:spcPct val="100000"/>
              </a:lnSpc>
            </a:pPr>
            <a:r>
              <a:rPr lang="zh-TW" altLang="en-US" b="1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追加查詢</a:t>
            </a: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：將多份結構相同的資料表上下合併（類似 </a:t>
            </a:r>
            <a:r>
              <a:rPr lang="en-US" altLang="zh-TW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UNION</a:t>
            </a: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）。</a:t>
            </a:r>
          </a:p>
          <a:p>
            <a:pPr algn="l">
              <a:lnSpc>
                <a:spcPct val="100000"/>
              </a:lnSpc>
            </a:pP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載入到 </a:t>
            </a:r>
            <a:r>
              <a:rPr lang="en-US" altLang="zh-TW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Excel/Power BI </a:t>
            </a: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的選項</a:t>
            </a:r>
          </a:p>
          <a:p>
            <a:pPr lvl="1" fontAlgn="base">
              <a:lnSpc>
                <a:spcPct val="100000"/>
              </a:lnSpc>
            </a:pPr>
            <a:r>
              <a:rPr lang="zh-TW" altLang="en-US" b="1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新工作表</a:t>
            </a: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：將查詢結果載入新分頁。</a:t>
            </a:r>
          </a:p>
          <a:p>
            <a:pPr lvl="1" fontAlgn="base">
              <a:lnSpc>
                <a:spcPct val="100000"/>
              </a:lnSpc>
            </a:pPr>
            <a:r>
              <a:rPr lang="zh-TW" altLang="en-US" b="1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現有工作表</a:t>
            </a: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：指定儲存格區域。</a:t>
            </a:r>
          </a:p>
          <a:p>
            <a:pPr lvl="1" fontAlgn="base">
              <a:lnSpc>
                <a:spcPct val="100000"/>
              </a:lnSpc>
            </a:pPr>
            <a:r>
              <a:rPr lang="zh-TW" altLang="en-US" b="1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僅建立連結</a:t>
            </a: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：不載入資料，僅建立查詢，供後續使用。</a:t>
            </a:r>
          </a:p>
          <a:p>
            <a:pPr lvl="1" fontAlgn="base">
              <a:lnSpc>
                <a:spcPct val="100000"/>
              </a:lnSpc>
            </a:pPr>
            <a:r>
              <a:rPr lang="en-US" altLang="zh-TW" b="1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Power Pivot </a:t>
            </a:r>
            <a:r>
              <a:rPr lang="zh-TW" altLang="en-US" b="1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資料模型</a:t>
            </a: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：供進階分析用。</a:t>
            </a:r>
          </a:p>
          <a:p>
            <a:pPr>
              <a:lnSpc>
                <a:spcPct val="100000"/>
              </a:lnSpc>
            </a:pPr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E9D673C-4257-40A5-B89F-BE96B4288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solidFill>
              <a:schemeClr val="accent1"/>
            </a:solidFill>
          </a:ln>
        </p:spPr>
        <p:txBody>
          <a:bodyPr>
            <a:normAutofit fontScale="92500" lnSpcReduction="20000"/>
          </a:bodyPr>
          <a:lstStyle/>
          <a:p>
            <a:pPr algn="l">
              <a:lnSpc>
                <a:spcPct val="110000"/>
              </a:lnSpc>
            </a:pP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查詢保存與管理</a:t>
            </a:r>
          </a:p>
          <a:p>
            <a:pPr lvl="1" fontAlgn="base">
              <a:lnSpc>
                <a:spcPct val="110000"/>
              </a:lnSpc>
            </a:pP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查詢會自動儲存在 </a:t>
            </a:r>
            <a:r>
              <a:rPr lang="en-US" altLang="zh-TW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Excel </a:t>
            </a: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檔案內，於「查詢與連線」窗格管理。</a:t>
            </a:r>
          </a:p>
          <a:p>
            <a:pPr lvl="1" fontAlgn="base">
              <a:lnSpc>
                <a:spcPct val="110000"/>
              </a:lnSpc>
            </a:pP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可右鍵查詢重新命名、複製、刪除或編輯步驟。</a:t>
            </a:r>
          </a:p>
          <a:p>
            <a:pPr algn="l">
              <a:lnSpc>
                <a:spcPct val="110000"/>
              </a:lnSpc>
            </a:pP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自動更新與排程</a:t>
            </a:r>
          </a:p>
          <a:p>
            <a:pPr lvl="1" fontAlgn="base">
              <a:lnSpc>
                <a:spcPct val="110000"/>
              </a:lnSpc>
            </a:pPr>
            <a:r>
              <a:rPr lang="zh-TW" altLang="en-US" b="1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手動更新</a:t>
            </a: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：於查詢上右鍵「重新整理」。</a:t>
            </a:r>
          </a:p>
          <a:p>
            <a:pPr lvl="1" fontAlgn="base">
              <a:lnSpc>
                <a:spcPct val="110000"/>
              </a:lnSpc>
            </a:pPr>
            <a:r>
              <a:rPr lang="zh-TW" altLang="en-US" b="1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自動更新</a:t>
            </a: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：可設定開啟檔案時自動更新，或利用 </a:t>
            </a:r>
            <a:r>
              <a:rPr lang="en-US" altLang="zh-TW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VBA/Windows </a:t>
            </a: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工作排程器進行定時更新（進階用法）。</a:t>
            </a:r>
          </a:p>
          <a:p>
            <a:pPr lvl="1" fontAlgn="base">
              <a:lnSpc>
                <a:spcPct val="110000"/>
              </a:lnSpc>
            </a:pPr>
            <a:r>
              <a:rPr lang="en-US" altLang="zh-TW" b="1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Power BI</a:t>
            </a:r>
            <a:r>
              <a:rPr lang="zh-TW" altLang="en-US" b="0" i="0">
                <a:solidFill>
                  <a:srgbClr val="1E293B"/>
                </a:solidFill>
                <a:effectLst/>
                <a:latin typeface="Roboto" panose="02000000000000000000" pitchFamily="2" charset="0"/>
              </a:rPr>
              <a:t>：支援雲端自動排程更新。</a:t>
            </a:r>
          </a:p>
          <a:p>
            <a:pPr>
              <a:lnSpc>
                <a:spcPct val="110000"/>
              </a:lnSpc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4209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C33D34E-F54A-43C9-AF32-AB7043F4A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卡迪森乘積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BDFCB64-9413-41BA-96C8-4D74CB760B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TW" altLang="en-US" sz="2400"/>
              <a:t>載入資料表</a:t>
            </a:r>
            <a:endParaRPr lang="en-US" altLang="zh-TW" sz="2400"/>
          </a:p>
          <a:p>
            <a:r>
              <a:rPr lang="zh-TW" altLang="en-US" sz="2400"/>
              <a:t>選擇 </a:t>
            </a:r>
            <a:r>
              <a:rPr lang="en-US" altLang="zh-TW" sz="2400">
                <a:solidFill>
                  <a:srgbClr val="00B050"/>
                </a:solidFill>
              </a:rPr>
              <a:t>transaction</a:t>
            </a:r>
            <a:r>
              <a:rPr lang="en-US" altLang="zh-TW" sz="2400"/>
              <a:t> </a:t>
            </a:r>
            <a:r>
              <a:rPr lang="zh-TW" altLang="en-US" sz="2400"/>
              <a:t>資料表</a:t>
            </a:r>
            <a:endParaRPr lang="en-US" altLang="zh-TW" sz="2400"/>
          </a:p>
          <a:p>
            <a:r>
              <a:rPr lang="zh-TW" altLang="en-US" sz="2400"/>
              <a:t>新增資料行</a:t>
            </a:r>
            <a:endParaRPr lang="en-US" altLang="zh-TW" sz="2400"/>
          </a:p>
          <a:p>
            <a:r>
              <a:rPr lang="zh-TW" altLang="en-US" sz="2400"/>
              <a:t>自訂資料行</a:t>
            </a:r>
            <a:endParaRPr lang="en-US" altLang="zh-TW" sz="2400"/>
          </a:p>
          <a:p>
            <a:pPr lvl="1"/>
            <a:r>
              <a:rPr lang="zh-TW" altLang="en-US" sz="2000"/>
              <a:t>自訂資料行公式 </a:t>
            </a:r>
            <a:r>
              <a:rPr lang="en-US" altLang="zh-TW" sz="2000"/>
              <a:t>= </a:t>
            </a:r>
            <a:r>
              <a:rPr lang="en-US" altLang="zh-TW" sz="2000">
                <a:solidFill>
                  <a:srgbClr val="00B050"/>
                </a:solidFill>
              </a:rPr>
              <a:t>cart</a:t>
            </a:r>
          </a:p>
          <a:p>
            <a:r>
              <a:rPr lang="zh-TW" altLang="en-US" sz="2400"/>
              <a:t>展開</a:t>
            </a:r>
            <a:r>
              <a:rPr lang="en-US" altLang="zh-TW" sz="2400"/>
              <a:t>[</a:t>
            </a:r>
            <a:r>
              <a:rPr lang="zh-TW" altLang="en-US" sz="2400"/>
              <a:t>自訂</a:t>
            </a:r>
            <a:r>
              <a:rPr lang="en-US" altLang="zh-TW" sz="2400"/>
              <a:t>]</a:t>
            </a:r>
            <a:r>
              <a:rPr lang="zh-TW" altLang="en-US" sz="2400"/>
              <a:t>欄位</a:t>
            </a:r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47FFD1C7-C8AA-4C53-88B7-0618BD4CAA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9800" y="1825625"/>
            <a:ext cx="5181600" cy="3249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177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9CC08F05-D715-4662-B1B3-105169B78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資料表合併</a:t>
            </a:r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453C1D43-6CF2-454A-9138-48FF0D70D6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6253" y="1195018"/>
            <a:ext cx="5637388" cy="5073650"/>
          </a:xfrm>
        </p:spPr>
      </p:pic>
    </p:spTree>
    <p:extLst>
      <p:ext uri="{BB962C8B-B14F-4D97-AF65-F5344CB8AC3E}">
        <p14:creationId xmlns:p14="http://schemas.microsoft.com/office/powerpoint/2010/main" val="20634896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E1A4CC-6ABC-4A28-A4D8-9D73D835C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JOIN</a:t>
            </a:r>
            <a:r>
              <a:rPr lang="zh-TW" altLang="en-US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運算子</a:t>
            </a:r>
            <a:r>
              <a:rPr lang="en-US" altLang="zh-TW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(</a:t>
            </a:r>
            <a:r>
              <a:rPr lang="zh-TW" altLang="en-US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⋈</a:t>
            </a:r>
            <a:r>
              <a:rPr lang="en-US" altLang="zh-TW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)</a:t>
            </a:r>
            <a:r>
              <a:rPr lang="zh-TW" altLang="en-US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特性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D6DCFC-0A82-4238-8671-C13F0E75D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09300" cy="4351338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</a:t>
            </a:r>
            <a:r>
              <a:rPr lang="en-US" altLang="zh-TW" sz="2400" b="1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個屬性和</a:t>
            </a:r>
            <a:r>
              <a:rPr lang="en-US" altLang="zh-TW" sz="2400" b="1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筆序列值，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</a:t>
            </a:r>
            <a:r>
              <a:rPr lang="en-US" altLang="zh-TW" sz="2400" b="1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個屬性和</a:t>
            </a:r>
            <a:r>
              <a:rPr lang="en-US" altLang="zh-TW" sz="2400" b="1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筆序列值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R⋈S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會有</a:t>
            </a:r>
            <a:r>
              <a:rPr lang="en-US" altLang="zh-TW" sz="2400" i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p+t</a:t>
            </a:r>
            <a:r>
              <a:rPr lang="en-US" altLang="zh-TW" sz="2400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個屬性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序列值的筆數最少有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筆，最多則有</a:t>
            </a:r>
            <a:r>
              <a:rPr lang="en-US" altLang="zh-TW" sz="2400" i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×</a:t>
            </a:r>
            <a:r>
              <a:rPr lang="en-US" altLang="zh-TW" sz="2400" i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n</a:t>
            </a:r>
            <a:r>
              <a:rPr lang="en-US" altLang="zh-TW" sz="2400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 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TW" sz="26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6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JOIN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運算子可以串連成較複雜的</a:t>
            </a:r>
            <a:r>
              <a:rPr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JOIN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運算式：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004C1D-7B6B-45E4-9605-670A0FBD0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22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96366DD-D996-4A92-BAF5-F72501F78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137" y="4216128"/>
            <a:ext cx="9965725" cy="158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23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AFA9C8-71A7-43C6-B158-B97912601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B7C4B1-B780-4C68-A80C-D92806B9C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等同匹配運算式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(EQUIJOIN)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TW" altLang="en-US" sz="2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配合條件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的比較運算子都是</a:t>
            </a:r>
            <a:r>
              <a:rPr lang="zh-TW" altLang="en-US" sz="2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等號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24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等同匹配運算式的結果會有</a:t>
            </a:r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屬性值重複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的現象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TW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NATURAL JOIN</a:t>
            </a:r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（*）</a:t>
            </a:r>
            <a:endParaRPr lang="en-US" altLang="zh-TW">
              <a:latin typeface="微軟正黑體" panose="020B0604030504040204" pitchFamily="34" charset="-12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TW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Result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 R*S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Result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為一個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關聯，根據合併條件將屬性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欄位整合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的屬性和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的屬性</a:t>
            </a:r>
            <a:endParaRPr lang="en-US" altLang="zh-TW" sz="2400">
              <a:latin typeface="微軟正黑體" panose="020B0604030504040204" pitchFamily="34" charset="-12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TW" altLang="en-US" sz="2400">
                <a:solidFill>
                  <a:srgbClr val="C00000"/>
                </a:solidFill>
                <a:latin typeface="微軟正黑體" panose="020B0604030504040204" pitchFamily="34" charset="-120"/>
              </a:rPr>
              <a:t>相同屬性欄位</a:t>
            </a:r>
            <a:r>
              <a:rPr lang="en-US" altLang="zh-TW" sz="2400">
                <a:solidFill>
                  <a:srgbClr val="C00000"/>
                </a:solidFill>
                <a:latin typeface="微軟正黑體" panose="020B0604030504040204" pitchFamily="34" charset="-120"/>
              </a:rPr>
              <a:t>(</a:t>
            </a:r>
            <a:r>
              <a:rPr lang="zh-TW" altLang="en-US" sz="2400">
                <a:solidFill>
                  <a:srgbClr val="C00000"/>
                </a:solidFill>
                <a:latin typeface="微軟正黑體" panose="020B0604030504040204" pitchFamily="34" charset="-120"/>
              </a:rPr>
              <a:t>名稱</a:t>
            </a:r>
            <a:r>
              <a:rPr lang="en-US" altLang="zh-TW" sz="2400">
                <a:solidFill>
                  <a:srgbClr val="C00000"/>
                </a:solidFill>
                <a:latin typeface="微軟正黑體" panose="020B0604030504040204" pitchFamily="34" charset="-120"/>
              </a:rPr>
              <a:t>)</a:t>
            </a:r>
            <a:r>
              <a:rPr lang="zh-TW" altLang="en-US" sz="2400">
                <a:solidFill>
                  <a:srgbClr val="C00000"/>
                </a:solidFill>
                <a:latin typeface="微軟正黑體" panose="020B0604030504040204" pitchFamily="34" charset="-120"/>
              </a:rPr>
              <a:t>只保留一</a:t>
            </a:r>
            <a:endParaRPr lang="zh-TW" altLang="en-US" sz="24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11BC07-CD25-4136-BA25-F34AB7F01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46694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3EAE89-7013-4DD1-BB70-D3261079C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範例：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Result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Transaction * Cart</a:t>
            </a:r>
            <a:endParaRPr lang="zh-TW" altLang="en-US" dirty="0"/>
          </a:p>
        </p:txBody>
      </p:sp>
      <p:graphicFrame>
        <p:nvGraphicFramePr>
          <p:cNvPr id="4" name="Object 1">
            <a:extLst>
              <a:ext uri="{FF2B5EF4-FFF2-40B4-BE49-F238E27FC236}">
                <a16:creationId xmlns:a16="http://schemas.microsoft.com/office/drawing/2014/main" id="{2CBBD9B2-49DD-4162-8A6E-EE4260A00A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5295883"/>
              </p:ext>
            </p:extLst>
          </p:nvPr>
        </p:nvGraphicFramePr>
        <p:xfrm>
          <a:off x="1674044" y="1690688"/>
          <a:ext cx="82042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0" name="Visio" r:id="rId3" imgW="7229427" imgH="1876561" progId="Visio.Drawing.11">
                  <p:embed/>
                </p:oleObj>
              </mc:Choice>
              <mc:Fallback>
                <p:oleObj name="Visio" r:id="rId3" imgW="7229427" imgH="1876561" progId="Visio.Drawing.11">
                  <p:embed/>
                  <p:pic>
                    <p:nvPicPr>
                      <p:cNvPr id="4" name="Object 1">
                        <a:extLst>
                          <a:ext uri="{FF2B5EF4-FFF2-40B4-BE49-F238E27FC236}">
                            <a16:creationId xmlns:a16="http://schemas.microsoft.com/office/drawing/2014/main" id="{2CBBD9B2-49DD-4162-8A6E-EE4260A00A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4044" y="1690688"/>
                        <a:ext cx="8204200" cy="213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F5E0D315-9943-43EA-B77E-503407FF64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4044" y="4335462"/>
          <a:ext cx="5245100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1" r:id="rId5" imgW="4164482" imgH="1322222" progId="">
                  <p:embed/>
                </p:oleObj>
              </mc:Choice>
              <mc:Fallback>
                <p:oleObj r:id="rId5" imgW="4164482" imgH="1322222" progId="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F5E0D315-9943-43EA-B77E-503407FF64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4044" y="4335462"/>
                        <a:ext cx="5245100" cy="166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9E9EC52-119D-4878-94AC-503601D5D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4444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A44028-A4F5-4D59-91E5-A70AF706F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 </a:t>
            </a:r>
            <a:endParaRPr lang="zh-TW" altLang="en-US" dirty="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5EDBBBA8-1C3D-4AAC-A2E2-A836FF962F3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47850"/>
            <a:ext cx="10549971" cy="316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6BF36B9-0649-4D46-87C6-FE519FD85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4766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717A32-E0B9-440C-9908-D218C157C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JOIN</a:t>
            </a:r>
            <a:r>
              <a:rPr lang="zh-TW" altLang="en-US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 範例</a:t>
            </a:r>
            <a:r>
              <a:rPr lang="en-US" altLang="zh-TW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66DD88-E913-4EC1-BB20-913BEC992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列出「系統分析理論與實務」的作者姓名</a:t>
            </a:r>
          </a:p>
          <a:p>
            <a:pPr lvl="1">
              <a:lnSpc>
                <a:spcPct val="12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  (</a:t>
            </a:r>
            <a:r>
              <a:rPr lang="zh-TW" altLang="en-US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商品編號</a:t>
            </a:r>
            <a:r>
              <a:rPr lang="en-US" altLang="zh-TW" b="1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商品名稱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pName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定價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unitPrice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category)</a:t>
            </a:r>
          </a:p>
          <a:p>
            <a:pPr>
              <a:lnSpc>
                <a:spcPct val="120000"/>
              </a:lnSpc>
              <a:buNone/>
            </a:pP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Author  (</a:t>
            </a:r>
            <a:r>
              <a:rPr lang="zh-TW" altLang="en-US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商品編號</a:t>
            </a:r>
            <a:r>
              <a:rPr lang="en-US" altLang="zh-TW" b="1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u="sng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創作者名稱</a:t>
            </a:r>
            <a:r>
              <a:rPr lang="en-US" altLang="zh-TW" u="sng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name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F5B6A04-BE12-4CC9-9C4D-607975D9E821}"/>
              </a:ext>
            </a:extLst>
          </p:cNvPr>
          <p:cNvSpPr txBox="1"/>
          <p:nvPr/>
        </p:nvSpPr>
        <p:spPr>
          <a:xfrm>
            <a:off x="4326003" y="1702496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bg1"/>
                </a:solidFill>
                <a:highlight>
                  <a:srgbClr val="800000"/>
                </a:highlight>
                <a:latin typeface="微軟正黑體" pitchFamily="34" charset="-120"/>
                <a:ea typeface="微軟正黑體" pitchFamily="34" charset="-120"/>
              </a:rPr>
              <a:t>系統分析理論與實務</a:t>
            </a:r>
            <a:endParaRPr lang="en-US" altLang="zh-TW" b="1" dirty="0">
              <a:solidFill>
                <a:schemeClr val="bg1"/>
              </a:solidFill>
              <a:highlight>
                <a:srgbClr val="800000"/>
              </a:highlight>
              <a:latin typeface="微軟正黑體" pitchFamily="34" charset="-120"/>
              <a:ea typeface="微軟正黑體" pitchFamily="34" charset="-120"/>
            </a:endParaRP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AC50722B-99DD-4419-8F1D-B56A2FC3E311}"/>
              </a:ext>
            </a:extLst>
          </p:cNvPr>
          <p:cNvCxnSpPr>
            <a:cxnSpLocks/>
          </p:cNvCxnSpPr>
          <p:nvPr/>
        </p:nvCxnSpPr>
        <p:spPr>
          <a:xfrm>
            <a:off x="3536515" y="1702496"/>
            <a:ext cx="0" cy="64770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B13D63E-CFE4-4B3D-8D79-A2720470984C}"/>
              </a:ext>
            </a:extLst>
          </p:cNvPr>
          <p:cNvSpPr txBox="1"/>
          <p:nvPr/>
        </p:nvSpPr>
        <p:spPr>
          <a:xfrm>
            <a:off x="1505381" y="3048363"/>
            <a:ext cx="8191500" cy="1131656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Temp=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</a:t>
            </a:r>
            <a:r>
              <a:rPr lang="en-US" altLang="zh-TW" sz="2400" b="1" baseline="-25000" dirty="0" err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</a:t>
            </a:r>
            <a:r>
              <a:rPr lang="en-US" altLang="zh-TW" sz="2400" b="1" baseline="-25000" dirty="0" err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pName</a:t>
            </a:r>
            <a:r>
              <a:rPr lang="en-US" altLang="zh-TW" sz="2400" b="1" baseline="-25000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=‘</a:t>
            </a:r>
            <a:r>
              <a:rPr lang="zh-TW" altLang="en-US" sz="2400" b="1" baseline="-25000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系統分析理論與實務</a:t>
            </a:r>
            <a:r>
              <a:rPr lang="en-US" altLang="zh-TW" sz="2400" b="1" baseline="-25000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’</a:t>
            </a:r>
            <a:r>
              <a:rPr lang="zh-TW" altLang="en-US" sz="2400" b="1" baseline="-25000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(Product))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Result= 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</a:t>
            </a:r>
            <a:r>
              <a:rPr lang="en-US" altLang="zh-TW" sz="2400" b="1" baseline="-25000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name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(Temp *</a:t>
            </a:r>
            <a:r>
              <a:rPr lang="zh-TW" altLang="en-US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Author)</a:t>
            </a:r>
            <a:endParaRPr lang="en-US" altLang="zh-TW" sz="2400" dirty="0">
              <a:solidFill>
                <a:srgbClr val="FF505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243D035-6D6E-461A-9681-2C15256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80773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8">
            <a:extLst>
              <a:ext uri="{FF2B5EF4-FFF2-40B4-BE49-F238E27FC236}">
                <a16:creationId xmlns:a16="http://schemas.microsoft.com/office/drawing/2014/main" id="{BC6D6670-9749-48CA-AE69-3050CDC418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507" y="2873985"/>
            <a:ext cx="4341629" cy="2235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9">
            <a:extLst>
              <a:ext uri="{FF2B5EF4-FFF2-40B4-BE49-F238E27FC236}">
                <a16:creationId xmlns:a16="http://schemas.microsoft.com/office/drawing/2014/main" id="{05B2FE1F-4696-417E-A219-2A941279C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8725" y="2873985"/>
            <a:ext cx="2354004" cy="2855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5B30EDA2-A4E1-42FD-8B8E-7F9FA3EFA225}"/>
              </a:ext>
            </a:extLst>
          </p:cNvPr>
          <p:cNvSpPr/>
          <p:nvPr/>
        </p:nvSpPr>
        <p:spPr>
          <a:xfrm>
            <a:off x="3037562" y="3944221"/>
            <a:ext cx="3688915" cy="237996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7CA884F-2B44-4998-B10F-39F25E23C915}"/>
              </a:ext>
            </a:extLst>
          </p:cNvPr>
          <p:cNvSpPr/>
          <p:nvPr/>
        </p:nvSpPr>
        <p:spPr>
          <a:xfrm>
            <a:off x="7941502" y="3975536"/>
            <a:ext cx="1597068" cy="21294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DA0A7204-72FE-42D5-B811-59354CDCAD70}"/>
              </a:ext>
            </a:extLst>
          </p:cNvPr>
          <p:cNvCxnSpPr>
            <a:stCxn id="6" idx="3"/>
          </p:cNvCxnSpPr>
          <p:nvPr/>
        </p:nvCxnSpPr>
        <p:spPr>
          <a:xfrm flipV="1">
            <a:off x="6726477" y="4056956"/>
            <a:ext cx="1152395" cy="626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1BE4E02-3257-42DF-8DE1-728C8B0D2CCA}"/>
              </a:ext>
            </a:extLst>
          </p:cNvPr>
          <p:cNvSpPr txBox="1"/>
          <p:nvPr/>
        </p:nvSpPr>
        <p:spPr>
          <a:xfrm>
            <a:off x="2000250" y="1271941"/>
            <a:ext cx="8191500" cy="1131656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Temp=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</a:t>
            </a:r>
            <a:r>
              <a:rPr lang="en-US" altLang="zh-TW" sz="2400" b="1" baseline="-25000" dirty="0" err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</a:t>
            </a:r>
            <a:r>
              <a:rPr lang="en-US" altLang="zh-TW" sz="2400" b="1" baseline="-25000" dirty="0" err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pName</a:t>
            </a:r>
            <a:r>
              <a:rPr lang="en-US" altLang="zh-TW" sz="2400" b="1" baseline="-25000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=‘</a:t>
            </a:r>
            <a:r>
              <a:rPr lang="zh-TW" altLang="en-US" sz="2400" b="1" baseline="-25000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系統分析理論與實務</a:t>
            </a:r>
            <a:r>
              <a:rPr lang="en-US" altLang="zh-TW" sz="2400" b="1" baseline="-25000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’</a:t>
            </a:r>
            <a:r>
              <a:rPr lang="zh-TW" altLang="en-US" sz="2400" b="1" baseline="-25000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(Product))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Result= 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</a:t>
            </a:r>
            <a:r>
              <a:rPr lang="en-US" altLang="zh-TW" sz="2400" b="1" baseline="-25000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name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(Temp *</a:t>
            </a:r>
            <a:r>
              <a:rPr lang="zh-TW" altLang="en-US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Author)</a:t>
            </a:r>
            <a:endParaRPr lang="en-US" altLang="zh-TW" sz="2400" dirty="0">
              <a:solidFill>
                <a:srgbClr val="FF505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528491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973C69-4843-4800-9710-AF91B04C9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JOIN</a:t>
            </a:r>
            <a:r>
              <a:rPr lang="zh-TW" altLang="en-US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 範例</a:t>
            </a:r>
            <a:r>
              <a:rPr lang="en-US" altLang="zh-TW" spc="600" dirty="0">
                <a:latin typeface="微軟正黑體" pitchFamily="34" charset="-120"/>
                <a:cs typeface="+mn-cs"/>
              </a:rPr>
              <a:t>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093C25-0E9F-4618-B906-6D48FC4C0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列出所有購買過“系統分析理論與實務”的會員之</a:t>
            </a:r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會員編號和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會員姓名 </a:t>
            </a:r>
          </a:p>
          <a:p>
            <a:pPr lvl="1">
              <a:lnSpc>
                <a:spcPct val="120000"/>
              </a:lnSpc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 (</a:t>
            </a:r>
            <a:r>
              <a:rPr lang="zh-TW" altLang="en-US" sz="16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商品編號</a:t>
            </a:r>
            <a:r>
              <a:rPr lang="en-US" altLang="zh-TW" sz="1600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商品名稱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pName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定價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unitPrice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種類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category)</a:t>
            </a:r>
          </a:p>
          <a:p>
            <a:pPr lvl="1">
              <a:lnSpc>
                <a:spcPct val="120000"/>
              </a:lnSpc>
            </a:pP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Record (</a:t>
            </a:r>
            <a:r>
              <a:rPr lang="zh-TW" altLang="en-US" sz="16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交易編號</a:t>
            </a:r>
            <a:r>
              <a:rPr lang="en-US" altLang="zh-TW" sz="1600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tNo</a:t>
            </a:r>
            <a:r>
              <a:rPr lang="en-US" altLang="zh-TW" sz="16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6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商品編號</a:t>
            </a:r>
            <a:r>
              <a:rPr lang="en-US" altLang="zh-TW" sz="1600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交易數量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amount,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售價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salePrice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) </a:t>
            </a:r>
          </a:p>
          <a:p>
            <a:pPr lvl="1">
              <a:lnSpc>
                <a:spcPct val="120000"/>
              </a:lnSpc>
            </a:pP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Transaction (</a:t>
            </a:r>
            <a:r>
              <a:rPr lang="zh-TW" altLang="en-US" sz="16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交易編號</a:t>
            </a:r>
            <a:r>
              <a:rPr lang="en-US" altLang="zh-TW" sz="1600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tNo</a:t>
            </a:r>
            <a:r>
              <a:rPr lang="en-US" altLang="zh-TW" sz="16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transMId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交易方式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method, …..)</a:t>
            </a:r>
          </a:p>
          <a:p>
            <a:pPr lvl="1">
              <a:lnSpc>
                <a:spcPct val="120000"/>
              </a:lnSpc>
            </a:pP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Member  (</a:t>
            </a:r>
            <a:r>
              <a:rPr lang="zh-TW" altLang="en-US" sz="1600" u="sng" dirty="0">
                <a:solidFill>
                  <a:schemeClr val="hlin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</a:t>
            </a:r>
            <a:r>
              <a:rPr lang="en-US" altLang="zh-TW" sz="1600" u="sng" dirty="0" err="1">
                <a:solidFill>
                  <a:schemeClr val="hlin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sz="1600" u="sng" dirty="0">
                <a:solidFill>
                  <a:schemeClr val="hlin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en-US" altLang="zh-TW" sz="1600" dirty="0">
                <a:solidFill>
                  <a:schemeClr val="hlin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600" dirty="0">
                <a:solidFill>
                  <a:schemeClr val="hlin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姓名</a:t>
            </a:r>
            <a:r>
              <a:rPr lang="en-US" altLang="zh-TW" sz="1600" dirty="0">
                <a:solidFill>
                  <a:schemeClr val="hlin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name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ID 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pId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……) </a:t>
            </a:r>
          </a:p>
          <a:p>
            <a:pPr lvl="1"/>
            <a:endParaRPr lang="zh-TW" altLang="en-US" dirty="0"/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0141E14C-58AE-466C-A7B3-3A4D459F5183}"/>
              </a:ext>
            </a:extLst>
          </p:cNvPr>
          <p:cNvCxnSpPr/>
          <p:nvPr/>
        </p:nvCxnSpPr>
        <p:spPr>
          <a:xfrm>
            <a:off x="2787650" y="2847410"/>
            <a:ext cx="787400" cy="3937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B45708C4-85CE-4800-99B1-9D4ED8B431A2}"/>
              </a:ext>
            </a:extLst>
          </p:cNvPr>
          <p:cNvCxnSpPr/>
          <p:nvPr/>
        </p:nvCxnSpPr>
        <p:spPr>
          <a:xfrm>
            <a:off x="3807913" y="2060166"/>
            <a:ext cx="266700" cy="40536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4331BDC2-273E-47E9-B746-1398C712825B}"/>
              </a:ext>
            </a:extLst>
          </p:cNvPr>
          <p:cNvCxnSpPr/>
          <p:nvPr/>
        </p:nvCxnSpPr>
        <p:spPr>
          <a:xfrm flipH="1">
            <a:off x="3468614" y="3556000"/>
            <a:ext cx="1346200" cy="3810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DDE4FB8-5369-4ADA-A21C-5DDD2EEDB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28</a:t>
            </a:fld>
            <a:endParaRPr lang="zh-TW" altLang="en-US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576EA46C-BA07-4356-8D54-2600C36ADBA8}"/>
              </a:ext>
            </a:extLst>
          </p:cNvPr>
          <p:cNvCxnSpPr>
            <a:cxnSpLocks/>
          </p:cNvCxnSpPr>
          <p:nvPr/>
        </p:nvCxnSpPr>
        <p:spPr>
          <a:xfrm flipH="1">
            <a:off x="4690997" y="1329367"/>
            <a:ext cx="238108" cy="54327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6075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09DA90-00AF-4810-B664-049F8AACA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29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135A92B-AAC9-4C4A-AC2B-4FD2F53EDFD0}"/>
              </a:ext>
            </a:extLst>
          </p:cNvPr>
          <p:cNvSpPr txBox="1"/>
          <p:nvPr/>
        </p:nvSpPr>
        <p:spPr>
          <a:xfrm>
            <a:off x="2511854" y="2618186"/>
            <a:ext cx="6683240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TW" sz="1800" b="1" dirty="0" err="1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Temp_book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 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</a:t>
            </a:r>
            <a:r>
              <a:rPr lang="en-US" altLang="zh-TW" sz="18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</a:t>
            </a:r>
            <a:r>
              <a:rPr lang="en-US" altLang="zh-TW" sz="18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pName</a:t>
            </a:r>
            <a:r>
              <a:rPr lang="en-US" altLang="zh-TW" sz="18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=‘</a:t>
            </a:r>
            <a:r>
              <a:rPr lang="zh-TW" altLang="en-US" sz="18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系統分析理論與實務’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(Product))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Temp_trans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 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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transMid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 </a:t>
            </a:r>
            <a:r>
              <a:rPr lang="en-US" altLang="zh-TW" sz="1800" b="1" dirty="0" err="1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Temp_book</a:t>
            </a:r>
            <a:r>
              <a:rPr lang="en-US" altLang="zh-TW" sz="1800" b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 </a:t>
            </a:r>
            <a:r>
              <a:rPr lang="en-US" altLang="zh-TW" sz="1800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Record</a:t>
            </a:r>
            <a:r>
              <a:rPr lang="en-US" altLang="zh-TW" sz="18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* </a:t>
            </a:r>
            <a:r>
              <a:rPr lang="en-US" altLang="zh-TW" sz="18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Transaction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en-US" altLang="zh-TW" sz="18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Result=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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sz="18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name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Temp_trans</a:t>
            </a:r>
            <a:r>
              <a:rPr lang="en-US" altLang="zh-TW" sz="18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⋈</a:t>
            </a:r>
            <a:r>
              <a:rPr lang="en-US" altLang="zh-TW" sz="18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transMid</a:t>
            </a:r>
            <a:r>
              <a:rPr lang="en-US" altLang="zh-TW" sz="18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en-US" altLang="zh-TW" sz="18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Member</a:t>
            </a:r>
            <a:r>
              <a:rPr lang="en-US" altLang="zh-TW" sz="18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DF175564-4AE9-4537-A3FA-EEB6F5B693E5}"/>
              </a:ext>
            </a:extLst>
          </p:cNvPr>
          <p:cNvSpPr/>
          <p:nvPr/>
        </p:nvSpPr>
        <p:spPr>
          <a:xfrm>
            <a:off x="9418940" y="2001794"/>
            <a:ext cx="2262314" cy="871217"/>
          </a:xfrm>
          <a:prstGeom prst="wedgeRoundRectCallout">
            <a:avLst>
              <a:gd name="adj1" fmla="val -65894"/>
              <a:gd name="adj2" fmla="val 87125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將 </a:t>
            </a:r>
            <a:r>
              <a:rPr lang="en-US" altLang="zh-TW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Temp_book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, Record, Transaction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三個關聯以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Natural Join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聯結</a:t>
            </a:r>
          </a:p>
        </p:txBody>
      </p:sp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3082D5F4-3F5C-4291-9323-DD3EC05ED621}"/>
              </a:ext>
            </a:extLst>
          </p:cNvPr>
          <p:cNvSpPr/>
          <p:nvPr/>
        </p:nvSpPr>
        <p:spPr>
          <a:xfrm>
            <a:off x="8595742" y="3463238"/>
            <a:ext cx="2743200" cy="544513"/>
          </a:xfrm>
          <a:prstGeom prst="wedgeRoundRectCallout">
            <a:avLst>
              <a:gd name="adj1" fmla="val -67500"/>
              <a:gd name="adj2" fmla="val -12501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400" dirty="0">
                <a:solidFill>
                  <a:schemeClr val="tx1"/>
                </a:solidFill>
                <a:ea typeface="微軟正黑體" panose="020B0604030504040204" pitchFamily="34" charset="-120"/>
              </a:rPr>
              <a:t>利用交易找出的會員編號與會員表聯結找出會員編號及會員姓名</a:t>
            </a:r>
          </a:p>
        </p:txBody>
      </p:sp>
      <p:sp>
        <p:nvSpPr>
          <p:cNvPr id="8" name="語音泡泡: 圓角矩形 7">
            <a:extLst>
              <a:ext uri="{FF2B5EF4-FFF2-40B4-BE49-F238E27FC236}">
                <a16:creationId xmlns:a16="http://schemas.microsoft.com/office/drawing/2014/main" id="{B553571D-A62E-4E97-B707-3E56EEA97E3B}"/>
              </a:ext>
            </a:extLst>
          </p:cNvPr>
          <p:cNvSpPr/>
          <p:nvPr/>
        </p:nvSpPr>
        <p:spPr>
          <a:xfrm>
            <a:off x="529281" y="2951442"/>
            <a:ext cx="1705233" cy="393700"/>
          </a:xfrm>
          <a:prstGeom prst="wedgeRoundRectCallout">
            <a:avLst>
              <a:gd name="adj1" fmla="val 68297"/>
              <a:gd name="adj2" fmla="val -81877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ea typeface="微軟正黑體" panose="020B0604030504040204" pitchFamily="34" charset="-120"/>
              </a:rPr>
              <a:t>搜尋出商品編號</a:t>
            </a:r>
          </a:p>
        </p:txBody>
      </p:sp>
    </p:spTree>
    <p:extLst>
      <p:ext uri="{BB962C8B-B14F-4D97-AF65-F5344CB8AC3E}">
        <p14:creationId xmlns:p14="http://schemas.microsoft.com/office/powerpoint/2010/main" val="32482130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8">
            <a:extLst>
              <a:ext uri="{FF2B5EF4-FFF2-40B4-BE49-F238E27FC236}">
                <a16:creationId xmlns:a16="http://schemas.microsoft.com/office/drawing/2014/main" id="{89820FCE-4DE7-4214-9D15-17A38E864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25" y="656877"/>
            <a:ext cx="4341629" cy="2235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: 圓角 2">
            <a:extLst>
              <a:ext uri="{FF2B5EF4-FFF2-40B4-BE49-F238E27FC236}">
                <a16:creationId xmlns:a16="http://schemas.microsoft.com/office/drawing/2014/main" id="{FA55611B-421D-4720-A12E-96B0D2D7788D}"/>
              </a:ext>
            </a:extLst>
          </p:cNvPr>
          <p:cNvSpPr/>
          <p:nvPr/>
        </p:nvSpPr>
        <p:spPr>
          <a:xfrm>
            <a:off x="801666" y="1727113"/>
            <a:ext cx="3688915" cy="237996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Picture 17">
            <a:extLst>
              <a:ext uri="{FF2B5EF4-FFF2-40B4-BE49-F238E27FC236}">
                <a16:creationId xmlns:a16="http://schemas.microsoft.com/office/drawing/2014/main" id="{B82D63AF-39EF-4E94-8712-AC0952BBB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254" y="656877"/>
            <a:ext cx="7051601" cy="1836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4">
            <a:extLst>
              <a:ext uri="{FF2B5EF4-FFF2-40B4-BE49-F238E27FC236}">
                <a16:creationId xmlns:a16="http://schemas.microsoft.com/office/drawing/2014/main" id="{3233C5F0-FC1D-48E0-B8C0-C01189E05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25" y="3241109"/>
            <a:ext cx="3221497" cy="2059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0">
            <a:extLst>
              <a:ext uri="{FF2B5EF4-FFF2-40B4-BE49-F238E27FC236}">
                <a16:creationId xmlns:a16="http://schemas.microsoft.com/office/drawing/2014/main" id="{806E1770-F3F6-4FDE-ADCD-A21270B82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0581" y="3241109"/>
            <a:ext cx="7127673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35D40B87-07C3-4CEB-9B67-78A05BDAC284}"/>
              </a:ext>
            </a:extLst>
          </p:cNvPr>
          <p:cNvSpPr/>
          <p:nvPr/>
        </p:nvSpPr>
        <p:spPr>
          <a:xfrm>
            <a:off x="908137" y="4070959"/>
            <a:ext cx="2511468" cy="35072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DC82C328-920F-46B0-A52E-C6F37DA3D70B}"/>
              </a:ext>
            </a:extLst>
          </p:cNvPr>
          <p:cNvCxnSpPr>
            <a:stCxn id="3" idx="1"/>
            <a:endCxn id="7" idx="1"/>
          </p:cNvCxnSpPr>
          <p:nvPr/>
        </p:nvCxnSpPr>
        <p:spPr>
          <a:xfrm rot="10800000" flipH="1" flipV="1">
            <a:off x="801665" y="1846110"/>
            <a:ext cx="106471" cy="2400213"/>
          </a:xfrm>
          <a:prstGeom prst="bentConnector3">
            <a:avLst>
              <a:gd name="adj1" fmla="val -60294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426D6354-3171-4299-9322-18FF7B168C2B}"/>
              </a:ext>
            </a:extLst>
          </p:cNvPr>
          <p:cNvSpPr/>
          <p:nvPr/>
        </p:nvSpPr>
        <p:spPr>
          <a:xfrm>
            <a:off x="5274818" y="1551748"/>
            <a:ext cx="6324283" cy="22068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0287A7B4-6D1E-47AC-A2CB-EC304185DB93}"/>
              </a:ext>
            </a:extLst>
          </p:cNvPr>
          <p:cNvSpPr/>
          <p:nvPr/>
        </p:nvSpPr>
        <p:spPr>
          <a:xfrm>
            <a:off x="5268554" y="2177748"/>
            <a:ext cx="6324283" cy="22068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EDA3E3A1-34CC-46F3-A1AB-9BDDB86CC682}"/>
              </a:ext>
            </a:extLst>
          </p:cNvPr>
          <p:cNvSpPr/>
          <p:nvPr/>
        </p:nvSpPr>
        <p:spPr>
          <a:xfrm>
            <a:off x="5066052" y="3662383"/>
            <a:ext cx="6526785" cy="22068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6523CB13-BF32-4215-98BA-150882486073}"/>
              </a:ext>
            </a:extLst>
          </p:cNvPr>
          <p:cNvSpPr/>
          <p:nvPr/>
        </p:nvSpPr>
        <p:spPr>
          <a:xfrm>
            <a:off x="5066051" y="4520116"/>
            <a:ext cx="6526785" cy="22068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6942C76A-9D1D-4999-9625-5E61502A2B25}"/>
              </a:ext>
            </a:extLst>
          </p:cNvPr>
          <p:cNvCxnSpPr>
            <a:stCxn id="7" idx="3"/>
          </p:cNvCxnSpPr>
          <p:nvPr/>
        </p:nvCxnSpPr>
        <p:spPr>
          <a:xfrm flipV="1">
            <a:off x="3419605" y="1662090"/>
            <a:ext cx="1848949" cy="258423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E7A92EF-E964-49E4-96D0-56274E6657E5}"/>
              </a:ext>
            </a:extLst>
          </p:cNvPr>
          <p:cNvCxnSpPr>
            <a:stCxn id="7" idx="3"/>
            <a:endCxn id="12" idx="1"/>
          </p:cNvCxnSpPr>
          <p:nvPr/>
        </p:nvCxnSpPr>
        <p:spPr>
          <a:xfrm flipV="1">
            <a:off x="3419605" y="2288091"/>
            <a:ext cx="1848949" cy="195823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B0AD1F25-32FE-4E88-A3FD-B7CCE9C2F14C}"/>
              </a:ext>
            </a:extLst>
          </p:cNvPr>
          <p:cNvCxnSpPr>
            <a:stCxn id="11" idx="3"/>
            <a:endCxn id="13" idx="3"/>
          </p:cNvCxnSpPr>
          <p:nvPr/>
        </p:nvCxnSpPr>
        <p:spPr>
          <a:xfrm flipH="1">
            <a:off x="11592837" y="1662091"/>
            <a:ext cx="6264" cy="2110635"/>
          </a:xfrm>
          <a:prstGeom prst="bentConnector3">
            <a:avLst>
              <a:gd name="adj1" fmla="val -3649425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接點: 肘形 21">
            <a:extLst>
              <a:ext uri="{FF2B5EF4-FFF2-40B4-BE49-F238E27FC236}">
                <a16:creationId xmlns:a16="http://schemas.microsoft.com/office/drawing/2014/main" id="{AE65D6B1-5115-4DB0-A324-A2FABC1C3681}"/>
              </a:ext>
            </a:extLst>
          </p:cNvPr>
          <p:cNvCxnSpPr>
            <a:cxnSpLocks/>
            <a:stCxn id="12" idx="3"/>
            <a:endCxn id="14" idx="3"/>
          </p:cNvCxnSpPr>
          <p:nvPr/>
        </p:nvCxnSpPr>
        <p:spPr>
          <a:xfrm flipH="1">
            <a:off x="11592836" y="2288091"/>
            <a:ext cx="1" cy="2342368"/>
          </a:xfrm>
          <a:prstGeom prst="bentConnector3">
            <a:avLst>
              <a:gd name="adj1" fmla="val -22860000000"/>
            </a:avLst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00A6BE33-0C9F-4963-A626-5D375BD5C1D8}"/>
              </a:ext>
            </a:extLst>
          </p:cNvPr>
          <p:cNvSpPr/>
          <p:nvPr/>
        </p:nvSpPr>
        <p:spPr>
          <a:xfrm>
            <a:off x="5066051" y="3662383"/>
            <a:ext cx="570656" cy="220685"/>
          </a:xfrm>
          <a:prstGeom prst="rect">
            <a:avLst/>
          </a:prstGeom>
          <a:solidFill>
            <a:srgbClr val="00B050">
              <a:alpha val="16863"/>
            </a:srgb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4FCB363-E6F8-4B37-A077-BEA39CBE0359}"/>
              </a:ext>
            </a:extLst>
          </p:cNvPr>
          <p:cNvSpPr/>
          <p:nvPr/>
        </p:nvSpPr>
        <p:spPr>
          <a:xfrm>
            <a:off x="6414687" y="3675352"/>
            <a:ext cx="508761" cy="220685"/>
          </a:xfrm>
          <a:prstGeom prst="rect">
            <a:avLst/>
          </a:prstGeom>
          <a:solidFill>
            <a:srgbClr val="00B050">
              <a:alpha val="16863"/>
            </a:srgb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CDB2FE9-FC53-4B76-ABF9-854CBC3DEA5D}"/>
              </a:ext>
            </a:extLst>
          </p:cNvPr>
          <p:cNvSpPr/>
          <p:nvPr/>
        </p:nvSpPr>
        <p:spPr>
          <a:xfrm>
            <a:off x="5066051" y="4520115"/>
            <a:ext cx="570656" cy="220685"/>
          </a:xfrm>
          <a:prstGeom prst="rect">
            <a:avLst/>
          </a:prstGeom>
          <a:solidFill>
            <a:srgbClr val="00B050">
              <a:alpha val="16863"/>
            </a:srgb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D7D6749-15CB-487F-9708-7DD55038FB64}"/>
              </a:ext>
            </a:extLst>
          </p:cNvPr>
          <p:cNvSpPr/>
          <p:nvPr/>
        </p:nvSpPr>
        <p:spPr>
          <a:xfrm>
            <a:off x="6414687" y="4546054"/>
            <a:ext cx="510018" cy="220685"/>
          </a:xfrm>
          <a:prstGeom prst="rect">
            <a:avLst/>
          </a:prstGeom>
          <a:solidFill>
            <a:srgbClr val="00B050">
              <a:alpha val="16863"/>
            </a:srgb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89838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054E3C-2F8B-474B-8DD7-7EF6E1A8D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JOIN</a:t>
            </a:r>
            <a:r>
              <a:rPr lang="zh-TW" altLang="en-US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 範例</a:t>
            </a:r>
            <a:r>
              <a:rPr lang="en-US" altLang="zh-TW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3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E6113A-5C25-49AF-BFC8-4FF29A02A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列出所有瀏覽過或購買過「系統分析理論與實務」 的會員之會員編號和會員姓名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這些會員包括：</a:t>
            </a:r>
            <a:r>
              <a:rPr lang="zh-TW" altLang="en-US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瀏覽過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「系統分析理論與實務」 的會員，</a:t>
            </a:r>
            <a:r>
              <a:rPr lang="zh-TW" altLang="en-US" sz="2400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以及</a:t>
            </a:r>
            <a:r>
              <a:rPr lang="zh-TW" altLang="en-US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購買過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「系統分析理論與實務」 的會員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 (</a:t>
            </a:r>
            <a:r>
              <a:rPr lang="zh-TW" altLang="en-US" sz="2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商品編號</a:t>
            </a:r>
            <a:r>
              <a:rPr lang="en-US" altLang="zh-TW" sz="2400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商品名稱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pName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定價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unitPrice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種類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category)</a:t>
            </a:r>
          </a:p>
          <a:p>
            <a:pPr lvl="1">
              <a:lnSpc>
                <a:spcPct val="120000"/>
              </a:lnSpc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Browse(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瀏覽時間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browserTime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商品編號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lvl="1">
              <a:lnSpc>
                <a:spcPct val="120000"/>
              </a:lnSpc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Record (</a:t>
            </a:r>
            <a:r>
              <a:rPr lang="zh-TW" altLang="en-US" sz="2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交易編號</a:t>
            </a:r>
            <a:r>
              <a:rPr lang="en-US" altLang="zh-TW" sz="2400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tNo</a:t>
            </a:r>
            <a:r>
              <a:rPr lang="en-US" altLang="zh-TW" sz="2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商品編號</a:t>
            </a:r>
            <a:r>
              <a:rPr lang="en-US" altLang="zh-TW" sz="2400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交易數量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amount,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售價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salePrice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) </a:t>
            </a:r>
          </a:p>
          <a:p>
            <a:pPr lvl="1">
              <a:lnSpc>
                <a:spcPct val="120000"/>
              </a:lnSpc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Transaction (</a:t>
            </a:r>
            <a:r>
              <a:rPr lang="zh-TW" altLang="en-US" sz="2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交易編號</a:t>
            </a:r>
            <a:r>
              <a:rPr lang="en-US" altLang="zh-TW" sz="2400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tNo</a:t>
            </a:r>
            <a:r>
              <a:rPr lang="en-US" altLang="zh-TW" sz="24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transMId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交易方式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method, …..)</a:t>
            </a:r>
          </a:p>
          <a:p>
            <a:pPr lvl="1">
              <a:lnSpc>
                <a:spcPct val="120000"/>
              </a:lnSpc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Member  (</a:t>
            </a:r>
            <a:r>
              <a:rPr lang="zh-TW" altLang="en-US" sz="2400" u="sng" dirty="0">
                <a:solidFill>
                  <a:schemeClr val="hlin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</a:t>
            </a:r>
            <a:r>
              <a:rPr lang="en-US" altLang="zh-TW" sz="2400" u="sng" dirty="0" err="1">
                <a:solidFill>
                  <a:schemeClr val="hlin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sz="2400" u="sng" dirty="0">
                <a:solidFill>
                  <a:schemeClr val="hlin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en-US" altLang="zh-TW" sz="2400" dirty="0">
                <a:solidFill>
                  <a:schemeClr val="hlin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400" dirty="0">
                <a:solidFill>
                  <a:schemeClr val="hlin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姓名</a:t>
            </a:r>
            <a:r>
              <a:rPr lang="en-US" altLang="zh-TW" sz="2400" dirty="0">
                <a:solidFill>
                  <a:schemeClr val="hlin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name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ID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pId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……) </a:t>
            </a:r>
          </a:p>
          <a:p>
            <a:pPr>
              <a:lnSpc>
                <a:spcPct val="120000"/>
              </a:lnSpc>
            </a:pPr>
            <a:endParaRPr lang="en-US" altLang="zh-TW" dirty="0"/>
          </a:p>
          <a:p>
            <a:pPr>
              <a:lnSpc>
                <a:spcPct val="120000"/>
              </a:lnSpc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3BBC54A-1F43-4CC8-96C2-F142A51CA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31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82FC5F5-74CF-4D0C-83FE-7144AD40229F}"/>
              </a:ext>
            </a:extLst>
          </p:cNvPr>
          <p:cNvSpPr txBox="1"/>
          <p:nvPr/>
        </p:nvSpPr>
        <p:spPr>
          <a:xfrm>
            <a:off x="4340269" y="181627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8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</a:t>
            </a:r>
            <a:endParaRPr lang="zh-TW" altLang="en-US">
              <a:solidFill>
                <a:srgbClr val="C00000"/>
              </a:solidFill>
            </a:endParaRP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6B90127C-1401-4B60-AAF6-F5DF5D9AC041}"/>
              </a:ext>
            </a:extLst>
          </p:cNvPr>
          <p:cNvCxnSpPr/>
          <p:nvPr/>
        </p:nvCxnSpPr>
        <p:spPr>
          <a:xfrm>
            <a:off x="4221271" y="2511468"/>
            <a:ext cx="3526077" cy="48851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EFC36484-4C65-4C7B-9D73-EFD64FA758E4}"/>
              </a:ext>
            </a:extLst>
          </p:cNvPr>
          <p:cNvCxnSpPr/>
          <p:nvPr/>
        </p:nvCxnSpPr>
        <p:spPr>
          <a:xfrm>
            <a:off x="3807912" y="2523995"/>
            <a:ext cx="1302707" cy="134028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C4B9CCE6-4A2F-4595-B4AF-5A1285B602FE}"/>
              </a:ext>
            </a:extLst>
          </p:cNvPr>
          <p:cNvCxnSpPr/>
          <p:nvPr/>
        </p:nvCxnSpPr>
        <p:spPr>
          <a:xfrm>
            <a:off x="3682652" y="4240060"/>
            <a:ext cx="225469" cy="49477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700AD890-1985-42C3-8B1F-0C272B620A71}"/>
              </a:ext>
            </a:extLst>
          </p:cNvPr>
          <p:cNvCxnSpPr/>
          <p:nvPr/>
        </p:nvCxnSpPr>
        <p:spPr>
          <a:xfrm flipH="1">
            <a:off x="4221271" y="5022937"/>
            <a:ext cx="1496861" cy="58872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63393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86567A-FB35-4E33-88DB-A4877905D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JOIN</a:t>
            </a:r>
            <a:r>
              <a:rPr lang="zh-TW" altLang="en-US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 範例</a:t>
            </a:r>
            <a:r>
              <a:rPr lang="en-US" altLang="zh-TW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3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00D32D-0AC8-4D03-89C4-883C145DE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列出所有瀏覽過或購買過「系統分析理論與實務」 的會員之會員編號和會員姓名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這些會員包括：瀏覽過「系統分析理論與實務」 的會員，以及購買過「系統分析理論與實務」 的會員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6824DDD-E9FA-40EF-821E-92C2216243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637" y="3149600"/>
            <a:ext cx="7324725" cy="3343275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AF8725-302E-4B4A-BB6C-A42E949CA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32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E96637D-1283-4F5F-ABF5-6DC39FB550A1}"/>
              </a:ext>
            </a:extLst>
          </p:cNvPr>
          <p:cNvSpPr txBox="1"/>
          <p:nvPr/>
        </p:nvSpPr>
        <p:spPr>
          <a:xfrm>
            <a:off x="838199" y="5106958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找出商品編號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A24CA8A7-5E69-4A1E-A71D-A8352343918E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2253971" y="5106958"/>
            <a:ext cx="427446" cy="169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483D9BB9-1915-4D73-A578-DEE1B07D9BCD}"/>
              </a:ext>
            </a:extLst>
          </p:cNvPr>
          <p:cNvSpPr txBox="1"/>
          <p:nvPr/>
        </p:nvSpPr>
        <p:spPr>
          <a:xfrm>
            <a:off x="3921211" y="3686853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找出瀏覽會員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7720DD5-019F-4A6D-9BA6-183C0C14CC7D}"/>
              </a:ext>
            </a:extLst>
          </p:cNvPr>
          <p:cNvSpPr txBox="1"/>
          <p:nvPr/>
        </p:nvSpPr>
        <p:spPr>
          <a:xfrm>
            <a:off x="3853033" y="5843800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找出交易紀錄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3C4F1A8-8113-4BFE-9115-2E2C60C7CE95}"/>
              </a:ext>
            </a:extLst>
          </p:cNvPr>
          <p:cNvSpPr txBox="1"/>
          <p:nvPr/>
        </p:nvSpPr>
        <p:spPr>
          <a:xfrm>
            <a:off x="7094622" y="5022319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找出交易會員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ECF6A83-57F7-41D7-B438-F9DBE66C80B1}"/>
              </a:ext>
            </a:extLst>
          </p:cNvPr>
          <p:cNvSpPr txBox="1"/>
          <p:nvPr/>
        </p:nvSpPr>
        <p:spPr>
          <a:xfrm>
            <a:off x="8947883" y="2722275"/>
            <a:ext cx="16209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找出瀏覽或交易</a:t>
            </a:r>
            <a:endParaRPr lang="en-US" altLang="zh-TW" sz="16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會員編號及姓名</a:t>
            </a: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0C0F600A-9A05-4C62-9AC3-3A012374395E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9758362" y="3429000"/>
            <a:ext cx="269146" cy="1392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860A7B4-51FB-4635-988E-6307AD0FD6F9}"/>
              </a:ext>
            </a:extLst>
          </p:cNvPr>
          <p:cNvCxnSpPr/>
          <p:nvPr/>
        </p:nvCxnSpPr>
        <p:spPr>
          <a:xfrm flipV="1">
            <a:off x="7265773" y="3014662"/>
            <a:ext cx="1581665" cy="471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8985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E2B4EC-7E87-4CB2-8F88-B88E0D949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運作邏輯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E6B117E-67D8-45A2-853E-63A5952AF84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074063"/>
            <a:ext cx="10515600" cy="4092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altLang="en-US" sz="2800">
                <a:solidFill>
                  <a:schemeClr val="tx1"/>
                </a:solidFill>
              </a:rPr>
              <a:t>找出商品編號</a:t>
            </a:r>
            <a:endParaRPr lang="en-US" altLang="zh-TW" sz="2800">
              <a:solidFill>
                <a:schemeClr val="tx1"/>
              </a:solidFill>
            </a:endParaRPr>
          </a:p>
          <a:p>
            <a:r>
              <a:rPr lang="en-US" altLang="zh-TW" sz="2800">
                <a:solidFill>
                  <a:srgbClr val="00B050"/>
                </a:solidFill>
              </a:rPr>
              <a:t>Temp</a:t>
            </a:r>
            <a:r>
              <a:rPr lang="en-US" altLang="zh-TW" sz="2800" dirty="0" err="1">
                <a:solidFill>
                  <a:srgbClr val="00B050"/>
                </a:solidFill>
              </a:rPr>
              <a:t>_book</a:t>
            </a:r>
            <a:r>
              <a:rPr lang="en-US" altLang="zh-TW" sz="2800" dirty="0">
                <a:solidFill>
                  <a:srgbClr val="00B050"/>
                </a:solidFill>
              </a:rPr>
              <a:t> </a:t>
            </a:r>
            <a:r>
              <a:rPr lang="en-US" altLang="zh-TW" sz="2800" dirty="0"/>
              <a:t>= </a:t>
            </a:r>
            <a:r>
              <a:rPr lang="el-GR" altLang="zh-TW" sz="2800" dirty="0">
                <a:solidFill>
                  <a:srgbClr val="C00000"/>
                </a:solidFill>
              </a:rPr>
              <a:t>π</a:t>
            </a:r>
            <a:r>
              <a:rPr lang="en-US" altLang="zh-TW" sz="2800" dirty="0"/>
              <a:t> </a:t>
            </a:r>
            <a:r>
              <a:rPr lang="en-US" altLang="zh-TW" sz="2800" baseline="-25000" dirty="0" err="1"/>
              <a:t>pNo</a:t>
            </a:r>
            <a:r>
              <a:rPr lang="en-US" altLang="zh-TW" sz="2800" dirty="0"/>
              <a:t>(</a:t>
            </a:r>
            <a:r>
              <a:rPr lang="el-GR" altLang="zh-TW" sz="2800" dirty="0">
                <a:solidFill>
                  <a:srgbClr val="C00000"/>
                </a:solidFill>
              </a:rPr>
              <a:t>σ</a:t>
            </a:r>
            <a:r>
              <a:rPr lang="en-US" altLang="zh-TW" sz="2800" dirty="0">
                <a:solidFill>
                  <a:srgbClr val="C00000"/>
                </a:solidFill>
              </a:rPr>
              <a:t> </a:t>
            </a:r>
            <a:r>
              <a:rPr lang="en-US" altLang="zh-TW" sz="2800" baseline="-25000" dirty="0" err="1"/>
              <a:t>pName</a:t>
            </a:r>
            <a:r>
              <a:rPr lang="en-US" altLang="zh-TW" sz="2800" baseline="-25000" dirty="0"/>
              <a:t> = ‘</a:t>
            </a:r>
            <a:r>
              <a:rPr lang="zh-TW" altLang="en-US" sz="2800" baseline="-25000" dirty="0"/>
              <a:t>系統分析理論與實務’ </a:t>
            </a:r>
            <a:r>
              <a:rPr lang="en-US" altLang="zh-TW" sz="2800" dirty="0"/>
              <a:t>(Product))</a:t>
            </a:r>
          </a:p>
          <a:p>
            <a:pPr marL="0" indent="0">
              <a:buNone/>
            </a:pPr>
            <a:r>
              <a:rPr lang="zh-TW" altLang="en-US" sz="2800">
                <a:solidFill>
                  <a:schemeClr val="tx1"/>
                </a:solidFill>
              </a:rPr>
              <a:t>依據商品編號找出瀏覽的會員</a:t>
            </a:r>
            <a:endParaRPr lang="en-US" altLang="zh-TW" sz="2800">
              <a:solidFill>
                <a:schemeClr val="tx1"/>
              </a:solidFill>
            </a:endParaRPr>
          </a:p>
          <a:p>
            <a:r>
              <a:rPr lang="en-US" altLang="zh-TW" sz="2800">
                <a:solidFill>
                  <a:srgbClr val="00B0F0"/>
                </a:solidFill>
              </a:rPr>
              <a:t>Browse</a:t>
            </a:r>
            <a:r>
              <a:rPr lang="en-US" altLang="zh-TW" sz="2800" dirty="0" err="1">
                <a:solidFill>
                  <a:srgbClr val="00B0F0"/>
                </a:solidFill>
              </a:rPr>
              <a:t>_member</a:t>
            </a:r>
            <a:r>
              <a:rPr lang="en-US" altLang="zh-TW" sz="2800" dirty="0">
                <a:solidFill>
                  <a:srgbClr val="00B0F0"/>
                </a:solidFill>
              </a:rPr>
              <a:t> </a:t>
            </a:r>
            <a:r>
              <a:rPr lang="en-US" altLang="zh-TW" sz="2800" dirty="0"/>
              <a:t>= </a:t>
            </a:r>
            <a:r>
              <a:rPr lang="el-GR" altLang="zh-TW" sz="2800" dirty="0">
                <a:solidFill>
                  <a:srgbClr val="C00000"/>
                </a:solidFill>
              </a:rPr>
              <a:t>π</a:t>
            </a:r>
            <a:r>
              <a:rPr lang="en-US" altLang="zh-TW" sz="2800" dirty="0"/>
              <a:t> </a:t>
            </a:r>
            <a:r>
              <a:rPr lang="en-US" altLang="zh-TW" sz="2800" baseline="-25000" dirty="0" err="1"/>
              <a:t>mId</a:t>
            </a:r>
            <a:r>
              <a:rPr lang="en-US" altLang="zh-TW" sz="2800" dirty="0"/>
              <a:t>(</a:t>
            </a:r>
            <a:r>
              <a:rPr lang="en-US" altLang="zh-TW" sz="2800" dirty="0" err="1">
                <a:solidFill>
                  <a:srgbClr val="00B050"/>
                </a:solidFill>
              </a:rPr>
              <a:t>Temp_book</a:t>
            </a:r>
            <a:r>
              <a:rPr lang="en-US" altLang="zh-TW" sz="2800" dirty="0">
                <a:solidFill>
                  <a:srgbClr val="00B050"/>
                </a:solidFill>
              </a:rPr>
              <a:t> </a:t>
            </a:r>
            <a:r>
              <a:rPr lang="en-US" altLang="zh-TW" sz="2800" dirty="0">
                <a:solidFill>
                  <a:srgbClr val="C00000"/>
                </a:solidFill>
              </a:rPr>
              <a:t>*</a:t>
            </a:r>
            <a:r>
              <a:rPr lang="en-US" altLang="zh-TW" sz="2800" dirty="0"/>
              <a:t> </a:t>
            </a:r>
            <a:r>
              <a:rPr lang="en-US" altLang="zh-TW" sz="2800"/>
              <a:t>Browse)</a:t>
            </a:r>
          </a:p>
          <a:p>
            <a:pPr marL="0" indent="0">
              <a:buNone/>
            </a:pPr>
            <a:r>
              <a:rPr lang="zh-TW" altLang="en-US" sz="2800">
                <a:solidFill>
                  <a:schemeClr val="tx1"/>
                </a:solidFill>
              </a:rPr>
              <a:t>依據商品編號找出交易的會員</a:t>
            </a:r>
            <a:endParaRPr lang="en-US" altLang="zh-TW" sz="2800" dirty="0">
              <a:solidFill>
                <a:schemeClr val="tx1"/>
              </a:solidFill>
            </a:endParaRPr>
          </a:p>
          <a:p>
            <a:r>
              <a:rPr lang="en-US" altLang="zh-TW" sz="2800" dirty="0" err="1">
                <a:solidFill>
                  <a:schemeClr val="accent2">
                    <a:lumMod val="75000"/>
                  </a:schemeClr>
                </a:solidFill>
              </a:rPr>
              <a:t>Trans_member</a:t>
            </a:r>
            <a:r>
              <a:rPr lang="en-US" altLang="zh-TW" sz="2800" dirty="0"/>
              <a:t>(</a:t>
            </a:r>
            <a:r>
              <a:rPr lang="en-US" altLang="zh-TW" sz="2800" dirty="0" err="1"/>
              <a:t>mId</a:t>
            </a:r>
            <a:r>
              <a:rPr lang="en-US" altLang="zh-TW" sz="2800" dirty="0"/>
              <a:t>) = </a:t>
            </a:r>
            <a:r>
              <a:rPr lang="el-GR" altLang="zh-TW" sz="2800" dirty="0">
                <a:solidFill>
                  <a:srgbClr val="C00000"/>
                </a:solidFill>
              </a:rPr>
              <a:t>π </a:t>
            </a:r>
            <a:r>
              <a:rPr lang="en-US" altLang="zh-TW" sz="2800" baseline="-25000" dirty="0" err="1"/>
              <a:t>transMid</a:t>
            </a:r>
            <a:r>
              <a:rPr lang="en-US" altLang="zh-TW" sz="2800" dirty="0"/>
              <a:t>(</a:t>
            </a:r>
            <a:r>
              <a:rPr lang="en-US" altLang="zh-TW" sz="2800" dirty="0" err="1">
                <a:solidFill>
                  <a:srgbClr val="00B050"/>
                </a:solidFill>
              </a:rPr>
              <a:t>Temp_book</a:t>
            </a:r>
            <a:r>
              <a:rPr lang="en-US" altLang="zh-TW" sz="2800" dirty="0">
                <a:solidFill>
                  <a:srgbClr val="00B050"/>
                </a:solidFill>
              </a:rPr>
              <a:t> </a:t>
            </a:r>
            <a:r>
              <a:rPr lang="en-US" altLang="zh-TW" sz="2800" dirty="0">
                <a:solidFill>
                  <a:srgbClr val="C00000"/>
                </a:solidFill>
              </a:rPr>
              <a:t>*</a:t>
            </a:r>
            <a:r>
              <a:rPr lang="en-US" altLang="zh-TW" sz="2800" dirty="0"/>
              <a:t> Record </a:t>
            </a:r>
            <a:r>
              <a:rPr lang="en-US" altLang="zh-TW" sz="2800" dirty="0">
                <a:solidFill>
                  <a:srgbClr val="C00000"/>
                </a:solidFill>
              </a:rPr>
              <a:t>*</a:t>
            </a:r>
            <a:r>
              <a:rPr lang="en-US" altLang="zh-TW" sz="2800" dirty="0"/>
              <a:t> Transaction</a:t>
            </a:r>
            <a:r>
              <a:rPr lang="en-US" altLang="zh-TW" sz="2800"/>
              <a:t>) </a:t>
            </a:r>
          </a:p>
          <a:p>
            <a:pPr marL="0" indent="0">
              <a:buNone/>
            </a:pPr>
            <a:r>
              <a:rPr lang="zh-TW" altLang="en-US" sz="2800">
                <a:solidFill>
                  <a:schemeClr val="tx1"/>
                </a:solidFill>
              </a:rPr>
              <a:t>找出瀏覽或交易會員的的編號與姓名</a:t>
            </a:r>
            <a:endParaRPr lang="en-US" altLang="zh-TW" sz="2800" dirty="0">
              <a:solidFill>
                <a:schemeClr val="tx1"/>
              </a:solidFill>
            </a:endParaRPr>
          </a:p>
          <a:p>
            <a:r>
              <a:rPr lang="en-US" altLang="zh-TW" sz="2800" dirty="0"/>
              <a:t>Result = </a:t>
            </a:r>
            <a:r>
              <a:rPr lang="el-GR" altLang="zh-TW" sz="2800" dirty="0">
                <a:solidFill>
                  <a:srgbClr val="C00000"/>
                </a:solidFill>
              </a:rPr>
              <a:t>π</a:t>
            </a:r>
            <a:r>
              <a:rPr lang="en-US" altLang="zh-TW" sz="2800" dirty="0"/>
              <a:t> </a:t>
            </a:r>
            <a:r>
              <a:rPr lang="en-US" altLang="zh-TW" sz="2800" baseline="-25000" dirty="0" err="1"/>
              <a:t>mId</a:t>
            </a:r>
            <a:r>
              <a:rPr lang="en-US" altLang="zh-TW" sz="2800" baseline="-25000" dirty="0"/>
              <a:t>, name</a:t>
            </a:r>
            <a:r>
              <a:rPr lang="en-US" altLang="zh-TW" sz="2800" dirty="0"/>
              <a:t>((</a:t>
            </a:r>
            <a:r>
              <a:rPr lang="en-US" altLang="zh-TW" sz="2800" dirty="0" err="1">
                <a:solidFill>
                  <a:srgbClr val="00B0F0"/>
                </a:solidFill>
              </a:rPr>
              <a:t>Browse_member</a:t>
            </a:r>
            <a:r>
              <a:rPr lang="en-US" altLang="zh-TW" sz="2800" dirty="0">
                <a:solidFill>
                  <a:srgbClr val="00B0F0"/>
                </a:solidFill>
              </a:rPr>
              <a:t> </a:t>
            </a:r>
            <a:r>
              <a:rPr lang="en-US" altLang="zh-TW" sz="2800" dirty="0">
                <a:solidFill>
                  <a:srgbClr val="FF0000"/>
                </a:solidFill>
              </a:rPr>
              <a:t>U</a:t>
            </a:r>
            <a:r>
              <a:rPr lang="en-US" altLang="zh-TW" sz="2800" dirty="0"/>
              <a:t> </a:t>
            </a:r>
            <a:r>
              <a:rPr lang="en-US" altLang="zh-TW" sz="2800" dirty="0" err="1">
                <a:solidFill>
                  <a:schemeClr val="accent2">
                    <a:lumMod val="75000"/>
                  </a:schemeClr>
                </a:solidFill>
              </a:rPr>
              <a:t>Trans_member</a:t>
            </a:r>
            <a:r>
              <a:rPr lang="en-US" altLang="zh-TW" sz="2800" dirty="0"/>
              <a:t>)</a:t>
            </a:r>
            <a:r>
              <a:rPr lang="en-US" altLang="zh-TW" sz="2800" dirty="0">
                <a:solidFill>
                  <a:srgbClr val="C00000"/>
                </a:solidFill>
              </a:rPr>
              <a:t>*</a:t>
            </a:r>
            <a:r>
              <a:rPr lang="en-US" altLang="zh-TW" sz="2800" dirty="0"/>
              <a:t>Member)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E83E741-626B-4FCD-93B4-6F084B34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70370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61E711C-4EEE-480B-A734-ABA4653A5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077" y="2223572"/>
            <a:ext cx="3362794" cy="214342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94515FE-13B9-43E4-9B98-EF9AAE06D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024" y="5466869"/>
            <a:ext cx="3400900" cy="113363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15DAB88-5809-4B99-920F-B33A10670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981" y="5647868"/>
            <a:ext cx="3400900" cy="77163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644C2D8-7D90-4505-A33C-0E8FC1F972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2966" y="2423625"/>
            <a:ext cx="3343742" cy="1743318"/>
          </a:xfrm>
          <a:prstGeom prst="rect">
            <a:avLst/>
          </a:prstGeom>
        </p:spPr>
      </p:pic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B59646F3-2BA9-4D72-8CFA-17152A7A41B7}"/>
              </a:ext>
            </a:extLst>
          </p:cNvPr>
          <p:cNvCxnSpPr>
            <a:stCxn id="5" idx="3"/>
            <a:endCxn id="11" idx="1"/>
          </p:cNvCxnSpPr>
          <p:nvPr/>
        </p:nvCxnSpPr>
        <p:spPr>
          <a:xfrm>
            <a:off x="4774871" y="3295284"/>
            <a:ext cx="280809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F43AC3E8-033A-4588-8DD4-9EC38A99380B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3093474" y="4366996"/>
            <a:ext cx="0" cy="1099873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B1E32B88-94C8-4231-81AF-70345A262EFF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4793924" y="6033684"/>
            <a:ext cx="1384994" cy="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圖片 18">
            <a:extLst>
              <a:ext uri="{FF2B5EF4-FFF2-40B4-BE49-F238E27FC236}">
                <a16:creationId xmlns:a16="http://schemas.microsoft.com/office/drawing/2014/main" id="{FBBF4549-BDC8-474F-A3B8-E36DAD5B33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293" y="21391"/>
            <a:ext cx="4344006" cy="1381318"/>
          </a:xfrm>
          <a:prstGeom prst="rect">
            <a:avLst/>
          </a:prstGeom>
        </p:spPr>
      </p:pic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1C480EE6-3CCC-4F4D-9B24-A710EB4FA5C6}"/>
              </a:ext>
            </a:extLst>
          </p:cNvPr>
          <p:cNvCxnSpPr>
            <a:endCxn id="5" idx="0"/>
          </p:cNvCxnSpPr>
          <p:nvPr/>
        </p:nvCxnSpPr>
        <p:spPr>
          <a:xfrm>
            <a:off x="1995055" y="1151906"/>
            <a:ext cx="1098419" cy="107166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DE23A8F9-A0CE-4C30-956F-DA37C1DD2FB1}"/>
              </a:ext>
            </a:extLst>
          </p:cNvPr>
          <p:cNvCxnSpPr>
            <a:endCxn id="5" idx="0"/>
          </p:cNvCxnSpPr>
          <p:nvPr/>
        </p:nvCxnSpPr>
        <p:spPr>
          <a:xfrm flipH="1">
            <a:off x="3093474" y="1391131"/>
            <a:ext cx="1383523" cy="83244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3743DDB6-1FC2-4BD1-9C91-4A1FE71DA7C1}"/>
              </a:ext>
            </a:extLst>
          </p:cNvPr>
          <p:cNvSpPr txBox="1"/>
          <p:nvPr/>
        </p:nvSpPr>
        <p:spPr>
          <a:xfrm>
            <a:off x="2544264" y="1363129"/>
            <a:ext cx="1543792" cy="366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附加資料表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A383D67F-D6FA-4BA0-96F8-6F3A808F7CFD}"/>
              </a:ext>
            </a:extLst>
          </p:cNvPr>
          <p:cNvSpPr txBox="1"/>
          <p:nvPr/>
        </p:nvSpPr>
        <p:spPr>
          <a:xfrm>
            <a:off x="5486421" y="2711609"/>
            <a:ext cx="2256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資料表聯集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E26891B9-491E-46CE-83B2-41FE9B4FD081}"/>
              </a:ext>
            </a:extLst>
          </p:cNvPr>
          <p:cNvSpPr txBox="1"/>
          <p:nvPr/>
        </p:nvSpPr>
        <p:spPr>
          <a:xfrm>
            <a:off x="3161412" y="4538013"/>
            <a:ext cx="1564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資料表交集</a:t>
            </a:r>
            <a:endParaRPr lang="en-US" altLang="zh-TW" b="1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保留重複項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02D03447-D641-4E70-A6B0-F48FB30331F3}"/>
              </a:ext>
            </a:extLst>
          </p:cNvPr>
          <p:cNvSpPr txBox="1"/>
          <p:nvPr/>
        </p:nvSpPr>
        <p:spPr>
          <a:xfrm>
            <a:off x="4840090" y="556549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移除重複項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5E3C8ABC-27DA-477C-A661-B75FCCE3F607}"/>
              </a:ext>
            </a:extLst>
          </p:cNvPr>
          <p:cNvSpPr txBox="1"/>
          <p:nvPr/>
        </p:nvSpPr>
        <p:spPr>
          <a:xfrm>
            <a:off x="6614577" y="477369"/>
            <a:ext cx="4994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資料表交集與聯集操作</a:t>
            </a:r>
          </a:p>
        </p:txBody>
      </p:sp>
    </p:spTree>
    <p:extLst>
      <p:ext uri="{BB962C8B-B14F-4D97-AF65-F5344CB8AC3E}">
        <p14:creationId xmlns:p14="http://schemas.microsoft.com/office/powerpoint/2010/main" val="12628327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8">
            <a:extLst>
              <a:ext uri="{FF2B5EF4-FFF2-40B4-BE49-F238E27FC236}">
                <a16:creationId xmlns:a16="http://schemas.microsoft.com/office/drawing/2014/main" id="{47BA0DAD-F8B1-41B8-A507-C8D8BC9A3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25" y="367915"/>
            <a:ext cx="4341629" cy="2235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>
            <a:extLst>
              <a:ext uri="{FF2B5EF4-FFF2-40B4-BE49-F238E27FC236}">
                <a16:creationId xmlns:a16="http://schemas.microsoft.com/office/drawing/2014/main" id="{0F4A5D5D-5214-4939-8D9F-067CE0CF6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681" y="2732027"/>
            <a:ext cx="7051601" cy="1836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4">
            <a:extLst>
              <a:ext uri="{FF2B5EF4-FFF2-40B4-BE49-F238E27FC236}">
                <a16:creationId xmlns:a16="http://schemas.microsoft.com/office/drawing/2014/main" id="{CE3A92DA-BC9A-4CCD-99F3-53242DF55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534" y="3109586"/>
            <a:ext cx="3221497" cy="2059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0">
            <a:extLst>
              <a:ext uri="{FF2B5EF4-FFF2-40B4-BE49-F238E27FC236}">
                <a16:creationId xmlns:a16="http://schemas.microsoft.com/office/drawing/2014/main" id="{11B22052-9D24-44DA-A691-A3B6BA44F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481" y="4962507"/>
            <a:ext cx="7127673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1">
            <a:extLst>
              <a:ext uri="{FF2B5EF4-FFF2-40B4-BE49-F238E27FC236}">
                <a16:creationId xmlns:a16="http://schemas.microsoft.com/office/drawing/2014/main" id="{A9793274-C067-4E0F-91B1-B5481F99C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131" y="390910"/>
            <a:ext cx="3528392" cy="2081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48EF3396-845B-44E9-BA2B-630A4E6ED15A}"/>
              </a:ext>
            </a:extLst>
          </p:cNvPr>
          <p:cNvSpPr/>
          <p:nvPr/>
        </p:nvSpPr>
        <p:spPr>
          <a:xfrm>
            <a:off x="845507" y="1431454"/>
            <a:ext cx="3663863" cy="25956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CF26428-2F5A-41B6-8C81-D6352304C666}"/>
              </a:ext>
            </a:extLst>
          </p:cNvPr>
          <p:cNvSpPr/>
          <p:nvPr/>
        </p:nvSpPr>
        <p:spPr>
          <a:xfrm>
            <a:off x="1271392" y="3933173"/>
            <a:ext cx="2530258" cy="344466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B919D0ED-81DC-45E9-A4E7-09280C1047B1}"/>
              </a:ext>
            </a:extLst>
          </p:cNvPr>
          <p:cNvSpPr/>
          <p:nvPr/>
        </p:nvSpPr>
        <p:spPr>
          <a:xfrm>
            <a:off x="5868444" y="2060532"/>
            <a:ext cx="2749463" cy="200416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0FB1A91B-219B-4BD0-9C99-CE3CD066F444}"/>
              </a:ext>
            </a:extLst>
          </p:cNvPr>
          <p:cNvSpPr/>
          <p:nvPr/>
        </p:nvSpPr>
        <p:spPr>
          <a:xfrm>
            <a:off x="5004148" y="3626285"/>
            <a:ext cx="6313118" cy="23173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EF61CE6C-58AA-4D6F-954D-B97814B1A894}"/>
              </a:ext>
            </a:extLst>
          </p:cNvPr>
          <p:cNvSpPr/>
          <p:nvPr/>
        </p:nvSpPr>
        <p:spPr>
          <a:xfrm>
            <a:off x="5004148" y="4251655"/>
            <a:ext cx="6313118" cy="23173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FDCC64DB-FACE-4084-903A-DE0DC573A69E}"/>
              </a:ext>
            </a:extLst>
          </p:cNvPr>
          <p:cNvSpPr/>
          <p:nvPr/>
        </p:nvSpPr>
        <p:spPr>
          <a:xfrm>
            <a:off x="4853776" y="5387781"/>
            <a:ext cx="6484306" cy="23173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80F3A0B9-128D-435F-A72E-729B0317E403}"/>
              </a:ext>
            </a:extLst>
          </p:cNvPr>
          <p:cNvSpPr/>
          <p:nvPr/>
        </p:nvSpPr>
        <p:spPr>
          <a:xfrm>
            <a:off x="4853776" y="6252079"/>
            <a:ext cx="6484306" cy="23173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FDA7106B-E4C2-496E-9144-AD90581E2A6B}"/>
              </a:ext>
            </a:extLst>
          </p:cNvPr>
          <p:cNvSpPr/>
          <p:nvPr/>
        </p:nvSpPr>
        <p:spPr>
          <a:xfrm>
            <a:off x="4956132" y="1431454"/>
            <a:ext cx="411271" cy="403609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箭號: 向下 16">
            <a:extLst>
              <a:ext uri="{FF2B5EF4-FFF2-40B4-BE49-F238E27FC236}">
                <a16:creationId xmlns:a16="http://schemas.microsoft.com/office/drawing/2014/main" id="{55ED7594-740A-45EA-9329-25A1C5D514AD}"/>
              </a:ext>
            </a:extLst>
          </p:cNvPr>
          <p:cNvSpPr/>
          <p:nvPr/>
        </p:nvSpPr>
        <p:spPr>
          <a:xfrm>
            <a:off x="2110636" y="2709252"/>
            <a:ext cx="375780" cy="332184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9846BE7F-5AA4-4ED7-9AEC-CEE97CD39038}"/>
              </a:ext>
            </a:extLst>
          </p:cNvPr>
          <p:cNvSpPr/>
          <p:nvPr/>
        </p:nvSpPr>
        <p:spPr>
          <a:xfrm>
            <a:off x="4286481" y="3767202"/>
            <a:ext cx="411271" cy="403609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箭號: 向下 18">
            <a:extLst>
              <a:ext uri="{FF2B5EF4-FFF2-40B4-BE49-F238E27FC236}">
                <a16:creationId xmlns:a16="http://schemas.microsoft.com/office/drawing/2014/main" id="{D275BE3D-472E-4A76-8235-C5350A2FB20D}"/>
              </a:ext>
            </a:extLst>
          </p:cNvPr>
          <p:cNvSpPr/>
          <p:nvPr/>
        </p:nvSpPr>
        <p:spPr>
          <a:xfrm>
            <a:off x="7784927" y="4583778"/>
            <a:ext cx="375780" cy="332184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00590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A0B512-2DB8-4200-93D2-FCDB87C67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OUTER JOIN</a:t>
            </a:r>
            <a:r>
              <a:rPr lang="zh-TW" altLang="en-US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運算子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7100DF-7817-491A-B5AB-FBDB70B6D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LEFT OUTER JOIN </a:t>
            </a:r>
          </a:p>
          <a:p>
            <a:pPr>
              <a:lnSpc>
                <a:spcPct val="80000"/>
              </a:lnSpc>
            </a:pP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RIGHT OUTER JOIN </a:t>
            </a:r>
          </a:p>
          <a:p>
            <a:pPr>
              <a:lnSpc>
                <a:spcPct val="80000"/>
              </a:lnSpc>
            </a:pP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FULL OUTER JOIN  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AACDE27-E9E9-467F-A3C1-85CFA8F8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20880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B247A1-8F71-474B-A3E1-CEC4BB80B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LEFT OUTER JOIN</a:t>
            </a:r>
            <a:r>
              <a:rPr lang="zh-TW" altLang="en-US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運算子</a:t>
            </a:r>
            <a:r>
              <a:rPr lang="en-US" altLang="zh-TW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(⊐⋈ 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A7EF774-8D19-44F9-8606-53055644A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保留左邊關聯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Result = R ⊐⋈ </a:t>
            </a:r>
            <a:r>
              <a:rPr lang="en-US" altLang="zh-TW" sz="2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zh-TW" altLang="en-US" sz="2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配合條件</a:t>
            </a:r>
            <a:r>
              <a:rPr lang="en-US" altLang="zh-TW" sz="2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S</a:t>
            </a:r>
          </a:p>
          <a:p>
            <a:pPr marL="990600" lvl="1" indent="-533400"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關聯綱目：同於</a:t>
            </a: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R⋈</a:t>
            </a:r>
            <a:r>
              <a:rPr lang="en-US" altLang="zh-TW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990600" lvl="1" indent="-533400">
              <a:lnSpc>
                <a:spcPct val="150000"/>
              </a:lnSpc>
            </a:pP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Result = </a:t>
            </a:r>
          </a:p>
          <a:p>
            <a:pPr marL="1447800" lvl="2" indent="-533400">
              <a:lnSpc>
                <a:spcPct val="150000"/>
              </a:lnSpc>
            </a:pPr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左關聯</a:t>
            </a:r>
            <a:r>
              <a:rPr lang="en-US" altLang="zh-TW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(R)</a:t>
            </a:r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的每一筆序列值</a:t>
            </a:r>
            <a:r>
              <a:rPr lang="en-US" altLang="zh-TW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2200">
                <a:latin typeface="微軟正黑體" panose="020B0604030504040204" pitchFamily="34" charset="-120"/>
              </a:rPr>
              <a:t>右</a:t>
            </a:r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關聯</a:t>
            </a:r>
            <a:r>
              <a:rPr lang="en-US" altLang="zh-TW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(S)</a:t>
            </a:r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符合條件的序列值</a:t>
            </a:r>
            <a:endParaRPr lang="en-US" altLang="zh-TW" sz="2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447800" lvl="2" indent="-533400">
              <a:lnSpc>
                <a:spcPct val="150000"/>
              </a:lnSpc>
            </a:pPr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左關聯</a:t>
            </a:r>
            <a:r>
              <a:rPr lang="en-US" altLang="zh-TW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(R)</a:t>
            </a:r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的每一筆序列值</a:t>
            </a:r>
            <a:r>
              <a:rPr lang="en-US" altLang="zh-TW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2200">
                <a:latin typeface="微軟正黑體" panose="020B0604030504040204" pitchFamily="34" charset="-120"/>
              </a:rPr>
              <a:t>右</a:t>
            </a:r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關聯</a:t>
            </a:r>
            <a:r>
              <a:rPr lang="en-US" altLang="zh-TW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(S)</a:t>
            </a:r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不符合條件的序列值以</a:t>
            </a:r>
            <a:r>
              <a:rPr lang="en-US" altLang="zh-TW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NULL</a:t>
            </a:r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代替</a:t>
            </a:r>
            <a:endParaRPr lang="zh-TW" altLang="en-US" sz="2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C220852-C8F6-496F-BD9F-FB50119E4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26878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0585BE-BE49-47F9-8BA0-8F019EDF4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範例：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Result_left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Transaction ⊐⋈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Transaction.tNo</a:t>
            </a:r>
            <a:r>
              <a:rPr lang="en-US" altLang="zh-TW" sz="28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en-US" altLang="zh-TW" sz="28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Cart.tNo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Cart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zh-TW" altLang="en-US" sz="2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38C731-475A-45B9-A35D-EA1314959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38</a:t>
            </a:fld>
            <a:endParaRPr lang="zh-TW" altLang="en-US"/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AE9BC226-D19B-40BF-A8FD-8884F9FF55C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627638"/>
            <a:ext cx="9589361" cy="3753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59914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898EDA-352E-4FE4-B46A-5008D2D0F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pc="600" dirty="0">
                <a:latin typeface="微軟正黑體" pitchFamily="34" charset="-120"/>
                <a:cs typeface="+mn-cs"/>
              </a:rPr>
              <a:t>RIGHT</a:t>
            </a:r>
            <a:r>
              <a:rPr lang="en-US" altLang="zh-TW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 OUTER JOIN</a:t>
            </a:r>
            <a:r>
              <a:rPr lang="zh-TW" altLang="en-US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運算子</a:t>
            </a:r>
            <a:r>
              <a:rPr lang="en-US" altLang="zh-TW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(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⋈⊏</a:t>
            </a:r>
            <a:r>
              <a:rPr lang="en-US" altLang="zh-TW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D44188-AD82-45EF-B882-C236ED318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保留右邊關聯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Result = R ⋈⊏</a:t>
            </a:r>
            <a:r>
              <a:rPr lang="en-US" altLang="zh-TW" sz="2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zh-TW" altLang="en-US" sz="2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配合條件</a:t>
            </a:r>
            <a:r>
              <a:rPr lang="en-US" altLang="zh-TW" sz="2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S</a:t>
            </a:r>
          </a:p>
          <a:p>
            <a:pPr marL="990600" lvl="1" indent="-533400"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關聯綱目：同於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R⋈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zh-TW" altLang="en-US" sz="2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配合條件</a:t>
            </a:r>
            <a:r>
              <a:rPr lang="en-US" altLang="zh-TW" sz="2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990600" lvl="1" indent="-533400">
              <a:lnSpc>
                <a:spcPct val="150000"/>
              </a:lnSpc>
            </a:pPr>
            <a:r>
              <a:rPr lang="en-US" altLang="zh-TW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Result = </a:t>
            </a:r>
          </a:p>
          <a:p>
            <a:pPr marL="1447800" lvl="2" indent="-533400">
              <a:lnSpc>
                <a:spcPct val="150000"/>
              </a:lnSpc>
            </a:pPr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左關聯</a:t>
            </a:r>
            <a:r>
              <a:rPr lang="en-US" altLang="zh-TW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(R)</a:t>
            </a:r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符合條件的序列值</a:t>
            </a:r>
            <a:r>
              <a:rPr lang="en-US" altLang="zh-TW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2200">
                <a:latin typeface="微軟正黑體" panose="020B0604030504040204" pitchFamily="34" charset="-120"/>
              </a:rPr>
              <a:t>右</a:t>
            </a:r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關聯</a:t>
            </a:r>
            <a:r>
              <a:rPr lang="en-US" altLang="zh-TW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(S)</a:t>
            </a:r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的每一筆序列值</a:t>
            </a:r>
            <a:endParaRPr lang="en-US" altLang="zh-TW" sz="2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447800" lvl="2" indent="-533400">
              <a:lnSpc>
                <a:spcPct val="150000"/>
              </a:lnSpc>
            </a:pPr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左關聯</a:t>
            </a:r>
            <a:r>
              <a:rPr lang="en-US" altLang="zh-TW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(R)</a:t>
            </a:r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不符合條件的序列值以</a:t>
            </a:r>
            <a:r>
              <a:rPr lang="en-US" altLang="zh-TW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NULL</a:t>
            </a:r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代替</a:t>
            </a:r>
            <a:r>
              <a:rPr lang="en-US" altLang="zh-TW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2200">
                <a:latin typeface="微軟正黑體" panose="020B0604030504040204" pitchFamily="34" charset="-120"/>
              </a:rPr>
              <a:t>右</a:t>
            </a:r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關聯</a:t>
            </a:r>
            <a:r>
              <a:rPr lang="en-US" altLang="zh-TW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(S)</a:t>
            </a:r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的每一筆序列值</a:t>
            </a:r>
          </a:p>
          <a:p>
            <a:pPr>
              <a:lnSpc>
                <a:spcPct val="150000"/>
              </a:lnSpc>
            </a:pP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55EDCDC-3201-4ECD-8467-A1CD8949C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61147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FEED1C-8525-43A7-8D9C-C363E96FD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範例：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Result_right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=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Transaction⋈⊏</a:t>
            </a:r>
            <a:r>
              <a:rPr lang="en-US" altLang="zh-TW" sz="28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Transaction.tno</a:t>
            </a:r>
            <a:r>
              <a:rPr lang="en-US" altLang="zh-TW" sz="28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en-US" altLang="zh-TW" sz="28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Cart.tnoCart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Cart</a:t>
            </a:r>
            <a:endParaRPr lang="zh-TW" altLang="en-US" sz="2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59F812-43B6-4266-A6C8-CAC168FFA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40</a:t>
            </a:fld>
            <a:endParaRPr lang="zh-TW" altLang="en-US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FA7F46F8-2804-422D-A8E8-80FE19875A3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53514"/>
            <a:ext cx="10033418" cy="3546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08805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E2BFE0-FAA0-4030-B912-8DD978E08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FULL</a:t>
            </a:r>
            <a:r>
              <a:rPr lang="zh-TW" altLang="en-US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 </a:t>
            </a:r>
            <a:r>
              <a:rPr lang="en-US" altLang="zh-TW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OUTER JOIN</a:t>
            </a:r>
            <a:r>
              <a:rPr lang="zh-TW" altLang="en-US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運算子</a:t>
            </a:r>
            <a:r>
              <a:rPr lang="en-US" altLang="zh-TW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(⊐⋈⊏ 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06BD9D-A842-421A-91A0-9179678CC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dirty="0">
                <a:latin typeface="微軟正黑體" panose="020B0604030504040204" pitchFamily="34" charset="-120"/>
              </a:rPr>
              <a:t>保留左右兩邊關聯</a:t>
            </a:r>
            <a:endParaRPr lang="en-US" altLang="zh-TW" dirty="0">
              <a:latin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</a:rPr>
              <a:t>Result = R ⊐⋈⊏&lt;</a:t>
            </a:r>
            <a:r>
              <a:rPr lang="zh-TW" altLang="en-US" dirty="0">
                <a:latin typeface="微軟正黑體" panose="020B0604030504040204" pitchFamily="34" charset="-120"/>
              </a:rPr>
              <a:t>配合條件</a:t>
            </a:r>
            <a:r>
              <a:rPr lang="en-US" altLang="zh-TW" dirty="0">
                <a:latin typeface="微軟正黑體" panose="020B0604030504040204" pitchFamily="34" charset="-120"/>
              </a:rPr>
              <a:t>&gt; S</a:t>
            </a:r>
          </a:p>
          <a:p>
            <a:pPr marL="990600" lvl="1" indent="-533400">
              <a:lnSpc>
                <a:spcPct val="150000"/>
              </a:lnSpc>
            </a:pP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關聯綱目：同於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R⋈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2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zh-TW" altLang="en-US" sz="22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配合條件</a:t>
            </a:r>
            <a:r>
              <a:rPr lang="en-US" altLang="zh-TW" sz="22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</a:p>
          <a:p>
            <a:pPr marL="990600" lvl="1" indent="-533400">
              <a:lnSpc>
                <a:spcPct val="150000"/>
              </a:lnSpc>
            </a:pP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序列值：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R⋈S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的序列值再加上沒有與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配對的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的序列值加上空值（在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的屬性）及沒有與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配對的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的序列值加上空值（在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的屬性）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326B94-B060-4A83-9F62-EA7E90B30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3505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D1EA3A-26C2-4AB5-B78C-0F8EB96D6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範例：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Result_full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Transaction⊐⋈⊏</a:t>
            </a:r>
            <a:r>
              <a:rPr lang="en-US" altLang="zh-TW" sz="28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Transaction.tno</a:t>
            </a:r>
            <a:r>
              <a:rPr lang="en-US" altLang="zh-TW" sz="28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en-US" altLang="zh-TW" sz="28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Cart.tno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Cart</a:t>
            </a:r>
            <a:endParaRPr lang="zh-TW" altLang="en-US" sz="2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BE4EE5-56F5-4EF4-9DCD-D64AB3037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42</a:t>
            </a:fld>
            <a:endParaRPr lang="zh-TW" altLang="en-US"/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67A51AA6-D606-41BC-910A-14FD45E445D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690687"/>
            <a:ext cx="9724813" cy="4265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39210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EE2E66-F8F5-4F0D-BDCC-A24585366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關聯的分群和彙總函數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DC8241-B030-4795-AF78-16E72A735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lnSpc>
                <a:spcPct val="150000"/>
              </a:lnSpc>
              <a:buNone/>
            </a:pP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Result = </a:t>
            </a:r>
            <a:r>
              <a:rPr lang="en-US" altLang="zh-TW" sz="22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zh-TW" altLang="en-US" sz="22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分群屬性</a:t>
            </a:r>
            <a:r>
              <a:rPr lang="en-US" altLang="zh-TW" sz="22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ℱ</a:t>
            </a:r>
            <a:r>
              <a:rPr lang="en-US" altLang="zh-TW" sz="22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zh-TW" altLang="en-US" sz="22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彙總函數列</a:t>
            </a:r>
            <a:r>
              <a:rPr lang="en-US" altLang="zh-TW" sz="22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  <a:p>
            <a:pPr lvl="1">
              <a:lnSpc>
                <a:spcPct val="150000"/>
              </a:lnSpc>
            </a:pP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關聯綱目</a:t>
            </a:r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：名稱為</a:t>
            </a:r>
            <a:r>
              <a:rPr lang="en-US" altLang="zh-TW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Result</a:t>
            </a:r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，屬性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分群屬性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加上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彙總函數列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</a:p>
          <a:p>
            <a:pPr lvl="1">
              <a:lnSpc>
                <a:spcPct val="100000"/>
              </a:lnSpc>
            </a:pP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序列值：將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分群屬性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的屬性值分群，每一群序列值再依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彙總函數列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裡的函數運算成一序列值</a:t>
            </a:r>
          </a:p>
          <a:p>
            <a:pPr>
              <a:lnSpc>
                <a:spcPct val="150000"/>
              </a:lnSpc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576F6D-5C80-4463-80C2-80119EC8E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18525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110E02-70B7-4D84-9367-EC51B888C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Result(</a:t>
            </a:r>
            <a:r>
              <a:rPr lang="en-US" altLang="zh-TW" sz="28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transNo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sz="28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totalAmount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= </a:t>
            </a:r>
            <a:r>
              <a:rPr lang="en-US" altLang="zh-TW" sz="28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tNo</a:t>
            </a:r>
            <a:r>
              <a:rPr lang="en-US" altLang="zh-TW" sz="28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ℱ</a:t>
            </a:r>
            <a:r>
              <a:rPr lang="en-US" altLang="zh-TW" sz="28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SUM</a:t>
            </a:r>
            <a:r>
              <a:rPr lang="en-US" altLang="zh-TW" sz="28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salePrice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Record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zh-TW" altLang="en-US" sz="2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76462C5-673A-4EC0-95C9-C53F1A1FE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44</a:t>
            </a:fld>
            <a:endParaRPr lang="zh-TW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662130-292E-4F71-A4FD-1AD1B97E2B9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879" y="1033670"/>
            <a:ext cx="7636727" cy="3458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75C5C968-3460-471B-ADB3-850006CE1E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0206781"/>
              </p:ext>
            </p:extLst>
          </p:nvPr>
        </p:nvGraphicFramePr>
        <p:xfrm>
          <a:off x="3267442" y="4677595"/>
          <a:ext cx="3887787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6" r:id="rId4" imgW="2736494" imgH="1284732" progId="">
                  <p:embed/>
                </p:oleObj>
              </mc:Choice>
              <mc:Fallback>
                <p:oleObj r:id="rId4" imgW="2736494" imgH="1284732" progId="">
                  <p:embed/>
                  <p:pic>
                    <p:nvPicPr>
                      <p:cNvPr id="6" name="物件 5">
                        <a:extLst>
                          <a:ext uri="{FF2B5EF4-FFF2-40B4-BE49-F238E27FC236}">
                            <a16:creationId xmlns:a16="http://schemas.microsoft.com/office/drawing/2014/main" id="{75C5C968-3460-471B-ADB3-850006CE1E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7442" y="4677595"/>
                        <a:ext cx="3887787" cy="182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9E84792D-00C3-41B5-A71E-A3A6F12F47AA}"/>
              </a:ext>
            </a:extLst>
          </p:cNvPr>
          <p:cNvSpPr/>
          <p:nvPr/>
        </p:nvSpPr>
        <p:spPr>
          <a:xfrm>
            <a:off x="3267442" y="3256156"/>
            <a:ext cx="5441660" cy="724829"/>
          </a:xfrm>
          <a:prstGeom prst="rect">
            <a:avLst/>
          </a:prstGeom>
          <a:solidFill>
            <a:srgbClr val="ED7D31">
              <a:alpha val="2705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17AF720-8384-48B0-BEA1-86BDAE1777AA}"/>
              </a:ext>
            </a:extLst>
          </p:cNvPr>
          <p:cNvSpPr/>
          <p:nvPr/>
        </p:nvSpPr>
        <p:spPr>
          <a:xfrm>
            <a:off x="3267442" y="2196790"/>
            <a:ext cx="5475114" cy="535259"/>
          </a:xfrm>
          <a:prstGeom prst="rect">
            <a:avLst/>
          </a:prstGeom>
          <a:solidFill>
            <a:srgbClr val="00B0F0">
              <a:alpha val="23137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2800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FB9CC6-9065-4B64-B74D-B44344A24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Power query </a:t>
            </a:r>
            <a:r>
              <a:rPr lang="zh-TW" altLang="en-US"/>
              <a:t>實作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A31734-7030-42E9-88B4-FA59E2AA8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載入 </a:t>
            </a:r>
            <a:r>
              <a:rPr lang="en-US" altLang="zh-TW"/>
              <a:t>record</a:t>
            </a:r>
          </a:p>
          <a:p>
            <a:r>
              <a:rPr lang="zh-TW" altLang="en-US"/>
              <a:t>分組依據</a:t>
            </a:r>
            <a:endParaRPr lang="en-US" altLang="zh-TW"/>
          </a:p>
          <a:p>
            <a:pPr lvl="1"/>
            <a:r>
              <a:rPr lang="zh-TW" altLang="en-US"/>
              <a:t>選擇「</a:t>
            </a:r>
            <a:r>
              <a:rPr lang="en-US" altLang="zh-TW"/>
              <a:t>tNo</a:t>
            </a:r>
            <a:r>
              <a:rPr lang="zh-TW" altLang="en-US"/>
              <a:t>」</a:t>
            </a:r>
            <a:endParaRPr lang="en-US" altLang="zh-TW"/>
          </a:p>
          <a:p>
            <a:pPr lvl="1"/>
            <a:r>
              <a:rPr lang="zh-TW" altLang="en-US"/>
              <a:t>新增資料行名稱 </a:t>
            </a:r>
            <a:r>
              <a:rPr lang="en-US" altLang="zh-TW"/>
              <a:t>=</a:t>
            </a:r>
            <a:r>
              <a:rPr lang="zh-TW" altLang="en-US"/>
              <a:t>「總和」</a:t>
            </a:r>
            <a:endParaRPr lang="en-US" altLang="zh-TW"/>
          </a:p>
          <a:p>
            <a:pPr lvl="1"/>
            <a:r>
              <a:rPr lang="zh-TW" altLang="en-US"/>
              <a:t>作業 </a:t>
            </a:r>
            <a:r>
              <a:rPr lang="en-US" altLang="zh-TW"/>
              <a:t>= </a:t>
            </a:r>
            <a:r>
              <a:rPr lang="zh-TW" altLang="en-US"/>
              <a:t>加總</a:t>
            </a:r>
            <a:endParaRPr lang="en-US" altLang="zh-TW"/>
          </a:p>
          <a:p>
            <a:pPr lvl="1"/>
            <a:r>
              <a:rPr lang="zh-TW" altLang="en-US"/>
              <a:t>欄 </a:t>
            </a:r>
            <a:r>
              <a:rPr lang="en-US" altLang="zh-TW"/>
              <a:t>= tNo</a:t>
            </a:r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6B91F10-00DA-460E-8A70-4F5B201F1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966" y="807930"/>
            <a:ext cx="6668431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3694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2293B1-6904-47FD-9161-39DE37B5F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Result(</a:t>
            </a:r>
            <a:r>
              <a:rPr lang="en-US" altLang="zh-TW" sz="2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totalProduct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sz="2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averagePrice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= ℱ</a:t>
            </a:r>
            <a:r>
              <a:rPr lang="en-US" altLang="zh-TW" sz="2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COUNT </a:t>
            </a:r>
            <a:r>
              <a:rPr lang="en-US" altLang="zh-TW" sz="24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2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AVERAGE </a:t>
            </a:r>
            <a:r>
              <a:rPr lang="en-US" altLang="zh-TW" sz="24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unitPrice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zh-TW" altLang="en-US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041DC9F-C90F-4D49-8884-F66E94B75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46</a:t>
            </a:fld>
            <a:endParaRPr lang="zh-TW" altLang="en-US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AEAD5397-C1CF-4CC0-AAF8-2F8F2B905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36523"/>
            <a:ext cx="6408738" cy="270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71348C60-6E18-4030-86A4-CD0B76BD33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7275" y="2355121"/>
          <a:ext cx="3598862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" r:id="rId4" imgW="1806892" imgH="313849" progId="">
                  <p:embed/>
                </p:oleObj>
              </mc:Choice>
              <mc:Fallback>
                <p:oleObj r:id="rId4" imgW="1806892" imgH="313849" progId="">
                  <p:embed/>
                  <p:pic>
                    <p:nvPicPr>
                      <p:cNvPr id="6" name="物件 5">
                        <a:extLst>
                          <a:ext uri="{FF2B5EF4-FFF2-40B4-BE49-F238E27FC236}">
                            <a16:creationId xmlns:a16="http://schemas.microsoft.com/office/drawing/2014/main" id="{71348C60-6E18-4030-86A4-CD0B76BD33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7275" y="2355121"/>
                        <a:ext cx="3598862" cy="887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65283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9B92CE-69F4-47E9-8D7E-ABD5BCC4D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課堂練習</a:t>
            </a:r>
          </a:p>
        </p:txBody>
      </p:sp>
    </p:spTree>
    <p:extLst>
      <p:ext uri="{BB962C8B-B14F-4D97-AF65-F5344CB8AC3E}">
        <p14:creationId xmlns:p14="http://schemas.microsoft.com/office/powerpoint/2010/main" val="17978024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65C6D8-C6C9-4650-A35C-E47428992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五個標準的彙總函數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0E0C4E8-C9A3-4733-8297-83F58B4EE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SUM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：加總。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AVERAGE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：取數個屬性值的平均值。如 </a:t>
            </a:r>
            <a:r>
              <a:rPr lang="en-US" altLang="zh-TW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category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ℱ</a:t>
            </a:r>
            <a:r>
              <a:rPr lang="en-US" altLang="zh-TW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AVERAGE</a:t>
            </a:r>
            <a:r>
              <a:rPr lang="en-US" altLang="zh-TW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unitPrice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COUNT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取屬性值的總個數。如 </a:t>
            </a:r>
            <a:r>
              <a:rPr lang="en-US" altLang="zh-TW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category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ℱ</a:t>
            </a:r>
            <a:r>
              <a:rPr lang="en-US" altLang="zh-TW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COUNT</a:t>
            </a:r>
            <a:r>
              <a:rPr lang="en-US" altLang="zh-TW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MAX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：取數個屬性值的最大值。如 </a:t>
            </a:r>
            <a:r>
              <a:rPr lang="en-US" altLang="zh-TW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category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ℱ</a:t>
            </a:r>
            <a:r>
              <a:rPr lang="en-US" altLang="zh-TW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MAX</a:t>
            </a:r>
            <a:r>
              <a:rPr lang="en-US" altLang="zh-TW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unitPrice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MIN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：取數個屬性值的最小值。如 </a:t>
            </a:r>
            <a:r>
              <a:rPr lang="en-US" altLang="zh-TW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category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ℱ</a:t>
            </a:r>
            <a:r>
              <a:rPr lang="en-US" altLang="zh-TW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MIN</a:t>
            </a:r>
            <a:r>
              <a:rPr lang="en-US" altLang="zh-TW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unitPrice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  <a:p>
            <a:pPr>
              <a:lnSpc>
                <a:spcPct val="150000"/>
              </a:lnSpc>
            </a:pPr>
            <a:endParaRPr lang="zh-TW" altLang="en-US" sz="20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1CA92D0-8E0E-42A7-9DEF-51E076DF4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22904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64587F-4AFE-4458-AB52-3AD412DE1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spc="600" dirty="0"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分群彙總範例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95F3D4-6368-447D-A39E-CC3FFCCEB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列出所有包括兩項以上商品的交易之交易編號和會員姓名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  <a:buNone/>
            </a:pP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T1(</a:t>
            </a:r>
            <a:r>
              <a:rPr lang="en-US" altLang="zh-TW" sz="2400" b="1" dirty="0" err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tNo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sz="2400" b="1" dirty="0" err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sz="2400" b="1" dirty="0" err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)= 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</a:t>
            </a:r>
            <a:r>
              <a:rPr lang="en-US" altLang="zh-TW" sz="2400" b="1" baseline="-25000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baseline="-25000" dirty="0" err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tNo</a:t>
            </a:r>
            <a:r>
              <a:rPr lang="en-US" altLang="zh-TW" sz="2400" b="1" baseline="-25000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sz="2400" b="1" baseline="-25000" dirty="0" err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transMid</a:t>
            </a:r>
            <a:r>
              <a:rPr lang="en-US" altLang="zh-TW" sz="2400" b="1" baseline="-25000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sz="2400" b="1" baseline="-25000" dirty="0" err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(Transaction</a:t>
            </a:r>
            <a:r>
              <a:rPr lang="zh-TW" altLang="en-US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 Record)</a:t>
            </a:r>
          </a:p>
          <a:p>
            <a:pPr lvl="1">
              <a:lnSpc>
                <a:spcPct val="150000"/>
              </a:lnSpc>
              <a:buNone/>
            </a:pP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T2(</a:t>
            </a:r>
            <a:r>
              <a:rPr lang="en-US" altLang="zh-TW" sz="2400" b="1" dirty="0" err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tNo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sz="2400" b="1" dirty="0" err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total) =  </a:t>
            </a:r>
            <a:r>
              <a:rPr lang="en-US" altLang="zh-TW" sz="2400" b="1" baseline="-25000" dirty="0" err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tNo</a:t>
            </a:r>
            <a:r>
              <a:rPr lang="en-US" altLang="zh-TW" sz="2400" b="1" baseline="-25000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sz="2400" b="1" baseline="-25000" dirty="0" err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ℱ</a:t>
            </a:r>
            <a:r>
              <a:rPr lang="en-US" altLang="zh-TW" sz="2400" b="1" baseline="-25000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COUNT </a:t>
            </a:r>
            <a:r>
              <a:rPr lang="en-US" altLang="zh-TW" sz="2400" b="1" baseline="-25000" dirty="0" err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2400" b="1" baseline="-25000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(T1)</a:t>
            </a:r>
          </a:p>
          <a:p>
            <a:pPr lvl="1">
              <a:lnSpc>
                <a:spcPct val="150000"/>
              </a:lnSpc>
              <a:buNone/>
            </a:pP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T3=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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baseline="-25000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total&gt;2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(T2)</a:t>
            </a:r>
          </a:p>
          <a:p>
            <a:pPr lvl="1">
              <a:lnSpc>
                <a:spcPct val="150000"/>
              </a:lnSpc>
              <a:buNone/>
            </a:pP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Result=  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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baseline="-25000" dirty="0" err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tNo</a:t>
            </a:r>
            <a:r>
              <a:rPr lang="en-US" altLang="zh-TW" sz="2400" b="1" baseline="-25000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name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(T3</a:t>
            </a:r>
            <a:r>
              <a:rPr lang="zh-TW" altLang="en-US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 Member)</a:t>
            </a:r>
          </a:p>
          <a:p>
            <a:pPr>
              <a:lnSpc>
                <a:spcPct val="150000"/>
              </a:lnSpc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E198B8F-CA12-4923-A0C8-BAFE6788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38549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4ECFFB8-1D8B-46A2-9662-2F715672A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Power query </a:t>
            </a:r>
            <a:r>
              <a:rPr lang="zh-TW" altLang="en-US"/>
              <a:t>實作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E7550F7-0819-4CF7-A179-90F6B0470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列出所有包括</a:t>
            </a:r>
            <a:r>
              <a:rPr lang="zh-TW" altLang="en-US" sz="24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兩項以上商品</a:t>
            </a:r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的交易之</a:t>
            </a:r>
            <a:r>
              <a:rPr lang="zh-TW" altLang="en-US" sz="24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交易編號</a:t>
            </a:r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zh-TW" altLang="en-US" sz="24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會員姓名</a:t>
            </a:r>
            <a:endParaRPr lang="en-US" altLang="zh-TW" sz="2400" b="1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/>
              <a:t>載入 </a:t>
            </a:r>
            <a:r>
              <a:rPr lang="en-US" altLang="zh-TW"/>
              <a:t>transaction, record, member</a:t>
            </a:r>
          </a:p>
          <a:p>
            <a:r>
              <a:rPr lang="en-US" altLang="zh-TW"/>
              <a:t>transaction </a:t>
            </a:r>
            <a:r>
              <a:rPr lang="zh-TW" altLang="en-US"/>
              <a:t>合併 </a:t>
            </a:r>
            <a:r>
              <a:rPr lang="en-US" altLang="zh-TW"/>
              <a:t>record (</a:t>
            </a:r>
            <a:r>
              <a:rPr lang="en-US" altLang="zh-TW">
                <a:solidFill>
                  <a:srgbClr val="C00000"/>
                </a:solidFill>
              </a:rPr>
              <a:t>why ???)</a:t>
            </a:r>
          </a:p>
          <a:p>
            <a:r>
              <a:rPr lang="zh-TW" altLang="en-US"/>
              <a:t>根據</a:t>
            </a:r>
            <a:r>
              <a:rPr lang="zh-TW" altLang="en-US" sz="24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交易編號</a:t>
            </a:r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zh-TW" altLang="en-US" sz="24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會員姓名</a:t>
            </a:r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匯總商品數量</a:t>
            </a:r>
            <a:endParaRPr lang="en-US" altLang="zh-TW" sz="24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>
                <a:latin typeface="微軟正黑體" panose="020B0604030504040204" pitchFamily="34" charset="-120"/>
              </a:rPr>
              <a:t>分組依據 </a:t>
            </a:r>
            <a:r>
              <a:rPr lang="en-US" altLang="zh-TW">
                <a:latin typeface="微軟正黑體" panose="020B0604030504040204" pitchFamily="34" charset="-120"/>
                <a:sym typeface="Wingdings" panose="05000000000000000000" pitchFamily="2" charset="2"/>
              </a:rPr>
              <a:t></a:t>
            </a:r>
            <a:r>
              <a:rPr lang="zh-TW" altLang="en-US" sz="24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交易編號</a:t>
            </a:r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zh-TW" altLang="en-US" sz="24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會員姓名</a:t>
            </a:r>
            <a:endParaRPr lang="en-US" altLang="zh-TW" sz="2400" b="1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>
                <a:latin typeface="微軟正黑體" panose="020B0604030504040204" pitchFamily="34" charset="-120"/>
              </a:rPr>
              <a:t>篩選</a:t>
            </a:r>
            <a:r>
              <a:rPr lang="zh-TW" altLang="en-US">
                <a:solidFill>
                  <a:srgbClr val="C00000"/>
                </a:solidFill>
                <a:latin typeface="微軟正黑體" panose="020B0604030504040204" pitchFamily="34" charset="-120"/>
              </a:rPr>
              <a:t>商品數量 </a:t>
            </a:r>
            <a:r>
              <a:rPr lang="en-US" altLang="zh-TW">
                <a:solidFill>
                  <a:srgbClr val="C00000"/>
                </a:solidFill>
                <a:latin typeface="微軟正黑體" panose="020B0604030504040204" pitchFamily="34" charset="-120"/>
              </a:rPr>
              <a:t>&gt;= 2</a:t>
            </a:r>
            <a:r>
              <a:rPr lang="zh-TW" altLang="en-US">
                <a:solidFill>
                  <a:srgbClr val="C00000"/>
                </a:solidFill>
                <a:latin typeface="微軟正黑體" panose="020B0604030504040204" pitchFamily="34" charset="-120"/>
              </a:rPr>
              <a:t> </a:t>
            </a:r>
            <a:r>
              <a:rPr lang="zh-TW" altLang="en-US">
                <a:latin typeface="微軟正黑體" panose="020B0604030504040204" pitchFamily="34" charset="-120"/>
              </a:rPr>
              <a:t>的序列值</a:t>
            </a:r>
            <a:endParaRPr lang="en-US" altLang="zh-TW">
              <a:latin typeface="微軟正黑體" panose="020B0604030504040204" pitchFamily="34" charset="-120"/>
            </a:endParaRPr>
          </a:p>
          <a:p>
            <a:r>
              <a:rPr lang="en-US" altLang="zh-TW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Result </a:t>
            </a:r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合併 </a:t>
            </a:r>
            <a:r>
              <a:rPr lang="en-US" altLang="zh-TW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member</a:t>
            </a:r>
          </a:p>
          <a:p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 </a:t>
            </a:r>
            <a:r>
              <a:rPr lang="en-US" altLang="zh-TW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tNo</a:t>
            </a:r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及</a:t>
            </a:r>
            <a:r>
              <a:rPr lang="en-US" altLang="zh-TW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name</a:t>
            </a:r>
          </a:p>
          <a:p>
            <a:endParaRPr lang="zh-TW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AC648EF-B5D4-4785-A88D-0B513C1CCB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907464"/>
              </p:ext>
            </p:extLst>
          </p:nvPr>
        </p:nvGraphicFramePr>
        <p:xfrm>
          <a:off x="5145315" y="4294712"/>
          <a:ext cx="5958114" cy="1281140"/>
        </p:xfrm>
        <a:graphic>
          <a:graphicData uri="http://schemas.openxmlformats.org/drawingml/2006/table">
            <a:tbl>
              <a:tblPr/>
              <a:tblGrid>
                <a:gridCol w="985762">
                  <a:extLst>
                    <a:ext uri="{9D8B030D-6E8A-4147-A177-3AD203B41FA5}">
                      <a16:colId xmlns:a16="http://schemas.microsoft.com/office/drawing/2014/main" val="1243246472"/>
                    </a:ext>
                  </a:extLst>
                </a:gridCol>
                <a:gridCol w="1646894">
                  <a:extLst>
                    <a:ext uri="{9D8B030D-6E8A-4147-A177-3AD203B41FA5}">
                      <a16:colId xmlns:a16="http://schemas.microsoft.com/office/drawing/2014/main" val="3577882835"/>
                    </a:ext>
                  </a:extLst>
                </a:gridCol>
                <a:gridCol w="1140157">
                  <a:extLst>
                    <a:ext uri="{9D8B030D-6E8A-4147-A177-3AD203B41FA5}">
                      <a16:colId xmlns:a16="http://schemas.microsoft.com/office/drawing/2014/main" val="4012453225"/>
                    </a:ext>
                  </a:extLst>
                </a:gridCol>
                <a:gridCol w="2185301">
                  <a:extLst>
                    <a:ext uri="{9D8B030D-6E8A-4147-A177-3AD203B41FA5}">
                      <a16:colId xmlns:a16="http://schemas.microsoft.com/office/drawing/2014/main" val="3896189294"/>
                    </a:ext>
                  </a:extLst>
                </a:gridCol>
              </a:tblGrid>
              <a:tr h="3202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transMid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計數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member.name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616275"/>
                  </a:ext>
                </a:extLst>
              </a:tr>
              <a:tr h="3202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92666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c0927777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Su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563968"/>
                  </a:ext>
                </a:extLst>
              </a:tr>
              <a:tr h="3202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91888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a0910001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Jenny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5773951"/>
                  </a:ext>
                </a:extLst>
              </a:tr>
              <a:tr h="3202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92555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b0922468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Jackson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729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69830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4D6332-581C-4A68-A245-284256B3B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57876D-BA1A-4BCF-8225-2F8FD773B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列出</a:t>
            </a:r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每一位會員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的會員編號、姓名，以及所瀏覽過的商品總數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TW" sz="2400" b="1" dirty="0" err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MemberBrowse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2400" b="1" dirty="0" err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name, </a:t>
            </a:r>
            <a:r>
              <a:rPr lang="en-US" altLang="zh-TW" sz="2400" b="1" dirty="0" err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)=</a:t>
            </a:r>
            <a:endParaRPr lang="en-US" altLang="zh-TW" sz="2400" b="1" dirty="0">
              <a:solidFill>
                <a:srgbClr val="FF505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Symbol" pitchFamily="18" charset="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          </a:t>
            </a:r>
            <a:r>
              <a:rPr lang="en-US" altLang="zh-TW" sz="2400" b="1" baseline="-25000" dirty="0" err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Member_mId</a:t>
            </a:r>
            <a:r>
              <a:rPr lang="en-US" altLang="zh-TW" sz="2400" b="1" baseline="-25000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name, </a:t>
            </a:r>
            <a:r>
              <a:rPr lang="en-US" altLang="zh-TW" sz="2400" b="1" baseline="-25000" dirty="0" err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2400" b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Member ⊐⋈</a:t>
            </a:r>
            <a:r>
              <a:rPr lang="zh-TW" altLang="en-US" sz="2400" b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baseline="-2500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Member</a:t>
            </a:r>
            <a:r>
              <a:rPr lang="en-US" altLang="zh-TW" sz="2400" b="1" baseline="-25000" dirty="0" err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.mId</a:t>
            </a:r>
            <a:r>
              <a:rPr lang="en-US" altLang="zh-TW" sz="2400" b="1" baseline="-25000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en-US" altLang="zh-TW" sz="2400" b="1" baseline="-25000" dirty="0" err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Browse</a:t>
            </a:r>
            <a:r>
              <a:rPr lang="en-US" altLang="zh-TW" sz="2400" b="1" baseline="-25000" err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en-US" altLang="zh-TW" sz="2400" b="1" baseline="-2500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zh-TW" altLang="en-US" sz="2400" b="1" baseline="-2500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Browse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Result= </a:t>
            </a:r>
            <a:r>
              <a:rPr lang="en-US" altLang="zh-TW" sz="2400" b="1" baseline="-25000" dirty="0" err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sz="2400" b="1" baseline="-25000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name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ℱ</a:t>
            </a:r>
            <a:r>
              <a:rPr lang="en-US" altLang="zh-TW" sz="2400" b="1" baseline="-25000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COUNT </a:t>
            </a:r>
            <a:r>
              <a:rPr lang="en-US" altLang="zh-TW" sz="2400" b="1" baseline="-25000" dirty="0" err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2400" b="1" dirty="0" err="1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MemberBrowse</a:t>
            </a:r>
            <a:r>
              <a:rPr lang="en-US" altLang="zh-TW" sz="24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en-US" altLang="zh-TW" sz="2400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DBA133-6964-44A9-9B1D-CB6E2D1F3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51</a:t>
            </a:fld>
            <a:endParaRPr lang="zh-TW" altLang="en-US"/>
          </a:p>
        </p:txBody>
      </p:sp>
      <p:pic>
        <p:nvPicPr>
          <p:cNvPr id="5" name="Picture 21">
            <a:extLst>
              <a:ext uri="{FF2B5EF4-FFF2-40B4-BE49-F238E27FC236}">
                <a16:creationId xmlns:a16="http://schemas.microsoft.com/office/drawing/2014/main" id="{DB167AD8-2F91-4C45-B0CE-F517F1206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1772" y="3609111"/>
            <a:ext cx="5073454" cy="2992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33853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9512E2-A0DD-4C5C-B8C8-525DCC4B7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Power query </a:t>
            </a:r>
            <a:r>
              <a:rPr lang="zh-TW" altLang="en-US"/>
              <a:t>實作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FF1A73-5D2D-4C25-81A2-512D52C5E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列出</a:t>
            </a:r>
            <a:r>
              <a:rPr lang="zh-TW" altLang="en-US" sz="2400" b="1" u="sng">
                <a:latin typeface="微軟正黑體" panose="020B0604030504040204" pitchFamily="34" charset="-120"/>
                <a:ea typeface="微軟正黑體" panose="020B0604030504040204" pitchFamily="34" charset="-120"/>
              </a:rPr>
              <a:t>每一位會員</a:t>
            </a:r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的會員編號、姓名，以及所瀏覽過的商品總數</a:t>
            </a:r>
            <a:endParaRPr lang="en-US" altLang="zh-TW" sz="24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member </a:t>
            </a:r>
            <a:r>
              <a:rPr lang="en-US" altLang="zh-TW" sz="24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left outer JOIN </a:t>
            </a:r>
            <a:r>
              <a:rPr lang="en-US" altLang="zh-TW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brouse</a:t>
            </a:r>
          </a:p>
          <a:p>
            <a:r>
              <a:rPr lang="en-US" altLang="zh-TW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Result</a:t>
            </a:r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樞紐分析</a:t>
            </a:r>
            <a:r>
              <a:rPr lang="en-US" altLang="zh-TW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endParaRPr lang="zh-TW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313AB7B-5B58-4BC5-BA75-1DA575A292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471627"/>
              </p:ext>
            </p:extLst>
          </p:nvPr>
        </p:nvGraphicFramePr>
        <p:xfrm>
          <a:off x="1728354" y="3127292"/>
          <a:ext cx="6976260" cy="255460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30125">
                  <a:extLst>
                    <a:ext uri="{9D8B030D-6E8A-4147-A177-3AD203B41FA5}">
                      <a16:colId xmlns:a16="http://schemas.microsoft.com/office/drawing/2014/main" val="2615915957"/>
                    </a:ext>
                  </a:extLst>
                </a:gridCol>
                <a:gridCol w="997777">
                  <a:extLst>
                    <a:ext uri="{9D8B030D-6E8A-4147-A177-3AD203B41FA5}">
                      <a16:colId xmlns:a16="http://schemas.microsoft.com/office/drawing/2014/main" val="607460828"/>
                    </a:ext>
                  </a:extLst>
                </a:gridCol>
                <a:gridCol w="871010">
                  <a:extLst>
                    <a:ext uri="{9D8B030D-6E8A-4147-A177-3AD203B41FA5}">
                      <a16:colId xmlns:a16="http://schemas.microsoft.com/office/drawing/2014/main" val="756338807"/>
                    </a:ext>
                  </a:extLst>
                </a:gridCol>
                <a:gridCol w="883278">
                  <a:extLst>
                    <a:ext uri="{9D8B030D-6E8A-4147-A177-3AD203B41FA5}">
                      <a16:colId xmlns:a16="http://schemas.microsoft.com/office/drawing/2014/main" val="1433201887"/>
                    </a:ext>
                  </a:extLst>
                </a:gridCol>
                <a:gridCol w="686994">
                  <a:extLst>
                    <a:ext uri="{9D8B030D-6E8A-4147-A177-3AD203B41FA5}">
                      <a16:colId xmlns:a16="http://schemas.microsoft.com/office/drawing/2014/main" val="362559019"/>
                    </a:ext>
                  </a:extLst>
                </a:gridCol>
                <a:gridCol w="392568">
                  <a:extLst>
                    <a:ext uri="{9D8B030D-6E8A-4147-A177-3AD203B41FA5}">
                      <a16:colId xmlns:a16="http://schemas.microsoft.com/office/drawing/2014/main" val="3072781224"/>
                    </a:ext>
                  </a:extLst>
                </a:gridCol>
                <a:gridCol w="625656">
                  <a:extLst>
                    <a:ext uri="{9D8B030D-6E8A-4147-A177-3AD203B41FA5}">
                      <a16:colId xmlns:a16="http://schemas.microsoft.com/office/drawing/2014/main" val="1848434515"/>
                    </a:ext>
                  </a:extLst>
                </a:gridCol>
                <a:gridCol w="588852">
                  <a:extLst>
                    <a:ext uri="{9D8B030D-6E8A-4147-A177-3AD203B41FA5}">
                      <a16:colId xmlns:a16="http://schemas.microsoft.com/office/drawing/2014/main" val="934521153"/>
                    </a:ext>
                  </a:extLst>
                </a:gridCol>
              </a:tblGrid>
              <a:tr h="272062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u="none" strike="noStrike">
                          <a:effectLst/>
                        </a:rPr>
                        <a:t>計數 </a:t>
                      </a:r>
                      <a:r>
                        <a:rPr lang="en-US" altLang="zh-TW" sz="1800" u="none" strike="noStrike">
                          <a:effectLst/>
                        </a:rPr>
                        <a:t>- </a:t>
                      </a:r>
                      <a:r>
                        <a:rPr lang="en-US" sz="1800" u="none" strike="noStrike">
                          <a:effectLst/>
                        </a:rPr>
                        <a:t>browse.pNo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u="none" strike="noStrike">
                          <a:effectLst/>
                        </a:rPr>
                        <a:t>欄標籤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4443234"/>
                  </a:ext>
                </a:extLst>
              </a:tr>
              <a:tr h="272062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u="none" strike="noStrike">
                          <a:effectLst/>
                        </a:rPr>
                        <a:t>列標籤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David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Jackson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Jennifer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Jenny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Su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Tony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u="none" strike="noStrike">
                          <a:effectLst/>
                        </a:rPr>
                        <a:t>總計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75225763"/>
                  </a:ext>
                </a:extLst>
              </a:tr>
              <a:tr h="2720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a0910001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>
                          <a:effectLst/>
                        </a:rPr>
                        <a:t>1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>
                          <a:effectLst/>
                        </a:rPr>
                        <a:t>1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86490188"/>
                  </a:ext>
                </a:extLst>
              </a:tr>
              <a:tr h="2720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a0911234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>
                          <a:effectLst/>
                        </a:rPr>
                        <a:t>2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>
                          <a:effectLst/>
                        </a:rPr>
                        <a:t>2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48873436"/>
                  </a:ext>
                </a:extLst>
              </a:tr>
              <a:tr h="2720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a0921111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57138743"/>
                  </a:ext>
                </a:extLst>
              </a:tr>
              <a:tr h="2720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b0905555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>
                          <a:effectLst/>
                        </a:rPr>
                        <a:t>1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>
                          <a:effectLst/>
                        </a:rPr>
                        <a:t>1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94707662"/>
                  </a:ext>
                </a:extLst>
              </a:tr>
              <a:tr h="2720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b0922468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>
                          <a:effectLst/>
                        </a:rPr>
                        <a:t>2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>
                          <a:effectLst/>
                        </a:rPr>
                        <a:t>2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24234465"/>
                  </a:ext>
                </a:extLst>
              </a:tr>
              <a:tr h="2720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c0927777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>
                          <a:effectLst/>
                        </a:rPr>
                        <a:t>2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>
                          <a:effectLst/>
                        </a:rPr>
                        <a:t>2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17702964"/>
                  </a:ext>
                </a:extLst>
              </a:tr>
              <a:tr h="272062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u="none" strike="noStrike">
                          <a:effectLst/>
                        </a:rPr>
                        <a:t>總計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>
                          <a:effectLst/>
                        </a:rPr>
                        <a:t>2</a:t>
                      </a:r>
                      <a:endParaRPr lang="en-US" altLang="zh-TW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>
                          <a:effectLst/>
                        </a:rPr>
                        <a:t>1</a:t>
                      </a:r>
                      <a:endParaRPr lang="en-US" altLang="zh-TW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>
                          <a:effectLst/>
                        </a:rPr>
                        <a:t>1</a:t>
                      </a:r>
                      <a:endParaRPr lang="en-US" altLang="zh-TW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>
                          <a:effectLst/>
                        </a:rPr>
                        <a:t>2</a:t>
                      </a:r>
                      <a:endParaRPr lang="en-US" altLang="zh-TW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>
                          <a:effectLst/>
                        </a:rPr>
                        <a:t>2</a:t>
                      </a:r>
                      <a:endParaRPr lang="en-US" altLang="zh-TW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>
                          <a:effectLst/>
                        </a:rPr>
                        <a:t>8</a:t>
                      </a:r>
                      <a:endParaRPr lang="en-US" altLang="zh-TW" sz="1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97572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08587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ED8B18-D42B-4A65-8ECC-8876FF3CA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關聯運算整理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15DA1A-7B03-4E0E-8494-A54675C33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針對單一關聯</a:t>
            </a:r>
            <a:endParaRPr lang="en-US" altLang="zh-TW" dirty="0"/>
          </a:p>
          <a:p>
            <a:pPr lvl="1"/>
            <a:r>
              <a:rPr lang="en-US" altLang="zh-TW" dirty="0"/>
              <a:t>Select </a:t>
            </a:r>
            <a:r>
              <a:rPr lang="el-GR" altLang="zh-TW" b="1" dirty="0">
                <a:solidFill>
                  <a:srgbClr val="C00000"/>
                </a:solidFill>
              </a:rPr>
              <a:t>σ</a:t>
            </a:r>
            <a:endParaRPr lang="en-US" altLang="zh-TW" b="1" dirty="0">
              <a:solidFill>
                <a:srgbClr val="C00000"/>
              </a:solidFill>
            </a:endParaRPr>
          </a:p>
          <a:p>
            <a:pPr lvl="1"/>
            <a:r>
              <a:rPr lang="en-US" altLang="zh-TW" dirty="0"/>
              <a:t>Projection </a:t>
            </a:r>
            <a:r>
              <a:rPr lang="el-GR" altLang="zh-TW" b="1" dirty="0">
                <a:solidFill>
                  <a:srgbClr val="C00000"/>
                </a:solidFill>
              </a:rPr>
              <a:t>π</a:t>
            </a:r>
            <a:endParaRPr lang="en-US" altLang="zh-TW" b="1" dirty="0">
              <a:solidFill>
                <a:srgbClr val="C00000"/>
              </a:solidFill>
            </a:endParaRPr>
          </a:p>
          <a:p>
            <a:r>
              <a:rPr lang="zh-TW" altLang="en-US" dirty="0"/>
              <a:t>結合集合論</a:t>
            </a:r>
            <a:endParaRPr lang="en-US" altLang="zh-TW" dirty="0"/>
          </a:p>
          <a:p>
            <a:pPr lvl="1"/>
            <a:r>
              <a:rPr lang="zh-TW" altLang="en-US" dirty="0"/>
              <a:t>交集 </a:t>
            </a:r>
            <a:r>
              <a:rPr lang="zh-TW" altLang="en-US" b="1" dirty="0">
                <a:solidFill>
                  <a:srgbClr val="C00000"/>
                </a:solidFill>
              </a:rPr>
              <a:t>ꓵ</a:t>
            </a:r>
            <a:endParaRPr lang="en-US" altLang="zh-TW" b="1" dirty="0">
              <a:solidFill>
                <a:srgbClr val="C00000"/>
              </a:solidFill>
            </a:endParaRPr>
          </a:p>
          <a:p>
            <a:pPr lvl="1"/>
            <a:r>
              <a:rPr lang="zh-TW" altLang="en-US" dirty="0"/>
              <a:t>聯集 </a:t>
            </a:r>
            <a:r>
              <a:rPr lang="zh-TW" altLang="en-US" b="1" dirty="0">
                <a:solidFill>
                  <a:srgbClr val="C00000"/>
                </a:solidFill>
              </a:rPr>
              <a:t>ꓴ</a:t>
            </a:r>
            <a:endParaRPr lang="en-US" altLang="zh-TW" b="1" dirty="0">
              <a:solidFill>
                <a:srgbClr val="C00000"/>
              </a:solidFill>
            </a:endParaRPr>
          </a:p>
          <a:p>
            <a:pPr lvl="1"/>
            <a:r>
              <a:rPr lang="zh-TW" altLang="en-US" dirty="0"/>
              <a:t>差集 </a:t>
            </a:r>
            <a:r>
              <a:rPr lang="en-US" altLang="zh-TW" sz="2400" b="1" dirty="0">
                <a:solidFill>
                  <a:srgbClr val="C00000"/>
                </a:solidFill>
              </a:rPr>
              <a:t>–</a:t>
            </a:r>
            <a:r>
              <a:rPr lang="en-US" altLang="zh-TW" dirty="0"/>
              <a:t> </a:t>
            </a:r>
          </a:p>
          <a:p>
            <a:r>
              <a:rPr lang="zh-TW" altLang="en-US" dirty="0"/>
              <a:t>二元關聯運算</a:t>
            </a:r>
            <a:endParaRPr lang="en-US" altLang="zh-TW" dirty="0"/>
          </a:p>
          <a:p>
            <a:pPr lvl="1"/>
            <a:r>
              <a:rPr lang="en-US" altLang="zh-TW" dirty="0"/>
              <a:t>Join </a:t>
            </a:r>
            <a:r>
              <a:rPr lang="en-US" altLang="zh-TW" sz="2000" b="1" spc="600" dirty="0">
                <a:solidFill>
                  <a:srgbClr val="C00000"/>
                </a:solidFill>
                <a:effectLst/>
                <a:latin typeface="微軟正黑體" pitchFamily="34" charset="-120"/>
                <a:ea typeface="微軟正黑體" pitchFamily="34" charset="-120"/>
                <a:cs typeface="+mn-cs"/>
              </a:rPr>
              <a:t>⋈</a:t>
            </a:r>
            <a:endParaRPr lang="en-US" altLang="zh-TW" b="1" dirty="0">
              <a:solidFill>
                <a:srgbClr val="C00000"/>
              </a:solidFill>
            </a:endParaRPr>
          </a:p>
          <a:p>
            <a:pPr lvl="1"/>
            <a:r>
              <a:rPr lang="en-US" altLang="zh-TW" dirty="0"/>
              <a:t>Division </a:t>
            </a:r>
            <a:r>
              <a:rPr lang="en-US" altLang="zh-TW" b="1" dirty="0">
                <a:solidFill>
                  <a:srgbClr val="C00000"/>
                </a:solidFill>
              </a:rPr>
              <a:t>A</a:t>
            </a:r>
            <a:r>
              <a:rPr lang="en-US" altLang="zh-TW" b="1" dirty="0">
                <a:solidFill>
                  <a:srgbClr val="C00000"/>
                </a:solidFill>
                <a:sym typeface="Symbol" panose="05050102010706020507" pitchFamily="18" charset="2"/>
              </a:rPr>
              <a:t>B</a:t>
            </a:r>
            <a:endParaRPr lang="en-US" altLang="zh-TW" b="1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48F666-5284-42F0-A028-1A220CD33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3D286-E151-4778-8234-CC7B3DD5AA69}" type="slidenum">
              <a:rPr lang="zh-TW" altLang="en-US" smtClean="0"/>
              <a:t>53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E165CEE-0730-454D-B820-EB2172E52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633" y="827818"/>
            <a:ext cx="3285584" cy="222872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7C4099E-8F77-48A0-A1A9-E0ECDA0DB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633" y="3639065"/>
            <a:ext cx="3669536" cy="2391117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A948AC7B-FB1F-4AE3-B48A-8E5A13959513}"/>
              </a:ext>
            </a:extLst>
          </p:cNvPr>
          <p:cNvSpPr txBox="1"/>
          <p:nvPr/>
        </p:nvSpPr>
        <p:spPr>
          <a:xfrm>
            <a:off x="7749259" y="305966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差集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4A34E05-7B1E-46F2-AF8C-F3DB249A62E1}"/>
              </a:ext>
            </a:extLst>
          </p:cNvPr>
          <p:cNvSpPr txBox="1"/>
          <p:nvPr/>
        </p:nvSpPr>
        <p:spPr>
          <a:xfrm>
            <a:off x="8557055" y="553459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交集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58ADE6-DEFC-4432-9229-BECBCD5DFFDA}"/>
              </a:ext>
            </a:extLst>
          </p:cNvPr>
          <p:cNvSpPr txBox="1"/>
          <p:nvPr/>
        </p:nvSpPr>
        <p:spPr>
          <a:xfrm>
            <a:off x="6744731" y="553459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聯集</a:t>
            </a:r>
          </a:p>
        </p:txBody>
      </p:sp>
    </p:spTree>
    <p:extLst>
      <p:ext uri="{BB962C8B-B14F-4D97-AF65-F5344CB8AC3E}">
        <p14:creationId xmlns:p14="http://schemas.microsoft.com/office/powerpoint/2010/main" val="3464557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1962</TotalTime>
  <Words>3427</Words>
  <Application>Microsoft Office PowerPoint</Application>
  <PresentationFormat>寬螢幕</PresentationFormat>
  <Paragraphs>794</Paragraphs>
  <Slides>53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53</vt:i4>
      </vt:variant>
    </vt:vector>
  </HeadingPairs>
  <TitlesOfParts>
    <vt:vector size="66" baseType="lpstr">
      <vt:lpstr>Aptos Narrow</vt:lpstr>
      <vt:lpstr>清松手寫體3</vt:lpstr>
      <vt:lpstr>微軟正黑體</vt:lpstr>
      <vt:lpstr>微軟正黑體</vt:lpstr>
      <vt:lpstr>新細明體</vt:lpstr>
      <vt:lpstr>Arial</vt:lpstr>
      <vt:lpstr>Calibri</vt:lpstr>
      <vt:lpstr>Cambria Math</vt:lpstr>
      <vt:lpstr>Roboto</vt:lpstr>
      <vt:lpstr>Times New Roman</vt:lpstr>
      <vt:lpstr>Wingdings</vt:lpstr>
      <vt:lpstr>Office 佈景主題</vt:lpstr>
      <vt:lpstr>Visio</vt:lpstr>
      <vt:lpstr>關聯運算</vt:lpstr>
      <vt:lpstr>SQL運作的理論基礎</vt:lpstr>
      <vt:lpstr>SELECT運算子，(sigma)</vt:lpstr>
      <vt:lpstr>PROJECT運算子，π(pai)</vt:lpstr>
      <vt:lpstr>集合運算子</vt:lpstr>
      <vt:lpstr>PowerPoint 簡報</vt:lpstr>
      <vt:lpstr>卡迪森乘積(Cartesian Product)</vt:lpstr>
      <vt:lpstr>Example: 考慮以下Student和Course資料表和其卡迪森乘積</vt:lpstr>
      <vt:lpstr>以Excel實作關聯運作</vt:lpstr>
      <vt:lpstr>卡迪森乘積w/power query editor</vt:lpstr>
      <vt:lpstr>JOIN運算子(⋈)</vt:lpstr>
      <vt:lpstr>Result = Transaction ⋈ Transaction.tNo=Cart.tNo Cart</vt:lpstr>
      <vt:lpstr>PowerPoint 簡報</vt:lpstr>
      <vt:lpstr>PowerPoint 簡報</vt:lpstr>
      <vt:lpstr>Result = Cart⋈Cart.mId=Order.mId AND Cart.cartTime=Order.cartTimeOrder</vt:lpstr>
      <vt:lpstr>PowerPoint 簡報</vt:lpstr>
      <vt:lpstr>Power Query 資料表運作</vt:lpstr>
      <vt:lpstr>Power Query 基本操作</vt:lpstr>
      <vt:lpstr>PowerPoint 簡報</vt:lpstr>
      <vt:lpstr>卡迪森乘積</vt:lpstr>
      <vt:lpstr>資料表合併</vt:lpstr>
      <vt:lpstr>JOIN運算子(⋈)特性</vt:lpstr>
      <vt:lpstr>PowerPoint 簡報</vt:lpstr>
      <vt:lpstr>範例： Result = Transaction * Cart</vt:lpstr>
      <vt:lpstr>Result </vt:lpstr>
      <vt:lpstr>JOIN 範例1</vt:lpstr>
      <vt:lpstr>PowerPoint 簡報</vt:lpstr>
      <vt:lpstr>JOIN 範例2</vt:lpstr>
      <vt:lpstr>PowerPoint 簡報</vt:lpstr>
      <vt:lpstr>PowerPoint 簡報</vt:lpstr>
      <vt:lpstr>JOIN 範例3</vt:lpstr>
      <vt:lpstr>JOIN 範例3</vt:lpstr>
      <vt:lpstr>運作邏輯</vt:lpstr>
      <vt:lpstr>PowerPoint 簡報</vt:lpstr>
      <vt:lpstr>PowerPoint 簡報</vt:lpstr>
      <vt:lpstr>OUTER JOIN運算子</vt:lpstr>
      <vt:lpstr>LEFT OUTER JOIN運算子(⊐⋈ )</vt:lpstr>
      <vt:lpstr>範例：Result_left = Transaction ⊐⋈ Transaction.tNo=Cart.tNo Cart </vt:lpstr>
      <vt:lpstr>RIGHT OUTER JOIN運算子(⋈⊏)</vt:lpstr>
      <vt:lpstr>範例：Result_right =Transaction⋈⊏Transaction.tno=Cart.tnoCart Cart</vt:lpstr>
      <vt:lpstr>FULL OUTER JOIN運算子(⊐⋈⊏ )</vt:lpstr>
      <vt:lpstr>範例：Result_full = Transaction⊐⋈⊏Transaction.tno=Cart.tno Cart</vt:lpstr>
      <vt:lpstr>關聯的分群和彙總函數</vt:lpstr>
      <vt:lpstr>Result(transNo, totalAmount) = tNoℱSUM salePrice（Record）</vt:lpstr>
      <vt:lpstr>Power query 實作</vt:lpstr>
      <vt:lpstr>Result(totalProduct, averagePrice) = ℱCOUNT pNo, AVERAGE unitPrice（Product）</vt:lpstr>
      <vt:lpstr>課堂練習</vt:lpstr>
      <vt:lpstr>五個標準的彙總函數</vt:lpstr>
      <vt:lpstr>分群彙總範例</vt:lpstr>
      <vt:lpstr>Power query 實作</vt:lpstr>
      <vt:lpstr>PowerPoint 簡報</vt:lpstr>
      <vt:lpstr>Power query 實作</vt:lpstr>
      <vt:lpstr>關聯運算整理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關聯運算</dc:title>
  <dc:creator>鍾定揚 12376046 Daniel</dc:creator>
  <cp:lastModifiedBy>鍾定揚 12376046 Daniel</cp:lastModifiedBy>
  <cp:revision>53</cp:revision>
  <dcterms:created xsi:type="dcterms:W3CDTF">2025-10-06T03:47:22Z</dcterms:created>
  <dcterms:modified xsi:type="dcterms:W3CDTF">2025-10-22T12:13:47Z</dcterms:modified>
</cp:coreProperties>
</file>