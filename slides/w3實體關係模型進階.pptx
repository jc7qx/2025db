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9" r:id="rId3"/>
    <p:sldId id="262" r:id="rId4"/>
    <p:sldId id="285" r:id="rId5"/>
    <p:sldId id="287" r:id="rId6"/>
    <p:sldId id="288" r:id="rId7"/>
    <p:sldId id="289" r:id="rId8"/>
    <p:sldId id="268" r:id="rId9"/>
    <p:sldId id="263" r:id="rId10"/>
    <p:sldId id="265" r:id="rId11"/>
    <p:sldId id="290" r:id="rId12"/>
    <p:sldId id="269" r:id="rId13"/>
    <p:sldId id="257" r:id="rId14"/>
    <p:sldId id="284" r:id="rId15"/>
    <p:sldId id="258" r:id="rId16"/>
    <p:sldId id="259" r:id="rId17"/>
    <p:sldId id="260" r:id="rId18"/>
    <p:sldId id="261" r:id="rId19"/>
    <p:sldId id="270" r:id="rId20"/>
    <p:sldId id="271" r:id="rId21"/>
    <p:sldId id="272" r:id="rId22"/>
    <p:sldId id="273" r:id="rId23"/>
    <p:sldId id="274" r:id="rId24"/>
    <p:sldId id="286" r:id="rId25"/>
    <p:sldId id="275" r:id="rId26"/>
    <p:sldId id="276" r:id="rId27"/>
    <p:sldId id="278" r:id="rId28"/>
    <p:sldId id="277" r:id="rId29"/>
    <p:sldId id="280" r:id="rId30"/>
    <p:sldId id="281" r:id="rId31"/>
    <p:sldId id="282" r:id="rId32"/>
    <p:sldId id="283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4" autoAdjust="0"/>
    <p:restoredTop sz="86400"/>
  </p:normalViewPr>
  <p:slideViewPr>
    <p:cSldViewPr snapToGrid="0">
      <p:cViewPr varScale="1">
        <p:scale>
          <a:sx n="136" d="100"/>
          <a:sy n="136" d="100"/>
        </p:scale>
        <p:origin x="666" y="132"/>
      </p:cViewPr>
      <p:guideLst/>
    </p:cSldViewPr>
  </p:slideViewPr>
  <p:outlineViewPr>
    <p:cViewPr>
      <p:scale>
        <a:sx n="33" d="100"/>
        <a:sy n="33" d="100"/>
      </p:scale>
      <p:origin x="0" y="-127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41479-4B5D-4446-B2B0-4FC854933CD7}" type="datetimeFigureOut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C59C7-8F53-4849-B3C5-F16DECE088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23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0" y="6462175"/>
            <a:ext cx="2743200" cy="365125"/>
          </a:xfrm>
        </p:spPr>
        <p:txBody>
          <a:bodyPr/>
          <a:lstStyle/>
          <a:p>
            <a:fld id="{3FF85B09-2DC8-4657-9FBE-8621BBD5DB6D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373744" y="6462175"/>
            <a:ext cx="2743200" cy="365125"/>
          </a:xfrm>
        </p:spPr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551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448800" y="6482800"/>
            <a:ext cx="2743200" cy="365125"/>
          </a:xfrm>
        </p:spPr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970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E32C-CC76-4BEC-8098-42ABEBE26568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78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A6CD-FBE4-42C8-9CAE-A331D21CA6CA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9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2E4-AF8A-4BB0-9A1F-B2F024EA4877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84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1F07-CF3F-4A7E-92F0-D38F0F300CDB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03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0" y="6482801"/>
            <a:ext cx="2743200" cy="365125"/>
          </a:xfrm>
        </p:spPr>
        <p:txBody>
          <a:bodyPr/>
          <a:lstStyle/>
          <a:p>
            <a:fld id="{2EF85AD3-CACF-4DB6-8371-7C9CCD5D1D16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48280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448800" y="6482799"/>
            <a:ext cx="2743200" cy="365125"/>
          </a:xfrm>
        </p:spPr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08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CDF0-812E-4946-88BE-306F68222A2B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80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DD58-69B6-44C8-BF4B-F0E8B3A255AF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61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98D2-2208-45A4-B857-1D625B57BA3C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519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B14BC-4B85-4BDA-AEB1-2BD3BB97F563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74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05767-B181-4EDA-8371-27002D99D8BC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E6436-A263-49EE-B03F-B99CEE298D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27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7030A0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0000FF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實體關係模型進階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第三章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F809-EC03-49D3-BCD8-D906CBB30C52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12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88" y="0"/>
            <a:ext cx="9899223" cy="685800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0106526" y="467513"/>
            <a:ext cx="201672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那些實體是弱實體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r>
              <a:rPr lang="zh-TW" altLang="en-US" sz="14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購物車</a:t>
            </a:r>
            <a:endParaRPr lang="en-US" altLang="zh-TW" sz="14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那些屬性是關鍵主鍵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r>
              <a:rPr lang="zh-TW" altLang="en-US" sz="14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身分證號、會員編號、交易編號、商品編號</a:t>
            </a:r>
            <a:endParaRPr lang="en-US" altLang="zh-TW" sz="14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那些屬性是部分鍵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r>
              <a:rPr lang="zh-TW" altLang="en-US" sz="14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產生時間</a:t>
            </a:r>
            <a:endParaRPr lang="en-US" altLang="zh-TW" sz="14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那些屬性是多值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r>
              <a:rPr lang="zh-TW" altLang="en-US" sz="14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瀏覽時間、創作者</a:t>
            </a:r>
            <a:endParaRPr lang="en-US" altLang="zh-TW" sz="14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那些實體是完全參與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r>
              <a:rPr lang="zh-TW" altLang="en-US" sz="14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交易、商品、購物車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095999" y="9212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基數比</a:t>
            </a: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5472650" y="1265035"/>
            <a:ext cx="728770" cy="3712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813311" y="1290608"/>
            <a:ext cx="247507" cy="2769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7342701" y="16986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參與度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9010218" y="18287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弱實體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9838394" y="59126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多值屬性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1436914" y="237881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遞迴關係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1371600" y="50120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複合屬性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5007087" y="263186"/>
            <a:ext cx="131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</a:rPr>
              <a:t>Primary key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496302" y="447852"/>
            <a:ext cx="118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</a:rPr>
              <a:t>Partial key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01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ERD</a:t>
            </a:r>
            <a:r>
              <a:rPr lang="zh-TW" altLang="en-US" dirty="0"/>
              <a:t>結構上限制表示法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(min, max)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表示法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每一實體最少要參與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min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個關係，最多則可參與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max</a:t>
            </a:r>
            <a:r>
              <a:rPr lang="zh-TW" altLang="en-US" b="1">
                <a:latin typeface="微軟正黑體" pitchFamily="34" charset="-120"/>
                <a:ea typeface="微軟正黑體" pitchFamily="34" charset="-120"/>
              </a:rPr>
              <a:t>個關係</a:t>
            </a:r>
            <a:endParaRPr lang="en-US" altLang="zh-TW" b="1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一位會員可以沒有交易</a:t>
            </a:r>
            <a:r>
              <a:rPr lang="en-US" altLang="zh-TW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(0)</a:t>
            </a: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，最多可有</a:t>
            </a:r>
            <a:r>
              <a:rPr lang="en-US" altLang="zh-TW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筆交易</a:t>
            </a:r>
            <a:r>
              <a:rPr lang="en-US" altLang="zh-TW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(N)</a:t>
            </a:r>
          </a:p>
          <a:p>
            <a:pPr lvl="1"/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一筆交易只能有一位會員</a:t>
            </a:r>
            <a:r>
              <a:rPr lang="en-US" altLang="zh-TW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最多一位，最少一位</a:t>
            </a:r>
            <a:r>
              <a:rPr lang="en-US" altLang="zh-TW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16" y="4230718"/>
            <a:ext cx="9830168" cy="1688187"/>
          </a:xfrm>
          <a:prstGeom prst="rect">
            <a:avLst/>
          </a:prstGeom>
        </p:spPr>
      </p:pic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89DA-8E32-4964-87AD-3C759621882C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C0F0E72-1BF3-4409-A7C8-0AC4057A5FB0}"/>
              </a:ext>
            </a:extLst>
          </p:cNvPr>
          <p:cNvSpPr txBox="1"/>
          <p:nvPr/>
        </p:nvSpPr>
        <p:spPr>
          <a:xfrm>
            <a:off x="4463662" y="3653196"/>
            <a:ext cx="32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>
                <a:solidFill>
                  <a:srgbClr val="0000FF"/>
                </a:solidFill>
              </a:rPr>
              <a:t>Look-hear constraint</a:t>
            </a:r>
            <a:endParaRPr lang="zh-TW" altLang="en-US" sz="28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18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101514-1733-4A96-84E1-09D5195A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(min,max) </a:t>
            </a:r>
            <a:r>
              <a:rPr lang="zh-TW" altLang="en-US"/>
              <a:t>表示參與性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60ABDD-2576-4186-8983-EF1DC28DD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min = 0 </a:t>
            </a:r>
            <a:r>
              <a:rPr lang="en-US" altLang="zh-TW">
                <a:sym typeface="Wingdings" panose="05000000000000000000" pitchFamily="2" charset="2"/>
              </a:rPr>
              <a:t> </a:t>
            </a:r>
            <a:r>
              <a:rPr lang="zh-TW" altLang="en-US">
                <a:sym typeface="Wingdings" panose="05000000000000000000" pitchFamily="2" charset="2"/>
              </a:rPr>
              <a:t>部分參與 </a:t>
            </a:r>
            <a:r>
              <a:rPr lang="en-US" altLang="zh-TW">
                <a:sym typeface="Wingdings" panose="05000000000000000000" pitchFamily="2" charset="2"/>
              </a:rPr>
              <a:t>(patial participation)</a:t>
            </a:r>
          </a:p>
          <a:p>
            <a:r>
              <a:rPr lang="en-US" altLang="zh-TW"/>
              <a:t>min = 1 </a:t>
            </a:r>
            <a:r>
              <a:rPr lang="en-US" altLang="zh-TW">
                <a:sym typeface="Wingdings" panose="05000000000000000000" pitchFamily="2" charset="2"/>
              </a:rPr>
              <a:t> </a:t>
            </a:r>
            <a:r>
              <a:rPr lang="zh-TW" altLang="en-US">
                <a:sym typeface="Wingdings" panose="05000000000000000000" pitchFamily="2" charset="2"/>
              </a:rPr>
              <a:t>完全參與 </a:t>
            </a:r>
            <a:r>
              <a:rPr lang="en-US" altLang="zh-TW">
                <a:sym typeface="Wingdings" panose="05000000000000000000" pitchFamily="2" charset="2"/>
              </a:rPr>
              <a:t>(total participation)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DF3C97-49EC-4171-918C-84F3961B0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9985F2-06E9-4339-A8FF-D6E3DA8A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2020ADA-2605-4382-98E9-2DD8BED82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671" y="3525148"/>
            <a:ext cx="8504657" cy="145097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E603AD2-C315-486F-927D-61E739E258A8}"/>
              </a:ext>
            </a:extLst>
          </p:cNvPr>
          <p:cNvSpPr txBox="1"/>
          <p:nvPr/>
        </p:nvSpPr>
        <p:spPr>
          <a:xfrm>
            <a:off x="2064286" y="5503922"/>
            <a:ext cx="80634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/>
              <a:t>會員可以確認</a:t>
            </a:r>
            <a:r>
              <a:rPr lang="en-US" altLang="zh-TW" sz="2400"/>
              <a:t>N</a:t>
            </a:r>
            <a:r>
              <a:rPr lang="zh-TW" altLang="en-US" sz="2400"/>
              <a:t>筆交易，但也可以不參與交易 </a:t>
            </a:r>
            <a:r>
              <a:rPr lang="en-US" altLang="zh-TW" sz="2400"/>
              <a:t>(</a:t>
            </a:r>
            <a:r>
              <a:rPr lang="zh-TW" altLang="en-US" sz="2400"/>
              <a:t>部分參與</a:t>
            </a:r>
            <a:r>
              <a:rPr lang="en-US" altLang="zh-TW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/>
              <a:t>交易一定只有一個會員確認</a:t>
            </a:r>
          </a:p>
        </p:txBody>
      </p:sp>
    </p:spTree>
    <p:extLst>
      <p:ext uri="{BB962C8B-B14F-4D97-AF65-F5344CB8AC3E}">
        <p14:creationId xmlns:p14="http://schemas.microsoft.com/office/powerpoint/2010/main" val="141992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34E49-8ECF-4624-8E3D-3ED0A86A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E9C72A-C84F-4B35-B67F-931A37A7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6A010AB-C7F0-452E-A5C8-C831B7E5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06" y="1165616"/>
            <a:ext cx="4848902" cy="84784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9D01086-903E-44EA-B1EF-814225E7DD84}"/>
              </a:ext>
            </a:extLst>
          </p:cNvPr>
          <p:cNvSpPr txBox="1"/>
          <p:nvPr/>
        </p:nvSpPr>
        <p:spPr>
          <a:xfrm>
            <a:off x="6897899" y="989374"/>
            <a:ext cx="3704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一筆交易可以沒有購物車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一筆交易只能相對一個購物車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一個購物車可以沒有交易相對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一個購物車只能與一個交易相對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D435B66-7F8E-4F93-A5BE-9536E08F4550}"/>
              </a:ext>
            </a:extLst>
          </p:cNvPr>
          <p:cNvSpPr txBox="1"/>
          <p:nvPr/>
        </p:nvSpPr>
        <p:spPr>
          <a:xfrm>
            <a:off x="6897899" y="3124370"/>
            <a:ext cx="47692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一個會員可以不確認交易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不參與確認關係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一個會員可以確認最多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個交易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一個交易只能被一個且僅一個會員確認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2FE1DED-E5F7-4BF3-AD9B-33EAD1F8C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854" y="3214508"/>
            <a:ext cx="4867954" cy="74305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D0FDBCE-06E5-46FD-95F5-88C7F8F43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854" y="4925530"/>
            <a:ext cx="4810796" cy="676369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D53B1446-9533-4011-81F8-2CBB77D86AA0}"/>
              </a:ext>
            </a:extLst>
          </p:cNvPr>
          <p:cNvSpPr txBox="1"/>
          <p:nvPr/>
        </p:nvSpPr>
        <p:spPr>
          <a:xfrm>
            <a:off x="6897899" y="4663551"/>
            <a:ext cx="34291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一筆交易至少記錄一個商品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一筆交易最多可紀錄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個商品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一種商品可以不被交易紀錄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一種商品可以被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個交易紀錄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0798B7C-ABF8-4E62-86EF-766B3E305CF6}"/>
              </a:ext>
            </a:extLst>
          </p:cNvPr>
          <p:cNvSpPr txBox="1"/>
          <p:nvPr/>
        </p:nvSpPr>
        <p:spPr>
          <a:xfrm>
            <a:off x="2278967" y="1675835"/>
            <a:ext cx="121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/>
              <a:t>部分參與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370F169-82FC-41E9-BE83-B0053DB75538}"/>
              </a:ext>
            </a:extLst>
          </p:cNvPr>
          <p:cNvSpPr txBox="1"/>
          <p:nvPr/>
        </p:nvSpPr>
        <p:spPr>
          <a:xfrm>
            <a:off x="4135901" y="1675835"/>
            <a:ext cx="121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/>
              <a:t>部分參與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CCC51D3-92CE-4681-B101-AE65B3A5BD37}"/>
              </a:ext>
            </a:extLst>
          </p:cNvPr>
          <p:cNvSpPr txBox="1"/>
          <p:nvPr/>
        </p:nvSpPr>
        <p:spPr>
          <a:xfrm>
            <a:off x="2278966" y="3673063"/>
            <a:ext cx="121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/>
              <a:t>部分參與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A341868-A93E-45D2-9375-090FB4A984A5}"/>
              </a:ext>
            </a:extLst>
          </p:cNvPr>
          <p:cNvSpPr txBox="1"/>
          <p:nvPr/>
        </p:nvSpPr>
        <p:spPr>
          <a:xfrm>
            <a:off x="4135900" y="5294122"/>
            <a:ext cx="121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/>
              <a:t>部分參與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1DAE080-C8F5-4A2E-A361-26360DE9C18D}"/>
              </a:ext>
            </a:extLst>
          </p:cNvPr>
          <p:cNvSpPr txBox="1"/>
          <p:nvPr/>
        </p:nvSpPr>
        <p:spPr>
          <a:xfrm>
            <a:off x="4135900" y="3673063"/>
            <a:ext cx="121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/>
              <a:t>完全參與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FE79898-4B6B-419F-BB05-BAD300AEE2D0}"/>
              </a:ext>
            </a:extLst>
          </p:cNvPr>
          <p:cNvSpPr txBox="1"/>
          <p:nvPr/>
        </p:nvSpPr>
        <p:spPr>
          <a:xfrm>
            <a:off x="2278965" y="5294122"/>
            <a:ext cx="121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/>
              <a:t>完全參與</a:t>
            </a:r>
          </a:p>
        </p:txBody>
      </p:sp>
    </p:spTree>
    <p:extLst>
      <p:ext uri="{BB962C8B-B14F-4D97-AF65-F5344CB8AC3E}">
        <p14:creationId xmlns:p14="http://schemas.microsoft.com/office/powerpoint/2010/main" val="3593728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31E00B-1B88-42AE-A04C-537F689E3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5AD3-CACF-4DB6-8371-7C9CCD5D1D16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493E1BD-DD7C-4EC9-B3A7-411AF80D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6</a:t>
            </a:fld>
            <a:endParaRPr lang="zh-TW" alt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D56ABB0-1EDA-45AA-917E-8267C07EAA26}"/>
              </a:ext>
            </a:extLst>
          </p:cNvPr>
          <p:cNvGrpSpPr/>
          <p:nvPr/>
        </p:nvGrpSpPr>
        <p:grpSpPr>
          <a:xfrm>
            <a:off x="2545513" y="1980383"/>
            <a:ext cx="6840760" cy="2664296"/>
            <a:chOff x="899592" y="3140968"/>
            <a:chExt cx="6840760" cy="2664296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56DDA3C8-8641-4E27-80E5-1FCD3534E53B}"/>
                </a:ext>
              </a:extLst>
            </p:cNvPr>
            <p:cNvGrpSpPr/>
            <p:nvPr/>
          </p:nvGrpSpPr>
          <p:grpSpPr>
            <a:xfrm>
              <a:off x="899592" y="3140968"/>
              <a:ext cx="6840760" cy="2664296"/>
              <a:chOff x="1475656" y="3140968"/>
              <a:chExt cx="6840760" cy="2664296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6C81FF4-50DA-44E3-82FC-07E818501AAE}"/>
                  </a:ext>
                </a:extLst>
              </p:cNvPr>
              <p:cNvSpPr/>
              <p:nvPr/>
            </p:nvSpPr>
            <p:spPr>
              <a:xfrm>
                <a:off x="1475656" y="3284984"/>
                <a:ext cx="1448900" cy="7200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交易</a:t>
                </a:r>
                <a:endParaRPr lang="en-US" altLang="zh-TW" sz="2000" b="1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algn="ctr"/>
                <a:r>
                  <a:rPr lang="en-US" altLang="zh-TW" sz="1200" b="1" dirty="0">
                    <a:latin typeface="微軟正黑體" pitchFamily="34" charset="-120"/>
                    <a:ea typeface="微軟正黑體" pitchFamily="34" charset="-120"/>
                  </a:rPr>
                  <a:t>Transaction</a:t>
                </a:r>
                <a:endParaRPr lang="zh-TW" altLang="en-US" sz="1200" b="1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9C5F451-648C-4E43-A989-3993E87BB866}"/>
                  </a:ext>
                </a:extLst>
              </p:cNvPr>
              <p:cNvSpPr/>
              <p:nvPr/>
            </p:nvSpPr>
            <p:spPr>
              <a:xfrm>
                <a:off x="7056276" y="3284984"/>
                <a:ext cx="1260140" cy="7200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購物車</a:t>
                </a:r>
                <a:endParaRPr lang="en-US" altLang="zh-TW" sz="2000" b="1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algn="ctr"/>
                <a:r>
                  <a:rPr lang="en-US" altLang="zh-TW" sz="1200" b="1" dirty="0">
                    <a:latin typeface="微軟正黑體" pitchFamily="34" charset="-120"/>
                    <a:ea typeface="微軟正黑體" pitchFamily="34" charset="-120"/>
                  </a:rPr>
                  <a:t>Cart</a:t>
                </a:r>
                <a:endParaRPr lang="zh-TW" altLang="en-US" sz="1200" b="1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9" name="菱形 8">
                <a:extLst>
                  <a:ext uri="{FF2B5EF4-FFF2-40B4-BE49-F238E27FC236}">
                    <a16:creationId xmlns:a16="http://schemas.microsoft.com/office/drawing/2014/main" id="{066F61B3-3B0F-4B4B-98C1-2A3E1F44785F}"/>
                  </a:ext>
                </a:extLst>
              </p:cNvPr>
              <p:cNvSpPr/>
              <p:nvPr/>
            </p:nvSpPr>
            <p:spPr>
              <a:xfrm>
                <a:off x="3779912" y="3140968"/>
                <a:ext cx="2376264" cy="1008112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相對</a:t>
                </a:r>
                <a:endParaRPr lang="en-US" altLang="zh-TW" sz="2000" b="1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algn="ctr"/>
                <a:r>
                  <a:rPr lang="en-US" altLang="zh-TW" sz="1200" b="1" dirty="0">
                    <a:latin typeface="微軟正黑體" pitchFamily="34" charset="-120"/>
                    <a:ea typeface="微軟正黑體" pitchFamily="34" charset="-120"/>
                  </a:rPr>
                  <a:t>Corresponds</a:t>
                </a:r>
                <a:endParaRPr lang="zh-TW" altLang="en-US" sz="1200" b="1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E2763E9D-FF9F-4FCE-8556-3AB553B64A75}"/>
                  </a:ext>
                </a:extLst>
              </p:cNvPr>
              <p:cNvCxnSpPr>
                <a:stCxn id="7" idx="3"/>
                <a:endCxn id="9" idx="1"/>
              </p:cNvCxnSpPr>
              <p:nvPr/>
            </p:nvCxnSpPr>
            <p:spPr>
              <a:xfrm>
                <a:off x="2924556" y="3645024"/>
                <a:ext cx="85535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268105F8-BEE2-46D4-88C5-C8CCA65AE0B6}"/>
                  </a:ext>
                </a:extLst>
              </p:cNvPr>
              <p:cNvCxnSpPr>
                <a:stCxn id="9" idx="3"/>
                <a:endCxn id="8" idx="1"/>
              </p:cNvCxnSpPr>
              <p:nvPr/>
            </p:nvCxnSpPr>
            <p:spPr>
              <a:xfrm>
                <a:off x="6156176" y="3645024"/>
                <a:ext cx="9001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82504DD-E48D-4C11-B7CE-C4D09BA2A8DC}"/>
                  </a:ext>
                </a:extLst>
              </p:cNvPr>
              <p:cNvSpPr txBox="1"/>
              <p:nvPr/>
            </p:nvSpPr>
            <p:spPr>
              <a:xfrm>
                <a:off x="3428715" y="3237006"/>
                <a:ext cx="351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8ABA624-131A-4AF6-946E-C7AEB50DAD45}"/>
                  </a:ext>
                </a:extLst>
              </p:cNvPr>
              <p:cNvSpPr txBox="1"/>
              <p:nvPr/>
            </p:nvSpPr>
            <p:spPr>
              <a:xfrm>
                <a:off x="6124593" y="3242540"/>
                <a:ext cx="351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686BFE4-6B6E-4C9D-9717-5A8CEA0BD396}"/>
                  </a:ext>
                </a:extLst>
              </p:cNvPr>
              <p:cNvSpPr/>
              <p:nvPr/>
            </p:nvSpPr>
            <p:spPr>
              <a:xfrm>
                <a:off x="1475656" y="4941168"/>
                <a:ext cx="1484904" cy="7200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交易</a:t>
                </a:r>
                <a:endParaRPr lang="en-US" altLang="zh-TW" sz="2000" b="1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algn="ctr"/>
                <a:r>
                  <a:rPr lang="en-US" altLang="zh-TW" sz="1200" b="1" dirty="0">
                    <a:latin typeface="微軟正黑體" pitchFamily="34" charset="-120"/>
                    <a:ea typeface="微軟正黑體" pitchFamily="34" charset="-120"/>
                  </a:rPr>
                  <a:t>Transaction</a:t>
                </a:r>
                <a:endParaRPr lang="zh-TW" altLang="en-US" sz="1200" b="1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6548999-03C3-405D-9F9B-7D2201C3754E}"/>
                  </a:ext>
                </a:extLst>
              </p:cNvPr>
              <p:cNvSpPr/>
              <p:nvPr/>
            </p:nvSpPr>
            <p:spPr>
              <a:xfrm>
                <a:off x="7092280" y="4941168"/>
                <a:ext cx="1224136" cy="7200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購物車</a:t>
                </a:r>
                <a:endParaRPr lang="en-US" altLang="zh-TW" sz="2000" b="1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algn="ctr"/>
                <a:r>
                  <a:rPr lang="en-US" altLang="zh-TW" sz="1200" b="1" dirty="0">
                    <a:latin typeface="微軟正黑體" pitchFamily="34" charset="-120"/>
                    <a:ea typeface="微軟正黑體" pitchFamily="34" charset="-120"/>
                  </a:rPr>
                  <a:t>Cart</a:t>
                </a:r>
                <a:endParaRPr lang="zh-TW" altLang="en-US" sz="1200" b="1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16" name="菱形 15">
                <a:extLst>
                  <a:ext uri="{FF2B5EF4-FFF2-40B4-BE49-F238E27FC236}">
                    <a16:creationId xmlns:a16="http://schemas.microsoft.com/office/drawing/2014/main" id="{A1983231-985E-479E-A943-39CA41EDE61A}"/>
                  </a:ext>
                </a:extLst>
              </p:cNvPr>
              <p:cNvSpPr/>
              <p:nvPr/>
            </p:nvSpPr>
            <p:spPr>
              <a:xfrm>
                <a:off x="3815915" y="4797152"/>
                <a:ext cx="2382697" cy="1008112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相對</a:t>
                </a:r>
                <a:endParaRPr lang="en-US" altLang="zh-TW" sz="2000" b="1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algn="ctr"/>
                <a:r>
                  <a:rPr lang="en-US" altLang="zh-TW" sz="1200" b="1" dirty="0">
                    <a:latin typeface="微軟正黑體" pitchFamily="34" charset="-120"/>
                    <a:ea typeface="微軟正黑體" pitchFamily="34" charset="-120"/>
                  </a:rPr>
                  <a:t>Corresponds</a:t>
                </a:r>
                <a:endParaRPr lang="zh-TW" altLang="en-US" sz="1200" b="1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F3FE01E4-F681-44EE-99EA-EB4CE4F40E57}"/>
                  </a:ext>
                </a:extLst>
              </p:cNvPr>
              <p:cNvCxnSpPr>
                <a:stCxn id="14" idx="3"/>
                <a:endCxn id="16" idx="1"/>
              </p:cNvCxnSpPr>
              <p:nvPr/>
            </p:nvCxnSpPr>
            <p:spPr>
              <a:xfrm>
                <a:off x="2960560" y="5301208"/>
                <a:ext cx="85535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F71727BC-73F1-4FC5-9737-9DD3CB7A993D}"/>
                  </a:ext>
                </a:extLst>
              </p:cNvPr>
              <p:cNvCxnSpPr>
                <a:stCxn id="16" idx="3"/>
                <a:endCxn id="15" idx="1"/>
              </p:cNvCxnSpPr>
              <p:nvPr/>
            </p:nvCxnSpPr>
            <p:spPr>
              <a:xfrm>
                <a:off x="6198612" y="5301208"/>
                <a:ext cx="8936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F34DAB3-5752-4D45-8C3F-F320FD0F2409}"/>
                  </a:ext>
                </a:extLst>
              </p:cNvPr>
              <p:cNvSpPr txBox="1"/>
              <p:nvPr/>
            </p:nvSpPr>
            <p:spPr>
              <a:xfrm>
                <a:off x="2879812" y="4941168"/>
                <a:ext cx="684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(0,1)</a:t>
                </a:r>
                <a:endParaRPr lang="zh-TW" altLang="en-US" dirty="0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AABF2BE-BECC-4319-96B6-FAE56403DC2C}"/>
                  </a:ext>
                </a:extLst>
              </p:cNvPr>
              <p:cNvSpPr txBox="1"/>
              <p:nvPr/>
            </p:nvSpPr>
            <p:spPr>
              <a:xfrm>
                <a:off x="6480212" y="5003884"/>
                <a:ext cx="684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(0,1)</a:t>
                </a:r>
                <a:endParaRPr lang="zh-TW" altLang="en-US" dirty="0"/>
              </a:p>
            </p:txBody>
          </p:sp>
          <p:cxnSp>
            <p:nvCxnSpPr>
              <p:cNvPr id="21" name="直線單箭頭接點 20">
                <a:extLst>
                  <a:ext uri="{FF2B5EF4-FFF2-40B4-BE49-F238E27FC236}">
                    <a16:creationId xmlns:a16="http://schemas.microsoft.com/office/drawing/2014/main" id="{4EED008A-546A-4F2C-A7B2-F4AE189D69E1}"/>
                  </a:ext>
                </a:extLst>
              </p:cNvPr>
              <p:cNvCxnSpPr/>
              <p:nvPr/>
            </p:nvCxnSpPr>
            <p:spPr>
              <a:xfrm>
                <a:off x="3131840" y="3645024"/>
                <a:ext cx="0" cy="143231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>
                <a:extLst>
                  <a:ext uri="{FF2B5EF4-FFF2-40B4-BE49-F238E27FC236}">
                    <a16:creationId xmlns:a16="http://schemas.microsoft.com/office/drawing/2014/main" id="{0583EB5D-37F7-4505-BD86-2E5FE248F364}"/>
                  </a:ext>
                </a:extLst>
              </p:cNvPr>
              <p:cNvCxnSpPr/>
              <p:nvPr/>
            </p:nvCxnSpPr>
            <p:spPr>
              <a:xfrm>
                <a:off x="6660231" y="3646618"/>
                <a:ext cx="1" cy="143071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>
                <a:extLst>
                  <a:ext uri="{FF2B5EF4-FFF2-40B4-BE49-F238E27FC236}">
                    <a16:creationId xmlns:a16="http://schemas.microsoft.com/office/drawing/2014/main" id="{A9459FCA-BDE5-42C0-B6E9-6E686E027AFD}"/>
                  </a:ext>
                </a:extLst>
              </p:cNvPr>
              <p:cNvCxnSpPr/>
              <p:nvPr/>
            </p:nvCxnSpPr>
            <p:spPr>
              <a:xfrm>
                <a:off x="3604313" y="3646618"/>
                <a:ext cx="3343951" cy="136655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單箭頭接點 23">
                <a:extLst>
                  <a:ext uri="{FF2B5EF4-FFF2-40B4-BE49-F238E27FC236}">
                    <a16:creationId xmlns:a16="http://schemas.microsoft.com/office/drawing/2014/main" id="{BBBEA012-C7C2-4B80-82A6-3FB7BF49E0BE}"/>
                  </a:ext>
                </a:extLst>
              </p:cNvPr>
              <p:cNvCxnSpPr/>
              <p:nvPr/>
            </p:nvCxnSpPr>
            <p:spPr>
              <a:xfrm flipH="1">
                <a:off x="3239852" y="3645024"/>
                <a:ext cx="3060341" cy="143231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向下箭號 29">
              <a:extLst>
                <a:ext uri="{FF2B5EF4-FFF2-40B4-BE49-F238E27FC236}">
                  <a16:creationId xmlns:a16="http://schemas.microsoft.com/office/drawing/2014/main" id="{FF63AA0F-889F-4BBE-A0A7-69377725C100}"/>
                </a:ext>
              </a:extLst>
            </p:cNvPr>
            <p:cNvSpPr/>
            <p:nvPr/>
          </p:nvSpPr>
          <p:spPr>
            <a:xfrm>
              <a:off x="4269181" y="4329897"/>
              <a:ext cx="324036" cy="432048"/>
            </a:xfrm>
            <a:prstGeom prst="down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01601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5070E40-60C0-4BAF-89BC-E34A253AE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5AD3-CACF-4DB6-8371-7C9CCD5D1D16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A07BED7-129E-475F-BD39-F3078D62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7</a:t>
            </a:fld>
            <a:endParaRPr lang="zh-TW" alt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1EB3C79-1D73-45AD-BCD5-54B55B268302}"/>
              </a:ext>
            </a:extLst>
          </p:cNvPr>
          <p:cNvGrpSpPr/>
          <p:nvPr/>
        </p:nvGrpSpPr>
        <p:grpSpPr>
          <a:xfrm>
            <a:off x="2552546" y="2096852"/>
            <a:ext cx="6840760" cy="2664296"/>
            <a:chOff x="899592" y="3140968"/>
            <a:chExt cx="6840760" cy="2664296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526A9AA-FF93-4DA8-8AE7-9AD86A931507}"/>
                </a:ext>
              </a:extLst>
            </p:cNvPr>
            <p:cNvGrpSpPr/>
            <p:nvPr/>
          </p:nvGrpSpPr>
          <p:grpSpPr>
            <a:xfrm>
              <a:off x="899592" y="3140968"/>
              <a:ext cx="6840760" cy="2664296"/>
              <a:chOff x="899592" y="3140968"/>
              <a:chExt cx="6840760" cy="2664296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19D6BC87-1056-4311-9FA6-09A6A1A90A1F}"/>
                  </a:ext>
                </a:extLst>
              </p:cNvPr>
              <p:cNvGrpSpPr/>
              <p:nvPr/>
            </p:nvGrpSpPr>
            <p:grpSpPr>
              <a:xfrm>
                <a:off x="899592" y="3140968"/>
                <a:ext cx="6840760" cy="2664296"/>
                <a:chOff x="1475656" y="3140968"/>
                <a:chExt cx="6840760" cy="2664296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017E15F-9BB7-4A99-8B44-3ECC52B8C657}"/>
                    </a:ext>
                  </a:extLst>
                </p:cNvPr>
                <p:cNvSpPr/>
                <p:nvPr/>
              </p:nvSpPr>
              <p:spPr>
                <a:xfrm>
                  <a:off x="1475656" y="3284984"/>
                  <a:ext cx="1448900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會員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Member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BFC47D6-6B8E-4754-82EE-2D43E8E47585}"/>
                    </a:ext>
                  </a:extLst>
                </p:cNvPr>
                <p:cNvSpPr/>
                <p:nvPr/>
              </p:nvSpPr>
              <p:spPr>
                <a:xfrm>
                  <a:off x="7056276" y="3284984"/>
                  <a:ext cx="1260140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交易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Transaction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11" name="菱形 10">
                  <a:extLst>
                    <a:ext uri="{FF2B5EF4-FFF2-40B4-BE49-F238E27FC236}">
                      <a16:creationId xmlns:a16="http://schemas.microsoft.com/office/drawing/2014/main" id="{6DED3555-2419-4421-8403-4E01B5D74704}"/>
                    </a:ext>
                  </a:extLst>
                </p:cNvPr>
                <p:cNvSpPr/>
                <p:nvPr/>
              </p:nvSpPr>
              <p:spPr>
                <a:xfrm>
                  <a:off x="3779912" y="3140968"/>
                  <a:ext cx="2376264" cy="1008112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確認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Confirms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cxnSp>
              <p:nvCxnSpPr>
                <p:cNvPr id="12" name="直線接點 11">
                  <a:extLst>
                    <a:ext uri="{FF2B5EF4-FFF2-40B4-BE49-F238E27FC236}">
                      <a16:creationId xmlns:a16="http://schemas.microsoft.com/office/drawing/2014/main" id="{CCAE947E-053C-471C-A96E-29165D3AFF2C}"/>
                    </a:ext>
                  </a:extLst>
                </p:cNvPr>
                <p:cNvCxnSpPr>
                  <a:stCxn id="9" idx="3"/>
                  <a:endCxn id="11" idx="1"/>
                </p:cNvCxnSpPr>
                <p:nvPr/>
              </p:nvCxnSpPr>
              <p:spPr>
                <a:xfrm>
                  <a:off x="2924556" y="3645024"/>
                  <a:ext cx="85535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線接點 12">
                  <a:extLst>
                    <a:ext uri="{FF2B5EF4-FFF2-40B4-BE49-F238E27FC236}">
                      <a16:creationId xmlns:a16="http://schemas.microsoft.com/office/drawing/2014/main" id="{2C4DC1DE-A84B-44EB-A7DF-828396E932EE}"/>
                    </a:ext>
                  </a:extLst>
                </p:cNvPr>
                <p:cNvCxnSpPr>
                  <a:stCxn id="11" idx="3"/>
                  <a:endCxn id="10" idx="1"/>
                </p:cNvCxnSpPr>
                <p:nvPr/>
              </p:nvCxnSpPr>
              <p:spPr>
                <a:xfrm>
                  <a:off x="6156176" y="3645024"/>
                  <a:ext cx="9001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6F73E144-3E1C-4D69-8EE4-608D12DDE6D9}"/>
                    </a:ext>
                  </a:extLst>
                </p:cNvPr>
                <p:cNvSpPr txBox="1"/>
                <p:nvPr/>
              </p:nvSpPr>
              <p:spPr>
                <a:xfrm>
                  <a:off x="3428715" y="3237006"/>
                  <a:ext cx="3511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>
                      <a:latin typeface="微軟正黑體" pitchFamily="34" charset="-120"/>
                      <a:ea typeface="微軟正黑體" pitchFamily="34" charset="-120"/>
                    </a:rPr>
                    <a:t>1</a:t>
                  </a:r>
                  <a:endParaRPr lang="zh-TW" altLang="en-US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8C03F5C-02B2-4162-ABB1-C811A8936DAD}"/>
                    </a:ext>
                  </a:extLst>
                </p:cNvPr>
                <p:cNvSpPr txBox="1"/>
                <p:nvPr/>
              </p:nvSpPr>
              <p:spPr>
                <a:xfrm>
                  <a:off x="6124593" y="3242540"/>
                  <a:ext cx="3511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>
                      <a:latin typeface="微軟正黑體" pitchFamily="34" charset="-120"/>
                      <a:ea typeface="微軟正黑體" pitchFamily="34" charset="-120"/>
                    </a:rPr>
                    <a:t>N</a:t>
                  </a:r>
                  <a:endParaRPr lang="zh-TW" altLang="en-US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E6B816AC-A0A1-4C13-A731-28DC9ADFF314}"/>
                    </a:ext>
                  </a:extLst>
                </p:cNvPr>
                <p:cNvSpPr/>
                <p:nvPr/>
              </p:nvSpPr>
              <p:spPr>
                <a:xfrm>
                  <a:off x="1475656" y="4941168"/>
                  <a:ext cx="1484904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會員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Member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C90970EC-B20A-4EFC-9EBA-7FC3C6DCA566}"/>
                    </a:ext>
                  </a:extLst>
                </p:cNvPr>
                <p:cNvSpPr/>
                <p:nvPr/>
              </p:nvSpPr>
              <p:spPr>
                <a:xfrm>
                  <a:off x="7092280" y="4941168"/>
                  <a:ext cx="1224136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交易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Transaction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18" name="菱形 17">
                  <a:extLst>
                    <a:ext uri="{FF2B5EF4-FFF2-40B4-BE49-F238E27FC236}">
                      <a16:creationId xmlns:a16="http://schemas.microsoft.com/office/drawing/2014/main" id="{8457BA86-19B5-4632-BF46-ABFE2BF65887}"/>
                    </a:ext>
                  </a:extLst>
                </p:cNvPr>
                <p:cNvSpPr/>
                <p:nvPr/>
              </p:nvSpPr>
              <p:spPr>
                <a:xfrm>
                  <a:off x="3815915" y="4797152"/>
                  <a:ext cx="2382697" cy="1008112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確認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Confirms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15F57BA8-5DC5-436A-A911-8CD22913EEBB}"/>
                    </a:ext>
                  </a:extLst>
                </p:cNvPr>
                <p:cNvCxnSpPr>
                  <a:stCxn id="16" idx="3"/>
                  <a:endCxn id="18" idx="1"/>
                </p:cNvCxnSpPr>
                <p:nvPr/>
              </p:nvCxnSpPr>
              <p:spPr>
                <a:xfrm>
                  <a:off x="2960560" y="5301208"/>
                  <a:ext cx="85535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3B0C05FB-8158-48A1-A1EF-6CD76C326039}"/>
                    </a:ext>
                  </a:extLst>
                </p:cNvPr>
                <p:cNvCxnSpPr>
                  <a:stCxn id="18" idx="3"/>
                  <a:endCxn id="17" idx="1"/>
                </p:cNvCxnSpPr>
                <p:nvPr/>
              </p:nvCxnSpPr>
              <p:spPr>
                <a:xfrm>
                  <a:off x="6198612" y="5301208"/>
                  <a:ext cx="8936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5A39D887-61C5-4FDB-975C-4EE644DF5E5E}"/>
                    </a:ext>
                  </a:extLst>
                </p:cNvPr>
                <p:cNvSpPr txBox="1"/>
                <p:nvPr/>
              </p:nvSpPr>
              <p:spPr>
                <a:xfrm>
                  <a:off x="2879812" y="4941168"/>
                  <a:ext cx="684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>
                      <a:latin typeface="微軟正黑體" pitchFamily="34" charset="-120"/>
                      <a:ea typeface="微軟正黑體" pitchFamily="34" charset="-120"/>
                    </a:rPr>
                    <a:t>(0,N)</a:t>
                  </a:r>
                  <a:endParaRPr lang="zh-TW" altLang="en-US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7EB22B4-BA79-47FD-9D6F-345FCD8FBC47}"/>
                    </a:ext>
                  </a:extLst>
                </p:cNvPr>
                <p:cNvSpPr txBox="1"/>
                <p:nvPr/>
              </p:nvSpPr>
              <p:spPr>
                <a:xfrm>
                  <a:off x="6480212" y="5003884"/>
                  <a:ext cx="684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>
                      <a:latin typeface="微軟正黑體" pitchFamily="34" charset="-120"/>
                      <a:ea typeface="微軟正黑體" pitchFamily="34" charset="-120"/>
                    </a:rPr>
                    <a:t>(1,1)</a:t>
                  </a:r>
                  <a:endParaRPr lang="zh-TW" altLang="en-US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cxnSp>
              <p:nvCxnSpPr>
                <p:cNvPr id="23" name="直線單箭頭接點 22">
                  <a:extLst>
                    <a:ext uri="{FF2B5EF4-FFF2-40B4-BE49-F238E27FC236}">
                      <a16:creationId xmlns:a16="http://schemas.microsoft.com/office/drawing/2014/main" id="{2032FDD6-912C-4747-B278-7EDF6AE3B99F}"/>
                    </a:ext>
                  </a:extLst>
                </p:cNvPr>
                <p:cNvCxnSpPr/>
                <p:nvPr/>
              </p:nvCxnSpPr>
              <p:spPr>
                <a:xfrm>
                  <a:off x="3131840" y="3645024"/>
                  <a:ext cx="0" cy="143231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單箭頭接點 23">
                  <a:extLst>
                    <a:ext uri="{FF2B5EF4-FFF2-40B4-BE49-F238E27FC236}">
                      <a16:creationId xmlns:a16="http://schemas.microsoft.com/office/drawing/2014/main" id="{B4765BF5-1A6D-426B-BA0B-43A0DEA72EE5}"/>
                    </a:ext>
                  </a:extLst>
                </p:cNvPr>
                <p:cNvCxnSpPr/>
                <p:nvPr/>
              </p:nvCxnSpPr>
              <p:spPr>
                <a:xfrm>
                  <a:off x="6660231" y="3646618"/>
                  <a:ext cx="1" cy="143071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線單箭頭接點 24">
                  <a:extLst>
                    <a:ext uri="{FF2B5EF4-FFF2-40B4-BE49-F238E27FC236}">
                      <a16:creationId xmlns:a16="http://schemas.microsoft.com/office/drawing/2014/main" id="{1A35A035-D105-47E7-96FE-940C55449091}"/>
                    </a:ext>
                  </a:extLst>
                </p:cNvPr>
                <p:cNvCxnSpPr/>
                <p:nvPr/>
              </p:nvCxnSpPr>
              <p:spPr>
                <a:xfrm>
                  <a:off x="3604313" y="3646618"/>
                  <a:ext cx="3343951" cy="13665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單箭頭接點 25">
                  <a:extLst>
                    <a:ext uri="{FF2B5EF4-FFF2-40B4-BE49-F238E27FC236}">
                      <a16:creationId xmlns:a16="http://schemas.microsoft.com/office/drawing/2014/main" id="{0E54DFDC-66F7-4384-BC4E-FA96661BD0F5}"/>
                    </a:ext>
                  </a:extLst>
                </p:cNvPr>
                <p:cNvCxnSpPr/>
                <p:nvPr/>
              </p:nvCxnSpPr>
              <p:spPr>
                <a:xfrm flipH="1">
                  <a:off x="3239852" y="3645024"/>
                  <a:ext cx="3060341" cy="143231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向下箭號 33">
                <a:extLst>
                  <a:ext uri="{FF2B5EF4-FFF2-40B4-BE49-F238E27FC236}">
                    <a16:creationId xmlns:a16="http://schemas.microsoft.com/office/drawing/2014/main" id="{7C02E04D-52F5-43B1-8398-B3AA703D8C2A}"/>
                  </a:ext>
                </a:extLst>
              </p:cNvPr>
              <p:cNvSpPr/>
              <p:nvPr/>
            </p:nvSpPr>
            <p:spPr>
              <a:xfrm>
                <a:off x="4269181" y="4329897"/>
                <a:ext cx="324036" cy="432048"/>
              </a:xfrm>
              <a:prstGeom prst="downArrow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C7E41F78-68E9-405D-9024-DFDE64549AC6}"/>
                </a:ext>
              </a:extLst>
            </p:cNvPr>
            <p:cNvCxnSpPr/>
            <p:nvPr/>
          </p:nvCxnSpPr>
          <p:spPr>
            <a:xfrm>
              <a:off x="5436096" y="3583020"/>
              <a:ext cx="10441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473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群組 24"/>
          <p:cNvGrpSpPr/>
          <p:nvPr/>
        </p:nvGrpSpPr>
        <p:grpSpPr>
          <a:xfrm>
            <a:off x="1529861" y="1881553"/>
            <a:ext cx="9231923" cy="4097215"/>
            <a:chOff x="899592" y="3140968"/>
            <a:chExt cx="6840760" cy="2664296"/>
          </a:xfrm>
        </p:grpSpPr>
        <p:grpSp>
          <p:nvGrpSpPr>
            <p:cNvPr id="26" name="群組 25"/>
            <p:cNvGrpSpPr/>
            <p:nvPr/>
          </p:nvGrpSpPr>
          <p:grpSpPr>
            <a:xfrm>
              <a:off x="899592" y="3140968"/>
              <a:ext cx="6840760" cy="2664296"/>
              <a:chOff x="899592" y="3140968"/>
              <a:chExt cx="6840760" cy="2664296"/>
            </a:xfrm>
          </p:grpSpPr>
          <p:grpSp>
            <p:nvGrpSpPr>
              <p:cNvPr id="28" name="群組 27"/>
              <p:cNvGrpSpPr/>
              <p:nvPr/>
            </p:nvGrpSpPr>
            <p:grpSpPr>
              <a:xfrm>
                <a:off x="899592" y="3140968"/>
                <a:ext cx="6840760" cy="2664296"/>
                <a:chOff x="1475656" y="3140968"/>
                <a:chExt cx="6840760" cy="2664296"/>
              </a:xfrm>
            </p:grpSpPr>
            <p:sp>
              <p:nvSpPr>
                <p:cNvPr id="30" name="矩形 29"/>
                <p:cNvSpPr/>
                <p:nvPr/>
              </p:nvSpPr>
              <p:spPr>
                <a:xfrm>
                  <a:off x="1475656" y="3284984"/>
                  <a:ext cx="1448900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交易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Transaction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7056276" y="3284984"/>
                  <a:ext cx="1260140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商品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Product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32" name="菱形 31"/>
                <p:cNvSpPr/>
                <p:nvPr/>
              </p:nvSpPr>
              <p:spPr>
                <a:xfrm>
                  <a:off x="3779912" y="3140968"/>
                  <a:ext cx="2376264" cy="1008112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記錄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Records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cxnSp>
              <p:nvCxnSpPr>
                <p:cNvPr id="33" name="直線接點 32"/>
                <p:cNvCxnSpPr>
                  <a:stCxn id="30" idx="3"/>
                  <a:endCxn id="32" idx="1"/>
                </p:cNvCxnSpPr>
                <p:nvPr/>
              </p:nvCxnSpPr>
              <p:spPr>
                <a:xfrm>
                  <a:off x="2924556" y="3645024"/>
                  <a:ext cx="85535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接點 33"/>
                <p:cNvCxnSpPr>
                  <a:stCxn id="32" idx="3"/>
                  <a:endCxn id="31" idx="1"/>
                </p:cNvCxnSpPr>
                <p:nvPr/>
              </p:nvCxnSpPr>
              <p:spPr>
                <a:xfrm>
                  <a:off x="6156176" y="3645024"/>
                  <a:ext cx="9001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5" name="文字方塊 34"/>
                <p:cNvSpPr txBox="1"/>
                <p:nvPr/>
              </p:nvSpPr>
              <p:spPr>
                <a:xfrm>
                  <a:off x="3428715" y="3237006"/>
                  <a:ext cx="3511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M</a:t>
                  </a:r>
                  <a:endParaRPr lang="zh-TW" altLang="en-US" dirty="0"/>
                </a:p>
              </p:txBody>
            </p:sp>
            <p:sp>
              <p:nvSpPr>
                <p:cNvPr id="36" name="文字方塊 35"/>
                <p:cNvSpPr txBox="1"/>
                <p:nvPr/>
              </p:nvSpPr>
              <p:spPr>
                <a:xfrm>
                  <a:off x="6124593" y="3242540"/>
                  <a:ext cx="3511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N</a:t>
                  </a:r>
                  <a:endParaRPr lang="zh-TW" altLang="en-US" dirty="0"/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1475656" y="4941168"/>
                  <a:ext cx="1484904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交易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Transaction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7092280" y="4941168"/>
                  <a:ext cx="1224136" cy="72008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商品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Product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39" name="菱形 38"/>
                <p:cNvSpPr/>
                <p:nvPr/>
              </p:nvSpPr>
              <p:spPr>
                <a:xfrm>
                  <a:off x="3815915" y="4797152"/>
                  <a:ext cx="2382697" cy="1008112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2000" b="1" dirty="0">
                      <a:latin typeface="微軟正黑體" pitchFamily="34" charset="-120"/>
                      <a:ea typeface="微軟正黑體" pitchFamily="34" charset="-120"/>
                    </a:rPr>
                    <a:t>記錄</a:t>
                  </a:r>
                  <a:endParaRPr lang="en-US" altLang="zh-TW" sz="2000" b="1" dirty="0">
                    <a:latin typeface="微軟正黑體" pitchFamily="34" charset="-120"/>
                    <a:ea typeface="微軟正黑體" pitchFamily="34" charset="-120"/>
                  </a:endParaRPr>
                </a:p>
                <a:p>
                  <a:pPr algn="ctr"/>
                  <a:r>
                    <a:rPr lang="en-US" altLang="zh-TW" sz="1200" b="1" dirty="0">
                      <a:latin typeface="微軟正黑體" pitchFamily="34" charset="-120"/>
                      <a:ea typeface="微軟正黑體" pitchFamily="34" charset="-120"/>
                    </a:rPr>
                    <a:t>Records</a:t>
                  </a:r>
                  <a:endParaRPr lang="zh-TW" altLang="en-US" sz="1200" b="1" dirty="0"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cxnSp>
              <p:nvCxnSpPr>
                <p:cNvPr id="40" name="直線接點 39"/>
                <p:cNvCxnSpPr>
                  <a:stCxn id="37" idx="3"/>
                  <a:endCxn id="39" idx="1"/>
                </p:cNvCxnSpPr>
                <p:nvPr/>
              </p:nvCxnSpPr>
              <p:spPr>
                <a:xfrm>
                  <a:off x="2960560" y="5301208"/>
                  <a:ext cx="85535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接點 40"/>
                <p:cNvCxnSpPr>
                  <a:stCxn id="39" idx="3"/>
                  <a:endCxn id="38" idx="1"/>
                </p:cNvCxnSpPr>
                <p:nvPr/>
              </p:nvCxnSpPr>
              <p:spPr>
                <a:xfrm>
                  <a:off x="6198612" y="5301208"/>
                  <a:ext cx="8936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2" name="文字方塊 41"/>
                <p:cNvSpPr txBox="1"/>
                <p:nvPr/>
              </p:nvSpPr>
              <p:spPr>
                <a:xfrm>
                  <a:off x="2971837" y="5041226"/>
                  <a:ext cx="684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(1,N)</a:t>
                  </a:r>
                  <a:endParaRPr lang="zh-TW" altLang="en-US" dirty="0"/>
                </a:p>
              </p:txBody>
            </p:sp>
            <p:sp>
              <p:nvSpPr>
                <p:cNvPr id="43" name="文字方塊 42"/>
                <p:cNvSpPr txBox="1"/>
                <p:nvPr/>
              </p:nvSpPr>
              <p:spPr>
                <a:xfrm>
                  <a:off x="6480212" y="5003884"/>
                  <a:ext cx="684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(0,N)</a:t>
                  </a:r>
                  <a:endParaRPr lang="zh-TW" altLang="en-US" dirty="0"/>
                </a:p>
              </p:txBody>
            </p:sp>
            <p:cxnSp>
              <p:nvCxnSpPr>
                <p:cNvPr id="44" name="直線單箭頭接點 43"/>
                <p:cNvCxnSpPr>
                  <a:cxnSpLocks/>
                </p:cNvCxnSpPr>
                <p:nvPr/>
              </p:nvCxnSpPr>
              <p:spPr>
                <a:xfrm flipH="1">
                  <a:off x="3067865" y="3645024"/>
                  <a:ext cx="63975" cy="148467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單箭頭接點 44"/>
                <p:cNvCxnSpPr/>
                <p:nvPr/>
              </p:nvCxnSpPr>
              <p:spPr>
                <a:xfrm>
                  <a:off x="6660231" y="3646618"/>
                  <a:ext cx="1" cy="143071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單箭頭接點 45"/>
                <p:cNvCxnSpPr>
                  <a:cxnSpLocks/>
                </p:cNvCxnSpPr>
                <p:nvPr/>
              </p:nvCxnSpPr>
              <p:spPr>
                <a:xfrm>
                  <a:off x="3636393" y="3448392"/>
                  <a:ext cx="3157288" cy="162894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單箭頭接點 46"/>
                <p:cNvCxnSpPr>
                  <a:cxnSpLocks/>
                </p:cNvCxnSpPr>
                <p:nvPr/>
              </p:nvCxnSpPr>
              <p:spPr>
                <a:xfrm flipH="1">
                  <a:off x="3352235" y="3497301"/>
                  <a:ext cx="2846377" cy="158003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向下箭號 28"/>
              <p:cNvSpPr/>
              <p:nvPr/>
            </p:nvSpPr>
            <p:spPr>
              <a:xfrm>
                <a:off x="4269181" y="4329897"/>
                <a:ext cx="324036" cy="432048"/>
              </a:xfrm>
              <a:prstGeom prst="downArrow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27" name="直線接點 26"/>
            <p:cNvCxnSpPr/>
            <p:nvPr/>
          </p:nvCxnSpPr>
          <p:spPr>
            <a:xfrm>
              <a:off x="2330593" y="3602777"/>
              <a:ext cx="9452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FAAF-18CB-4AD9-881E-1A8CD809BD28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846A529-08D0-4290-A65A-366085121C45}"/>
              </a:ext>
            </a:extLst>
          </p:cNvPr>
          <p:cNvSpPr txBox="1"/>
          <p:nvPr/>
        </p:nvSpPr>
        <p:spPr>
          <a:xfrm>
            <a:off x="1542840" y="6013624"/>
            <a:ext cx="69429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>
                <a:solidFill>
                  <a:srgbClr val="C00000"/>
                </a:solidFill>
                <a:ea typeface="標楷體" panose="03000509000000000000" pitchFamily="65" charset="-120"/>
              </a:rPr>
              <a:t>每筆交易能記錄一筆以上的</a:t>
            </a:r>
            <a:r>
              <a:rPr lang="zh-TW" altLang="en-US" sz="2000" dirty="0">
                <a:solidFill>
                  <a:srgbClr val="C00000"/>
                </a:solidFill>
                <a:ea typeface="標楷體" panose="03000509000000000000" pitchFamily="65" charset="-120"/>
              </a:rPr>
              <a:t>商品</a:t>
            </a:r>
            <a:endParaRPr lang="en-US" altLang="zh-TW" sz="2000" dirty="0">
              <a:solidFill>
                <a:srgbClr val="C00000"/>
              </a:solidFill>
              <a:ea typeface="標楷體" panose="03000509000000000000" pitchFamily="65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000">
                <a:solidFill>
                  <a:srgbClr val="C00000"/>
                </a:solidFill>
                <a:ea typeface="標楷體" panose="03000509000000000000" pitchFamily="65" charset="-120"/>
              </a:rPr>
              <a:t>商品有可能不會</a:t>
            </a:r>
            <a:r>
              <a:rPr lang="zh-TW" altLang="en-US" sz="2000" dirty="0">
                <a:solidFill>
                  <a:srgbClr val="C00000"/>
                </a:solidFill>
                <a:ea typeface="標楷體" panose="03000509000000000000" pitchFamily="65" charset="-120"/>
              </a:rPr>
              <a:t>出現在交易中或</a:t>
            </a:r>
            <a:r>
              <a:rPr lang="zh-TW" altLang="en-US" sz="2000">
                <a:solidFill>
                  <a:srgbClr val="C00000"/>
                </a:solidFill>
                <a:ea typeface="標楷體" panose="03000509000000000000" pitchFamily="65" charset="-120"/>
              </a:rPr>
              <a:t>可能在多筆交易</a:t>
            </a:r>
            <a:r>
              <a:rPr lang="zh-TW" altLang="en-US" sz="2000" dirty="0">
                <a:solidFill>
                  <a:srgbClr val="C00000"/>
                </a:solidFill>
                <a:ea typeface="標楷體" panose="03000509000000000000" pitchFamily="65" charset="-120"/>
              </a:rPr>
              <a:t>中</a:t>
            </a:r>
            <a:r>
              <a:rPr lang="zh-TW" altLang="en-US" sz="2000">
                <a:solidFill>
                  <a:srgbClr val="C00000"/>
                </a:solidFill>
                <a:ea typeface="標楷體" panose="03000509000000000000" pitchFamily="65" charset="-120"/>
              </a:rPr>
              <a:t>被記錄</a:t>
            </a:r>
            <a:endParaRPr lang="zh-TW" altLang="en-US" sz="2000" dirty="0">
              <a:solidFill>
                <a:srgbClr val="C00000"/>
              </a:solidFill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6594F0-3470-41FC-B29F-9F3246A2B828}"/>
              </a:ext>
            </a:extLst>
          </p:cNvPr>
          <p:cNvSpPr txBox="1"/>
          <p:nvPr/>
        </p:nvSpPr>
        <p:spPr>
          <a:xfrm>
            <a:off x="8917812" y="3750618"/>
            <a:ext cx="243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>
                <a:solidFill>
                  <a:srgbClr val="0000FF"/>
                </a:solidFill>
              </a:rPr>
              <a:t>Look-cross constraint</a:t>
            </a:r>
            <a:endParaRPr lang="zh-TW" altLang="en-US" sz="2000" b="1">
              <a:solidFill>
                <a:srgbClr val="0000FF"/>
              </a:solidFill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185140A3-3FD3-47FC-9EB7-2069A1E0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44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二元關係型態雞爪表示法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3581400" y="2520004"/>
            <a:ext cx="8174070" cy="3162667"/>
            <a:chOff x="899592" y="2492896"/>
            <a:chExt cx="6840760" cy="2664296"/>
          </a:xfrm>
        </p:grpSpPr>
        <p:sp>
          <p:nvSpPr>
            <p:cNvPr id="6" name="向下箭號 5"/>
            <p:cNvSpPr/>
            <p:nvPr/>
          </p:nvSpPr>
          <p:spPr>
            <a:xfrm>
              <a:off x="4269181" y="3681825"/>
              <a:ext cx="324036" cy="432048"/>
            </a:xfrm>
            <a:prstGeom prst="down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" name="直線接點 6"/>
            <p:cNvCxnSpPr/>
            <p:nvPr/>
          </p:nvCxnSpPr>
          <p:spPr>
            <a:xfrm>
              <a:off x="5436096" y="2934948"/>
              <a:ext cx="10441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899592" y="2636912"/>
              <a:ext cx="144890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latin typeface="微軟正黑體" pitchFamily="34" charset="-120"/>
                  <a:ea typeface="微軟正黑體" pitchFamily="34" charset="-120"/>
                </a:rPr>
                <a:t>會員</a:t>
              </a:r>
              <a:endParaRPr lang="en-US" altLang="zh-TW" sz="2000" b="1" dirty="0">
                <a:latin typeface="微軟正黑體" pitchFamily="34" charset="-120"/>
                <a:ea typeface="微軟正黑體" pitchFamily="34" charset="-120"/>
              </a:endParaRPr>
            </a:p>
            <a:p>
              <a:pPr algn="ctr"/>
              <a:r>
                <a:rPr lang="en-US" altLang="zh-TW" sz="1200" b="1" dirty="0">
                  <a:latin typeface="微軟正黑體" pitchFamily="34" charset="-120"/>
                  <a:ea typeface="微軟正黑體" pitchFamily="34" charset="-120"/>
                </a:rPr>
                <a:t>Member</a:t>
              </a:r>
              <a:endParaRPr lang="zh-TW" altLang="en-US" sz="12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480212" y="2636912"/>
              <a:ext cx="126014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latin typeface="微軟正黑體" pitchFamily="34" charset="-120"/>
                  <a:ea typeface="微軟正黑體" pitchFamily="34" charset="-120"/>
                </a:rPr>
                <a:t>交易</a:t>
              </a:r>
              <a:endParaRPr lang="en-US" altLang="zh-TW" sz="2000" b="1" dirty="0">
                <a:latin typeface="微軟正黑體" pitchFamily="34" charset="-120"/>
                <a:ea typeface="微軟正黑體" pitchFamily="34" charset="-120"/>
              </a:endParaRPr>
            </a:p>
            <a:p>
              <a:pPr algn="ctr"/>
              <a:r>
                <a:rPr lang="en-US" altLang="zh-TW" sz="1200" b="1" dirty="0">
                  <a:latin typeface="微軟正黑體" pitchFamily="34" charset="-120"/>
                  <a:ea typeface="微軟正黑體" pitchFamily="34" charset="-120"/>
                </a:rPr>
                <a:t>Transaction</a:t>
              </a:r>
              <a:endParaRPr lang="zh-TW" altLang="en-US" sz="12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0" name="菱形 9"/>
            <p:cNvSpPr/>
            <p:nvPr/>
          </p:nvSpPr>
          <p:spPr>
            <a:xfrm>
              <a:off x="3203848" y="2492896"/>
              <a:ext cx="2376264" cy="1008112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latin typeface="微軟正黑體" pitchFamily="34" charset="-120"/>
                  <a:ea typeface="微軟正黑體" pitchFamily="34" charset="-120"/>
                </a:rPr>
                <a:t>確認</a:t>
              </a:r>
              <a:endParaRPr lang="en-US" altLang="zh-TW" sz="2000" b="1" dirty="0">
                <a:latin typeface="微軟正黑體" pitchFamily="34" charset="-120"/>
                <a:ea typeface="微軟正黑體" pitchFamily="34" charset="-120"/>
              </a:endParaRPr>
            </a:p>
            <a:p>
              <a:pPr algn="ctr"/>
              <a:r>
                <a:rPr lang="en-US" altLang="zh-TW" sz="1200" b="1" dirty="0">
                  <a:latin typeface="微軟正黑體" pitchFamily="34" charset="-120"/>
                  <a:ea typeface="微軟正黑體" pitchFamily="34" charset="-120"/>
                </a:rPr>
                <a:t>Confirms</a:t>
              </a:r>
              <a:endParaRPr lang="zh-TW" altLang="en-US" sz="12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cxnSp>
          <p:nvCxnSpPr>
            <p:cNvPr id="11" name="直線接點 10"/>
            <p:cNvCxnSpPr>
              <a:stCxn id="8" idx="3"/>
              <a:endCxn id="10" idx="1"/>
            </p:cNvCxnSpPr>
            <p:nvPr/>
          </p:nvCxnSpPr>
          <p:spPr>
            <a:xfrm>
              <a:off x="2348492" y="2996952"/>
              <a:ext cx="8553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stCxn id="10" idx="3"/>
              <a:endCxn id="9" idx="1"/>
            </p:cNvCxnSpPr>
            <p:nvPr/>
          </p:nvCxnSpPr>
          <p:spPr>
            <a:xfrm>
              <a:off x="5580112" y="2996952"/>
              <a:ext cx="9001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2852651" y="2588934"/>
              <a:ext cx="351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latin typeface="微軟正黑體" pitchFamily="34" charset="-120"/>
                  <a:ea typeface="微軟正黑體" pitchFamily="34" charset="-120"/>
                </a:rPr>
                <a:t>1</a:t>
              </a:r>
              <a:endParaRPr lang="zh-TW" altLang="en-US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548529" y="2594468"/>
              <a:ext cx="351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latin typeface="微軟正黑體" pitchFamily="34" charset="-120"/>
                  <a:ea typeface="微軟正黑體" pitchFamily="34" charset="-120"/>
                </a:rPr>
                <a:t>N</a:t>
              </a:r>
              <a:endParaRPr lang="zh-TW" altLang="en-US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99592" y="4293096"/>
              <a:ext cx="1484904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latin typeface="微軟正黑體" pitchFamily="34" charset="-120"/>
                  <a:ea typeface="微軟正黑體" pitchFamily="34" charset="-120"/>
                </a:rPr>
                <a:t>會員</a:t>
              </a:r>
              <a:endParaRPr lang="en-US" altLang="zh-TW" sz="2000" b="1" dirty="0">
                <a:latin typeface="微軟正黑體" pitchFamily="34" charset="-120"/>
                <a:ea typeface="微軟正黑體" pitchFamily="34" charset="-120"/>
              </a:endParaRPr>
            </a:p>
            <a:p>
              <a:pPr algn="ctr"/>
              <a:r>
                <a:rPr lang="en-US" altLang="zh-TW" sz="1200" b="1" dirty="0">
                  <a:latin typeface="微軟正黑體" pitchFamily="34" charset="-120"/>
                  <a:ea typeface="微軟正黑體" pitchFamily="34" charset="-120"/>
                </a:rPr>
                <a:t>Member</a:t>
              </a:r>
              <a:endParaRPr lang="zh-TW" altLang="en-US" sz="12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516216" y="4293096"/>
              <a:ext cx="1224136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latin typeface="微軟正黑體" pitchFamily="34" charset="-120"/>
                  <a:ea typeface="微軟正黑體" pitchFamily="34" charset="-120"/>
                </a:rPr>
                <a:t>交易</a:t>
              </a:r>
              <a:endParaRPr lang="en-US" altLang="zh-TW" sz="2000" b="1" dirty="0">
                <a:latin typeface="微軟正黑體" pitchFamily="34" charset="-120"/>
                <a:ea typeface="微軟正黑體" pitchFamily="34" charset="-120"/>
              </a:endParaRPr>
            </a:p>
            <a:p>
              <a:pPr algn="ctr"/>
              <a:r>
                <a:rPr lang="en-US" altLang="zh-TW" sz="1200" b="1" dirty="0">
                  <a:latin typeface="微軟正黑體" pitchFamily="34" charset="-120"/>
                  <a:ea typeface="微軟正黑體" pitchFamily="34" charset="-120"/>
                </a:rPr>
                <a:t>Transaction</a:t>
              </a:r>
              <a:endParaRPr lang="zh-TW" altLang="en-US" sz="12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7" name="菱形 16"/>
            <p:cNvSpPr/>
            <p:nvPr/>
          </p:nvSpPr>
          <p:spPr>
            <a:xfrm>
              <a:off x="3239851" y="4149080"/>
              <a:ext cx="2382697" cy="1008112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latin typeface="微軟正黑體" pitchFamily="34" charset="-120"/>
                  <a:ea typeface="微軟正黑體" pitchFamily="34" charset="-120"/>
                </a:rPr>
                <a:t>確認</a:t>
              </a:r>
              <a:endParaRPr lang="en-US" altLang="zh-TW" sz="2000" b="1" dirty="0">
                <a:latin typeface="微軟正黑體" pitchFamily="34" charset="-120"/>
                <a:ea typeface="微軟正黑體" pitchFamily="34" charset="-120"/>
              </a:endParaRPr>
            </a:p>
            <a:p>
              <a:pPr algn="ctr"/>
              <a:r>
                <a:rPr lang="en-US" altLang="zh-TW" sz="1200" b="1" dirty="0">
                  <a:latin typeface="微軟正黑體" pitchFamily="34" charset="-120"/>
                  <a:ea typeface="微軟正黑體" pitchFamily="34" charset="-120"/>
                </a:rPr>
                <a:t>Confirms</a:t>
              </a:r>
              <a:endParaRPr lang="zh-TW" altLang="en-US" sz="12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cxnSp>
          <p:nvCxnSpPr>
            <p:cNvPr id="18" name="直線接點 17"/>
            <p:cNvCxnSpPr>
              <a:stCxn id="15" idx="3"/>
              <a:endCxn id="17" idx="1"/>
            </p:cNvCxnSpPr>
            <p:nvPr/>
          </p:nvCxnSpPr>
          <p:spPr>
            <a:xfrm>
              <a:off x="2384496" y="4653136"/>
              <a:ext cx="85535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7" idx="3"/>
              <a:endCxn id="16" idx="1"/>
            </p:cNvCxnSpPr>
            <p:nvPr/>
          </p:nvCxnSpPr>
          <p:spPr>
            <a:xfrm>
              <a:off x="5622548" y="4653136"/>
              <a:ext cx="89366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/>
            <p:nvPr/>
          </p:nvCxnSpPr>
          <p:spPr>
            <a:xfrm>
              <a:off x="2555776" y="2996952"/>
              <a:ext cx="3456384" cy="151216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/>
            <p:nvPr/>
          </p:nvCxnSpPr>
          <p:spPr>
            <a:xfrm flipH="1">
              <a:off x="2699792" y="2996952"/>
              <a:ext cx="3312367" cy="143856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/>
            <p:nvPr/>
          </p:nvCxnSpPr>
          <p:spPr>
            <a:xfrm>
              <a:off x="5724128" y="2924944"/>
              <a:ext cx="648072" cy="158417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cxnSpLocks/>
            </p:cNvCxnSpPr>
            <p:nvPr/>
          </p:nvCxnSpPr>
          <p:spPr>
            <a:xfrm flipH="1">
              <a:off x="2483768" y="2924944"/>
              <a:ext cx="442998" cy="151216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/>
            <p:cNvSpPr/>
            <p:nvPr/>
          </p:nvSpPr>
          <p:spPr>
            <a:xfrm>
              <a:off x="6012160" y="4509120"/>
              <a:ext cx="288032" cy="28803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5" name="直線接點 24"/>
            <p:cNvCxnSpPr/>
            <p:nvPr/>
          </p:nvCxnSpPr>
          <p:spPr>
            <a:xfrm>
              <a:off x="2483768" y="4509120"/>
              <a:ext cx="0" cy="2880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H="1">
              <a:off x="6372200" y="4509120"/>
              <a:ext cx="144016" cy="144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6372200" y="4653136"/>
              <a:ext cx="144016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8" name="直線接點 27"/>
          <p:cNvCxnSpPr/>
          <p:nvPr/>
        </p:nvCxnSpPr>
        <p:spPr>
          <a:xfrm>
            <a:off x="5587312" y="4909222"/>
            <a:ext cx="0" cy="3419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517240" y="2375955"/>
            <a:ext cx="25458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altLang="zh-TW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N 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個參與關係</a:t>
            </a:r>
            <a:endParaRPr lang="en-US" altLang="zh-TW" sz="20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|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個參與關係</a:t>
            </a:r>
            <a:endParaRPr lang="en-US" altLang="zh-TW" sz="20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 </a:t>
            </a:r>
            <a:r>
              <a:rPr lang="zh-TW" altLang="en-US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</a:p>
        </p:txBody>
      </p:sp>
      <p:sp>
        <p:nvSpPr>
          <p:cNvPr id="31" name="日期版面配置區 3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57F3-3DD6-46C6-A814-4A40209E5B14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32" name="投影片編號版面配置區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85B6E9-44E1-455F-9D62-A7BF280EDF0D}"/>
              </a:ext>
            </a:extLst>
          </p:cNvPr>
          <p:cNvSpPr txBox="1"/>
          <p:nvPr/>
        </p:nvSpPr>
        <p:spPr>
          <a:xfrm>
            <a:off x="5758407" y="2248879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(0, n)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4E4857A-1833-4532-8685-BECB51BD653F}"/>
              </a:ext>
            </a:extLst>
          </p:cNvPr>
          <p:cNvSpPr txBox="1"/>
          <p:nvPr/>
        </p:nvSpPr>
        <p:spPr>
          <a:xfrm>
            <a:off x="8916153" y="221650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(1,1)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93BBD74-C405-4040-AA48-847FBA957BD8}"/>
              </a:ext>
            </a:extLst>
          </p:cNvPr>
          <p:cNvSpPr txBox="1"/>
          <p:nvPr/>
        </p:nvSpPr>
        <p:spPr>
          <a:xfrm>
            <a:off x="5595250" y="1955147"/>
            <a:ext cx="1059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min, max</a:t>
            </a:r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99CE4E6-5F83-4387-81B2-B6474976ED73}"/>
              </a:ext>
            </a:extLst>
          </p:cNvPr>
          <p:cNvSpPr txBox="1"/>
          <p:nvPr/>
        </p:nvSpPr>
        <p:spPr>
          <a:xfrm>
            <a:off x="8674070" y="1956351"/>
            <a:ext cx="1059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min, max</a:t>
            </a:r>
            <a:endParaRPr lang="zh-TW" altLang="en-US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FAA1F3FE-8C87-41AB-B4A3-BD41A3D5F2E1}"/>
              </a:ext>
            </a:extLst>
          </p:cNvPr>
          <p:cNvCxnSpPr/>
          <p:nvPr/>
        </p:nvCxnSpPr>
        <p:spPr>
          <a:xfrm>
            <a:off x="775282" y="2601155"/>
            <a:ext cx="4290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A850B3FA-A664-4D60-8C36-243E532A35C9}"/>
              </a:ext>
            </a:extLst>
          </p:cNvPr>
          <p:cNvCxnSpPr/>
          <p:nvPr/>
        </p:nvCxnSpPr>
        <p:spPr>
          <a:xfrm flipV="1">
            <a:off x="979262" y="2495496"/>
            <a:ext cx="218049" cy="9925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F425961F-D614-48C9-BB64-9EAE3BEF1B0E}"/>
              </a:ext>
            </a:extLst>
          </p:cNvPr>
          <p:cNvCxnSpPr>
            <a:cxnSpLocks/>
          </p:cNvCxnSpPr>
          <p:nvPr/>
        </p:nvCxnSpPr>
        <p:spPr>
          <a:xfrm>
            <a:off x="975746" y="2599573"/>
            <a:ext cx="218049" cy="9925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B7D829F-FB84-49BA-B1FC-A3954561C8F3}"/>
              </a:ext>
            </a:extLst>
          </p:cNvPr>
          <p:cNvSpPr txBox="1"/>
          <p:nvPr/>
        </p:nvSpPr>
        <p:spPr>
          <a:xfrm>
            <a:off x="5304566" y="526122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(1,1)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C9EC48D-37F4-4DDA-8394-8A89DDCAED2A}"/>
              </a:ext>
            </a:extLst>
          </p:cNvPr>
          <p:cNvSpPr txBox="1"/>
          <p:nvPr/>
        </p:nvSpPr>
        <p:spPr>
          <a:xfrm>
            <a:off x="9533439" y="5351007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(0, n)</a:t>
            </a:r>
            <a:endParaRPr lang="zh-TW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24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(min,max)</a:t>
            </a:r>
            <a:r>
              <a:rPr lang="zh-TW" altLang="en-US"/>
              <a:t>表示法轉換雞</a:t>
            </a:r>
            <a:r>
              <a:rPr lang="zh-TW" altLang="en-US" dirty="0"/>
              <a:t>爪</a:t>
            </a:r>
            <a:r>
              <a:rPr lang="zh-TW" altLang="en-US"/>
              <a:t>表示法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28" y="1690688"/>
            <a:ext cx="9355930" cy="143937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28" y="3991707"/>
            <a:ext cx="9553800" cy="1547446"/>
          </a:xfrm>
          <a:prstGeom prst="rect">
            <a:avLst/>
          </a:prstGeom>
        </p:spPr>
      </p:pic>
      <p:cxnSp>
        <p:nvCxnSpPr>
          <p:cNvPr id="11" name="直線單箭頭接點 10"/>
          <p:cNvCxnSpPr/>
          <p:nvPr/>
        </p:nvCxnSpPr>
        <p:spPr>
          <a:xfrm flipH="1">
            <a:off x="4097215" y="2410375"/>
            <a:ext cx="3604847" cy="207370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4378569" y="2524034"/>
            <a:ext cx="3903785" cy="193159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94447-6A1C-4E08-9780-14FF16803D3C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D1B1380-30F6-494D-B9E5-9FA895B5F480}"/>
              </a:ext>
            </a:extLst>
          </p:cNvPr>
          <p:cNvSpPr txBox="1"/>
          <p:nvPr/>
        </p:nvSpPr>
        <p:spPr>
          <a:xfrm>
            <a:off x="3814387" y="5710019"/>
            <a:ext cx="5378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會員可以確認多筆交易，但也可不確認任何交易</a:t>
            </a:r>
            <a:endParaRPr lang="en-US" altLang="zh-TW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交易只能被一位會員確認</a:t>
            </a:r>
          </a:p>
        </p:txBody>
      </p:sp>
    </p:spTree>
    <p:extLst>
      <p:ext uri="{BB962C8B-B14F-4D97-AF65-F5344CB8AC3E}">
        <p14:creationId xmlns:p14="http://schemas.microsoft.com/office/powerpoint/2010/main" val="277845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E0A5E-8DCA-4C4F-85EF-C6FFDCF8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0554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融合實體類別與雞爪圖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1EB5C87-B7B3-47F8-A5FA-C9B3C4F0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1F07-CF3F-4A7E-92F0-D38F0F300CDB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D341E-340C-4238-A691-F7F9D963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A3D5E0-9828-4AD2-9161-F07CBB8F9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92" y="988890"/>
            <a:ext cx="6118478" cy="512064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8A581DF-EDEB-428A-880C-69FAF270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34" y="2713141"/>
            <a:ext cx="4753638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4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繪製</a:t>
            </a:r>
            <a:r>
              <a:rPr lang="en-US" altLang="zh-TW" spc="600" dirty="0">
                <a:latin typeface="微軟正黑體" pitchFamily="34" charset="-120"/>
                <a:ea typeface="微軟正黑體" pitchFamily="34" charset="-120"/>
              </a:rPr>
              <a:t>ERD</a:t>
            </a:r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時常犯的錯誤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實體型態</a:t>
            </a:r>
            <a:r>
              <a:rPr lang="zh-TW" altLang="en-US" b="1" dirty="0">
                <a:solidFill>
                  <a:srgbClr val="00B0F0"/>
                </a:solidFill>
                <a:latin typeface="微軟正黑體" pitchFamily="34" charset="-120"/>
                <a:ea typeface="微軟正黑體" pitchFamily="34" charset="-120"/>
              </a:rPr>
              <a:t>沒有關鍵屬性</a:t>
            </a:r>
          </a:p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將一個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複合關鍵屬性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的各個屬性</a:t>
            </a:r>
            <a:r>
              <a:rPr lang="zh-TW" altLang="en-US" b="1" dirty="0">
                <a:solidFill>
                  <a:srgbClr val="00B0F0"/>
                </a:solidFill>
                <a:latin typeface="微軟正黑體" pitchFamily="34" charset="-120"/>
                <a:ea typeface="微軟正黑體" pitchFamily="34" charset="-120"/>
              </a:rPr>
              <a:t>都劃上底線</a:t>
            </a:r>
          </a:p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不當使用多元關係型態  </a:t>
            </a:r>
          </a:p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存在多餘的屬性</a:t>
            </a:r>
          </a:p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存在多餘的關係型態</a:t>
            </a:r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為每一實體型態產生人工編號，以避免使用弱實體型態 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23BB-ED31-45BA-9910-246AE44FE471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19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多元關係型態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當一個關係型態所連結的實體型態超過二個時，我們就稱該關係型態為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多元</a:t>
            </a:r>
            <a:r>
              <a:rPr lang="zh-TW" altLang="en-US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關係型態</a:t>
            </a:r>
            <a:endParaRPr lang="en-US" altLang="zh-TW" b="1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/>
              <a:t>儘量使用</a:t>
            </a:r>
            <a:r>
              <a:rPr lang="zh-TW" altLang="en-US">
                <a:solidFill>
                  <a:srgbClr val="C00000"/>
                </a:solidFill>
              </a:rPr>
              <a:t>二元關係模型</a:t>
            </a:r>
            <a:r>
              <a:rPr lang="zh-TW" altLang="en-US"/>
              <a:t>來表達實體間的關係，只有二元關係模型無法確切表達時，才用多元關係模型</a:t>
            </a:r>
            <a:endParaRPr lang="en-US" altLang="zh-TW"/>
          </a:p>
          <a:p>
            <a:r>
              <a:rPr lang="zh-TW" altLang="en-US"/>
              <a:t>多元關係模型的使用需視實際情境來決定，並要審慎決定使用</a:t>
            </a:r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B19D-F0A7-4520-A512-749F36CC98B3}" type="datetime1">
              <a:rPr lang="zh-TW" altLang="en-US" smtClean="0"/>
              <a:t>2025/10/3</a:t>
            </a:fld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2871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F24100-0D03-410F-9E70-43976626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itchFamily="34" charset="-120"/>
                <a:ea typeface="微軟正黑體" pitchFamily="34" charset="-120"/>
              </a:rPr>
              <a:t>三元關係型態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06ABDB-494C-485F-B940-F0470400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BD3556-F139-40AD-9188-2E1AEEFA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207917B-401C-427D-BEC0-807C2B7E1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729" y="1690688"/>
            <a:ext cx="8827671" cy="437321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3D2C4C5-89EF-4BF6-8D66-51EBB7B1BA79}"/>
              </a:ext>
            </a:extLst>
          </p:cNvPr>
          <p:cNvSpPr txBox="1"/>
          <p:nvPr/>
        </p:nvSpPr>
        <p:spPr>
          <a:xfrm>
            <a:off x="805070" y="4472859"/>
            <a:ext cx="4217504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/>
              <a:t>一次進貨包括多個供應商載運數個商品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/>
              <a:t>一樣商品可能存在於多次進貨，也可能由多個供應商來供應</a:t>
            </a:r>
          </a:p>
        </p:txBody>
      </p:sp>
    </p:spTree>
    <p:extLst>
      <p:ext uri="{BB962C8B-B14F-4D97-AF65-F5344CB8AC3E}">
        <p14:creationId xmlns:p14="http://schemas.microsoft.com/office/powerpoint/2010/main" val="627087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b="1" dirty="0">
                <a:latin typeface="微軟正黑體" pitchFamily="34" charset="-120"/>
                <a:ea typeface="微軟正黑體" pitchFamily="34" charset="-120"/>
              </a:rPr>
              <a:t>以上三元關係型態可否表示成以下三個二元關係型態？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進貨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—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來源為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—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供應商 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進貨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—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包括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—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商品 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供應商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—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供應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—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商品 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063" y="1494558"/>
            <a:ext cx="4525074" cy="940800"/>
          </a:xfrm>
          <a:prstGeom prst="rect">
            <a:avLst/>
          </a:prstGeom>
        </p:spPr>
      </p:pic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815288"/>
              </p:ext>
            </p:extLst>
          </p:nvPr>
        </p:nvGraphicFramePr>
        <p:xfrm>
          <a:off x="4570063" y="2820121"/>
          <a:ext cx="41052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r:id="rId4" imgW="4126687" imgH="718718" progId="">
                  <p:embed/>
                </p:oleObj>
              </mc:Choice>
              <mc:Fallback>
                <p:oleObj r:id="rId4" imgW="4126687" imgH="718718" progId="">
                  <p:embed/>
                  <p:pic>
                    <p:nvPicPr>
                      <p:cNvPr id="5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063" y="2820121"/>
                        <a:ext cx="4105275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010119"/>
              </p:ext>
            </p:extLst>
          </p:nvPr>
        </p:nvGraphicFramePr>
        <p:xfrm>
          <a:off x="4570063" y="4271301"/>
          <a:ext cx="40322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r:id="rId6" imgW="4138574" imgH="682752" progId="">
                  <p:embed/>
                </p:oleObj>
              </mc:Choice>
              <mc:Fallback>
                <p:oleObj r:id="rId6" imgW="4138574" imgH="682752" progId="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063" y="4271301"/>
                        <a:ext cx="4032250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1C9E-1D4B-4A29-B19C-48DDFEC9E9B3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82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Answer: NO!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818400"/>
              </p:ext>
            </p:extLst>
          </p:nvPr>
        </p:nvGraphicFramePr>
        <p:xfrm>
          <a:off x="3131496" y="1825625"/>
          <a:ext cx="5929008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r:id="rId3" imgW="6831682" imgH="5013899" progId="">
                  <p:embed/>
                </p:oleObj>
              </mc:Choice>
              <mc:Fallback>
                <p:oleObj r:id="rId3" imgW="6831682" imgH="5013899" progId="">
                  <p:embed/>
                  <p:pic>
                    <p:nvPicPr>
                      <p:cNvPr id="4" name="物件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496" y="1825625"/>
                        <a:ext cx="5929008" cy="435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57066" y="5173133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(c1, s2, p1) </a:t>
            </a:r>
            <a:r>
              <a:rPr lang="zh-TW" altLang="en-US" dirty="0">
                <a:solidFill>
                  <a:srgbClr val="C00000"/>
                </a:solidFill>
              </a:rPr>
              <a:t>不存在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C3A-3669-496C-B988-2E0CE3C38EC4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165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多元關係型態的結構上限制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latin typeface="微軟正黑體" pitchFamily="34" charset="-120"/>
                <a:ea typeface="微軟正黑體" pitchFamily="34" charset="-120"/>
              </a:rPr>
              <a:t>任一個 </a:t>
            </a:r>
            <a:r>
              <a:rPr lang="en-US" altLang="zh-TW" b="1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en-US" altLang="zh-TW" b="1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b="1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可以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不參加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此關係</a:t>
            </a:r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b="1">
                <a:latin typeface="微軟正黑體" pitchFamily="34" charset="-120"/>
                <a:ea typeface="微軟正黑體" pitchFamily="34" charset="-120"/>
              </a:rPr>
              <a:t>任一個 </a:t>
            </a:r>
            <a:r>
              <a:rPr lang="en-US" altLang="zh-TW" b="1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en-US" altLang="zh-TW" b="1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b="1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必須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參加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此關係</a:t>
            </a:r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任一組對方的組合（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B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）最多只能有一個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值</a:t>
            </a:r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任一組對方的組合（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B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）可以有多個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值</a:t>
            </a:r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887128" y="1905001"/>
            <a:ext cx="785812" cy="357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A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5" name="流程圖: 決策 4"/>
          <p:cNvSpPr/>
          <p:nvPr/>
        </p:nvSpPr>
        <p:spPr>
          <a:xfrm>
            <a:off x="7244440" y="1833563"/>
            <a:ext cx="857250" cy="500063"/>
          </a:xfrm>
          <a:prstGeom prst="flowChartDecisi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6" name="直線接點 5"/>
          <p:cNvCxnSpPr>
            <a:stCxn id="4" idx="3"/>
            <a:endCxn id="5" idx="1"/>
          </p:cNvCxnSpPr>
          <p:nvPr/>
        </p:nvCxnSpPr>
        <p:spPr>
          <a:xfrm>
            <a:off x="6672940" y="2082801"/>
            <a:ext cx="5715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7815940" y="1690688"/>
            <a:ext cx="500063" cy="214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539198" y="4095091"/>
            <a:ext cx="581025" cy="223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939739" y="2769096"/>
            <a:ext cx="785812" cy="357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A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10" name="流程圖: 決策 9"/>
          <p:cNvSpPr/>
          <p:nvPr/>
        </p:nvSpPr>
        <p:spPr>
          <a:xfrm>
            <a:off x="7297051" y="2697659"/>
            <a:ext cx="857250" cy="500062"/>
          </a:xfrm>
          <a:prstGeom prst="flowChartDecisi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1" name="直線接點 10"/>
          <p:cNvCxnSpPr>
            <a:stCxn id="9" idx="3"/>
            <a:endCxn id="10" idx="1"/>
          </p:cNvCxnSpPr>
          <p:nvPr/>
        </p:nvCxnSpPr>
        <p:spPr>
          <a:xfrm>
            <a:off x="6725551" y="2946896"/>
            <a:ext cx="571500" cy="1588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7868551" y="2554784"/>
            <a:ext cx="500063" cy="214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904270" y="3118644"/>
            <a:ext cx="500062" cy="214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834223" y="3890303"/>
            <a:ext cx="785812" cy="357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A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15" name="流程圖: 決策 14"/>
          <p:cNvSpPr/>
          <p:nvPr/>
        </p:nvSpPr>
        <p:spPr>
          <a:xfrm>
            <a:off x="10191535" y="3818866"/>
            <a:ext cx="857250" cy="500062"/>
          </a:xfrm>
          <a:prstGeom prst="flowChartDecisi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6" name="直線接點 15"/>
          <p:cNvCxnSpPr>
            <a:stCxn id="14" idx="3"/>
            <a:endCxn id="15" idx="1"/>
          </p:cNvCxnSpPr>
          <p:nvPr/>
        </p:nvCxnSpPr>
        <p:spPr>
          <a:xfrm>
            <a:off x="9620035" y="4069691"/>
            <a:ext cx="5715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0763035" y="3747428"/>
            <a:ext cx="357188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7815940" y="2262188"/>
            <a:ext cx="500063" cy="214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1120223" y="3604553"/>
            <a:ext cx="785812" cy="357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B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120223" y="4104616"/>
            <a:ext cx="785812" cy="357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C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21" name="文字方塊 32"/>
          <p:cNvSpPr txBox="1">
            <a:spLocks noChangeArrowheads="1"/>
          </p:cNvSpPr>
          <p:nvPr/>
        </p:nvSpPr>
        <p:spPr bwMode="auto">
          <a:xfrm>
            <a:off x="9762910" y="3675991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8814486" y="5161964"/>
            <a:ext cx="785813" cy="357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A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23" name="流程圖: 決策 22"/>
          <p:cNvSpPr/>
          <p:nvPr/>
        </p:nvSpPr>
        <p:spPr>
          <a:xfrm>
            <a:off x="10171799" y="5090527"/>
            <a:ext cx="857250" cy="500062"/>
          </a:xfrm>
          <a:prstGeom prst="flowChartDecisi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24" name="直線接點 23"/>
          <p:cNvCxnSpPr>
            <a:stCxn id="22" idx="3"/>
            <a:endCxn id="23" idx="1"/>
          </p:cNvCxnSpPr>
          <p:nvPr/>
        </p:nvCxnSpPr>
        <p:spPr>
          <a:xfrm>
            <a:off x="9600299" y="5341352"/>
            <a:ext cx="5715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V="1">
            <a:off x="10743299" y="5019089"/>
            <a:ext cx="357187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1100486" y="4876214"/>
            <a:ext cx="785813" cy="357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B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27" name="文字方塊 47"/>
          <p:cNvSpPr txBox="1">
            <a:spLocks noChangeArrowheads="1"/>
          </p:cNvSpPr>
          <p:nvPr/>
        </p:nvSpPr>
        <p:spPr bwMode="auto">
          <a:xfrm>
            <a:off x="9743174" y="4947652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/>
              <a:t>N</a:t>
            </a:r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11094211" y="5518581"/>
            <a:ext cx="785812" cy="357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>
                <a:solidFill>
                  <a:srgbClr val="002060"/>
                </a:solidFill>
              </a:rPr>
              <a:t>C</a:t>
            </a:r>
            <a:endParaRPr lang="zh-TW" altLang="en-US" dirty="0">
              <a:solidFill>
                <a:srgbClr val="002060"/>
              </a:solidFill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10734171" y="5518581"/>
            <a:ext cx="365001" cy="151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9A02-B92B-490E-AADB-D98A5A71E71C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31" name="投影片編號版面配置區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929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spc="600" dirty="0">
                <a:latin typeface="微軟正黑體" pitchFamily="34" charset="-120"/>
                <a:ea typeface="微軟正黑體" pitchFamily="34" charset="-120"/>
                <a:cs typeface="+mn-cs"/>
              </a:rPr>
              <a:t>多元關係型態的結構上限制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600" b="1" dirty="0">
                <a:latin typeface="微軟正黑體" pitchFamily="34" charset="-120"/>
                <a:ea typeface="微軟正黑體" pitchFamily="34" charset="-120"/>
              </a:rPr>
              <a:t>多元關係型態的基數比和參與度，意義為何？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951985" y="2852936"/>
            <a:ext cx="4716016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每個零件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可以不對應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任何</a:t>
            </a:r>
            <a:r>
              <a:rPr lang="zh-TW" altLang="en-US" sz="2000" dirty="0">
                <a:solidFill>
                  <a:srgbClr val="00B0F0"/>
                </a:solidFill>
                <a:latin typeface="微軟正黑體" pitchFamily="34" charset="-120"/>
                <a:ea typeface="微軟正黑體" pitchFamily="34" charset="-120"/>
              </a:rPr>
              <a:t>機器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zh-TW" altLang="en-US" sz="2000" dirty="0">
                <a:solidFill>
                  <a:srgbClr val="00B0F0"/>
                </a:solidFill>
                <a:latin typeface="微軟正黑體" pitchFamily="34" charset="-120"/>
                <a:ea typeface="微軟正黑體" pitchFamily="34" charset="-120"/>
              </a:rPr>
              <a:t>供應商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但</a:t>
            </a:r>
            <a:r>
              <a:rPr lang="zh-TW" altLang="en-US" sz="2000" dirty="0">
                <a:solidFill>
                  <a:schemeClr val="tx2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zh-TW" altLang="en-US" sz="2000">
                <a:solidFill>
                  <a:schemeClr val="tx2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組</a:t>
            </a:r>
            <a:r>
              <a:rPr lang="zh-TW" altLang="en-US" sz="2000">
                <a:solidFill>
                  <a:srgbClr val="00B0F0"/>
                </a:solidFill>
                <a:latin typeface="微軟正黑體" pitchFamily="34" charset="-120"/>
                <a:ea typeface="微軟正黑體" pitchFamily="34" charset="-120"/>
              </a:rPr>
              <a:t>機器</a:t>
            </a:r>
            <a:r>
              <a:rPr lang="zh-TW" altLang="en-US" sz="200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最多有</a:t>
            </a:r>
            <a:r>
              <a:rPr lang="en-US" altLang="zh-TW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N</a:t>
            </a:r>
            <a:r>
              <a:rPr lang="zh-TW" altLang="en-US" sz="200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個</a:t>
            </a:r>
            <a:r>
              <a:rPr lang="zh-TW" altLang="en-US" sz="200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零件及一個供應商</a:t>
            </a:r>
            <a:endParaRPr lang="en-US" altLang="zh-TW" sz="2000" dirty="0">
              <a:solidFill>
                <a:schemeClr val="tx2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000" dirty="0">
              <a:solidFill>
                <a:schemeClr val="tx2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每台機器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至少要有一組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相對應的</a:t>
            </a:r>
            <a:r>
              <a:rPr lang="zh-TW" altLang="en-US" sz="2000">
                <a:solidFill>
                  <a:srgbClr val="00B0F0"/>
                </a:solidFill>
                <a:latin typeface="微軟正黑體" pitchFamily="34" charset="-120"/>
                <a:ea typeface="微軟正黑體" pitchFamily="34" charset="-120"/>
              </a:rPr>
              <a:t>零件</a:t>
            </a:r>
            <a:r>
              <a:rPr lang="zh-TW" altLang="en-US" sz="200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和一個</a:t>
            </a:r>
            <a:r>
              <a:rPr lang="zh-TW" altLang="en-US" sz="2000">
                <a:solidFill>
                  <a:srgbClr val="00B0F0"/>
                </a:solidFill>
                <a:latin typeface="微軟正黑體" pitchFamily="34" charset="-120"/>
                <a:ea typeface="微軟正黑體" pitchFamily="34" charset="-120"/>
              </a:rPr>
              <a:t>供應商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，但</a:t>
            </a:r>
            <a:r>
              <a:rPr lang="zh-TW" altLang="en-US" sz="2000" dirty="0">
                <a:solidFill>
                  <a:schemeClr val="tx2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一組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零件和</a:t>
            </a:r>
            <a:r>
              <a:rPr lang="zh-TW" altLang="en-US" sz="200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供應商</a:t>
            </a:r>
            <a:r>
              <a:rPr lang="zh-TW" altLang="en-US" sz="200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可最多供應多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台</a:t>
            </a:r>
            <a:r>
              <a:rPr lang="zh-TW" altLang="en-US" sz="2000" dirty="0">
                <a:solidFill>
                  <a:schemeClr val="tx2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機器。</a:t>
            </a:r>
            <a:endParaRPr lang="en-US" altLang="zh-TW" sz="2000" dirty="0">
              <a:solidFill>
                <a:schemeClr val="tx2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000" dirty="0">
              <a:solidFill>
                <a:schemeClr val="tx2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每個供應商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可以不對應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任何零件和機器，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但</a:t>
            </a:r>
            <a:r>
              <a:rPr lang="zh-TW" altLang="en-US" sz="2000" dirty="0">
                <a:solidFill>
                  <a:schemeClr val="tx2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一組零件</a:t>
            </a:r>
            <a:r>
              <a:rPr lang="zh-TW" altLang="en-US" sz="2000" dirty="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rPr>
              <a:t>和機器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最多只能對應一個</a:t>
            </a:r>
            <a:r>
              <a:rPr lang="zh-TW" altLang="en-US" sz="2000" dirty="0">
                <a:solidFill>
                  <a:schemeClr val="tx2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供應商。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4403"/>
            <a:ext cx="5001323" cy="3181794"/>
          </a:xfrm>
          <a:prstGeom prst="rect">
            <a:avLst/>
          </a:prstGeom>
        </p:spPr>
      </p:pic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923CA-4740-4362-809C-97485908EB9E}" type="datetime1">
              <a:rPr lang="zh-TW" altLang="en-US" smtClean="0"/>
              <a:t>2025/10/3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895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不當使用多元關係型態</a:t>
            </a:r>
            <a:endParaRPr lang="zh-TW" alt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3096106" y="2389718"/>
            <a:ext cx="5249552" cy="2078564"/>
            <a:chOff x="905504" y="4859078"/>
            <a:chExt cx="3768642" cy="1328238"/>
          </a:xfrm>
        </p:grpSpPr>
        <p:sp>
          <p:nvSpPr>
            <p:cNvPr id="16" name="矩形 15"/>
            <p:cNvSpPr/>
            <p:nvPr/>
          </p:nvSpPr>
          <p:spPr>
            <a:xfrm>
              <a:off x="905504" y="4859078"/>
              <a:ext cx="948935" cy="410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latin typeface="微軟正黑體" pitchFamily="34" charset="-120"/>
                  <a:ea typeface="微軟正黑體" pitchFamily="34" charset="-120"/>
                </a:rPr>
                <a:t>老師</a:t>
              </a:r>
            </a:p>
          </p:txBody>
        </p:sp>
        <p:grpSp>
          <p:nvGrpSpPr>
            <p:cNvPr id="17" name="群組 16"/>
            <p:cNvGrpSpPr/>
            <p:nvPr/>
          </p:nvGrpSpPr>
          <p:grpSpPr>
            <a:xfrm>
              <a:off x="905504" y="4859078"/>
              <a:ext cx="3768642" cy="1328238"/>
              <a:chOff x="905504" y="4859078"/>
              <a:chExt cx="3768642" cy="1328238"/>
            </a:xfrm>
          </p:grpSpPr>
          <p:cxnSp>
            <p:nvCxnSpPr>
              <p:cNvPr id="18" name="直線接點 17"/>
              <p:cNvCxnSpPr>
                <a:stCxn id="20" idx="1"/>
              </p:cNvCxnSpPr>
              <p:nvPr/>
            </p:nvCxnSpPr>
            <p:spPr>
              <a:xfrm flipH="1">
                <a:off x="3131840" y="5064318"/>
                <a:ext cx="593370" cy="3088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>
                <a:stCxn id="21" idx="1"/>
              </p:cNvCxnSpPr>
              <p:nvPr/>
            </p:nvCxnSpPr>
            <p:spPr>
              <a:xfrm flipH="1" flipV="1">
                <a:off x="3131840" y="5733256"/>
                <a:ext cx="593371" cy="24882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矩形 19"/>
              <p:cNvSpPr/>
              <p:nvPr/>
            </p:nvSpPr>
            <p:spPr>
              <a:xfrm>
                <a:off x="3725210" y="4859078"/>
                <a:ext cx="948935" cy="4104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課程</a:t>
                </a: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725211" y="5776836"/>
                <a:ext cx="948935" cy="4104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教科書</a:t>
                </a: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905504" y="5776836"/>
                <a:ext cx="948935" cy="4104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學生</a:t>
                </a:r>
              </a:p>
            </p:txBody>
          </p:sp>
          <p:sp>
            <p:nvSpPr>
              <p:cNvPr id="23" name="菱形 22"/>
              <p:cNvSpPr/>
              <p:nvPr/>
            </p:nvSpPr>
            <p:spPr>
              <a:xfrm>
                <a:off x="2051720" y="5198532"/>
                <a:ext cx="1440160" cy="707531"/>
              </a:xfrm>
              <a:prstGeom prst="diamond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latin typeface="微軟正黑體" pitchFamily="34" charset="-120"/>
                    <a:ea typeface="微軟正黑體" pitchFamily="34" charset="-120"/>
                  </a:rPr>
                  <a:t>上課</a:t>
                </a:r>
                <a:endParaRPr lang="en-US" altLang="zh-TW" sz="2000" b="1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cxnSp>
            <p:nvCxnSpPr>
              <p:cNvPr id="24" name="直線接點 23"/>
              <p:cNvCxnSpPr>
                <a:stCxn id="16" idx="3"/>
              </p:cNvCxnSpPr>
              <p:nvPr/>
            </p:nvCxnSpPr>
            <p:spPr>
              <a:xfrm>
                <a:off x="1854439" y="5064318"/>
                <a:ext cx="581005" cy="3088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>
                <a:endCxn id="22" idx="3"/>
              </p:cNvCxnSpPr>
              <p:nvPr/>
            </p:nvCxnSpPr>
            <p:spPr>
              <a:xfrm flipH="1">
                <a:off x="1854439" y="5776836"/>
                <a:ext cx="629329" cy="2052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13CE-F380-4752-A8F9-228A10FE9C33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DF472CB-C0A5-452C-8C50-F853E2A77F30}"/>
              </a:ext>
            </a:extLst>
          </p:cNvPr>
          <p:cNvSpPr txBox="1"/>
          <p:nvPr/>
        </p:nvSpPr>
        <p:spPr>
          <a:xfrm>
            <a:off x="3207434" y="507372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rgbClr val="C00000"/>
                </a:solidFill>
              </a:rPr>
              <a:t>盡量使用二元的關係型態來表達實體間的關係</a:t>
            </a:r>
          </a:p>
        </p:txBody>
      </p:sp>
    </p:spTree>
    <p:extLst>
      <p:ext uri="{BB962C8B-B14F-4D97-AF65-F5344CB8AC3E}">
        <p14:creationId xmlns:p14="http://schemas.microsoft.com/office/powerpoint/2010/main" val="145628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存在多餘的屬性</a:t>
            </a:r>
            <a:endParaRPr lang="zh-TW" altLang="en-US" dirty="0"/>
          </a:p>
        </p:txBody>
      </p:sp>
      <p:pic>
        <p:nvPicPr>
          <p:cNvPr id="3" name="Picture 27" descr="D:\DB Book\第四版改版資料\資料庫高解析圖表\圖3-1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86"/>
          <a:stretch/>
        </p:blipFill>
        <p:spPr bwMode="auto">
          <a:xfrm>
            <a:off x="838200" y="1690688"/>
            <a:ext cx="9980325" cy="338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3C691-E5C4-4B93-8056-FDDA8312BDC2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817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存在多餘的關係型態</a:t>
            </a:r>
            <a:endParaRPr lang="zh-TW" altLang="en-US" dirty="0"/>
          </a:p>
        </p:txBody>
      </p:sp>
      <p:pic>
        <p:nvPicPr>
          <p:cNvPr id="3" name="Picture 8" descr="D:\DB Book\第四版改版資料\資料庫高解析圖表\圖3-1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77"/>
          <a:stretch/>
        </p:blipFill>
        <p:spPr bwMode="auto">
          <a:xfrm>
            <a:off x="838200" y="1690688"/>
            <a:ext cx="9125881" cy="4338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B2B54-E55B-4E6E-9BBE-9D1F6CA2DF14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636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為每一實體型態產生人工編號，以避免使用弱實體型態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838199" y="2115943"/>
            <a:ext cx="9026769" cy="2649488"/>
            <a:chOff x="1835150" y="4437112"/>
            <a:chExt cx="6229350" cy="1439862"/>
          </a:xfrm>
        </p:grpSpPr>
        <p:sp>
          <p:nvSpPr>
            <p:cNvPr id="4" name="矩形 3"/>
            <p:cNvSpPr/>
            <p:nvPr/>
          </p:nvSpPr>
          <p:spPr>
            <a:xfrm>
              <a:off x="5076825" y="5229274"/>
              <a:ext cx="1366838" cy="6477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chemeClr val="tx1"/>
                  </a:solidFill>
                </a:rPr>
                <a:t>購物車</a:t>
              </a:r>
            </a:p>
          </p:txBody>
        </p:sp>
        <p:sp>
          <p:nvSpPr>
            <p:cNvPr id="5" name="橢圓 4"/>
            <p:cNvSpPr/>
            <p:nvPr/>
          </p:nvSpPr>
          <p:spPr>
            <a:xfrm>
              <a:off x="5795963" y="4437112"/>
              <a:ext cx="2268537" cy="4333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TW" altLang="en-US" sz="1400" dirty="0">
                  <a:solidFill>
                    <a:schemeClr val="tx1"/>
                  </a:solidFill>
                </a:rPr>
                <a:t>購物車產生時間</a:t>
              </a:r>
            </a:p>
          </p:txBody>
        </p:sp>
        <p:sp>
          <p:nvSpPr>
            <p:cNvPr id="6" name="橢圓 5"/>
            <p:cNvSpPr/>
            <p:nvPr/>
          </p:nvSpPr>
          <p:spPr>
            <a:xfrm>
              <a:off x="4356100" y="4437112"/>
              <a:ext cx="1152525" cy="431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1400" u="sng" dirty="0">
                  <a:solidFill>
                    <a:schemeClr val="tx1"/>
                  </a:solidFill>
                </a:rPr>
                <a:t>編號</a:t>
              </a:r>
              <a:endParaRPr lang="zh-TW" altLang="en-US" u="sng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835150" y="5229274"/>
              <a:ext cx="1368425" cy="6477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chemeClr val="tx1"/>
                  </a:solidFill>
                </a:rPr>
                <a:t>會員</a:t>
              </a:r>
            </a:p>
          </p:txBody>
        </p:sp>
        <p:sp>
          <p:nvSpPr>
            <p:cNvPr id="8" name="流程圖: 決策 7"/>
            <p:cNvSpPr/>
            <p:nvPr/>
          </p:nvSpPr>
          <p:spPr>
            <a:xfrm>
              <a:off x="3563938" y="5229274"/>
              <a:ext cx="1152525" cy="647700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chemeClr val="tx1"/>
                  </a:solidFill>
                </a:rPr>
                <a:t>有</a:t>
              </a:r>
            </a:p>
          </p:txBody>
        </p:sp>
        <p:cxnSp>
          <p:nvCxnSpPr>
            <p:cNvPr id="9" name="直線接點 8"/>
            <p:cNvCxnSpPr>
              <a:stCxn id="6" idx="4"/>
              <a:endCxn id="4" idx="0"/>
            </p:cNvCxnSpPr>
            <p:nvPr/>
          </p:nvCxnSpPr>
          <p:spPr>
            <a:xfrm>
              <a:off x="4932363" y="4868912"/>
              <a:ext cx="827087" cy="360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>
              <a:endCxn id="4" idx="0"/>
            </p:cNvCxnSpPr>
            <p:nvPr/>
          </p:nvCxnSpPr>
          <p:spPr>
            <a:xfrm flipH="1">
              <a:off x="5759450" y="4868912"/>
              <a:ext cx="1044575" cy="360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>
              <a:stCxn id="8" idx="3"/>
              <a:endCxn id="4" idx="1"/>
            </p:cNvCxnSpPr>
            <p:nvPr/>
          </p:nvCxnSpPr>
          <p:spPr>
            <a:xfrm>
              <a:off x="4716463" y="5553124"/>
              <a:ext cx="360362" cy="0"/>
            </a:xfrm>
            <a:prstGeom prst="line">
              <a:avLst/>
            </a:prstGeom>
            <a:ln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stCxn id="7" idx="3"/>
              <a:endCxn id="8" idx="1"/>
            </p:cNvCxnSpPr>
            <p:nvPr/>
          </p:nvCxnSpPr>
          <p:spPr>
            <a:xfrm>
              <a:off x="3203575" y="5553124"/>
              <a:ext cx="36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20"/>
            <p:cNvSpPr txBox="1">
              <a:spLocks noChangeArrowheads="1"/>
            </p:cNvSpPr>
            <p:nvPr/>
          </p:nvSpPr>
          <p:spPr bwMode="auto">
            <a:xfrm>
              <a:off x="3276600" y="5157837"/>
              <a:ext cx="35877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eaLnBrk="1" hangingPunct="1"/>
              <a:r>
                <a:rPr lang="en-US" altLang="zh-TW"/>
                <a:t>1</a:t>
              </a:r>
              <a:endParaRPr lang="zh-TW" altLang="en-US"/>
            </a:p>
          </p:txBody>
        </p:sp>
        <p:sp>
          <p:nvSpPr>
            <p:cNvPr id="14" name="文字方塊 22"/>
            <p:cNvSpPr txBox="1">
              <a:spLocks noChangeArrowheads="1"/>
            </p:cNvSpPr>
            <p:nvPr/>
          </p:nvSpPr>
          <p:spPr bwMode="auto">
            <a:xfrm>
              <a:off x="4643438" y="5084812"/>
              <a:ext cx="36036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eaLnBrk="1" hangingPunct="1"/>
              <a:r>
                <a:rPr lang="en-US" altLang="zh-TW"/>
                <a:t>N</a:t>
              </a:r>
              <a:endParaRPr lang="zh-TW" altLang="en-US"/>
            </a:p>
          </p:txBody>
        </p:sp>
        <p:cxnSp>
          <p:nvCxnSpPr>
            <p:cNvPr id="15" name="直線接點 14"/>
            <p:cNvCxnSpPr/>
            <p:nvPr/>
          </p:nvCxnSpPr>
          <p:spPr>
            <a:xfrm>
              <a:off x="4643438" y="5589637"/>
              <a:ext cx="433387" cy="0"/>
            </a:xfrm>
            <a:prstGeom prst="line">
              <a:avLst/>
            </a:prstGeom>
            <a:ln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乘號 15"/>
          <p:cNvSpPr/>
          <p:nvPr/>
        </p:nvSpPr>
        <p:spPr>
          <a:xfrm>
            <a:off x="4710567" y="1784031"/>
            <a:ext cx="1396697" cy="1404233"/>
          </a:xfrm>
          <a:custGeom>
            <a:avLst/>
            <a:gdLst>
              <a:gd name="connsiteX0" fmla="*/ 318429 w 2033555"/>
              <a:gd name="connsiteY0" fmla="*/ 661739 h 2054835"/>
              <a:gd name="connsiteX1" fmla="*/ 658389 w 2033555"/>
              <a:gd name="connsiteY1" fmla="*/ 325301 h 2054835"/>
              <a:gd name="connsiteX2" fmla="*/ 1016778 w 2033555"/>
              <a:gd name="connsiteY2" fmla="*/ 687440 h 2054835"/>
              <a:gd name="connsiteX3" fmla="*/ 1375166 w 2033555"/>
              <a:gd name="connsiteY3" fmla="*/ 325301 h 2054835"/>
              <a:gd name="connsiteX4" fmla="*/ 1715126 w 2033555"/>
              <a:gd name="connsiteY4" fmla="*/ 661739 h 2054835"/>
              <a:gd name="connsiteX5" fmla="*/ 1353234 w 2033555"/>
              <a:gd name="connsiteY5" fmla="*/ 1027418 h 2054835"/>
              <a:gd name="connsiteX6" fmla="*/ 1715126 w 2033555"/>
              <a:gd name="connsiteY6" fmla="*/ 1393096 h 2054835"/>
              <a:gd name="connsiteX7" fmla="*/ 1375166 w 2033555"/>
              <a:gd name="connsiteY7" fmla="*/ 1729534 h 2054835"/>
              <a:gd name="connsiteX8" fmla="*/ 1016778 w 2033555"/>
              <a:gd name="connsiteY8" fmla="*/ 1367395 h 2054835"/>
              <a:gd name="connsiteX9" fmla="*/ 658389 w 2033555"/>
              <a:gd name="connsiteY9" fmla="*/ 1729534 h 2054835"/>
              <a:gd name="connsiteX10" fmla="*/ 318429 w 2033555"/>
              <a:gd name="connsiteY10" fmla="*/ 1393096 h 2054835"/>
              <a:gd name="connsiteX11" fmla="*/ 680321 w 2033555"/>
              <a:gd name="connsiteY11" fmla="*/ 1027418 h 2054835"/>
              <a:gd name="connsiteX12" fmla="*/ 318429 w 2033555"/>
              <a:gd name="connsiteY12" fmla="*/ 661739 h 2054835"/>
              <a:gd name="connsiteX0" fmla="*/ 0 w 1396697"/>
              <a:gd name="connsiteY0" fmla="*/ 336438 h 1404233"/>
              <a:gd name="connsiteX1" fmla="*/ 339960 w 1396697"/>
              <a:gd name="connsiteY1" fmla="*/ 0 h 1404233"/>
              <a:gd name="connsiteX2" fmla="*/ 698349 w 1396697"/>
              <a:gd name="connsiteY2" fmla="*/ 362139 h 1404233"/>
              <a:gd name="connsiteX3" fmla="*/ 1056737 w 1396697"/>
              <a:gd name="connsiteY3" fmla="*/ 0 h 1404233"/>
              <a:gd name="connsiteX4" fmla="*/ 1396697 w 1396697"/>
              <a:gd name="connsiteY4" fmla="*/ 336438 h 1404233"/>
              <a:gd name="connsiteX5" fmla="*/ 1034805 w 1396697"/>
              <a:gd name="connsiteY5" fmla="*/ 702117 h 1404233"/>
              <a:gd name="connsiteX6" fmla="*/ 1396697 w 1396697"/>
              <a:gd name="connsiteY6" fmla="*/ 1067795 h 1404233"/>
              <a:gd name="connsiteX7" fmla="*/ 1056737 w 1396697"/>
              <a:gd name="connsiteY7" fmla="*/ 1404233 h 1404233"/>
              <a:gd name="connsiteX8" fmla="*/ 698349 w 1396697"/>
              <a:gd name="connsiteY8" fmla="*/ 1042094 h 1404233"/>
              <a:gd name="connsiteX9" fmla="*/ 339960 w 1396697"/>
              <a:gd name="connsiteY9" fmla="*/ 1404233 h 1404233"/>
              <a:gd name="connsiteX10" fmla="*/ 0 w 1396697"/>
              <a:gd name="connsiteY10" fmla="*/ 1067795 h 1404233"/>
              <a:gd name="connsiteX11" fmla="*/ 471895 w 1396697"/>
              <a:gd name="connsiteY11" fmla="*/ 708992 h 1404233"/>
              <a:gd name="connsiteX12" fmla="*/ 0 w 1396697"/>
              <a:gd name="connsiteY12" fmla="*/ 336438 h 1404233"/>
              <a:gd name="connsiteX0" fmla="*/ 0 w 1396697"/>
              <a:gd name="connsiteY0" fmla="*/ 336438 h 1404233"/>
              <a:gd name="connsiteX1" fmla="*/ 339960 w 1396697"/>
              <a:gd name="connsiteY1" fmla="*/ 0 h 1404233"/>
              <a:gd name="connsiteX2" fmla="*/ 698349 w 1396697"/>
              <a:gd name="connsiteY2" fmla="*/ 362139 h 1404233"/>
              <a:gd name="connsiteX3" fmla="*/ 1056737 w 1396697"/>
              <a:gd name="connsiteY3" fmla="*/ 0 h 1404233"/>
              <a:gd name="connsiteX4" fmla="*/ 1396697 w 1396697"/>
              <a:gd name="connsiteY4" fmla="*/ 336438 h 1404233"/>
              <a:gd name="connsiteX5" fmla="*/ 931677 w 1396697"/>
              <a:gd name="connsiteY5" fmla="*/ 702117 h 1404233"/>
              <a:gd name="connsiteX6" fmla="*/ 1396697 w 1396697"/>
              <a:gd name="connsiteY6" fmla="*/ 1067795 h 1404233"/>
              <a:gd name="connsiteX7" fmla="*/ 1056737 w 1396697"/>
              <a:gd name="connsiteY7" fmla="*/ 1404233 h 1404233"/>
              <a:gd name="connsiteX8" fmla="*/ 698349 w 1396697"/>
              <a:gd name="connsiteY8" fmla="*/ 1042094 h 1404233"/>
              <a:gd name="connsiteX9" fmla="*/ 339960 w 1396697"/>
              <a:gd name="connsiteY9" fmla="*/ 1404233 h 1404233"/>
              <a:gd name="connsiteX10" fmla="*/ 0 w 1396697"/>
              <a:gd name="connsiteY10" fmla="*/ 1067795 h 1404233"/>
              <a:gd name="connsiteX11" fmla="*/ 471895 w 1396697"/>
              <a:gd name="connsiteY11" fmla="*/ 708992 h 1404233"/>
              <a:gd name="connsiteX12" fmla="*/ 0 w 1396697"/>
              <a:gd name="connsiteY12" fmla="*/ 336438 h 1404233"/>
              <a:gd name="connsiteX0" fmla="*/ 0 w 1396697"/>
              <a:gd name="connsiteY0" fmla="*/ 336438 h 1404233"/>
              <a:gd name="connsiteX1" fmla="*/ 339960 w 1396697"/>
              <a:gd name="connsiteY1" fmla="*/ 0 h 1404233"/>
              <a:gd name="connsiteX2" fmla="*/ 698349 w 1396697"/>
              <a:gd name="connsiteY2" fmla="*/ 362139 h 1404233"/>
              <a:gd name="connsiteX3" fmla="*/ 1056737 w 1396697"/>
              <a:gd name="connsiteY3" fmla="*/ 0 h 1404233"/>
              <a:gd name="connsiteX4" fmla="*/ 1396697 w 1396697"/>
              <a:gd name="connsiteY4" fmla="*/ 336438 h 1404233"/>
              <a:gd name="connsiteX5" fmla="*/ 931677 w 1396697"/>
              <a:gd name="connsiteY5" fmla="*/ 702117 h 1404233"/>
              <a:gd name="connsiteX6" fmla="*/ 1396697 w 1396697"/>
              <a:gd name="connsiteY6" fmla="*/ 1067795 h 1404233"/>
              <a:gd name="connsiteX7" fmla="*/ 1056737 w 1396697"/>
              <a:gd name="connsiteY7" fmla="*/ 1404233 h 1404233"/>
              <a:gd name="connsiteX8" fmla="*/ 698349 w 1396697"/>
              <a:gd name="connsiteY8" fmla="*/ 904590 h 1404233"/>
              <a:gd name="connsiteX9" fmla="*/ 339960 w 1396697"/>
              <a:gd name="connsiteY9" fmla="*/ 1404233 h 1404233"/>
              <a:gd name="connsiteX10" fmla="*/ 0 w 1396697"/>
              <a:gd name="connsiteY10" fmla="*/ 1067795 h 1404233"/>
              <a:gd name="connsiteX11" fmla="*/ 471895 w 1396697"/>
              <a:gd name="connsiteY11" fmla="*/ 708992 h 1404233"/>
              <a:gd name="connsiteX12" fmla="*/ 0 w 1396697"/>
              <a:gd name="connsiteY12" fmla="*/ 336438 h 1404233"/>
              <a:gd name="connsiteX0" fmla="*/ 0 w 1396697"/>
              <a:gd name="connsiteY0" fmla="*/ 336438 h 1404233"/>
              <a:gd name="connsiteX1" fmla="*/ 339960 w 1396697"/>
              <a:gd name="connsiteY1" fmla="*/ 0 h 1404233"/>
              <a:gd name="connsiteX2" fmla="*/ 718974 w 1396697"/>
              <a:gd name="connsiteY2" fmla="*/ 485892 h 1404233"/>
              <a:gd name="connsiteX3" fmla="*/ 1056737 w 1396697"/>
              <a:gd name="connsiteY3" fmla="*/ 0 h 1404233"/>
              <a:gd name="connsiteX4" fmla="*/ 1396697 w 1396697"/>
              <a:gd name="connsiteY4" fmla="*/ 336438 h 1404233"/>
              <a:gd name="connsiteX5" fmla="*/ 931677 w 1396697"/>
              <a:gd name="connsiteY5" fmla="*/ 702117 h 1404233"/>
              <a:gd name="connsiteX6" fmla="*/ 1396697 w 1396697"/>
              <a:gd name="connsiteY6" fmla="*/ 1067795 h 1404233"/>
              <a:gd name="connsiteX7" fmla="*/ 1056737 w 1396697"/>
              <a:gd name="connsiteY7" fmla="*/ 1404233 h 1404233"/>
              <a:gd name="connsiteX8" fmla="*/ 698349 w 1396697"/>
              <a:gd name="connsiteY8" fmla="*/ 904590 h 1404233"/>
              <a:gd name="connsiteX9" fmla="*/ 339960 w 1396697"/>
              <a:gd name="connsiteY9" fmla="*/ 1404233 h 1404233"/>
              <a:gd name="connsiteX10" fmla="*/ 0 w 1396697"/>
              <a:gd name="connsiteY10" fmla="*/ 1067795 h 1404233"/>
              <a:gd name="connsiteX11" fmla="*/ 471895 w 1396697"/>
              <a:gd name="connsiteY11" fmla="*/ 708992 h 1404233"/>
              <a:gd name="connsiteX12" fmla="*/ 0 w 1396697"/>
              <a:gd name="connsiteY12" fmla="*/ 336438 h 140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96697" h="1404233">
                <a:moveTo>
                  <a:pt x="0" y="336438"/>
                </a:moveTo>
                <a:lnTo>
                  <a:pt x="339960" y="0"/>
                </a:lnTo>
                <a:lnTo>
                  <a:pt x="718974" y="485892"/>
                </a:lnTo>
                <a:lnTo>
                  <a:pt x="1056737" y="0"/>
                </a:lnTo>
                <a:lnTo>
                  <a:pt x="1396697" y="336438"/>
                </a:lnTo>
                <a:lnTo>
                  <a:pt x="931677" y="702117"/>
                </a:lnTo>
                <a:lnTo>
                  <a:pt x="1396697" y="1067795"/>
                </a:lnTo>
                <a:lnTo>
                  <a:pt x="1056737" y="1404233"/>
                </a:lnTo>
                <a:lnTo>
                  <a:pt x="698349" y="904590"/>
                </a:lnTo>
                <a:lnTo>
                  <a:pt x="339960" y="1404233"/>
                </a:lnTo>
                <a:lnTo>
                  <a:pt x="0" y="1067795"/>
                </a:lnTo>
                <a:lnTo>
                  <a:pt x="471895" y="708992"/>
                </a:lnTo>
                <a:lnTo>
                  <a:pt x="0" y="336438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日期版面配置區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A7623-9169-4079-867C-AD43FBF855CC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99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醫療系統資料塑模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建立一個醫療系統資料庫，追蹤</a:t>
            </a:r>
            <a:r>
              <a:rPr lang="zh-TW" altLang="en-US" sz="200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主治醫師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Doctor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住院病人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InPatient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檢驗項目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TestItem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</a:t>
            </a:r>
            <a:r>
              <a:rPr lang="zh-TW" altLang="en-US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病房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TW" sz="2000">
                <a:latin typeface="微軟正黑體" pitchFamily="34" charset="-120"/>
                <a:ea typeface="微軟正黑體" pitchFamily="34" charset="-120"/>
              </a:rPr>
              <a:t>Room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）等資料。其中醫師的屬性分別為醫師代號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dId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）、姓名（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dName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）、性別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TW" sz="2000">
                <a:latin typeface="微軟正黑體" pitchFamily="34" charset="-120"/>
                <a:ea typeface="微軟正黑體" pitchFamily="34" charset="-120"/>
              </a:rPr>
              <a:t>gender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zh-TW" altLang="en-US" sz="2000" u="sng">
                <a:latin typeface="微軟正黑體" pitchFamily="34" charset="-120"/>
                <a:ea typeface="微軟正黑體" pitchFamily="34" charset="-120"/>
              </a:rPr>
              <a:t>醫師代號</a:t>
            </a:r>
            <a:r>
              <a:rPr lang="zh-TW" altLang="en-US" sz="2000" u="sng" dirty="0">
                <a:latin typeface="微軟正黑體" pitchFamily="34" charset="-120"/>
                <a:ea typeface="微軟正黑體" pitchFamily="34" charset="-120"/>
              </a:rPr>
              <a:t>是唯一</a:t>
            </a:r>
            <a:r>
              <a:rPr lang="zh-TW" altLang="en-US" sz="2000" u="sng"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。住院病人的屬性分別為病人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代號（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pId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）、姓名（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pName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）、緊急聯絡人（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contact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），其中緊急聯絡人可以有多位，且必須記載緊急聯絡人之姓名（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name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）與電話（</a:t>
            </a:r>
            <a:r>
              <a:rPr lang="en-US" altLang="zh-TW" sz="2000">
                <a:latin typeface="微軟正黑體" pitchFamily="34" charset="-120"/>
                <a:ea typeface="微軟正黑體" pitchFamily="34" charset="-120"/>
              </a:rPr>
              <a:t>phone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）。</a:t>
            </a:r>
            <a:r>
              <a:rPr lang="zh-TW" altLang="en-US" sz="2000" u="sng">
                <a:latin typeface="微軟正黑體" pitchFamily="34" charset="-120"/>
                <a:ea typeface="微軟正黑體" pitchFamily="34" charset="-120"/>
              </a:rPr>
              <a:t>病人</a:t>
            </a:r>
            <a:r>
              <a:rPr lang="zh-TW" altLang="en-US" sz="2000" u="sng" dirty="0">
                <a:latin typeface="微軟正黑體" pitchFamily="34" charset="-120"/>
                <a:ea typeface="微軟正黑體" pitchFamily="34" charset="-120"/>
              </a:rPr>
              <a:t>代號是唯一的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。每一位病人必定有一位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主治醫師。檢驗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項目有兩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個屬性分別為項目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代號（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tId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）、名稱（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tName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）。其中項目代號是唯一的。一位住院病人可以有多個檢驗項目，檢驗日期（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date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）必須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記載。病房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有兩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個屬性分別為房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號（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rNo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）、等級（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level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）。其中房號是唯一</a:t>
            </a:r>
            <a:r>
              <a:rPr lang="zh-TW" altLang="en-US" sz="2000">
                <a:latin typeface="微軟正黑體" pitchFamily="34" charset="-120"/>
                <a:ea typeface="微軟正黑體" pitchFamily="34" charset="-120"/>
              </a:rPr>
              <a:t>的。有些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醫師（如住院醫師）有指導醫師，不過只能有一位。</a:t>
            </a:r>
          </a:p>
          <a:p>
            <a:endParaRPr lang="zh-TW" altLang="en-US" sz="20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B18EA-D353-46FE-9307-7248F5193EC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042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C01F1E-E65E-4BD6-B910-D51CDAFE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360FD3-E91E-4229-B09B-707896362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/>
              <a:t>一個主治醫生可以有多個病人，但一個病人只能有一個主治醫生，如果有需要主要醫生可以啟動醫療會診，提出由其他專科醫生來診治</a:t>
            </a:r>
            <a:endParaRPr lang="en-US" altLang="zh-TW" sz="2400"/>
          </a:p>
          <a:p>
            <a:r>
              <a:rPr lang="zh-TW" altLang="en-US" sz="2400"/>
              <a:t>依據醫生的診斷結果，針對病人開立檢查項目，每個病人可以進行多項檢查，每一個檢查項目只能針對某一個病人</a:t>
            </a:r>
            <a:endParaRPr lang="en-US" altLang="zh-TW" sz="2400"/>
          </a:p>
          <a:p>
            <a:r>
              <a:rPr lang="zh-TW" altLang="en-US" sz="2400"/>
              <a:t>檢查時，病人必須住院觀察，病人如要住院一定要有病床</a:t>
            </a:r>
            <a:endParaRPr lang="en-US" altLang="zh-TW" sz="2400"/>
          </a:p>
          <a:p>
            <a:endParaRPr lang="zh-TW" altLang="en-US" sz="240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899AAB-C851-4A0F-9A01-6D01A5FA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9877CE-389B-4B3C-84B0-E2EA662C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242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醫療系統資料塑模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ERD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0" y="1690688"/>
            <a:ext cx="9045680" cy="4956297"/>
          </a:xfrm>
        </p:spPr>
      </p:pic>
      <p:sp>
        <p:nvSpPr>
          <p:cNvPr id="5" name="文字方塊 4"/>
          <p:cNvSpPr txBox="1"/>
          <p:nvPr/>
        </p:nvSpPr>
        <p:spPr>
          <a:xfrm>
            <a:off x="1670671" y="416883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遞迴關係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1849426" y="185996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關鍵屬性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471377" y="193673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關鍵屬性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234309" y="193673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關鍵屬性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5295781" y="582236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關鍵屬性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9397722" y="504165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弱實體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9720887" y="584439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關鍵屬性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8662761" y="609936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部分鍵</a:t>
            </a:r>
          </a:p>
        </p:txBody>
      </p:sp>
      <p:sp>
        <p:nvSpPr>
          <p:cNvPr id="13" name="日期版面配置區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77B0-6C0E-4978-92A4-3033EC4C259F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0560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網路遊戲資料統計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2400">
                <a:latin typeface="微軟正黑體" pitchFamily="34" charset="-120"/>
                <a:ea typeface="微軟正黑體" pitchFamily="34" charset="-120"/>
              </a:rPr>
              <a:t>在一個遊戲伺服器系統中，管理者希望追蹤玩家、遊戲、以及玩家玩遊戲過程所累積的資訊。以下是相關實體的屬性，每一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會員（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Member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）有代號（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</a:rPr>
              <a:t>mId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）、姓名（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name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）、住址（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address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）、性別（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gender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），和出生年月日（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birthday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）。其中代號是</a:t>
            </a:r>
            <a:r>
              <a:rPr lang="zh-TW" altLang="en-US" sz="2400">
                <a:latin typeface="微軟正黑體" pitchFamily="34" charset="-120"/>
                <a:ea typeface="微軟正黑體" pitchFamily="34" charset="-120"/>
              </a:rPr>
              <a:t>唯一的。每一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遊戲有代號（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</a:rPr>
              <a:t>gId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）、名稱（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</a:rPr>
              <a:t>gName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）、遊戲難度（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difficulty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）。其中代號是</a:t>
            </a:r>
            <a:r>
              <a:rPr lang="zh-TW" altLang="en-US" sz="2400">
                <a:latin typeface="微軟正黑體" pitchFamily="34" charset="-120"/>
                <a:ea typeface="微軟正黑體" pitchFamily="34" charset="-120"/>
              </a:rPr>
              <a:t>唯一的。會員登入網站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時須輸入帳號（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account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）和密碼（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password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）。為方便統計，你希望記載進站的時間（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</a:rPr>
              <a:t>sTime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）和玩遊戲時的得分（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score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）和時間（</a:t>
            </a:r>
            <a:r>
              <a:rPr lang="en-US" altLang="zh-TW" sz="2400">
                <a:latin typeface="微軟正黑體" pitchFamily="34" charset="-120"/>
                <a:ea typeface="微軟正黑體" pitchFamily="34" charset="-120"/>
              </a:rPr>
              <a:t>time</a:t>
            </a:r>
            <a:r>
              <a:rPr lang="zh-TW" altLang="en-US" sz="2400">
                <a:latin typeface="微軟正黑體" pitchFamily="34" charset="-120"/>
                <a:ea typeface="微軟正黑體" pitchFamily="34" charset="-120"/>
              </a:rPr>
              <a:t>）</a:t>
            </a:r>
            <a:endParaRPr lang="en-US" altLang="zh-TW" sz="240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>
                <a:latin typeface="微軟正黑體" pitchFamily="34" charset="-120"/>
                <a:ea typeface="微軟正黑體" pitchFamily="34" charset="-120"/>
              </a:rPr>
              <a:t>請找出上述情境中所要追蹤儲存的資料實體，並依據實際情況分析實體間的關係，並繪製</a:t>
            </a:r>
            <a:r>
              <a:rPr lang="en-US" altLang="zh-TW" sz="2400">
                <a:latin typeface="微軟正黑體" pitchFamily="34" charset="-120"/>
                <a:ea typeface="微軟正黑體" pitchFamily="34" charset="-120"/>
              </a:rPr>
              <a:t>ER</a:t>
            </a:r>
            <a:r>
              <a:rPr lang="zh-TW" altLang="en-US" sz="2400">
                <a:latin typeface="微軟正黑體" pitchFamily="34" charset="-120"/>
                <a:ea typeface="微軟正黑體" pitchFamily="34" charset="-120"/>
              </a:rPr>
              <a:t>圖，提供工程師開發資料庫系統之用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sz="24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E320-32EA-4975-B227-A36A21A38897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943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1352260"/>
            <a:ext cx="10031225" cy="4153480"/>
          </a:xfrm>
          <a:prstGeom prst="rect">
            <a:avLst/>
          </a:prstGeom>
        </p:spPr>
      </p:pic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E04A-396C-43B7-8C08-4CD1E88F90CA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6558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19" y="1055077"/>
            <a:ext cx="11499882" cy="48006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351315" y="136128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關鍵屬性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8168869" y="254496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多值屬性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609494" y="294472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弱實體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609494" y="473437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部分鍵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10334554" y="20155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</a:t>
            </a:r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屬性</a:t>
            </a:r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5EF5C-77F9-4975-ABC7-0BD72C8F9DA1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365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AFFFBCA-C840-2022-C3D3-B89DEBF8D5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資料模型分析作業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sz="2800" dirty="0">
                <a:solidFill>
                  <a:srgbClr val="C00000"/>
                </a:solidFill>
              </a:rPr>
              <a:t>作業繳交時間</a:t>
            </a:r>
            <a:r>
              <a:rPr lang="zh-TW" altLang="en-US" sz="2800">
                <a:solidFill>
                  <a:srgbClr val="C00000"/>
                </a:solidFill>
              </a:rPr>
              <a:t>：</a:t>
            </a:r>
            <a:r>
              <a:rPr lang="en-US" altLang="zh-TW" sz="2800">
                <a:solidFill>
                  <a:srgbClr val="C00000"/>
                </a:solidFill>
              </a:rPr>
              <a:t>10/7 00:00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10446A21-BA02-CBC8-B2C2-22617CAE0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3858" y="4158188"/>
            <a:ext cx="5979886" cy="1655762"/>
          </a:xfrm>
        </p:spPr>
        <p:txBody>
          <a:bodyPr>
            <a:normAutofit fontScale="62500" lnSpcReduction="20000"/>
          </a:bodyPr>
          <a:lstStyle/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/>
              <a:t>學號尾數除</a:t>
            </a:r>
            <a:r>
              <a:rPr lang="en-US" altLang="zh-TW" dirty="0"/>
              <a:t>3</a:t>
            </a:r>
            <a:r>
              <a:rPr lang="zh-TW" altLang="en-US" dirty="0"/>
              <a:t>後的餘數，決定題目</a:t>
            </a:r>
            <a:endParaRPr lang="en-US" altLang="zh-TW" dirty="0"/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zh-TW" altLang="en-US"/>
              <a:t>可以二</a:t>
            </a:r>
            <a:r>
              <a:rPr lang="zh-TW" altLang="en-US" dirty="0"/>
              <a:t>人一組討論</a:t>
            </a:r>
            <a:r>
              <a:rPr lang="zh-TW" altLang="en-US"/>
              <a:t>分析結果 </a:t>
            </a:r>
            <a:r>
              <a:rPr lang="en-US" altLang="zh-TW"/>
              <a:t>(</a:t>
            </a:r>
            <a:r>
              <a:rPr lang="zh-TW" altLang="en-US"/>
              <a:t>繳交作業時請註明同組同學</a:t>
            </a:r>
            <a:r>
              <a:rPr lang="en-US" altLang="zh-TW"/>
              <a:t>)</a:t>
            </a:r>
            <a:endParaRPr lang="en-US" altLang="zh-TW" dirty="0"/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zh-TW" altLang="en-US"/>
              <a:t>每個人必須以 </a:t>
            </a:r>
            <a:r>
              <a:rPr lang="en-US" altLang="zh-TW"/>
              <a:t>draw.io </a:t>
            </a:r>
            <a:r>
              <a:rPr lang="zh-TW" altLang="en-US"/>
              <a:t>繪製</a:t>
            </a:r>
            <a:r>
              <a:rPr lang="en-US" altLang="zh-TW"/>
              <a:t>ERD</a:t>
            </a:r>
            <a:r>
              <a:rPr lang="zh-TW" altLang="en-US"/>
              <a:t>圖</a:t>
            </a:r>
            <a:r>
              <a:rPr lang="en-US" altLang="zh-TW"/>
              <a:t>(</a:t>
            </a:r>
            <a:r>
              <a:rPr lang="zh-TW" altLang="en-US"/>
              <a:t>包括 </a:t>
            </a:r>
            <a:r>
              <a:rPr lang="en-US" altLang="zh-TW"/>
              <a:t>chen’s </a:t>
            </a:r>
            <a:r>
              <a:rPr lang="zh-TW" altLang="en-US"/>
              <a:t>圖，</a:t>
            </a:r>
            <a:r>
              <a:rPr lang="en-US" altLang="zh-TW"/>
              <a:t>min/max or </a:t>
            </a:r>
            <a:r>
              <a:rPr lang="zh-TW" altLang="en-US"/>
              <a:t>雞爪圖</a:t>
            </a:r>
            <a:r>
              <a:rPr lang="en-US" altLang="zh-TW"/>
              <a:t>)</a:t>
            </a:r>
            <a:r>
              <a:rPr lang="zh-TW" altLang="en-US"/>
              <a:t>及圖形項目的說明</a:t>
            </a:r>
            <a:endParaRPr lang="en-US" altLang="zh-TW" dirty="0"/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zh-TW" altLang="en-US"/>
              <a:t>作業抄襲 </a:t>
            </a:r>
            <a:r>
              <a:rPr lang="en-US" altLang="zh-TW"/>
              <a:t>0 </a:t>
            </a:r>
            <a:r>
              <a:rPr lang="zh-TW" altLang="en-US"/>
              <a:t>分計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B57FD4-73EF-E5AA-1751-48FB88DF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5AD3-CACF-4DB6-8371-7C9CCD5D1D16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422E97-1AC6-8E67-EBBE-07BA95C5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281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28CE86-FC5D-51A2-5D31-BF68D870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0</a:t>
            </a:r>
            <a:r>
              <a:rPr lang="en-US" altLang="zh-TW" b="0"/>
              <a:t>.</a:t>
            </a:r>
            <a:r>
              <a:rPr lang="zh-TW" altLang="en-US" b="0" dirty="0"/>
              <a:t>餐廳設計點菜系統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DF5195-D959-6481-F865-6788F9034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597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b="0" dirty="0"/>
              <a:t>假設你要替一個餐廳設計點菜系統，該系統記載餐點資訊並可以讓顧客訂位。其資料需求如下：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單點 </a:t>
            </a:r>
            <a:r>
              <a:rPr lang="en-US" altLang="zh-TW" b="0" dirty="0"/>
              <a:t>(</a:t>
            </a:r>
            <a:r>
              <a:rPr lang="en" altLang="zh-TW" b="0" dirty="0"/>
              <a:t>Dish)</a:t>
            </a:r>
            <a:r>
              <a:rPr lang="zh-TW" altLang="en" b="0" dirty="0"/>
              <a:t>：</a:t>
            </a:r>
            <a:r>
              <a:rPr lang="zh-TW" altLang="en-US" b="0" dirty="0"/>
              <a:t>包括單點編號 </a:t>
            </a:r>
            <a:r>
              <a:rPr lang="en-US" altLang="zh-TW" b="0" dirty="0"/>
              <a:t>(</a:t>
            </a:r>
            <a:r>
              <a:rPr lang="en" altLang="zh-TW" b="0" dirty="0" err="1"/>
              <a:t>dNo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單點名稱 </a:t>
            </a:r>
            <a:r>
              <a:rPr lang="en-US" altLang="zh-TW" b="0" dirty="0"/>
              <a:t>(</a:t>
            </a:r>
            <a:r>
              <a:rPr lang="en" altLang="zh-TW" b="0" dirty="0" err="1"/>
              <a:t>dName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單點敘述 </a:t>
            </a:r>
            <a:r>
              <a:rPr lang="en-US" altLang="zh-TW" b="0" dirty="0"/>
              <a:t>(</a:t>
            </a:r>
            <a:r>
              <a:rPr lang="en" altLang="zh-TW" b="0" dirty="0" err="1"/>
              <a:t>dDesc</a:t>
            </a:r>
            <a:r>
              <a:rPr lang="en" altLang="zh-TW" b="0" dirty="0"/>
              <a:t>)</a:t>
            </a:r>
            <a:r>
              <a:rPr lang="zh-TW" altLang="en" b="0" dirty="0"/>
              <a:t>，</a:t>
            </a:r>
            <a:r>
              <a:rPr lang="zh-TW" altLang="en-US" b="0" dirty="0"/>
              <a:t>和價錢 </a:t>
            </a:r>
            <a:r>
              <a:rPr lang="en-US" altLang="zh-TW" b="0" dirty="0"/>
              <a:t>(</a:t>
            </a:r>
            <a:r>
              <a:rPr lang="en" altLang="zh-TW" b="0" dirty="0" err="1"/>
              <a:t>dPrice</a:t>
            </a:r>
            <a:r>
              <a:rPr lang="en" altLang="zh-TW" b="0" dirty="0"/>
              <a:t>)</a:t>
            </a:r>
            <a:r>
              <a:rPr lang="zh-TW" altLang="en" b="0" dirty="0"/>
              <a:t>。</a:t>
            </a:r>
            <a:r>
              <a:rPr lang="zh-TW" altLang="en-US" b="0" dirty="0"/>
              <a:t>其中單點編號和單點名稱均為唯一。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套餐 </a:t>
            </a:r>
            <a:r>
              <a:rPr lang="en-US" altLang="zh-TW" b="0" dirty="0"/>
              <a:t>(</a:t>
            </a:r>
            <a:r>
              <a:rPr lang="en" altLang="zh-TW" b="0" dirty="0"/>
              <a:t>Set)</a:t>
            </a:r>
            <a:r>
              <a:rPr lang="zh-TW" altLang="en" b="0" dirty="0"/>
              <a:t>：</a:t>
            </a:r>
            <a:r>
              <a:rPr lang="zh-TW" altLang="en-US" b="0" dirty="0"/>
              <a:t>包括套餐編號 </a:t>
            </a:r>
            <a:r>
              <a:rPr lang="en-US" altLang="zh-TW" b="0" dirty="0"/>
              <a:t>(</a:t>
            </a:r>
            <a:r>
              <a:rPr lang="en" altLang="zh-TW" b="0" dirty="0" err="1"/>
              <a:t>sNo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套餐名稱 </a:t>
            </a:r>
            <a:r>
              <a:rPr lang="en-US" altLang="zh-TW" b="0" dirty="0"/>
              <a:t>(</a:t>
            </a:r>
            <a:r>
              <a:rPr lang="en" altLang="zh-TW" b="0" dirty="0" err="1"/>
              <a:t>sName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套餐敘述 </a:t>
            </a:r>
            <a:r>
              <a:rPr lang="en-US" altLang="zh-TW" b="0" dirty="0"/>
              <a:t>(</a:t>
            </a:r>
            <a:r>
              <a:rPr lang="en" altLang="zh-TW" b="0" dirty="0" err="1"/>
              <a:t>sDesc</a:t>
            </a:r>
            <a:r>
              <a:rPr lang="en" altLang="zh-TW" b="0" dirty="0"/>
              <a:t>)</a:t>
            </a:r>
            <a:r>
              <a:rPr lang="zh-TW" altLang="en" b="0" dirty="0"/>
              <a:t>，</a:t>
            </a:r>
            <a:r>
              <a:rPr lang="zh-TW" altLang="en-US" b="0" dirty="0"/>
              <a:t>和價錢 </a:t>
            </a:r>
            <a:r>
              <a:rPr lang="en-US" altLang="zh-TW" b="0" dirty="0"/>
              <a:t>(</a:t>
            </a:r>
            <a:r>
              <a:rPr lang="en" altLang="zh-TW" b="0" dirty="0" err="1"/>
              <a:t>sPrice</a:t>
            </a:r>
            <a:r>
              <a:rPr lang="en" altLang="zh-TW" b="0" dirty="0"/>
              <a:t>)</a:t>
            </a:r>
            <a:r>
              <a:rPr lang="zh-TW" altLang="en" b="0" dirty="0"/>
              <a:t>。</a:t>
            </a:r>
            <a:r>
              <a:rPr lang="zh-TW" altLang="en-US" b="0" dirty="0"/>
              <a:t>其中套餐編號和套餐名稱均為唯一。顧名思義，套餐就是由數個單點所組成，組成的單點和單點數量必須記載。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餐桌 </a:t>
            </a:r>
            <a:r>
              <a:rPr lang="en-US" altLang="zh-TW" b="0" dirty="0"/>
              <a:t>(</a:t>
            </a:r>
            <a:r>
              <a:rPr lang="en" altLang="zh-TW" b="0" dirty="0"/>
              <a:t>Table)</a:t>
            </a:r>
            <a:r>
              <a:rPr lang="zh-TW" altLang="en" b="0" dirty="0"/>
              <a:t>：</a:t>
            </a:r>
            <a:r>
              <a:rPr lang="zh-TW" altLang="en-US" b="0" dirty="0"/>
              <a:t>包括餐桌編號 </a:t>
            </a:r>
            <a:r>
              <a:rPr lang="en-US" altLang="zh-TW" b="0" dirty="0"/>
              <a:t>(</a:t>
            </a:r>
            <a:r>
              <a:rPr lang="en" altLang="zh-TW" b="0" dirty="0" err="1"/>
              <a:t>tId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容納人數 </a:t>
            </a:r>
            <a:r>
              <a:rPr lang="en-US" altLang="zh-TW" b="0" dirty="0"/>
              <a:t>(</a:t>
            </a:r>
            <a:r>
              <a:rPr lang="en" altLang="zh-TW" b="0" dirty="0"/>
              <a:t>capacity)</a:t>
            </a:r>
            <a:r>
              <a:rPr lang="zh-TW" altLang="en" b="0" dirty="0"/>
              <a:t>，</a:t>
            </a:r>
            <a:r>
              <a:rPr lang="zh-TW" altLang="en-US" b="0" dirty="0"/>
              <a:t>和位置 </a:t>
            </a:r>
            <a:r>
              <a:rPr lang="en-US" altLang="zh-TW" b="0" dirty="0"/>
              <a:t>(</a:t>
            </a:r>
            <a:r>
              <a:rPr lang="en" altLang="zh-TW" b="0" dirty="0"/>
              <a:t>location)</a:t>
            </a:r>
            <a:r>
              <a:rPr lang="zh-TW" altLang="en" b="0" dirty="0"/>
              <a:t>。</a:t>
            </a:r>
            <a:r>
              <a:rPr lang="zh-TW" altLang="en-US" b="0" dirty="0"/>
              <a:t>其中餐桌編號為唯一。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服務生 </a:t>
            </a:r>
            <a:r>
              <a:rPr lang="en-US" altLang="zh-TW" b="0" dirty="0"/>
              <a:t>(</a:t>
            </a:r>
            <a:r>
              <a:rPr lang="en" altLang="zh-TW" b="0" dirty="0"/>
              <a:t>Waiter)</a:t>
            </a:r>
            <a:r>
              <a:rPr lang="zh-TW" altLang="en" b="0" dirty="0"/>
              <a:t>：</a:t>
            </a:r>
            <a:r>
              <a:rPr lang="zh-TW" altLang="en-US" b="0" dirty="0"/>
              <a:t>包括姓名 </a:t>
            </a:r>
            <a:r>
              <a:rPr lang="en-US" altLang="zh-TW" b="0" dirty="0"/>
              <a:t>(</a:t>
            </a:r>
            <a:r>
              <a:rPr lang="en" altLang="zh-TW" b="0" dirty="0"/>
              <a:t>name) </a:t>
            </a:r>
            <a:r>
              <a:rPr lang="zh-TW" altLang="en-US" b="0" dirty="0"/>
              <a:t>和性別 </a:t>
            </a:r>
            <a:r>
              <a:rPr lang="en-US" altLang="zh-TW" b="0" dirty="0"/>
              <a:t>(</a:t>
            </a:r>
            <a:r>
              <a:rPr lang="en" altLang="zh-TW" b="0" dirty="0"/>
              <a:t>sex)</a:t>
            </a:r>
            <a:r>
              <a:rPr lang="zh-TW" altLang="en" b="0" dirty="0"/>
              <a:t>。</a:t>
            </a:r>
            <a:r>
              <a:rPr lang="zh-TW" altLang="en-US" b="0" dirty="0"/>
              <a:t>其中姓名為唯一。此外，每一服務生都必須有剛好一位代理服務生 </a:t>
            </a:r>
            <a:r>
              <a:rPr lang="en-US" altLang="zh-TW" b="0" dirty="0"/>
              <a:t>(</a:t>
            </a:r>
            <a:r>
              <a:rPr lang="en" altLang="zh-TW" b="0" dirty="0"/>
              <a:t>Substitute)</a:t>
            </a:r>
            <a:r>
              <a:rPr lang="zh-TW" altLang="en" b="0" dirty="0"/>
              <a:t>，</a:t>
            </a:r>
            <a:r>
              <a:rPr lang="zh-TW" altLang="en-US" b="0" dirty="0"/>
              <a:t>以便該服務生不在時可以頂替其工作。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顧客 </a:t>
            </a:r>
            <a:r>
              <a:rPr lang="en-US" altLang="zh-TW" b="0" dirty="0"/>
              <a:t>(</a:t>
            </a:r>
            <a:r>
              <a:rPr lang="en" altLang="zh-TW" b="0" dirty="0"/>
              <a:t>Customer)</a:t>
            </a:r>
            <a:r>
              <a:rPr lang="zh-TW" altLang="en" b="0" dirty="0"/>
              <a:t>：</a:t>
            </a:r>
            <a:r>
              <a:rPr lang="zh-TW" altLang="en-US" b="0" dirty="0"/>
              <a:t>包括顧客姓名 </a:t>
            </a:r>
            <a:r>
              <a:rPr lang="en-US" altLang="zh-TW" b="0" dirty="0"/>
              <a:t>(</a:t>
            </a:r>
            <a:r>
              <a:rPr lang="en" altLang="zh-TW" b="0" dirty="0" err="1"/>
              <a:t>cName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日期時間 </a:t>
            </a:r>
            <a:r>
              <a:rPr lang="en-US" altLang="zh-TW" b="0" dirty="0"/>
              <a:t>(</a:t>
            </a:r>
            <a:r>
              <a:rPr lang="en" altLang="zh-TW" b="0" dirty="0" err="1"/>
              <a:t>dateTime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人數 </a:t>
            </a:r>
            <a:r>
              <a:rPr lang="en-US" altLang="zh-TW" b="0" dirty="0"/>
              <a:t>(</a:t>
            </a:r>
            <a:r>
              <a:rPr lang="en" altLang="zh-TW" b="0" dirty="0"/>
              <a:t>num)</a:t>
            </a:r>
            <a:r>
              <a:rPr lang="zh-TW" altLang="en" b="0" dirty="0"/>
              <a:t>，</a:t>
            </a:r>
            <a:r>
              <a:rPr lang="zh-TW" altLang="en-US" b="0" dirty="0"/>
              <a:t>和消費金額 </a:t>
            </a:r>
            <a:r>
              <a:rPr lang="en-US" altLang="zh-TW" b="0" dirty="0"/>
              <a:t>(</a:t>
            </a:r>
            <a:r>
              <a:rPr lang="en" altLang="zh-TW" b="0" dirty="0"/>
              <a:t>payment)</a:t>
            </a:r>
            <a:r>
              <a:rPr lang="zh-TW" altLang="en" b="0" dirty="0"/>
              <a:t>。</a:t>
            </a:r>
            <a:r>
              <a:rPr lang="zh-TW" altLang="en-US" b="0" dirty="0"/>
              <a:t>其中沒有任何屬性是唯一的，但每一顧客一定被分配一張餐桌，使用同一餐桌的顧客其日期時間 </a:t>
            </a:r>
            <a:r>
              <a:rPr lang="en-US" altLang="zh-TW" b="0" dirty="0"/>
              <a:t>(</a:t>
            </a:r>
            <a:r>
              <a:rPr lang="en" altLang="zh-TW" b="0" dirty="0" err="1"/>
              <a:t>dateTime</a:t>
            </a:r>
            <a:r>
              <a:rPr lang="en" altLang="zh-TW" b="0" dirty="0"/>
              <a:t>) </a:t>
            </a:r>
            <a:r>
              <a:rPr lang="zh-TW" altLang="en-US" b="0" dirty="0"/>
              <a:t>必然不同。請注意，為了環境美觀，本餐廳不允許併桌，也就是說每一顧客只有佔用一張餐桌。</a:t>
            </a:r>
            <a:endParaRPr lang="en-US" altLang="zh-TW" dirty="0"/>
          </a:p>
          <a:p>
            <a:pPr lvl="2">
              <a:lnSpc>
                <a:spcPct val="120000"/>
              </a:lnSpc>
            </a:pPr>
            <a:r>
              <a:rPr lang="zh-TW" altLang="en-US" b="0" dirty="0"/>
              <a:t>每一顧客所點的餐點可能包括數個單點和數個套餐，顧客的點餐記錄 </a:t>
            </a:r>
            <a:r>
              <a:rPr lang="en-US" altLang="zh-TW" b="0" dirty="0"/>
              <a:t>(</a:t>
            </a:r>
            <a:r>
              <a:rPr lang="zh-TW" altLang="en-US" b="0" dirty="0"/>
              <a:t>包括種類和數量</a:t>
            </a:r>
            <a:r>
              <a:rPr lang="en-US" altLang="zh-TW" b="0" dirty="0"/>
              <a:t>) </a:t>
            </a:r>
            <a:r>
              <a:rPr lang="zh-TW" altLang="en-US" b="0" dirty="0"/>
              <a:t>要記載。</a:t>
            </a:r>
            <a:endParaRPr lang="en-US" altLang="zh-TW" dirty="0"/>
          </a:p>
          <a:p>
            <a:pPr lvl="2">
              <a:lnSpc>
                <a:spcPct val="120000"/>
              </a:lnSpc>
            </a:pPr>
            <a:r>
              <a:rPr lang="zh-TW" altLang="en-US" b="0" dirty="0"/>
              <a:t>每一服務生負責數個餐桌，每一餐桌剛好有一位服務生負責。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b="0" dirty="0"/>
              <a:t>請依以上的需求，畫出</a:t>
            </a:r>
            <a:r>
              <a:rPr lang="en" altLang="zh-TW" b="0" dirty="0"/>
              <a:t>ERD</a:t>
            </a:r>
            <a:r>
              <a:rPr lang="zh-TW" altLang="en" b="0" dirty="0"/>
              <a:t>。</a:t>
            </a:r>
            <a:r>
              <a:rPr lang="zh-TW" altLang="en-US" b="0" dirty="0"/>
              <a:t>必要的話，可自行假設其他相關狀況，但必須寫清楚。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CADF4F-BAC5-FD0F-FE36-D20FE89D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1AA324-20C2-AA20-26C8-938200D2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06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5F06A8-3C60-2308-E41D-1DC793EA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1</a:t>
            </a:r>
            <a:r>
              <a:rPr lang="en-US" altLang="zh-TW" b="0"/>
              <a:t>.</a:t>
            </a:r>
            <a:r>
              <a:rPr lang="zh-TW" altLang="en-US" b="0" dirty="0"/>
              <a:t>醫院設計掛號系統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BCEBC6-C9D7-0529-FF96-0F6B6691D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b="0" dirty="0"/>
              <a:t>假設你要替一家醫院設計掛號系統。該系統記載醫師相關資訊並可以讓病人預約掛號。其資料需求如下：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科別 </a:t>
            </a:r>
            <a:r>
              <a:rPr lang="en-US" altLang="zh-TW" b="0" dirty="0"/>
              <a:t>(</a:t>
            </a:r>
            <a:r>
              <a:rPr lang="en" altLang="zh-TW" b="0" dirty="0"/>
              <a:t>Department)</a:t>
            </a:r>
            <a:r>
              <a:rPr lang="zh-TW" altLang="en" b="0" dirty="0"/>
              <a:t>：</a:t>
            </a:r>
            <a:r>
              <a:rPr lang="zh-TW" altLang="en-US" b="0" dirty="0"/>
              <a:t>包括科編號 </a:t>
            </a:r>
            <a:r>
              <a:rPr lang="en-US" altLang="zh-TW" b="0" dirty="0"/>
              <a:t>(</a:t>
            </a:r>
            <a:r>
              <a:rPr lang="en" altLang="zh-TW" b="0" dirty="0" err="1"/>
              <a:t>dNo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科名稱 </a:t>
            </a:r>
            <a:r>
              <a:rPr lang="en-US" altLang="zh-TW" b="0" dirty="0"/>
              <a:t>(</a:t>
            </a:r>
            <a:r>
              <a:rPr lang="en" altLang="zh-TW" b="0" dirty="0" err="1"/>
              <a:t>dName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科類別 </a:t>
            </a:r>
            <a:r>
              <a:rPr lang="en-US" altLang="zh-TW" b="0" dirty="0"/>
              <a:t>(</a:t>
            </a:r>
            <a:r>
              <a:rPr lang="en" altLang="zh-TW" b="0" dirty="0" err="1"/>
              <a:t>dCat</a:t>
            </a:r>
            <a:r>
              <a:rPr lang="en" altLang="zh-TW" b="0" dirty="0"/>
              <a:t>)</a:t>
            </a:r>
            <a:r>
              <a:rPr lang="zh-TW" altLang="en" b="0" dirty="0"/>
              <a:t>，</a:t>
            </a:r>
            <a:r>
              <a:rPr lang="zh-TW" altLang="en-US" b="0" dirty="0"/>
              <a:t>和成立日期 </a:t>
            </a:r>
            <a:r>
              <a:rPr lang="en-US" altLang="zh-TW" b="0" dirty="0"/>
              <a:t>(</a:t>
            </a:r>
            <a:r>
              <a:rPr lang="en" altLang="zh-TW" b="0" dirty="0" err="1"/>
              <a:t>startDate</a:t>
            </a:r>
            <a:r>
              <a:rPr lang="en" altLang="zh-TW" b="0" dirty="0"/>
              <a:t>)</a:t>
            </a:r>
            <a:r>
              <a:rPr lang="zh-TW" altLang="en" b="0" dirty="0"/>
              <a:t>。</a:t>
            </a:r>
            <a:r>
              <a:rPr lang="zh-TW" altLang="en-US" b="0" dirty="0"/>
              <a:t>其中科編號和科名稱均為唯一。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醫師 </a:t>
            </a:r>
            <a:r>
              <a:rPr lang="en-US" altLang="zh-TW" b="0" dirty="0"/>
              <a:t>(</a:t>
            </a:r>
            <a:r>
              <a:rPr lang="en" altLang="zh-TW" b="0" dirty="0"/>
              <a:t>Doctor)</a:t>
            </a:r>
            <a:r>
              <a:rPr lang="zh-TW" altLang="en" b="0" dirty="0"/>
              <a:t>：</a:t>
            </a:r>
            <a:r>
              <a:rPr lang="zh-TW" altLang="en-US" b="0" dirty="0"/>
              <a:t>包括醫師編號 </a:t>
            </a:r>
            <a:r>
              <a:rPr lang="en-US" altLang="zh-TW" b="0" dirty="0"/>
              <a:t>(</a:t>
            </a:r>
            <a:r>
              <a:rPr lang="en" altLang="zh-TW" b="0" dirty="0" err="1"/>
              <a:t>dId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姓名 </a:t>
            </a:r>
            <a:r>
              <a:rPr lang="en-US" altLang="zh-TW" b="0" dirty="0"/>
              <a:t>(</a:t>
            </a:r>
            <a:r>
              <a:rPr lang="en" altLang="zh-TW" b="0" dirty="0"/>
              <a:t>name)</a:t>
            </a:r>
            <a:r>
              <a:rPr lang="zh-TW" altLang="en" b="0" dirty="0"/>
              <a:t>、</a:t>
            </a:r>
            <a:r>
              <a:rPr lang="zh-TW" altLang="en-US" b="0" dirty="0"/>
              <a:t>生日 </a:t>
            </a:r>
            <a:r>
              <a:rPr lang="en-US" altLang="zh-TW" b="0" dirty="0"/>
              <a:t>(</a:t>
            </a:r>
            <a:r>
              <a:rPr lang="en" altLang="zh-TW" b="0" dirty="0"/>
              <a:t>birthday)</a:t>
            </a:r>
            <a:r>
              <a:rPr lang="zh-TW" altLang="en" b="0" dirty="0"/>
              <a:t>、</a:t>
            </a:r>
            <a:r>
              <a:rPr lang="zh-TW" altLang="en-US" b="0" dirty="0"/>
              <a:t>身分證字號 </a:t>
            </a:r>
            <a:r>
              <a:rPr lang="en-US" altLang="zh-TW" b="0" dirty="0"/>
              <a:t>(</a:t>
            </a:r>
            <a:r>
              <a:rPr lang="en" altLang="zh-TW" b="0" dirty="0" err="1"/>
              <a:t>pId</a:t>
            </a:r>
            <a:r>
              <a:rPr lang="en" altLang="zh-TW" b="0" dirty="0"/>
              <a:t>)</a:t>
            </a:r>
            <a:r>
              <a:rPr lang="zh-TW" altLang="en" b="0" dirty="0"/>
              <a:t>，</a:t>
            </a:r>
            <a:r>
              <a:rPr lang="zh-TW" altLang="en-US" b="0" dirty="0"/>
              <a:t>和職級 </a:t>
            </a:r>
            <a:r>
              <a:rPr lang="en-US" altLang="zh-TW" b="0" dirty="0"/>
              <a:t>(</a:t>
            </a:r>
            <a:r>
              <a:rPr lang="en" altLang="zh-TW" b="0" dirty="0"/>
              <a:t>position)</a:t>
            </a:r>
            <a:r>
              <a:rPr lang="zh-TW" altLang="en" b="0" dirty="0"/>
              <a:t>。</a:t>
            </a:r>
            <a:r>
              <a:rPr lang="zh-TW" altLang="en-US" b="0" dirty="0"/>
              <a:t>其中醫師編號和身分證字號均為唯一。一位醫師必定隸屬於某一科，且每一科都有一位主任。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看診時段 </a:t>
            </a:r>
            <a:r>
              <a:rPr lang="en-US" altLang="zh-TW" b="0" dirty="0"/>
              <a:t>(</a:t>
            </a:r>
            <a:r>
              <a:rPr lang="en" altLang="zh-TW" b="0" dirty="0" err="1"/>
              <a:t>DiagnosisTime</a:t>
            </a:r>
            <a:r>
              <a:rPr lang="en" altLang="zh-TW" b="0" dirty="0"/>
              <a:t>)</a:t>
            </a:r>
            <a:r>
              <a:rPr lang="zh-TW" altLang="en" b="0" dirty="0"/>
              <a:t>：</a:t>
            </a:r>
            <a:r>
              <a:rPr lang="zh-TW" altLang="en-US" b="0" dirty="0"/>
              <a:t>包括看診開始時間</a:t>
            </a:r>
            <a:r>
              <a:rPr lang="en-US" altLang="zh-TW" b="0" dirty="0"/>
              <a:t>(</a:t>
            </a:r>
            <a:r>
              <a:rPr lang="en" altLang="zh-TW" b="0" dirty="0" err="1"/>
              <a:t>startDateTime</a:t>
            </a:r>
            <a:r>
              <a:rPr lang="en" altLang="zh-TW" b="0" dirty="0"/>
              <a:t>) </a:t>
            </a:r>
            <a:r>
              <a:rPr lang="zh-TW" altLang="en-US" b="0" dirty="0"/>
              <a:t>和人數限制</a:t>
            </a:r>
            <a:r>
              <a:rPr lang="en-US" altLang="zh-TW" b="0" dirty="0"/>
              <a:t>(</a:t>
            </a:r>
            <a:r>
              <a:rPr lang="en" altLang="zh-TW" b="0" dirty="0"/>
              <a:t>capacity)</a:t>
            </a:r>
            <a:r>
              <a:rPr lang="zh-TW" altLang="en" b="0" dirty="0"/>
              <a:t>。</a:t>
            </a:r>
            <a:r>
              <a:rPr lang="zh-TW" altLang="en-US" b="0" dirty="0"/>
              <a:t>一個看診時段只屬於一位醫師，每一位醫師都有好幾個看診時段，但一位醫師的各個看診時段的開始時間都不相同。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病人 </a:t>
            </a:r>
            <a:r>
              <a:rPr lang="en-US" altLang="zh-TW" b="0" dirty="0"/>
              <a:t>(</a:t>
            </a:r>
            <a:r>
              <a:rPr lang="en" altLang="zh-TW" b="0" dirty="0"/>
              <a:t>Patient)</a:t>
            </a:r>
            <a:r>
              <a:rPr lang="zh-TW" altLang="en" b="0" dirty="0"/>
              <a:t>：</a:t>
            </a:r>
            <a:r>
              <a:rPr lang="zh-TW" altLang="en-US" b="0" dirty="0"/>
              <a:t>包括病歷號 </a:t>
            </a:r>
            <a:r>
              <a:rPr lang="en-US" altLang="zh-TW" b="0" dirty="0"/>
              <a:t>(</a:t>
            </a:r>
            <a:r>
              <a:rPr lang="en" altLang="zh-TW" b="0" dirty="0" err="1"/>
              <a:t>pNo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姓名 </a:t>
            </a:r>
            <a:r>
              <a:rPr lang="en-US" altLang="zh-TW" b="0" dirty="0"/>
              <a:t>(</a:t>
            </a:r>
            <a:r>
              <a:rPr lang="en" altLang="zh-TW" b="0" dirty="0"/>
              <a:t>name)</a:t>
            </a:r>
            <a:r>
              <a:rPr lang="zh-TW" altLang="en" b="0" dirty="0"/>
              <a:t>、</a:t>
            </a:r>
            <a:r>
              <a:rPr lang="zh-TW" altLang="en-US" b="0" dirty="0"/>
              <a:t>性別 </a:t>
            </a:r>
            <a:r>
              <a:rPr lang="en-US" altLang="zh-TW" b="0" dirty="0"/>
              <a:t>(</a:t>
            </a:r>
            <a:r>
              <a:rPr lang="en" altLang="zh-TW" b="0" dirty="0"/>
              <a:t>sex)</a:t>
            </a:r>
            <a:r>
              <a:rPr lang="zh-TW" altLang="en" b="0" dirty="0"/>
              <a:t>、</a:t>
            </a:r>
            <a:r>
              <a:rPr lang="zh-TW" altLang="en-US" b="0" dirty="0"/>
              <a:t>生日 </a:t>
            </a:r>
            <a:r>
              <a:rPr lang="en-US" altLang="zh-TW" b="0" dirty="0"/>
              <a:t>(</a:t>
            </a:r>
            <a:r>
              <a:rPr lang="en" altLang="zh-TW" b="0" dirty="0"/>
              <a:t>birthday)</a:t>
            </a:r>
            <a:r>
              <a:rPr lang="zh-TW" altLang="en" b="0" dirty="0"/>
              <a:t>，</a:t>
            </a:r>
            <a:r>
              <a:rPr lang="zh-TW" altLang="en-US" b="0" dirty="0"/>
              <a:t>和身分證字號 </a:t>
            </a:r>
            <a:r>
              <a:rPr lang="en-US" altLang="zh-TW" b="0" dirty="0"/>
              <a:t>(</a:t>
            </a:r>
            <a:r>
              <a:rPr lang="en" altLang="zh-TW" b="0" dirty="0" err="1"/>
              <a:t>pId</a:t>
            </a:r>
            <a:r>
              <a:rPr lang="en" altLang="zh-TW" b="0" dirty="0"/>
              <a:t>)</a:t>
            </a:r>
            <a:r>
              <a:rPr lang="zh-TW" altLang="en" b="0" dirty="0"/>
              <a:t>。</a:t>
            </a:r>
            <a:r>
              <a:rPr lang="zh-TW" altLang="en-US" b="0" dirty="0"/>
              <a:t>其中病歷號和身分證字號均為唯一。病人可以選擇某位醫生的某個看診時段來預約掛號，掛號時會得到一個號碼 </a:t>
            </a:r>
            <a:r>
              <a:rPr lang="en-US" altLang="zh-TW" b="0" dirty="0"/>
              <a:t>(</a:t>
            </a:r>
            <a:r>
              <a:rPr lang="en" altLang="zh-TW" b="0" dirty="0"/>
              <a:t>no) </a:t>
            </a:r>
            <a:r>
              <a:rPr lang="zh-TW" altLang="en-US" b="0" dirty="0"/>
              <a:t>和預計看診時間</a:t>
            </a:r>
            <a:r>
              <a:rPr lang="en-US" altLang="zh-TW" b="0" dirty="0"/>
              <a:t>(</a:t>
            </a:r>
            <a:r>
              <a:rPr lang="en" altLang="zh-TW" b="0" dirty="0" err="1"/>
              <a:t>estimatedTime</a:t>
            </a:r>
            <a:r>
              <a:rPr lang="en" altLang="zh-TW" b="0" dirty="0"/>
              <a:t>)</a:t>
            </a:r>
            <a:r>
              <a:rPr lang="zh-TW" altLang="en" b="0" dirty="0"/>
              <a:t>，</a:t>
            </a:r>
            <a:r>
              <a:rPr lang="zh-TW" altLang="en-US" b="0" dirty="0"/>
              <a:t>這些都必須記載。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b="0" dirty="0"/>
              <a:t>請依以上的需求，畫出</a:t>
            </a:r>
            <a:r>
              <a:rPr lang="en" altLang="zh-TW" b="0" dirty="0"/>
              <a:t>ERD</a:t>
            </a:r>
            <a:r>
              <a:rPr lang="zh-TW" altLang="en" b="0" dirty="0"/>
              <a:t>。</a:t>
            </a:r>
            <a:r>
              <a:rPr lang="zh-TW" altLang="en-US" b="0" dirty="0"/>
              <a:t>必要的話，可自行假設其他相關狀況，但必須寫清楚。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CED5F9-A757-D232-C277-BFB46851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87818E-51B0-6753-BFA5-7C1A9D58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179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0AC33-2EBB-AD65-4F1A-87BA092F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2</a:t>
            </a:r>
            <a:r>
              <a:rPr lang="en-US" altLang="zh-TW" b="0"/>
              <a:t>.</a:t>
            </a:r>
            <a:r>
              <a:rPr lang="zh-TW" altLang="en-US" b="0" dirty="0"/>
              <a:t>職棒聯盟的戰績系統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1964E0-843F-D55E-EB03-7CE9ECE8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b="0" dirty="0"/>
              <a:t>假設你要設計一個職棒聯盟的戰績系統，該系統可以記載球隊資訊和比賽記錄。具體說來，包含以下四個實體型態：</a:t>
            </a:r>
            <a:endParaRPr lang="en-US" altLang="zh-TW" b="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TW" b="0" dirty="0"/>
              <a:t>1. </a:t>
            </a:r>
            <a:r>
              <a:rPr lang="zh-TW" altLang="en-US" b="0" dirty="0"/>
              <a:t>球隊 </a:t>
            </a:r>
            <a:r>
              <a:rPr lang="en-US" altLang="zh-TW" b="0" dirty="0"/>
              <a:t>(</a:t>
            </a:r>
            <a:r>
              <a:rPr lang="en" altLang="zh-TW" b="0" dirty="0"/>
              <a:t>Team)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" altLang="zh-TW" b="0" dirty="0"/>
              <a:t>2. </a:t>
            </a:r>
            <a:r>
              <a:rPr lang="zh-TW" altLang="en-US" b="0" dirty="0"/>
              <a:t>聯盟 </a:t>
            </a:r>
            <a:r>
              <a:rPr lang="en-US" altLang="zh-TW" b="0" dirty="0"/>
              <a:t>(</a:t>
            </a:r>
            <a:r>
              <a:rPr lang="en" altLang="zh-TW" b="0" dirty="0"/>
              <a:t>League)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" altLang="zh-TW" b="0" dirty="0"/>
              <a:t>3. </a:t>
            </a:r>
            <a:r>
              <a:rPr lang="zh-TW" altLang="en-US" b="0" dirty="0"/>
              <a:t>球員 </a:t>
            </a:r>
            <a:r>
              <a:rPr lang="en-US" altLang="zh-TW" b="0" dirty="0"/>
              <a:t>(</a:t>
            </a:r>
            <a:r>
              <a:rPr lang="en" altLang="zh-TW" b="0" dirty="0"/>
              <a:t>Player)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" altLang="zh-TW" b="0" dirty="0"/>
              <a:t>4. </a:t>
            </a:r>
            <a:r>
              <a:rPr lang="zh-TW" altLang="en-US" b="0" dirty="0"/>
              <a:t>球場 </a:t>
            </a:r>
            <a:r>
              <a:rPr lang="en-US" altLang="zh-TW" b="0" dirty="0"/>
              <a:t>(</a:t>
            </a:r>
            <a:r>
              <a:rPr lang="en" altLang="zh-TW" b="0" dirty="0"/>
              <a:t>Field)</a:t>
            </a:r>
          </a:p>
          <a:p>
            <a:pPr>
              <a:lnSpc>
                <a:spcPct val="120000"/>
              </a:lnSpc>
            </a:pPr>
            <a:r>
              <a:rPr lang="zh-TW" altLang="en-US" b="0" dirty="0"/>
              <a:t>這四個實體型態有以下的性質：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每個球隊有隊名 </a:t>
            </a:r>
            <a:r>
              <a:rPr lang="en-US" altLang="zh-TW" b="0" dirty="0"/>
              <a:t>(</a:t>
            </a:r>
            <a:r>
              <a:rPr lang="en" altLang="zh-TW" b="0" dirty="0" err="1"/>
              <a:t>tName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一個總教練 </a:t>
            </a:r>
            <a:r>
              <a:rPr lang="en-US" altLang="zh-TW" b="0" dirty="0"/>
              <a:t>(</a:t>
            </a:r>
            <a:r>
              <a:rPr lang="en" altLang="zh-TW" b="0" dirty="0" err="1"/>
              <a:t>chiefCoach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數個教練 </a:t>
            </a:r>
            <a:r>
              <a:rPr lang="en-US" altLang="zh-TW" b="0" dirty="0"/>
              <a:t>(</a:t>
            </a:r>
            <a:r>
              <a:rPr lang="en" altLang="zh-TW" b="0" dirty="0"/>
              <a:t>coach)</a:t>
            </a:r>
            <a:r>
              <a:rPr lang="zh-TW" altLang="en" b="0" dirty="0"/>
              <a:t>，</a:t>
            </a:r>
            <a:r>
              <a:rPr lang="zh-TW" altLang="en-US" b="0" dirty="0"/>
              <a:t>和球隊所屬的公司名稱 </a:t>
            </a:r>
            <a:r>
              <a:rPr lang="en-US" altLang="zh-TW" b="0" dirty="0"/>
              <a:t>(</a:t>
            </a:r>
            <a:r>
              <a:rPr lang="en" altLang="zh-TW" b="0" dirty="0"/>
              <a:t>company)</a:t>
            </a:r>
            <a:r>
              <a:rPr lang="zh-TW" altLang="en" b="0" dirty="0"/>
              <a:t>。</a:t>
            </a:r>
            <a:r>
              <a:rPr lang="zh-TW" altLang="en-US" b="0" dirty="0"/>
              <a:t>教練的 </a:t>
            </a:r>
            <a:r>
              <a:rPr lang="en" altLang="zh-TW" b="0" dirty="0"/>
              <a:t>ID (</a:t>
            </a:r>
            <a:r>
              <a:rPr lang="en" altLang="zh-TW" b="0" dirty="0" err="1"/>
              <a:t>pId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姓名 </a:t>
            </a:r>
            <a:r>
              <a:rPr lang="en-US" altLang="zh-TW" b="0" dirty="0"/>
              <a:t>(</a:t>
            </a:r>
            <a:r>
              <a:rPr lang="en" altLang="zh-TW" b="0" dirty="0" err="1"/>
              <a:t>cName</a:t>
            </a:r>
            <a:r>
              <a:rPr lang="en" altLang="zh-TW" b="0" dirty="0"/>
              <a:t>) </a:t>
            </a:r>
            <a:r>
              <a:rPr lang="zh-TW" altLang="en-US" b="0" dirty="0"/>
              <a:t>和生日 </a:t>
            </a:r>
            <a:r>
              <a:rPr lang="en-US" altLang="zh-TW" b="0" dirty="0"/>
              <a:t>(</a:t>
            </a:r>
            <a:r>
              <a:rPr lang="en" altLang="zh-TW" b="0" dirty="0"/>
              <a:t>birthday) </a:t>
            </a:r>
            <a:r>
              <a:rPr lang="zh-TW" altLang="en-US" b="0" dirty="0"/>
              <a:t>需記載。每個球隊必須隸屬於剛好一個聯盟。其中隊名為唯一。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球隊的輸贏記錄需記載，包括勝隊、敗隊、比賽日期 </a:t>
            </a:r>
            <a:r>
              <a:rPr lang="en-US" altLang="zh-TW" b="0" dirty="0"/>
              <a:t>(</a:t>
            </a:r>
            <a:r>
              <a:rPr lang="en" altLang="zh-TW" b="0" dirty="0"/>
              <a:t>date)</a:t>
            </a:r>
            <a:r>
              <a:rPr lang="zh-TW" altLang="en" b="0" dirty="0"/>
              <a:t>、</a:t>
            </a:r>
            <a:r>
              <a:rPr lang="zh-TW" altLang="en-US" b="0" dirty="0"/>
              <a:t>比數 </a:t>
            </a:r>
            <a:r>
              <a:rPr lang="en-US" altLang="zh-TW" b="0" dirty="0"/>
              <a:t>(</a:t>
            </a:r>
            <a:r>
              <a:rPr lang="en" altLang="zh-TW" b="0" dirty="0"/>
              <a:t>result)</a:t>
            </a:r>
            <a:r>
              <a:rPr lang="zh-TW" altLang="en" b="0" dirty="0"/>
              <a:t>，</a:t>
            </a:r>
            <a:r>
              <a:rPr lang="zh-TW" altLang="en-US" b="0" dirty="0"/>
              <a:t>和比賽球場。其中勝隊、敗隊，和比賽日期合起來為唯一。假設沒有平手。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每一聯盟有名稱 </a:t>
            </a:r>
            <a:r>
              <a:rPr lang="en-US" altLang="zh-TW" b="0" dirty="0"/>
              <a:t>(</a:t>
            </a:r>
            <a:r>
              <a:rPr lang="en" altLang="zh-TW" b="0" dirty="0" err="1"/>
              <a:t>lName</a:t>
            </a:r>
            <a:r>
              <a:rPr lang="en" altLang="zh-TW" b="0" dirty="0"/>
              <a:t>) </a:t>
            </a:r>
            <a:r>
              <a:rPr lang="zh-TW" altLang="en-US" b="0" dirty="0"/>
              <a:t>和成立日期 </a:t>
            </a:r>
            <a:r>
              <a:rPr lang="en-US" altLang="zh-TW" b="0" dirty="0"/>
              <a:t>(</a:t>
            </a:r>
            <a:r>
              <a:rPr lang="en" altLang="zh-TW" b="0" dirty="0" err="1"/>
              <a:t>startDate</a:t>
            </a:r>
            <a:r>
              <a:rPr lang="en" altLang="zh-TW" b="0" dirty="0"/>
              <a:t>)</a:t>
            </a:r>
            <a:r>
              <a:rPr lang="zh-TW" altLang="en" b="0" dirty="0"/>
              <a:t>。</a:t>
            </a:r>
            <a:r>
              <a:rPr lang="zh-TW" altLang="en-US" b="0" dirty="0"/>
              <a:t>其中名稱為唯一。</a:t>
            </a:r>
            <a:endParaRPr lang="en-US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每一球場有球場 </a:t>
            </a:r>
            <a:r>
              <a:rPr lang="en" altLang="zh-TW" b="0" dirty="0"/>
              <a:t>ID (</a:t>
            </a:r>
            <a:r>
              <a:rPr lang="en" altLang="zh-TW" b="0" dirty="0" err="1"/>
              <a:t>fId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名稱 </a:t>
            </a:r>
            <a:r>
              <a:rPr lang="en-US" altLang="zh-TW" b="0" dirty="0"/>
              <a:t>(</a:t>
            </a:r>
            <a:r>
              <a:rPr lang="en" altLang="zh-TW" b="0" dirty="0" err="1"/>
              <a:t>fName</a:t>
            </a:r>
            <a:r>
              <a:rPr lang="en" altLang="zh-TW" b="0" dirty="0"/>
              <a:t>)</a:t>
            </a:r>
            <a:r>
              <a:rPr lang="zh-TW" altLang="en" b="0" dirty="0"/>
              <a:t>，</a:t>
            </a:r>
            <a:r>
              <a:rPr lang="zh-TW" altLang="en-US" b="0" dirty="0"/>
              <a:t>和地址</a:t>
            </a:r>
            <a:r>
              <a:rPr lang="en-US" altLang="zh-TW" b="0" dirty="0"/>
              <a:t>(</a:t>
            </a:r>
            <a:r>
              <a:rPr lang="en" altLang="zh-TW" b="0" dirty="0"/>
              <a:t>address)</a:t>
            </a:r>
            <a:r>
              <a:rPr lang="zh-TW" altLang="en" b="0" dirty="0"/>
              <a:t>。</a:t>
            </a:r>
            <a:r>
              <a:rPr lang="zh-TW" altLang="en-US" b="0" dirty="0"/>
              <a:t>其中球場 </a:t>
            </a:r>
            <a:r>
              <a:rPr lang="en" altLang="zh-TW" b="0" dirty="0"/>
              <a:t>ID </a:t>
            </a:r>
            <a:r>
              <a:rPr lang="zh-TW" altLang="en-US" b="0" dirty="0"/>
              <a:t>和名稱均為唯一。每一球隊有一主球場 </a:t>
            </a:r>
            <a:r>
              <a:rPr lang="en-US" altLang="zh-TW" b="0" dirty="0"/>
              <a:t>(</a:t>
            </a:r>
            <a:r>
              <a:rPr lang="en" altLang="zh-TW" b="0" dirty="0"/>
              <a:t>Home)</a:t>
            </a:r>
            <a:r>
              <a:rPr lang="zh-TW" altLang="en" b="0" dirty="0"/>
              <a:t>。</a:t>
            </a:r>
            <a:endParaRPr lang="en" altLang="zh-TW" b="0" dirty="0"/>
          </a:p>
          <a:p>
            <a:pPr lvl="1">
              <a:lnSpc>
                <a:spcPct val="120000"/>
              </a:lnSpc>
            </a:pPr>
            <a:r>
              <a:rPr lang="zh-TW" altLang="en-US" b="0" dirty="0"/>
              <a:t>球員有球衣號碼 </a:t>
            </a:r>
            <a:r>
              <a:rPr lang="en-US" altLang="zh-TW" b="0" dirty="0"/>
              <a:t>(</a:t>
            </a:r>
            <a:r>
              <a:rPr lang="en" altLang="zh-TW" b="0" dirty="0" err="1"/>
              <a:t>pNo</a:t>
            </a:r>
            <a:r>
              <a:rPr lang="en" altLang="zh-TW" b="0" dirty="0"/>
              <a:t>)</a:t>
            </a:r>
            <a:r>
              <a:rPr lang="zh-TW" altLang="en" b="0" dirty="0"/>
              <a:t>、</a:t>
            </a:r>
            <a:r>
              <a:rPr lang="zh-TW" altLang="en-US" b="0" dirty="0"/>
              <a:t>姓名 </a:t>
            </a:r>
            <a:r>
              <a:rPr lang="en-US" altLang="zh-TW" b="0" dirty="0"/>
              <a:t>(</a:t>
            </a:r>
            <a:r>
              <a:rPr lang="en" altLang="zh-TW" b="0" dirty="0"/>
              <a:t>name)</a:t>
            </a:r>
            <a:r>
              <a:rPr lang="zh-TW" altLang="en" b="0" dirty="0"/>
              <a:t>、</a:t>
            </a:r>
            <a:r>
              <a:rPr lang="zh-TW" altLang="en-US" b="0" dirty="0"/>
              <a:t>生日 </a:t>
            </a:r>
            <a:r>
              <a:rPr lang="en-US" altLang="zh-TW" b="0" dirty="0"/>
              <a:t>(</a:t>
            </a:r>
            <a:r>
              <a:rPr lang="en" altLang="zh-TW" b="0" dirty="0"/>
              <a:t>birthday)</a:t>
            </a:r>
            <a:r>
              <a:rPr lang="zh-TW" altLang="en" b="0" dirty="0"/>
              <a:t>、</a:t>
            </a:r>
            <a:r>
              <a:rPr lang="zh-TW" altLang="en-US" b="0" dirty="0"/>
              <a:t>打擊率 </a:t>
            </a:r>
            <a:r>
              <a:rPr lang="en-US" altLang="zh-TW" b="0" dirty="0"/>
              <a:t>(</a:t>
            </a:r>
            <a:r>
              <a:rPr lang="en" altLang="zh-TW" b="0" dirty="0" err="1"/>
              <a:t>hitRate</a:t>
            </a:r>
            <a:r>
              <a:rPr lang="en" altLang="zh-TW" b="0" dirty="0"/>
              <a:t>)</a:t>
            </a:r>
            <a:r>
              <a:rPr lang="zh-TW" altLang="en" b="0" dirty="0"/>
              <a:t>，</a:t>
            </a:r>
            <a:r>
              <a:rPr lang="zh-TW" altLang="en-US" b="0" dirty="0"/>
              <a:t>和月薪 </a:t>
            </a:r>
            <a:r>
              <a:rPr lang="en-US" altLang="zh-TW" b="0" dirty="0"/>
              <a:t>(</a:t>
            </a:r>
            <a:r>
              <a:rPr lang="en" altLang="zh-TW" b="0" dirty="0"/>
              <a:t>salary)</a:t>
            </a:r>
            <a:r>
              <a:rPr lang="zh-TW" altLang="en" b="0" dirty="0"/>
              <a:t>。</a:t>
            </a:r>
            <a:r>
              <a:rPr lang="zh-TW" altLang="en-US" b="0" dirty="0"/>
              <a:t>其中沒有任一屬性為唯一，但每一個球隊的球員之球衣號碼必然不同。每一球員必須隸屬於一球隊。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b="0" dirty="0"/>
              <a:t>請依以上的需求，畫出</a:t>
            </a:r>
            <a:r>
              <a:rPr lang="en" altLang="zh-TW" b="0" dirty="0"/>
              <a:t>ERD</a:t>
            </a:r>
            <a:r>
              <a:rPr lang="zh-TW" altLang="en" b="0" dirty="0"/>
              <a:t>。</a:t>
            </a:r>
            <a:r>
              <a:rPr lang="zh-TW" altLang="en-US" b="0" dirty="0"/>
              <a:t>必要的話，可自行假設其他相關狀況，但必須寫清楚。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6997AA-E9F9-3A18-FEC0-8D7A3833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3AA1-DCA9-4121-B03F-D081E4C671FE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E89640-2EB9-9430-9433-E0406E43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E6436-A263-49EE-B03F-B99CEE298DE0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88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2543</Words>
  <Application>Microsoft Office PowerPoint</Application>
  <PresentationFormat>寬螢幕</PresentationFormat>
  <Paragraphs>316</Paragraphs>
  <Slides>32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32</vt:i4>
      </vt:variant>
    </vt:vector>
  </HeadingPairs>
  <TitlesOfParts>
    <vt:vector size="38" baseType="lpstr">
      <vt:lpstr>微軟正黑體</vt:lpstr>
      <vt:lpstr>微軟正黑體</vt:lpstr>
      <vt:lpstr>標楷體</vt:lpstr>
      <vt:lpstr>Arial</vt:lpstr>
      <vt:lpstr>Calibri</vt:lpstr>
      <vt:lpstr>Office 佈景主題</vt:lpstr>
      <vt:lpstr>實體關係模型進階</vt:lpstr>
      <vt:lpstr>PowerPoint 簡報</vt:lpstr>
      <vt:lpstr>ERD結構上限制表示法</vt:lpstr>
      <vt:lpstr>(min,max) 表示參與性</vt:lpstr>
      <vt:lpstr>PowerPoint 簡報</vt:lpstr>
      <vt:lpstr>PowerPoint 簡報</vt:lpstr>
      <vt:lpstr>PowerPoint 簡報</vt:lpstr>
      <vt:lpstr>PowerPoint 簡報</vt:lpstr>
      <vt:lpstr>二元關係型態雞爪表示法</vt:lpstr>
      <vt:lpstr>(min,max)表示法轉換雞爪表示法</vt:lpstr>
      <vt:lpstr>融合實體類別與雞爪圖</vt:lpstr>
      <vt:lpstr>繪製ERD時常犯的錯誤</vt:lpstr>
      <vt:lpstr>多元關係型態</vt:lpstr>
      <vt:lpstr>三元關係型態</vt:lpstr>
      <vt:lpstr>以上三元關係型態可否表示成以下三個二元關係型態？</vt:lpstr>
      <vt:lpstr>Answer: NO!</vt:lpstr>
      <vt:lpstr>多元關係型態的結構上限制</vt:lpstr>
      <vt:lpstr>多元關係型態的結構上限制 </vt:lpstr>
      <vt:lpstr>不當使用多元關係型態</vt:lpstr>
      <vt:lpstr>存在多餘的屬性</vt:lpstr>
      <vt:lpstr>存在多餘的關係型態</vt:lpstr>
      <vt:lpstr>為每一實體型態產生人工編號，以避免使用弱實體型態</vt:lpstr>
      <vt:lpstr>醫療系統資料塑模</vt:lpstr>
      <vt:lpstr>PowerPoint 簡報</vt:lpstr>
      <vt:lpstr>醫療系統資料塑模ERD</vt:lpstr>
      <vt:lpstr>網路遊戲資料統計</vt:lpstr>
      <vt:lpstr>PowerPoint 簡報</vt:lpstr>
      <vt:lpstr>PowerPoint 簡報</vt:lpstr>
      <vt:lpstr>資料模型分析作業  作業繳交時間：10/7 00:00</vt:lpstr>
      <vt:lpstr>0.餐廳設計點菜系統</vt:lpstr>
      <vt:lpstr>1.醫院設計掛號系統</vt:lpstr>
      <vt:lpstr>2.職棒聯盟的戰績系統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實體關係模型進階</dc:title>
  <dc:creator>Jainshone Chung</dc:creator>
  <cp:lastModifiedBy>鍾定揚 12376046 Daniel</cp:lastModifiedBy>
  <cp:revision>51</cp:revision>
  <dcterms:created xsi:type="dcterms:W3CDTF">2024-09-18T09:03:17Z</dcterms:created>
  <dcterms:modified xsi:type="dcterms:W3CDTF">2025-10-03T07:37:45Z</dcterms:modified>
</cp:coreProperties>
</file>